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69"/>
  </p:notesMasterIdLst>
  <p:handoutMasterIdLst>
    <p:handoutMasterId r:id="rId70"/>
  </p:handoutMasterIdLst>
  <p:sldIdLst>
    <p:sldId id="262" r:id="rId2"/>
    <p:sldId id="274" r:id="rId3"/>
    <p:sldId id="291" r:id="rId4"/>
    <p:sldId id="297" r:id="rId5"/>
    <p:sldId id="333" r:id="rId6"/>
    <p:sldId id="331" r:id="rId7"/>
    <p:sldId id="329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12" r:id="rId18"/>
    <p:sldId id="332" r:id="rId19"/>
    <p:sldId id="311" r:id="rId20"/>
    <p:sldId id="294" r:id="rId21"/>
    <p:sldId id="348" r:id="rId22"/>
    <p:sldId id="360" r:id="rId23"/>
    <p:sldId id="361" r:id="rId24"/>
    <p:sldId id="362" r:id="rId25"/>
    <p:sldId id="363" r:id="rId26"/>
    <p:sldId id="364" r:id="rId27"/>
    <p:sldId id="365" r:id="rId28"/>
    <p:sldId id="334" r:id="rId29"/>
    <p:sldId id="367" r:id="rId30"/>
    <p:sldId id="368" r:id="rId31"/>
    <p:sldId id="366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47" r:id="rId42"/>
    <p:sldId id="369" r:id="rId43"/>
    <p:sldId id="335" r:id="rId44"/>
    <p:sldId id="339" r:id="rId45"/>
    <p:sldId id="346" r:id="rId46"/>
    <p:sldId id="336" r:id="rId47"/>
    <p:sldId id="340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57" r:id="rId57"/>
    <p:sldId id="337" r:id="rId58"/>
    <p:sldId id="341" r:id="rId59"/>
    <p:sldId id="342" r:id="rId60"/>
    <p:sldId id="338" r:id="rId61"/>
    <p:sldId id="345" r:id="rId62"/>
    <p:sldId id="343" r:id="rId63"/>
    <p:sldId id="344" r:id="rId64"/>
    <p:sldId id="358" r:id="rId65"/>
    <p:sldId id="359" r:id="rId66"/>
    <p:sldId id="263" r:id="rId67"/>
    <p:sldId id="264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F4AAF4-B8F3-33EC-52A9-9556E57E63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DEACF-F8D5-65D6-65E3-338B2B0A6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2621-8294-46A0-AF65-3F36575F2326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7C6E-AD10-9E33-EB85-2BFA5B3262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2DCF5-DD40-B594-C366-ED0E57DC2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D7F74-8BB9-4E0E-BFB9-27139482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75D34-0415-4310-B568-590084F5D713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10430-A6ED-49DA-875F-FAA9313FE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3E4401-654B-3331-0E2C-7406236D3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1"/>
            <a:ext cx="12191996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129550-DA5D-C130-73B9-F36251FB393F}"/>
              </a:ext>
            </a:extLst>
          </p:cNvPr>
          <p:cNvSpPr/>
          <p:nvPr userDrawn="1"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4939-1092-154C-F943-8221DCF2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AFB6-C0BC-1749-9A2C-9CDE15DFEF5D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8189D-CC24-D084-077F-1EC0EA31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pic>
        <p:nvPicPr>
          <p:cNvPr id="8" name="Picture 7" descr="A logo with a star and a candle&#10;&#10;Description automatically generated">
            <a:extLst>
              <a:ext uri="{FF2B5EF4-FFF2-40B4-BE49-F238E27FC236}">
                <a16:creationId xmlns:a16="http://schemas.microsoft.com/office/drawing/2014/main" id="{5EE76DC0-94B7-A3AA-712F-BE98D17F08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7425" y="116127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84078-0138-E900-23EB-074EF062EF67}"/>
              </a:ext>
            </a:extLst>
          </p:cNvPr>
          <p:cNvSpPr txBox="1">
            <a:spLocks/>
          </p:cNvSpPr>
          <p:nvPr userDrawn="1"/>
        </p:nvSpPr>
        <p:spPr>
          <a:xfrm>
            <a:off x="1524000" y="2103324"/>
            <a:ext cx="9144000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Cloud Computing and Virtualization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25D32-6EF2-FAFE-2C36-BDD0330F818C}"/>
              </a:ext>
            </a:extLst>
          </p:cNvPr>
          <p:cNvSpPr txBox="1"/>
          <p:nvPr userDrawn="1"/>
        </p:nvSpPr>
        <p:spPr>
          <a:xfrm>
            <a:off x="1523999" y="4845050"/>
            <a:ext cx="9143999" cy="130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Prepared by:  Er. Shiva Kunwar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Lecturer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Pokhara Engineering College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081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BBFC-EF9A-C646-B5B5-F5C0DD47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F1A4-33E3-F613-3519-62CEA6B2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A0EDD6-81A7-F4B8-D011-4DE865A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D8D2E-0BCE-BC48-AAA8-1929CE3DCD9D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532A0-B8D7-45DA-5FA5-39BC559D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CCC4-845F-FD1B-9585-3F3F4F72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8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D533-58C8-E224-906F-5F88AEC5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8861-2083-0FF8-F733-4312C604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B8EE7-49CE-F177-9BD3-AEC2ED7CF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D13A55-B8F2-1FFF-B254-28F4F7C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A33D3-9724-5E44-A9C7-5F3133649973}" type="datetime1">
              <a:rPr lang="en-US" smtClean="0"/>
              <a:t>11/25/25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5F814C-8F5B-5ECF-D212-9E924DAD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327A59-CF12-D21D-6359-9C7B731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1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D9C7D-7608-7B1C-1BBB-E09F972BE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32F5-16FE-613A-417D-557E002A8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C6C6A9-0D82-2733-1B67-53F2A3D6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D2052-25BC-843C-8ABA-792233D9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EE7CD1-BC72-3908-B52C-69C7274B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488A3C-7FB9-1EFA-C60D-233DBBFE4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2167FE-1698-734C-2D0C-C2B40CC4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83735"/>
            <a:ext cx="10515600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9F9C-5A91-403E-36CE-69E3C9969308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57C64D1-0999-ECC9-556E-E526C78A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EAAE7709-C365-F582-CF49-7517BDEB838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38198" y="1663021"/>
            <a:ext cx="10515602" cy="45568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1E667B7-7545-60E3-30C1-CE3C2A48949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BBCFDCE-78BC-2247-9AFF-0C66A9DB8B15}" type="datetime1">
              <a:rPr lang="en-US" smtClean="0"/>
              <a:t>11/25/25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05699-A282-E12E-AE1C-1CFB25E238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F6E645F8-F682-8D2D-268F-E5B7D5BF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50187D5-3A16-AE1B-36DA-41D3FBE6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264F6-BD23-F293-72FB-E32352573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855AD-ABAC-8C19-8178-6EB8E5E72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39B6C-6741-2C5E-B819-B3A425454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8738339-0671-5630-FEB8-CC9C67032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484E4-73DD-0919-B58E-866F9070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DF8B04-BA4D-3137-EEFB-2C9F9614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09" y="615909"/>
            <a:ext cx="3204415" cy="3387497"/>
          </a:xfrm>
        </p:spPr>
        <p:txBody>
          <a:bodyPr anchor="b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B5711-9A41-EEE3-ECA8-3DF77654697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655D1-315F-7D95-3B9A-EC74A727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923455B-4E0B-F709-CAC5-455517FBE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88" y="615950"/>
            <a:ext cx="6530975" cy="5603875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E41F7B6-FA1C-08CE-1473-5AEEBCEE76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EA70B46-0426-1F41-81CF-D8038CBD6056}" type="datetime1">
              <a:rPr lang="en-US" smtClean="0"/>
              <a:t>11/25/25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7009528-D44A-660D-5354-4CF2C225E6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1818950-1BC0-79F8-F3A1-C793DF91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4A06A-DC97-5499-2273-8019226EA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9634D-9BDD-B374-6DD7-03C03290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769AA-85CF-4F16-36ED-08E81B006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37CB0-FBB5-1349-DFB4-563DF02B5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CAB6FC-BE02-6F5E-8E9C-340FAC42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35E3B-ADC3-447C-17D8-2227F75D45AC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7808083-BCD1-7C29-51D7-C9EF69DBD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367B66-BFAA-3DE9-8BD2-E64B46FC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557"/>
            <a:ext cx="10515600" cy="4214406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E4831-D86C-E223-8E7F-61ACDC2C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DF55-0180-DC42-8A26-627584B4CAB6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E3D7-7A3D-FA0B-3F88-D5B5911E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4531-650E-5195-CBA1-5B3978F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3D01-1896-574A-974C-50700F91BC52}" type="datetime1">
              <a:rPr lang="en-US" smtClean="0"/>
              <a:t>11/25/25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60013-C917-A93A-C451-8E8B6203F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48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D3A4C7-B5F0-8B63-1ECA-C1481598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 anchor="ctr">
            <a:noAutofit/>
          </a:bodyPr>
          <a:lstStyle>
            <a:lvl1pPr algn="l">
              <a:defRPr sz="6000" b="0" cap="none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D99D63D-0492-7C66-0370-0040336A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AutoShape 2" descr="A peaceful illustration for C programming set in a serene environment. The setting is a quiet lakeside scene during sunrise or sunset, with soft golden lighting reflecting on calm waters. A laptop or book displaying C programming code is open on a wooden bench near the water, surrounded by nature with gentle trees and soft grass. The sky is a gradient of warm colors, and there are small details like a steaming coffee mug and a few scattered notes or pens nearby, adding a cozy atmosphere. The dimensions are 7.5 inches in height and 4.9 inches in width.">
            <a:extLst>
              <a:ext uri="{FF2B5EF4-FFF2-40B4-BE49-F238E27FC236}">
                <a16:creationId xmlns:a16="http://schemas.microsoft.com/office/drawing/2014/main" id="{6A97A55F-F05A-431D-3CF6-E049935C399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9B0B8-54EB-02A5-06D4-A123119246F4}"/>
              </a:ext>
            </a:extLst>
          </p:cNvPr>
          <p:cNvSpPr txBox="1"/>
          <p:nvPr userDrawn="1"/>
        </p:nvSpPr>
        <p:spPr>
          <a:xfrm>
            <a:off x="5020988" y="4019550"/>
            <a:ext cx="6028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6E68-0017-74AE-E686-7960FA20C4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review Card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A83DF1-A84E-B163-956C-25D3B807BE99}"/>
              </a:ext>
            </a:extLst>
          </p:cNvPr>
          <p:cNvSpPr txBox="1">
            <a:spLocks/>
          </p:cNvSpPr>
          <p:nvPr userDrawn="1"/>
        </p:nvSpPr>
        <p:spPr>
          <a:xfrm>
            <a:off x="838200" y="417727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PREVIEW FOR NEXT 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62B2-F92E-BBBB-879D-EAA2FC43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315"/>
            <a:ext cx="10515600" cy="381725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4F7403-710E-51F3-7202-7EBA53ED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2A69-1C6C-A8E7-081B-CD412014A8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1EBCB37-DFB6-DD4A-B37B-47F6BAAFFF06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FFE2-1F4D-9C49-4E2F-006619EA8C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C227B07-4D8C-7143-845A-6AC69543588F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8B0B-E52C-FB61-BA2D-848A459BB9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2" y="1590741"/>
            <a:ext cx="10340023" cy="49015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C69429-BC97-6E4E-0AE7-2A10C174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344912" cy="1590741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840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5BA5E-1F99-1D40-B233-BDFC0B9F87CC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1442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B644-5741-8467-C89E-7A43CCB7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4B1-9CE0-549C-7B06-728134B2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3029"/>
            <a:ext cx="105156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655E-F829-BD76-B10A-3B85DA5FD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2CC00-826F-154F-AD0C-C3E69E444B39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4BA3D-AF77-0CD3-E6C2-CDFE9BF5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914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EA662-E61B-0C38-8A92-8D9EA225042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FC56-D6E1-E077-A067-C2CA064D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9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9" r:id="rId3"/>
    <p:sldLayoutId id="2147483670" r:id="rId4"/>
    <p:sldLayoutId id="2147483672" r:id="rId5"/>
    <p:sldLayoutId id="2147483673" r:id="rId6"/>
    <p:sldLayoutId id="2147483664" r:id="rId7"/>
    <p:sldLayoutId id="2147483665" r:id="rId8"/>
    <p:sldLayoutId id="2147483674" r:id="rId9"/>
    <p:sldLayoutId id="2147483675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62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15B3-1011-3094-C557-EE18153C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2: Virtualization (7hrs)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D919-B700-7537-7FA6-AA98852B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lvl="1"/>
            <a:r>
              <a:rPr lang="en-US" dirty="0"/>
              <a:t>1.1 Virtualization Technologies: Virtual Machines, Hypervisors (Type 1 &amp; Type 2)</a:t>
            </a:r>
          </a:p>
          <a:p>
            <a:pPr lvl="1"/>
            <a:r>
              <a:rPr lang="en-US" dirty="0"/>
              <a:t>1.2 Overview of Containerization and Kubernetes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Virtual Machines (VM)</a:t>
            </a:r>
          </a:p>
          <a:p>
            <a:pPr lvl="1"/>
            <a:r>
              <a:rPr lang="en-US" dirty="0"/>
              <a:t>2.1 Virtual Machine Management and Configuration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Virtualization Level</a:t>
            </a:r>
          </a:p>
          <a:p>
            <a:pPr lvl="1"/>
            <a:r>
              <a:rPr lang="en-US" dirty="0"/>
              <a:t>3.1 Hardware, Software, Operating System, Data and Networking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Virtual Private Cloud (VPC)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Virtual Private Network (VPN)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DNS Service and Cloud Network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Multihoming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CAC79-7491-A7F8-44FB-8E0B6CF6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6" name="Footer Placeholder 55">
            <a:extLst>
              <a:ext uri="{FF2B5EF4-FFF2-40B4-BE49-F238E27FC236}">
                <a16:creationId xmlns:a16="http://schemas.microsoft.com/office/drawing/2014/main" id="{A0AECC55-2F97-BDD8-50C2-C90C00BC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99957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Virtualization is creating a virtual version of something rather than a physical one. </a:t>
            </a:r>
          </a:p>
          <a:p>
            <a:r>
              <a:rPr lang="en-US" dirty="0"/>
              <a:t>In computing, </a:t>
            </a:r>
            <a:r>
              <a:rPr lang="en-US" b="1" dirty="0"/>
              <a:t>software simulates hardware functionality</a:t>
            </a:r>
            <a:r>
              <a:rPr lang="en-US" dirty="0"/>
              <a:t>, allowing multiple operating systems or applications to run on a single physical machine simultaneously. </a:t>
            </a:r>
          </a:p>
          <a:p>
            <a:r>
              <a:rPr lang="en-US" dirty="0"/>
              <a:t>Virtualization is foundational in DevOps and cloud computing because it enables efficient resource use, isolation, scalability, and automation.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This practice maximizes a physical machine’s capacity by distributing its resources between multiple users and environments.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A353-3B39-6E3A-58CB-F77F4017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A2BC-7DB0-AEA5-B4A2-DC380ABC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1768-ADDB-7A59-240D-7FB70C944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Virtualization is a technology that creates a virtual (software-based) version of computing resources, such as servers, storage, networks, and desktops.</a:t>
            </a:r>
          </a:p>
          <a:p>
            <a:r>
              <a:rPr lang="en-US" dirty="0"/>
              <a:t>It abstracts physical hardware resources into virtual resources that can be easily managed, modified, or scaled according to application needs.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E66B7-CD74-75B9-A616-D7DD49BE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74C77-C874-6EAA-179C-ED040FF3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6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329B-C239-378C-9E47-9AA21CD1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770F4-164C-667C-7D18-7E51C8F69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P" dirty="0"/>
              <a:t>Each VM has an operating system and acts as an independent computer even though it runs on a portion of the physical device.</a:t>
            </a:r>
          </a:p>
          <a:p>
            <a:r>
              <a:rPr lang="en-NP" dirty="0"/>
              <a:t>A virtual machine mimics all components of a computer; including:</a:t>
            </a:r>
          </a:p>
          <a:p>
            <a:pPr lvl="1"/>
            <a:r>
              <a:rPr lang="en-NP" dirty="0"/>
              <a:t>CPU</a:t>
            </a:r>
          </a:p>
          <a:p>
            <a:pPr lvl="1"/>
            <a:r>
              <a:rPr lang="en-NP" dirty="0"/>
              <a:t>RAM</a:t>
            </a:r>
          </a:p>
          <a:p>
            <a:pPr lvl="1"/>
            <a:r>
              <a:rPr lang="en-NP" dirty="0"/>
              <a:t>Storage</a:t>
            </a:r>
          </a:p>
          <a:p>
            <a:pPr lvl="1"/>
            <a:r>
              <a:rPr lang="en-NP" dirty="0"/>
              <a:t>Networks</a:t>
            </a:r>
          </a:p>
          <a:p>
            <a:r>
              <a:rPr lang="en-NP" dirty="0"/>
              <a:t>With virtualization, a piece of hardware can host numerous VM configuratiuon simultaneously without performance issues.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4EFAC-12E7-11D8-8B3C-9F4A4F7E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B3E41-309E-92D6-AE5F-FDDE9148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324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8B5B-5DD6-0D83-0E62-34378408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7F82-6EB6-B223-1B12-9DD02502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60A1B-022B-57D3-AA2E-F0635F78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A73B6-B7AF-2260-C997-BD9960A7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 descr="Hardware vs virtualized servers">
            <a:extLst>
              <a:ext uri="{FF2B5EF4-FFF2-40B4-BE49-F238E27FC236}">
                <a16:creationId xmlns:a16="http://schemas.microsoft.com/office/drawing/2014/main" id="{8357B795-8477-7204-FB74-90921BA5BA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899" y="1371600"/>
            <a:ext cx="8880790" cy="534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44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994A-9D35-4ACC-2C75-C39768C3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A77A5-04AD-E3D3-540D-1D7EFB36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D0C25-4387-C7EE-360D-E28EC816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67A2B-B774-601B-B81F-E3020C70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Virtualization in Cloud Computing and Types - GeeksforGeeks">
            <a:extLst>
              <a:ext uri="{FF2B5EF4-FFF2-40B4-BE49-F238E27FC236}">
                <a16:creationId xmlns:a16="http://schemas.microsoft.com/office/drawing/2014/main" id="{D0A7DCFB-8D2B-50CF-A6CC-45AA4AEC84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407" y="1600200"/>
            <a:ext cx="7815774" cy="489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23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1AA43-3510-B263-4CD8-45A493AA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4AA1-C9B6-0902-6CE7-9909DB8E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CE4EC-8738-67AD-0273-BFF57EB3C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Resource Efficiency</a:t>
            </a:r>
            <a:r>
              <a:rPr lang="en-US" dirty="0"/>
              <a:t>: Maximizes resource utilization by allowing multiple virtual machines (VMs) to run on a single hardware system.</a:t>
            </a:r>
          </a:p>
          <a:p>
            <a:r>
              <a:rPr lang="en-US" b="1" dirty="0"/>
              <a:t>Isolation</a:t>
            </a:r>
            <a:r>
              <a:rPr lang="en-US" dirty="0"/>
              <a:t>: Each VM operates independently, improving security and stability and minimizing risks of conflicts.</a:t>
            </a:r>
          </a:p>
          <a:p>
            <a:r>
              <a:rPr lang="en-US" b="1" dirty="0"/>
              <a:t>Scalability</a:t>
            </a:r>
            <a:r>
              <a:rPr lang="en-US" dirty="0"/>
              <a:t>: Quickly scales resources up or down based on demand.</a:t>
            </a:r>
          </a:p>
          <a:p>
            <a:r>
              <a:rPr lang="en-US" b="1" dirty="0"/>
              <a:t>Flexibility</a:t>
            </a:r>
            <a:r>
              <a:rPr lang="en-US" dirty="0"/>
              <a:t>: Enables quick provisioning and deployment of applications and environments.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E5DD4-4A4F-E7F4-EA77-BF553A1F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2FFC2-9BD4-980F-25D0-99E3BE47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9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D6870-3DCF-62FD-89BA-21F78D64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79D82-E2C3-1F85-7B54-42E6597E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A2D69-585D-BCD1-2938-23574964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C7F5A-EE11-0E6A-A6E7-B3A9712D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Virtualization comes in various types, each serving a different purpose within IT environments:</a:t>
            </a:r>
          </a:p>
          <a:p>
            <a:pPr lvl="1"/>
            <a:r>
              <a:rPr lang="en-US" b="1" dirty="0"/>
              <a:t>Server Virtualization</a:t>
            </a:r>
          </a:p>
          <a:p>
            <a:pPr lvl="1"/>
            <a:r>
              <a:rPr lang="en-US" b="1" dirty="0"/>
              <a:t>Desktop Virtualization</a:t>
            </a:r>
          </a:p>
          <a:p>
            <a:pPr lvl="1"/>
            <a:r>
              <a:rPr lang="en-US" b="1" dirty="0"/>
              <a:t>Application Virtualization</a:t>
            </a:r>
          </a:p>
          <a:p>
            <a:pPr lvl="1"/>
            <a:r>
              <a:rPr lang="en-US" b="1" dirty="0"/>
              <a:t>Network Virtualization</a:t>
            </a:r>
          </a:p>
          <a:p>
            <a:pPr lvl="1"/>
            <a:r>
              <a:rPr lang="en-US" b="1" dirty="0"/>
              <a:t>Storage Virtualization</a:t>
            </a:r>
          </a:p>
          <a:p>
            <a:pPr lvl="1"/>
            <a:r>
              <a:rPr lang="en-US" b="1" dirty="0"/>
              <a:t>Data Virtualization</a:t>
            </a:r>
          </a:p>
          <a:p>
            <a:pPr lvl="1"/>
            <a:r>
              <a:rPr lang="en-US" b="1" dirty="0"/>
              <a:t>OS Virtualization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D02D8-B891-1E35-663E-3071CFC5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97" y="365756"/>
            <a:ext cx="3436303" cy="3624504"/>
          </a:xfrm>
        </p:spPr>
        <p:txBody>
          <a:bodyPr/>
          <a:lstStyle/>
          <a:p>
            <a:r>
              <a:rPr lang="en-US" dirty="0"/>
              <a:t>Types of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17732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30D3-58AC-1F69-897B-B8B993D65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865C7-CFEC-8288-D747-F22B717A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2F2B-4DD0-A431-0A26-C19573449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Server virtualization divides a physical server into multiple isolated virtual servers, known as Virtual Machines (VMs).</a:t>
            </a:r>
          </a:p>
          <a:p>
            <a:r>
              <a:rPr lang="en-US" b="1" dirty="0"/>
              <a:t>Use Cases</a:t>
            </a:r>
            <a:r>
              <a:rPr lang="en-US" dirty="0"/>
              <a:t>: Commonly used to optimize physical server usage, reduce costs, and run different operating systems and applications on a single physical machine.</a:t>
            </a:r>
          </a:p>
          <a:p>
            <a:r>
              <a:rPr lang="en-US" b="1" dirty="0"/>
              <a:t>Examples of Tools</a:t>
            </a:r>
            <a:r>
              <a:rPr lang="en-US" dirty="0"/>
              <a:t>: VMware, Hyper-V, KVM.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A7C4F-610E-601B-6F85-8123529B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F559B-772A-8329-B87D-56500960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0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CF214-58CE-3918-F28B-D032C670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434F-8F38-D4F1-13D4-90C9D224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337E2-15DD-CFC0-A7FC-071CBE6D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Desktop virtualization allows the creation of virtual desktops that users can access remotely on any device.</a:t>
            </a:r>
          </a:p>
          <a:p>
            <a:r>
              <a:rPr lang="en-US" b="1" dirty="0"/>
              <a:t>Use Cases</a:t>
            </a:r>
            <a:r>
              <a:rPr lang="en-US" dirty="0"/>
              <a:t>: Provides secure and flexible desktop access, especially useful for remote work and IT troubleshooting.</a:t>
            </a:r>
          </a:p>
          <a:p>
            <a:r>
              <a:rPr lang="en-US" b="1" dirty="0"/>
              <a:t>Examples of Tools</a:t>
            </a:r>
            <a:r>
              <a:rPr lang="en-US" dirty="0"/>
              <a:t>: VMware Horizon, Citrix Virtual Apps and Desktops.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06C88-A976-5976-4FDB-E009D8CC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AB135-C8DB-CB0C-3FA3-3D2D5F1E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13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CE6A-B436-B2A2-28A3-E6178CDB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565-5239-A6BB-054F-09FCCDEF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B2EA-C5CC-EC05-A0A7-1EBCC95B5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Application virtualization separates an application from the underlying OS, allowing it to run in an isolated environment.</a:t>
            </a:r>
          </a:p>
          <a:p>
            <a:r>
              <a:rPr lang="en-US" b="1" dirty="0"/>
              <a:t>Use Cases</a:t>
            </a:r>
            <a:r>
              <a:rPr lang="en-US" dirty="0"/>
              <a:t>: Helps avoid compatibility issues by packaging applications for use on different OS versions or configurations.</a:t>
            </a:r>
          </a:p>
          <a:p>
            <a:r>
              <a:rPr lang="en-US" b="1" dirty="0"/>
              <a:t>Examples of Tools</a:t>
            </a:r>
            <a:r>
              <a:rPr lang="en-US" dirty="0"/>
              <a:t>: Citrix XenApp, Microsoft App-V.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52843-127B-F0B4-7EE5-E5B63D06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EA1EA-59E4-430A-A28E-A29B04C0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64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0045A-4123-1E2C-06A9-0BD65428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1EBA-EBBB-6411-7FB0-7CFC7F10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0BF52-3E09-7DCC-6647-5244B04A5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Network virtualization abstracts network resources like switches, routers, and firewalls into virtual network components.</a:t>
            </a:r>
          </a:p>
          <a:p>
            <a:r>
              <a:rPr lang="en-US" b="1" dirty="0"/>
              <a:t>Use Cases</a:t>
            </a:r>
            <a:r>
              <a:rPr lang="en-US" dirty="0"/>
              <a:t>: Enhances network flexibility, security, and scalability in cloud and data center environments.</a:t>
            </a:r>
          </a:p>
          <a:p>
            <a:r>
              <a:rPr lang="en-US" b="1" dirty="0"/>
              <a:t>Examples of Tools</a:t>
            </a:r>
            <a:r>
              <a:rPr lang="en-US" dirty="0"/>
              <a:t>: VMware NSX, Cisco ACI, Open </a:t>
            </a:r>
            <a:r>
              <a:rPr lang="en-US" dirty="0" err="1"/>
              <a:t>vSwitch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E6619-BF13-A5BC-7198-D792B5D9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BF8DA-97D4-62FA-B267-2BABB525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77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0974-D9DE-2264-DAD2-03FEA5ED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FE82-6C00-FE5F-0F4F-B088792D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6FC4F-6FC9-3449-CBF7-8D1037E1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Storage virtualization pools physical storage from multiple devices into a single virtual storage unit.</a:t>
            </a:r>
          </a:p>
          <a:p>
            <a:r>
              <a:rPr lang="en-US" b="1" dirty="0"/>
              <a:t>Use Cases</a:t>
            </a:r>
            <a:r>
              <a:rPr lang="en-US" dirty="0"/>
              <a:t>: Simplifies storage management, improves scalability, and optimizes performance.</a:t>
            </a:r>
          </a:p>
          <a:p>
            <a:r>
              <a:rPr lang="en-US" b="1" dirty="0"/>
              <a:t>Examples of Tools</a:t>
            </a:r>
            <a:r>
              <a:rPr lang="en-US" dirty="0"/>
              <a:t>: IBM Spectrum Virtualize, NetApp ONTAP.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6E63E-790D-E147-8790-C6FF9650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4FD29-4439-2818-7AAD-38E169E3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47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08CC-450A-3A37-5F6E-7FF0130EC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C09C-2190-D621-2C10-1A7092D6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4E1A4-06BA-1B0D-91F9-9E5F717E6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Data virtualization aggregates data from different sources without physically moving it.</a:t>
            </a:r>
          </a:p>
          <a:p>
            <a:r>
              <a:rPr lang="en-US" b="1" dirty="0"/>
              <a:t>Use Cases</a:t>
            </a:r>
            <a:r>
              <a:rPr lang="en-US" dirty="0"/>
              <a:t>: Enables real-time data access and analysis across different storage systems or databases.</a:t>
            </a:r>
          </a:p>
          <a:p>
            <a:r>
              <a:rPr lang="en-US" b="1" dirty="0"/>
              <a:t>Examples of Tools</a:t>
            </a:r>
            <a:r>
              <a:rPr lang="en-US" dirty="0"/>
              <a:t>: Denodo, Red Hat Data Virtualization.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90F34-4344-3636-244D-1820A9F7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DE3A8-133B-77E3-6389-8144A59F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88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579F-BFFB-B08D-82A8-897FC1DC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F217-9E55-F3D7-5347-CB8A3B17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Virtualization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DCF9-2D34-26BD-5E01-0EC90E888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OS virtualization creates isolated user-space instances called containers that run on a single OS kernel.</a:t>
            </a:r>
          </a:p>
          <a:p>
            <a:r>
              <a:rPr lang="en-US" b="1" dirty="0"/>
              <a:t>Use Cases</a:t>
            </a:r>
            <a:r>
              <a:rPr lang="en-US" dirty="0"/>
              <a:t>: Used in DevOps for lightweight, efficient deployment of applications without the need for full VMs.</a:t>
            </a:r>
          </a:p>
          <a:p>
            <a:r>
              <a:rPr lang="en-US" b="1" dirty="0"/>
              <a:t>Examples of Tools</a:t>
            </a:r>
            <a:r>
              <a:rPr lang="en-US" dirty="0"/>
              <a:t>: Docker, LXC, Kubernetes (for orchestrating containers).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8E491-93CE-16A1-E9A2-6971CD81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4D151-FE11-C8DB-1365-652E318A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18B6-D8FD-E0B7-FFE6-11D524A5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FADB-D20F-E4C3-FA79-CD611759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D540-4A3D-10BF-D512-F7905148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Virtual Machine</a:t>
            </a:r>
            <a:r>
              <a:rPr lang="en-US" dirty="0"/>
              <a:t> is an emulation of a computer system.</a:t>
            </a:r>
          </a:p>
          <a:p>
            <a:r>
              <a:rPr lang="en-US" dirty="0"/>
              <a:t>Each VM contains:</a:t>
            </a:r>
          </a:p>
          <a:p>
            <a:pPr lvl="1"/>
            <a:r>
              <a:rPr lang="en-US" dirty="0"/>
              <a:t>Virtual CPU</a:t>
            </a:r>
          </a:p>
          <a:p>
            <a:pPr lvl="1"/>
            <a:r>
              <a:rPr lang="en-US" dirty="0"/>
              <a:t>Virtual Memory</a:t>
            </a:r>
          </a:p>
          <a:p>
            <a:pPr lvl="1"/>
            <a:r>
              <a:rPr lang="en-US" dirty="0"/>
              <a:t>Virtual Storage</a:t>
            </a:r>
          </a:p>
          <a:p>
            <a:pPr lvl="1"/>
            <a:r>
              <a:rPr lang="en-US" dirty="0"/>
              <a:t>Guest Operating System</a:t>
            </a:r>
          </a:p>
          <a:p>
            <a:r>
              <a:rPr lang="en-US" i="1" dirty="0"/>
              <a:t>Multiple VMs can run on a single physical server.</a:t>
            </a:r>
            <a:endParaRPr lang="en-US" dirty="0"/>
          </a:p>
          <a:p>
            <a:endParaRPr lang="en-US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A106B-4B9C-7F1A-A008-1942D7B8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66EE5-63D4-1750-C2EB-076F1295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45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DE19-2FC4-6E66-C486-331AC1EF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F5C7-9CF7-5E41-DEC0-04B5651C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Hypervisors in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771A-45DD-D085-73E6-C4C8A61BC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hypervisor, also known as a Virtual Machine Monitor (VMM), is software that </a:t>
            </a:r>
            <a:r>
              <a:rPr lang="en-US" b="1" dirty="0"/>
              <a:t>creates and manages VMs </a:t>
            </a:r>
            <a:r>
              <a:rPr lang="en-US" dirty="0"/>
              <a:t>on a host machine.</a:t>
            </a:r>
          </a:p>
          <a:p>
            <a:r>
              <a:rPr lang="en-US" dirty="0"/>
              <a:t>Hypervisors take physical resources and divide them up so that virtual environments can use them.</a:t>
            </a:r>
          </a:p>
          <a:p>
            <a:r>
              <a:rPr lang="en-US" dirty="0"/>
              <a:t>There are two types of hypervisors:</a:t>
            </a:r>
          </a:p>
          <a:p>
            <a:r>
              <a:rPr lang="en-US" b="1" dirty="0"/>
              <a:t>Type 1 (Bare-Metal Hypervisor)</a:t>
            </a:r>
          </a:p>
          <a:p>
            <a:r>
              <a:rPr lang="en-US" b="1" dirty="0"/>
              <a:t>Type 2 (Hosted Hypervisor)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9EC1C-7072-6DD7-7767-2E12B573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39AC5-3DA9-A527-64E3-27DF35B1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2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A34C-A5DD-2165-F782-71571B78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67DE-7DCE-F69F-76CB-29B6C404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Hypervisors in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E4D3-5EC9-08C5-58C4-D97B0DC06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 1 (Bare-Metal Hypervisor)</a:t>
            </a:r>
            <a:r>
              <a:rPr lang="en-US" dirty="0"/>
              <a:t>: Runs directly on the physical hardware, offering high performance and direct hardware access.</a:t>
            </a:r>
          </a:p>
          <a:p>
            <a:pPr lvl="1"/>
            <a:r>
              <a:rPr lang="en-US" dirty="0"/>
              <a:t>Examples: VMware </a:t>
            </a:r>
            <a:r>
              <a:rPr lang="en-US" dirty="0" err="1"/>
              <a:t>ESXi</a:t>
            </a:r>
            <a:r>
              <a:rPr lang="en-US" dirty="0"/>
              <a:t>, Microsoft Hyper-V, KVM.</a:t>
            </a:r>
          </a:p>
          <a:p>
            <a:r>
              <a:rPr lang="en-US" b="1" dirty="0"/>
              <a:t>Type 2 (Hosted Hypervisor)</a:t>
            </a:r>
            <a:r>
              <a:rPr lang="en-US" dirty="0"/>
              <a:t>: Runs on an operating system as an application, making it less performant but more flexible for development environments.</a:t>
            </a:r>
          </a:p>
          <a:p>
            <a:pPr lvl="1"/>
            <a:r>
              <a:rPr lang="en-US" dirty="0"/>
              <a:t>Examples: VMware Workstation, VirtualBox.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561F6-3560-9610-A7CF-7E5B5D90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EE2EC-0726-0CFA-FE04-F13BB46F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4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E04B2-0CDC-CFEE-659F-ACD82F9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5D6D-3041-3953-8A1C-9FCC76A6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B100-700C-589A-5418-BDA9CAD4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Unlike VMs, containers share the host OS kernel but isolate applications at the process level.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dirty="0"/>
              <a:t>Lightweight and Fast startup</a:t>
            </a:r>
          </a:p>
          <a:p>
            <a:pPr lvl="1"/>
            <a:r>
              <a:rPr lang="en-US" dirty="0"/>
              <a:t>Portable</a:t>
            </a:r>
          </a:p>
          <a:p>
            <a:pPr lvl="1"/>
            <a:r>
              <a:rPr lang="en-US" dirty="0"/>
              <a:t>Ideal for microservices</a:t>
            </a:r>
          </a:p>
          <a:p>
            <a:r>
              <a:rPr lang="en-US" dirty="0"/>
              <a:t>Example technologies: Docker, </a:t>
            </a:r>
            <a:r>
              <a:rPr lang="en-US" dirty="0" err="1"/>
              <a:t>Podman</a:t>
            </a:r>
            <a:r>
              <a:rPr lang="en-US" dirty="0"/>
              <a:t>, </a:t>
            </a:r>
            <a:r>
              <a:rPr lang="en-US" dirty="0" err="1"/>
              <a:t>containerd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C0909-4C51-B223-AE78-AC7112F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8DC185-0622-BA19-02B8-B8BE4228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651491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71AE5-C518-DAF7-2C17-ABF05547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4EDE-9EF3-CA21-59B4-847119BC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753C8-502E-5D41-F8C3-6C89C68F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1E92ADD-D266-DD37-1E10-4A5A3B71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pic>
        <p:nvPicPr>
          <p:cNvPr id="8194" name="Picture 2" descr="What is a Container? | Docker">
            <a:extLst>
              <a:ext uri="{FF2B5EF4-FFF2-40B4-BE49-F238E27FC236}">
                <a16:creationId xmlns:a16="http://schemas.microsoft.com/office/drawing/2014/main" id="{A48ED037-EE51-2F87-B57D-FB1B4DA79A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502" y="1552575"/>
            <a:ext cx="5794996" cy="462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197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639F2-8489-058E-1C55-E981F05B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6E79-F624-D8FB-1493-383DAA266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0CBCA-7C32-324A-62AF-C396F63C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7AC8550-52F9-7E47-95FE-607258C3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DB02-1B64-A0E0-4C1B-E7DA9E3DB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Containerization allows applications to run in </a:t>
            </a:r>
            <a:r>
              <a:rPr lang="en-US" b="1" dirty="0"/>
              <a:t>isolated, lightweight environments</a:t>
            </a:r>
            <a:r>
              <a:rPr lang="en-US" dirty="0"/>
              <a:t> called </a:t>
            </a:r>
            <a:r>
              <a:rPr lang="en-US" b="1" dirty="0"/>
              <a:t>containers</a:t>
            </a:r>
            <a:r>
              <a:rPr lang="en-US" dirty="0"/>
              <a:t>.</a:t>
            </a:r>
          </a:p>
          <a:p>
            <a:r>
              <a:rPr lang="en-US" dirty="0"/>
              <a:t>Unlike virtual machines, containers </a:t>
            </a:r>
            <a:r>
              <a:rPr lang="en-US" b="1" dirty="0"/>
              <a:t>don’t need a full operating system</a:t>
            </a:r>
            <a:r>
              <a:rPr lang="en-US" dirty="0"/>
              <a:t> — they share the host OS kernel.</a:t>
            </a:r>
          </a:p>
          <a:p>
            <a:r>
              <a:rPr lang="en-US" dirty="0"/>
              <a:t>Think of a container as:</a:t>
            </a:r>
          </a:p>
          <a:p>
            <a:pPr lvl="1"/>
            <a:r>
              <a:rPr lang="en-US" b="1" dirty="0"/>
              <a:t>A small isolated room inside a big house, sharing the same walls (OS), but keeping its own items (app + dependencies).</a:t>
            </a: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29861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EF9D5-0157-F4E3-9DB5-45911321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32EB-F7DC-65A9-0877-5C30A60C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Containerization Exists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C0706-896E-7529-AA82-FF840360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D0A575C-4FFE-73EF-2341-FACD0C63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F96-0924-24D1-95B4-39112512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Before containers:</a:t>
            </a:r>
          </a:p>
          <a:p>
            <a:pPr lvl="1"/>
            <a:r>
              <a:rPr lang="en-US" dirty="0"/>
              <a:t>Apps had different dependencies</a:t>
            </a:r>
          </a:p>
          <a:p>
            <a:pPr lvl="1"/>
            <a:r>
              <a:rPr lang="en-US" dirty="0"/>
              <a:t>“Works on my machine” problems</a:t>
            </a:r>
          </a:p>
          <a:p>
            <a:pPr lvl="1"/>
            <a:r>
              <a:rPr lang="en-US" dirty="0"/>
              <a:t>Heavy VMs slowed deployments</a:t>
            </a:r>
          </a:p>
          <a:p>
            <a:pPr lvl="1"/>
            <a:r>
              <a:rPr lang="en-US" dirty="0"/>
              <a:t>It took minutes to start a VM</a:t>
            </a:r>
          </a:p>
          <a:p>
            <a:r>
              <a:rPr lang="en-US" b="1" dirty="0"/>
              <a:t>Containers solve all these by providing:</a:t>
            </a:r>
          </a:p>
          <a:p>
            <a:pPr lvl="1"/>
            <a:r>
              <a:rPr lang="en-US" dirty="0"/>
              <a:t>Fast startup</a:t>
            </a:r>
          </a:p>
          <a:p>
            <a:pPr lvl="1"/>
            <a:r>
              <a:rPr lang="en-US" dirty="0"/>
              <a:t>Lightweight environments</a:t>
            </a:r>
          </a:p>
          <a:p>
            <a:pPr lvl="1"/>
            <a:r>
              <a:rPr lang="en-US" dirty="0"/>
              <a:t>Consistent behavior everywhere</a:t>
            </a:r>
          </a:p>
        </p:txBody>
      </p:sp>
    </p:spTree>
    <p:extLst>
      <p:ext uri="{BB962C8B-B14F-4D97-AF65-F5344CB8AC3E}">
        <p14:creationId xmlns:p14="http://schemas.microsoft.com/office/powerpoint/2010/main" val="3411871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67A29-82D1-D00E-7264-D38F0632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2D0-612C-E15B-B484-222F23CC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Containerization Works Internally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6B0EA-B7AF-D6AF-0D34-8E4376B4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B29FCB5-3668-C8AF-60E7-6346CE16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9A36F-3545-47ED-63B7-6603A4A98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You Write a </a:t>
            </a:r>
            <a:r>
              <a:rPr lang="en-US" b="1" dirty="0" err="1"/>
              <a:t>Dockerfile</a:t>
            </a:r>
            <a:endParaRPr lang="en-US" b="1" dirty="0"/>
          </a:p>
          <a:p>
            <a:pPr lvl="1"/>
            <a:r>
              <a:rPr lang="en-US" dirty="0"/>
              <a:t>This file defines your app, Its dependencies, Base image and Commands to run</a:t>
            </a:r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FROM node:18</a:t>
            </a:r>
          </a:p>
          <a:p>
            <a:pPr marL="457200" lvl="1" indent="0">
              <a:buNone/>
            </a:pPr>
            <a:r>
              <a:rPr lang="en-US" dirty="0"/>
              <a:t>COPY . /app</a:t>
            </a:r>
          </a:p>
          <a:p>
            <a:pPr marL="457200" lvl="1" indent="0">
              <a:buNone/>
            </a:pPr>
            <a:r>
              <a:rPr lang="en-US" dirty="0"/>
              <a:t>CMD ["node", "</a:t>
            </a:r>
            <a:r>
              <a:rPr lang="en-US" dirty="0" err="1"/>
              <a:t>server.js</a:t>
            </a:r>
            <a:r>
              <a:rPr lang="en-US" dirty="0"/>
              <a:t>"]</a:t>
            </a:r>
          </a:p>
        </p:txBody>
      </p:sp>
    </p:spTree>
    <p:extLst>
      <p:ext uri="{BB962C8B-B14F-4D97-AF65-F5344CB8AC3E}">
        <p14:creationId xmlns:p14="http://schemas.microsoft.com/office/powerpoint/2010/main" val="2134538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01EBF-B79F-887C-FA76-76B76F07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7FC8-8F81-9933-BDE9-CFB65380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Containerization Works Internally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3FBEB-CDED-2A66-DA59-34A27A9D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C03067A-D9F9-4B7D-666D-770E3AFC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F1DA-149C-E22C-AEA6-8C78253AE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Docker Creates an Image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image</a:t>
            </a:r>
            <a:r>
              <a:rPr lang="en-US" dirty="0"/>
              <a:t> is a blueprint (template):</a:t>
            </a:r>
          </a:p>
          <a:p>
            <a:pPr lvl="2"/>
            <a:r>
              <a:rPr lang="en-US" dirty="0"/>
              <a:t>Application code</a:t>
            </a:r>
          </a:p>
          <a:p>
            <a:pPr lvl="2"/>
            <a:r>
              <a:rPr lang="en-US" dirty="0"/>
              <a:t>Libraries</a:t>
            </a:r>
          </a:p>
          <a:p>
            <a:pPr lvl="2"/>
            <a:r>
              <a:rPr lang="en-US" dirty="0"/>
              <a:t>Packages</a:t>
            </a:r>
          </a:p>
          <a:p>
            <a:pPr lvl="2"/>
            <a:r>
              <a:rPr lang="en-US" dirty="0"/>
              <a:t>Runtime environment</a:t>
            </a:r>
          </a:p>
          <a:p>
            <a:pPr lvl="1"/>
            <a:r>
              <a:rPr lang="en-US" dirty="0"/>
              <a:t>Images are made of </a:t>
            </a:r>
            <a:r>
              <a:rPr lang="en-US" b="1" dirty="0"/>
              <a:t>layers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something changes, only that layer updates (saves space).</a:t>
            </a:r>
          </a:p>
        </p:txBody>
      </p:sp>
    </p:spTree>
    <p:extLst>
      <p:ext uri="{BB962C8B-B14F-4D97-AF65-F5344CB8AC3E}">
        <p14:creationId xmlns:p14="http://schemas.microsoft.com/office/powerpoint/2010/main" val="3568288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4AE84-1B6D-DD78-7F0E-E12195C5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6D76-860D-4334-40C2-0F4F99FD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Containerization Works Internally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69B8D-CF0F-D7A8-5800-E8065F01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FF504A7-6954-6A1F-D3E2-70D2D170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2A6DA-6BD5-DE62-A959-7CA9FB36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A Container is Started from the Image</a:t>
            </a:r>
          </a:p>
          <a:p>
            <a:pPr lvl="1"/>
            <a:r>
              <a:rPr lang="en-US" dirty="0"/>
              <a:t>A container = </a:t>
            </a:r>
            <a:r>
              <a:rPr lang="en-US" b="1" dirty="0"/>
              <a:t>running instance</a:t>
            </a:r>
            <a:r>
              <a:rPr lang="en-US" dirty="0"/>
              <a:t> of the image.</a:t>
            </a:r>
          </a:p>
          <a:p>
            <a:pPr lvl="1"/>
            <a:r>
              <a:rPr lang="en-US" dirty="0"/>
              <a:t>It has:</a:t>
            </a:r>
          </a:p>
          <a:p>
            <a:pPr lvl="2"/>
            <a:r>
              <a:rPr lang="en-US" dirty="0"/>
              <a:t>Its own file system</a:t>
            </a:r>
          </a:p>
          <a:p>
            <a:pPr lvl="2"/>
            <a:r>
              <a:rPr lang="en-US" dirty="0"/>
              <a:t>Its own process tree</a:t>
            </a:r>
          </a:p>
          <a:p>
            <a:pPr lvl="2"/>
            <a:r>
              <a:rPr lang="en-US" dirty="0"/>
              <a:t>Its own networking</a:t>
            </a:r>
          </a:p>
          <a:p>
            <a:pPr lvl="2"/>
            <a:r>
              <a:rPr lang="en-US" dirty="0"/>
              <a:t>Its own resource limits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shares the host OS kernel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6614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E5CB1-1EF4-81DC-26CE-11CC467C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457F-1E09-12D5-CC76-BBDEB567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Containerization Works Internally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5C3CC-8380-82C3-6BC4-56A3E003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0F3E7C2-5A8E-4264-278A-8DC63EDC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50FD-576F-4905-0F0E-AB279AD3C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4957916" cy="462393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4. Linux Kernel Provides Isolation</a:t>
            </a:r>
          </a:p>
          <a:p>
            <a:r>
              <a:rPr lang="en-US" dirty="0"/>
              <a:t>Two main technologies make containerization possible:</a:t>
            </a:r>
          </a:p>
          <a:p>
            <a:r>
              <a:rPr lang="en-US" b="1" dirty="0"/>
              <a:t>(A) Control Groups (</a:t>
            </a:r>
            <a:r>
              <a:rPr lang="en-US" b="1" dirty="0" err="1"/>
              <a:t>cgroups</a:t>
            </a:r>
            <a:r>
              <a:rPr lang="en-US" b="1" dirty="0"/>
              <a:t>) – Manage Resource Limits</a:t>
            </a:r>
          </a:p>
          <a:p>
            <a:r>
              <a:rPr lang="en-US" dirty="0" err="1"/>
              <a:t>cgroups</a:t>
            </a:r>
            <a:r>
              <a:rPr lang="en-US" dirty="0"/>
              <a:t> limit:</a:t>
            </a:r>
          </a:p>
          <a:p>
            <a:pPr lvl="1"/>
            <a:r>
              <a:rPr lang="en-US" dirty="0"/>
              <a:t>CPU usage, Memory, Network bandwidth, IO</a:t>
            </a:r>
          </a:p>
          <a:p>
            <a:pPr lvl="1"/>
            <a:r>
              <a:rPr lang="en-US" dirty="0"/>
              <a:t>This prevents one container from eating all resources.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604B60-5528-1906-92D4-96593A3D8BA8}"/>
              </a:ext>
            </a:extLst>
          </p:cNvPr>
          <p:cNvSpPr txBox="1">
            <a:spLocks/>
          </p:cNvSpPr>
          <p:nvPr/>
        </p:nvSpPr>
        <p:spPr>
          <a:xfrm>
            <a:off x="6395884" y="1553029"/>
            <a:ext cx="4957916" cy="462393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(B) Namespaces – Provide Isolation</a:t>
            </a:r>
          </a:p>
          <a:p>
            <a:r>
              <a:rPr lang="en-US" dirty="0"/>
              <a:t>Namespaces isolate: Process IDs, File system, Hostnames, Users, Networking</a:t>
            </a:r>
          </a:p>
          <a:p>
            <a:r>
              <a:rPr lang="en-US" dirty="0"/>
              <a:t>Each container sees </a:t>
            </a:r>
            <a:r>
              <a:rPr lang="en-US" b="1" dirty="0"/>
              <a:t>only its own world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Container A process IDs start at 1</a:t>
            </a:r>
          </a:p>
          <a:p>
            <a:pPr lvl="1"/>
            <a:r>
              <a:rPr lang="en-US" dirty="0"/>
              <a:t>Container B also starts at 1</a:t>
            </a:r>
          </a:p>
          <a:p>
            <a:pPr lvl="1"/>
            <a:r>
              <a:rPr lang="en-US" dirty="0"/>
              <a:t>Host sees all processes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52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2D400-BD12-97D3-AA9C-84E7F6A5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4DEB-5538-F77E-8366-B42AFCC3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Containerization Works Internally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42C8-F001-CDBE-FF5E-0FE57806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5. Union File System Enables Layered Images</a:t>
            </a:r>
          </a:p>
          <a:p>
            <a:r>
              <a:rPr lang="en-US" dirty="0"/>
              <a:t>Docker images use </a:t>
            </a:r>
            <a:r>
              <a:rPr lang="en-US" dirty="0" err="1"/>
              <a:t>UnionFS</a:t>
            </a:r>
            <a:r>
              <a:rPr lang="en-US" dirty="0"/>
              <a:t> (like overlay2). It allows:</a:t>
            </a:r>
          </a:p>
          <a:p>
            <a:pPr lvl="1"/>
            <a:r>
              <a:rPr lang="en-US" dirty="0"/>
              <a:t>Base image reuse</a:t>
            </a:r>
          </a:p>
          <a:p>
            <a:pPr lvl="1"/>
            <a:r>
              <a:rPr lang="en-US" dirty="0"/>
              <a:t>Copy-on-write</a:t>
            </a:r>
          </a:p>
          <a:p>
            <a:pPr lvl="1"/>
            <a:r>
              <a:rPr lang="en-US" dirty="0"/>
              <a:t>Very fast updates</a:t>
            </a:r>
          </a:p>
          <a:p>
            <a:r>
              <a:rPr lang="en-US" dirty="0"/>
              <a:t>Example layers:</a:t>
            </a:r>
          </a:p>
          <a:p>
            <a:pPr lvl="1"/>
            <a:r>
              <a:rPr lang="en-US" dirty="0"/>
              <a:t>Layer 1: Ubuntu  </a:t>
            </a:r>
          </a:p>
          <a:p>
            <a:pPr lvl="1"/>
            <a:r>
              <a:rPr lang="en-US" dirty="0"/>
              <a:t>Layer 2: Python installed  </a:t>
            </a:r>
          </a:p>
          <a:p>
            <a:pPr lvl="1"/>
            <a:r>
              <a:rPr lang="en-US" dirty="0"/>
              <a:t>Layer 3: App code  </a:t>
            </a:r>
          </a:p>
          <a:p>
            <a:pPr lvl="1"/>
            <a:r>
              <a:rPr lang="en-US" dirty="0"/>
              <a:t>Layer 4: Configuration 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3203F-5448-CE31-DF03-85722C1C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5546092-9520-F908-0F1F-FFCED28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772731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BA0E5-64A8-F777-6D74-EF1469EF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01A8-3E8D-A5DA-5F54-F599F239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Containerization Works Internally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46BD-6B17-F9EA-E7C9-AF2AFAB6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6. Containers Use a Virtual Network</a:t>
            </a:r>
          </a:p>
          <a:p>
            <a:r>
              <a:rPr lang="en-US" dirty="0"/>
              <a:t>Docker creates:</a:t>
            </a:r>
          </a:p>
          <a:p>
            <a:pPr lvl="1"/>
            <a:r>
              <a:rPr lang="en-US" dirty="0"/>
              <a:t>docker0 bridge</a:t>
            </a:r>
          </a:p>
          <a:p>
            <a:pPr lvl="1"/>
            <a:r>
              <a:rPr lang="en-US" dirty="0"/>
              <a:t>Virtual Ethernet pairs (</a:t>
            </a:r>
            <a:r>
              <a:rPr lang="en-US" dirty="0" err="1"/>
              <a:t>veth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NAT rules</a:t>
            </a:r>
          </a:p>
          <a:p>
            <a:r>
              <a:rPr lang="en-US" dirty="0"/>
              <a:t>Container gets its own IP address.</a:t>
            </a:r>
          </a:p>
          <a:p>
            <a:r>
              <a:rPr lang="en-US" dirty="0"/>
              <a:t>Containers can:</a:t>
            </a:r>
          </a:p>
          <a:p>
            <a:pPr lvl="1"/>
            <a:r>
              <a:rPr lang="en-US" dirty="0"/>
              <a:t>Talk to each other</a:t>
            </a:r>
          </a:p>
          <a:p>
            <a:pPr lvl="1"/>
            <a:r>
              <a:rPr lang="en-US" dirty="0"/>
              <a:t>Be exposed to the internet</a:t>
            </a:r>
          </a:p>
          <a:p>
            <a:pPr lvl="1"/>
            <a:r>
              <a:rPr lang="en-US" dirty="0"/>
              <a:t>Connect to Cloud load balancers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AE66B-EE90-DB06-C620-1815F366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0C07E2A-5FBF-E5E1-E30D-18137DE6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603074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2CDBC-2ED7-8638-D43D-BE0B986C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CC4D-74C6-F3EA-88EC-72B93573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VMs vs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4A1D8-C7F2-1625-175C-8F64B78E8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4987413" cy="4623934"/>
          </a:xfrm>
        </p:spPr>
        <p:txBody>
          <a:bodyPr>
            <a:normAutofit/>
          </a:bodyPr>
          <a:lstStyle/>
          <a:p>
            <a:r>
              <a:rPr lang="en-US" b="1" dirty="0"/>
              <a:t>Virtual Machines</a:t>
            </a:r>
          </a:p>
          <a:p>
            <a:r>
              <a:rPr lang="en-US" dirty="0"/>
              <a:t>Have full OS</a:t>
            </a:r>
          </a:p>
          <a:p>
            <a:r>
              <a:rPr lang="en-US" dirty="0"/>
              <a:t>Heavy</a:t>
            </a:r>
          </a:p>
          <a:p>
            <a:r>
              <a:rPr lang="en-US" dirty="0"/>
              <a:t>Slow to boot</a:t>
            </a:r>
          </a:p>
          <a:p>
            <a:r>
              <a:rPr lang="en-US" dirty="0"/>
              <a:t>Strong isolation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D88E6-9DBE-CA9A-7AD4-B1867E5D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5F2F5DA-B612-7DCD-2CE9-16272013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FBF4F-EA99-A781-7AFC-2A36EF358F25}"/>
              </a:ext>
            </a:extLst>
          </p:cNvPr>
          <p:cNvSpPr txBox="1">
            <a:spLocks/>
          </p:cNvSpPr>
          <p:nvPr/>
        </p:nvSpPr>
        <p:spPr>
          <a:xfrm>
            <a:off x="6366389" y="1570151"/>
            <a:ext cx="4987413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Containers</a:t>
            </a:r>
          </a:p>
          <a:p>
            <a:r>
              <a:rPr lang="en-US" dirty="0"/>
              <a:t>Share host OS</a:t>
            </a:r>
          </a:p>
          <a:p>
            <a:r>
              <a:rPr lang="en-US" dirty="0"/>
              <a:t>Lightweight</a:t>
            </a:r>
          </a:p>
          <a:p>
            <a:r>
              <a:rPr lang="en-US" dirty="0"/>
              <a:t>Start in seconds</a:t>
            </a:r>
          </a:p>
          <a:p>
            <a:r>
              <a:rPr lang="en-US" dirty="0"/>
              <a:t>Perfect for microservices</a:t>
            </a:r>
          </a:p>
        </p:txBody>
      </p:sp>
    </p:spTree>
    <p:extLst>
      <p:ext uri="{BB962C8B-B14F-4D97-AF65-F5344CB8AC3E}">
        <p14:creationId xmlns:p14="http://schemas.microsoft.com/office/powerpoint/2010/main" val="11717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70020-7CA7-E146-BE32-E229EBB8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904D-B7DE-397A-F425-CD245C6A9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FEAC3-4D02-BAE4-BDE4-DE06EECE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(K8s) is an </a:t>
            </a:r>
            <a:r>
              <a:rPr lang="en-US" b="1" dirty="0"/>
              <a:t>open-source container orchestration platform</a:t>
            </a:r>
            <a:r>
              <a:rPr lang="en-US" dirty="0"/>
              <a:t> used to </a:t>
            </a:r>
            <a:r>
              <a:rPr lang="en-US" b="1" dirty="0"/>
              <a:t>automate the deployment, scaling, load balancing, healing, and management of containerized applications</a:t>
            </a:r>
            <a:r>
              <a:rPr lang="en-US" dirty="0"/>
              <a:t>.</a:t>
            </a:r>
          </a:p>
          <a:p>
            <a:r>
              <a:rPr lang="en-US" dirty="0"/>
              <a:t>Think of Kubernetes as the </a:t>
            </a:r>
            <a:r>
              <a:rPr lang="en-US" b="1" dirty="0"/>
              <a:t>“operating system for the cloud data center.”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73277-2499-D021-DB22-12D64C76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E09F311-E745-B8D2-1461-DD830D13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774546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A4377-A42C-A95B-039A-C7176657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AC45-9DA6-8E6C-8646-B71A9594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Kubernetes?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31C5-36AE-9389-C1D6-B262D4899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Containers alone (Docker) are good for packaging applications, but </a:t>
            </a:r>
            <a:r>
              <a:rPr lang="en-US" b="1" dirty="0"/>
              <a:t>managing many containers manually becomes impossible</a:t>
            </a:r>
            <a:r>
              <a:rPr lang="en-US" dirty="0"/>
              <a:t>.</a:t>
            </a:r>
          </a:p>
          <a:p>
            <a:r>
              <a:rPr lang="en-US" dirty="0"/>
              <a:t>Kubernetes solves all the pain points of running containers at scale.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03C3F-683A-8536-3F27-58AF2A4C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B8C0CDC-8CF1-74BB-3CC5-D962F82D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432423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DEF47-AC3A-3F86-D16D-A9EBC3F8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0DE2-2DD2-5E71-2746-E43E2F50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Kubernetes?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57881-0A77-959D-57A9-8E731E6B4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⚠️ Problems Without Kubernetes</a:t>
            </a:r>
          </a:p>
          <a:p>
            <a:r>
              <a:rPr lang="en-US" dirty="0"/>
              <a:t>If you use Docker alone:</a:t>
            </a:r>
          </a:p>
          <a:p>
            <a:pPr lvl="1"/>
            <a:r>
              <a:rPr lang="en-US" dirty="0"/>
              <a:t>You must start/stop containers manually</a:t>
            </a:r>
          </a:p>
          <a:p>
            <a:pPr lvl="1"/>
            <a:r>
              <a:rPr lang="en-US" dirty="0"/>
              <a:t>If a container crashes → app goes down</a:t>
            </a:r>
          </a:p>
          <a:p>
            <a:pPr lvl="1"/>
            <a:r>
              <a:rPr lang="en-US" dirty="0"/>
              <a:t>You must handle your own load balancing</a:t>
            </a:r>
          </a:p>
          <a:p>
            <a:pPr lvl="1"/>
            <a:r>
              <a:rPr lang="en-US" dirty="0"/>
              <a:t>You must deploy updates manually</a:t>
            </a:r>
          </a:p>
          <a:p>
            <a:pPr lvl="1"/>
            <a:r>
              <a:rPr lang="en-US" dirty="0"/>
              <a:t>You must monitor capacity and scale yourself</a:t>
            </a:r>
          </a:p>
          <a:p>
            <a:pPr lvl="1"/>
            <a:r>
              <a:rPr lang="en-US" dirty="0"/>
              <a:t>You must manage networking for all containers</a:t>
            </a:r>
          </a:p>
          <a:p>
            <a:pPr lvl="1"/>
            <a:r>
              <a:rPr lang="en-US" dirty="0"/>
              <a:t>Hard to run across multiple nodes/servers</a:t>
            </a:r>
          </a:p>
          <a:p>
            <a:r>
              <a:rPr lang="en-US" dirty="0"/>
              <a:t>As soon as you go beyond 3–4 containers → </a:t>
            </a:r>
            <a:r>
              <a:rPr lang="en-US" b="1" dirty="0"/>
              <a:t>chaos begins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EE6D4-812A-6FA6-165F-77FE9323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BED77CC-B25F-8395-C716-4E25425C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4129685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CE85D-22A2-9828-1EC0-EAB7C93FA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1BA5-60A3-ABD4-6095-BACC787C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82BB-2959-9F38-C2CE-69F449207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Auto-Healing</a:t>
            </a:r>
          </a:p>
          <a:p>
            <a:r>
              <a:rPr lang="en-US" dirty="0"/>
              <a:t>If a container crashes → Kubernetes restarts it</a:t>
            </a:r>
          </a:p>
          <a:p>
            <a:r>
              <a:rPr lang="en-US" dirty="0"/>
              <a:t>If a node (server) goes down → workloads move to another node</a:t>
            </a:r>
          </a:p>
          <a:p>
            <a:r>
              <a:rPr lang="en-US" dirty="0"/>
              <a:t>Keeps applications always running.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9081D-05F7-3BEF-3B2C-C8FDCBCE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D64E4C2-69D6-50B0-E55B-8B65A4E5D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089269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2C1A2-FBAD-58E2-D75D-FD35932D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BED1-62D2-10B3-E10B-48E5B754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50885-1658-D90D-95B7-9D931235F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Auto-Scaling</a:t>
            </a:r>
          </a:p>
          <a:p>
            <a:r>
              <a:rPr lang="en-US" dirty="0"/>
              <a:t>Kubernetes automatically increases/decreases containers based on:</a:t>
            </a:r>
          </a:p>
          <a:p>
            <a:pPr lvl="1"/>
            <a:r>
              <a:rPr lang="en-US" dirty="0"/>
              <a:t>CPU usage</a:t>
            </a:r>
          </a:p>
          <a:p>
            <a:pPr lvl="1"/>
            <a:r>
              <a:rPr lang="en-US" dirty="0"/>
              <a:t>Memory usage</a:t>
            </a:r>
          </a:p>
          <a:p>
            <a:pPr lvl="1"/>
            <a:r>
              <a:rPr lang="en-US" dirty="0"/>
              <a:t>User traffic</a:t>
            </a:r>
          </a:p>
          <a:p>
            <a:r>
              <a:rPr lang="en-US" dirty="0"/>
              <a:t>Example: e-commerce site automatically scales during Dashain/Tihar sale.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21284-C541-93BE-EE36-43CE4CF8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7355A42-AB7F-2B2F-0115-0086CC8E0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594247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B4DD5-B5F9-6C4A-094B-5893BA89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3073-6E07-D165-52B6-5F057B66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905E-19B9-8F77-FAF7-30B90EFB0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Automated Deployment &amp; Rollbacks</a:t>
            </a:r>
          </a:p>
          <a:p>
            <a:r>
              <a:rPr lang="en-US" dirty="0"/>
              <a:t>For updates:</a:t>
            </a:r>
          </a:p>
          <a:p>
            <a:pPr lvl="1"/>
            <a:r>
              <a:rPr lang="en-US" dirty="0"/>
              <a:t>Kubernetes deploys new version</a:t>
            </a:r>
          </a:p>
          <a:p>
            <a:pPr lvl="1"/>
            <a:r>
              <a:rPr lang="en-US" dirty="0"/>
              <a:t>Tests if healthy</a:t>
            </a:r>
          </a:p>
          <a:p>
            <a:pPr lvl="1"/>
            <a:r>
              <a:rPr lang="en-US" dirty="0"/>
              <a:t>Rolls back automatically if problem</a:t>
            </a:r>
          </a:p>
          <a:p>
            <a:r>
              <a:rPr lang="en-US" dirty="0"/>
              <a:t>No downtime updates → CI/CD friendly.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B5F4B-2BA2-3268-776B-3B5678DD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5AB8364-9931-BC1F-36A6-ED3CF04F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397485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AE6F7-F3FB-89DF-FA83-5C557700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1049-E7FE-6D38-FDC9-3C14E871E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3CB4-4E85-AE53-37A9-A4A5471DF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Service Discovery &amp; Load Balancing</a:t>
            </a:r>
          </a:p>
          <a:p>
            <a:r>
              <a:rPr lang="en-US" dirty="0"/>
              <a:t>Kubernetes provides:</a:t>
            </a:r>
          </a:p>
          <a:p>
            <a:pPr lvl="1"/>
            <a:r>
              <a:rPr lang="en-US" dirty="0"/>
              <a:t>Internal DNS</a:t>
            </a:r>
          </a:p>
          <a:p>
            <a:pPr lvl="1"/>
            <a:r>
              <a:rPr lang="en-US" dirty="0"/>
              <a:t>Automatic load balancing for services</a:t>
            </a:r>
          </a:p>
          <a:p>
            <a:pPr lvl="1"/>
            <a:r>
              <a:rPr lang="en-US" dirty="0"/>
              <a:t>Stable service IPs even if containers change</a:t>
            </a:r>
          </a:p>
          <a:p>
            <a:r>
              <a:rPr lang="en-US" dirty="0"/>
              <a:t>Apps communicate easily even when containers replace each other.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C0181-52C9-5C07-1CCE-8E6DDB5E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0152D1B-B3BF-5B02-5F56-FCA820D3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904193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20BD9-EA52-17BF-0C44-E68C0A2C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D566-C148-411A-4282-3DE07235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6F68E-07DC-BFF3-B649-B4B0A2824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Multi-Node Cluster Management</a:t>
            </a:r>
          </a:p>
          <a:p>
            <a:r>
              <a:rPr lang="en-US" dirty="0"/>
              <a:t>Kubernetes groups many servers into </a:t>
            </a:r>
            <a:r>
              <a:rPr lang="en-US" b="1" dirty="0"/>
              <a:t>one cluster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Master/Control plane → brain</a:t>
            </a:r>
          </a:p>
          <a:p>
            <a:pPr lvl="1"/>
            <a:r>
              <a:rPr lang="en-US" dirty="0"/>
              <a:t>Worker nodes → run containers</a:t>
            </a:r>
          </a:p>
          <a:p>
            <a:r>
              <a:rPr lang="en-US" dirty="0"/>
              <a:t>Kubernetes spreads containers across nodes for reliability.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E42CC-D333-AE2A-AD06-B462BB0E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EE6A613-F798-140B-9015-04F1BAAB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784878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C0D07-8974-A42D-9A1B-88B057F3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F985-5C22-9846-AF40-E3891A04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A2FB-E9A3-7E47-4BC1-26E5B81B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 Config &amp; Secret Management</a:t>
            </a:r>
          </a:p>
          <a:p>
            <a:r>
              <a:rPr lang="en-US" dirty="0"/>
              <a:t>Handles:</a:t>
            </a:r>
          </a:p>
          <a:p>
            <a:pPr lvl="1"/>
            <a:r>
              <a:rPr lang="en-US" dirty="0"/>
              <a:t>API keys</a:t>
            </a:r>
          </a:p>
          <a:p>
            <a:pPr lvl="1"/>
            <a:r>
              <a:rPr lang="en-US" dirty="0"/>
              <a:t>Passwords</a:t>
            </a:r>
          </a:p>
          <a:p>
            <a:pPr lvl="1"/>
            <a:r>
              <a:rPr lang="en-US" dirty="0"/>
              <a:t>Environment variables</a:t>
            </a:r>
          </a:p>
          <a:p>
            <a:pPr lvl="1"/>
            <a:r>
              <a:rPr lang="en-US" dirty="0"/>
              <a:t>Config files</a:t>
            </a:r>
          </a:p>
          <a:p>
            <a:r>
              <a:rPr lang="en-US" dirty="0"/>
              <a:t>Secure, centralized configuration management.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6AD89-B931-80F7-C48F-BCB1B7C9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697B2FD-562C-9A75-EF16-A6C1DE6DA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290402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DB652-035E-FC03-ED31-DF2C0643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82DB-E64E-4CB8-2045-E0C4FB6C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Kubernetes does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7D87-A56B-B290-7224-163496D7A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7. Runs Anywhere (Cloud, On-Premises, Hybrid)</a:t>
            </a:r>
          </a:p>
          <a:p>
            <a:r>
              <a:rPr lang="en-US" dirty="0"/>
              <a:t>Kubernetes works on:</a:t>
            </a:r>
          </a:p>
          <a:p>
            <a:pPr lvl="1"/>
            <a:r>
              <a:rPr lang="en-US" dirty="0"/>
              <a:t>AWS EKS</a:t>
            </a:r>
          </a:p>
          <a:p>
            <a:pPr lvl="1"/>
            <a:r>
              <a:rPr lang="en-US" dirty="0"/>
              <a:t>Google GKE</a:t>
            </a:r>
          </a:p>
          <a:p>
            <a:pPr lvl="1"/>
            <a:r>
              <a:rPr lang="en-US" dirty="0"/>
              <a:t>Azure AKS</a:t>
            </a:r>
          </a:p>
          <a:p>
            <a:pPr lvl="1"/>
            <a:r>
              <a:rPr lang="en-US" dirty="0"/>
              <a:t>Bare-metal servers</a:t>
            </a:r>
          </a:p>
          <a:p>
            <a:pPr lvl="1"/>
            <a:r>
              <a:rPr lang="en-US" dirty="0"/>
              <a:t>VMware</a:t>
            </a:r>
          </a:p>
          <a:p>
            <a:pPr lvl="1"/>
            <a:r>
              <a:rPr lang="en-US" dirty="0"/>
              <a:t>OpenStack</a:t>
            </a:r>
          </a:p>
          <a:p>
            <a:pPr lvl="1"/>
            <a:r>
              <a:rPr lang="en-US" dirty="0" err="1"/>
              <a:t>Minikube</a:t>
            </a:r>
            <a:r>
              <a:rPr lang="en-US" dirty="0"/>
              <a:t> for local labs</a:t>
            </a:r>
          </a:p>
          <a:p>
            <a:r>
              <a:rPr lang="en-US" dirty="0"/>
              <a:t>Most cloud-native apps today rely on Kubernetes.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F8087-199C-D64E-A3FB-BB24B8BA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7EFFB45-112C-6AE7-9A7A-AE8FADAD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044546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4C15C-374E-AF49-7C15-EEC06E15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0376-F59E-481E-64BD-5362F329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A21A0-19A1-C345-C078-4DAD1B45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21EACAA-F3E5-9141-DAC8-B19B2B81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pic>
        <p:nvPicPr>
          <p:cNvPr id="7176" name="Picture 8" descr="Kubernetes Architecture Overview. Hey… 🫶 Welcome Back………………….🤞 | by  Athira KK | Medium">
            <a:extLst>
              <a:ext uri="{FF2B5EF4-FFF2-40B4-BE49-F238E27FC236}">
                <a16:creationId xmlns:a16="http://schemas.microsoft.com/office/drawing/2014/main" id="{8BC7C4DD-77A5-B7A0-B49E-A95481E8BF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186" y="1407886"/>
            <a:ext cx="7811628" cy="491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447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5FF8D-5B6C-1D62-23F7-5FE9D2FE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88EC-E15F-DFEB-C5F8-B6D28B781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Kubernetes Uses Containers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7611F-BB55-DA6C-19BF-5D4E5469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3FFBBC7-2587-C6CB-0B24-E63EE09F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D7C6A-E3D1-9B57-9B3B-466707A61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Kubernetes </a:t>
            </a:r>
            <a:r>
              <a:rPr lang="en-US" dirty="0"/>
              <a:t>does: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Scheduling containers on nodes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Restarting failed containers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Scaling replicas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Networking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Load balancing</a:t>
            </a:r>
          </a:p>
          <a:p>
            <a:r>
              <a:rPr lang="en-US" dirty="0"/>
              <a:t>A container is always inside a </a:t>
            </a:r>
            <a:r>
              <a:rPr lang="en-US" b="1" dirty="0"/>
              <a:t>Pod</a:t>
            </a:r>
            <a:r>
              <a:rPr lang="en-US" dirty="0"/>
              <a:t> in Kubernetes.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616873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E75F5-985F-F81A-41A0-CCB8E9E2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B9105-B188-0674-1BF7-7C97803D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05AD8-F4CB-8EE6-66BF-C69B511D5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Virtual Private Cloud (VPC)</a:t>
            </a:r>
            <a:r>
              <a:rPr lang="en-US" dirty="0"/>
              <a:t> is a logically isolated virtual network in the cloud where you can run your resources (VMs, databases, containers) securely.</a:t>
            </a:r>
          </a:p>
          <a:p>
            <a:r>
              <a:rPr lang="en-US" dirty="0"/>
              <a:t>It acts like your own </a:t>
            </a:r>
            <a:r>
              <a:rPr lang="en-US" b="1" dirty="0"/>
              <a:t>private data center inside the cloud, </a:t>
            </a:r>
            <a:r>
              <a:rPr lang="en-US" dirty="0"/>
              <a:t>just like a mini data center where </a:t>
            </a:r>
            <a:r>
              <a:rPr lang="en-US" i="1" dirty="0"/>
              <a:t>you control the IP ranges, subnets, routing, firewalls, gateways, and connectivity</a:t>
            </a:r>
            <a:r>
              <a:rPr lang="en-US" dirty="0"/>
              <a:t>.</a:t>
            </a:r>
          </a:p>
          <a:p>
            <a:r>
              <a:rPr lang="en-US" dirty="0"/>
              <a:t>Think of it as:</a:t>
            </a:r>
            <a:br>
              <a:rPr lang="en-US" dirty="0"/>
            </a:br>
            <a:r>
              <a:rPr lang="en-US" b="1" dirty="0"/>
              <a:t>“Your personal secure LAN inside AWS/Azure/GCP.”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5B49E-D6CE-CC89-5AAC-80A4CA77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DB806DC-563B-3C11-18D9-099C7B4F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560410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A1EE2-5488-8A7B-1CCE-A10E6F9B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AA27-00F9-971A-E81A-443C678C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Features of VPC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A92F4-3D3A-3D70-111E-E81D306F1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Custom IP Address ranges (CIDR blocks)</a:t>
            </a:r>
          </a:p>
          <a:p>
            <a:r>
              <a:rPr lang="en-US" dirty="0"/>
              <a:t>Subnets (public and private)</a:t>
            </a:r>
          </a:p>
          <a:p>
            <a:r>
              <a:rPr lang="en-US" dirty="0"/>
              <a:t>Routing tables</a:t>
            </a:r>
          </a:p>
          <a:p>
            <a:r>
              <a:rPr lang="en-US" dirty="0"/>
              <a:t>Internet Gateway (IGW)</a:t>
            </a:r>
          </a:p>
          <a:p>
            <a:r>
              <a:rPr lang="en-US" dirty="0"/>
              <a:t>NAT Gateway</a:t>
            </a:r>
          </a:p>
          <a:p>
            <a:r>
              <a:rPr lang="en-US" dirty="0"/>
              <a:t>Security Groups (firewall rules)</a:t>
            </a:r>
          </a:p>
          <a:p>
            <a:r>
              <a:rPr lang="en-US" dirty="0"/>
              <a:t>Network ACLs (subnet-level security)</a:t>
            </a:r>
          </a:p>
          <a:p>
            <a:r>
              <a:rPr lang="en-US" dirty="0"/>
              <a:t>VPC Peering (connect two VPCs)</a:t>
            </a:r>
          </a:p>
          <a:p>
            <a:r>
              <a:rPr lang="en-US" dirty="0"/>
              <a:t>Transit Gateway (for multiple VPCs)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E044A-5B77-C5CA-C087-3C7076C8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6482112-E935-3FE2-A2C8-C6DFD415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529233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4D05D-AB3C-9A17-7991-C405B5A0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0272-F60D-27D2-2E46-D2286870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1476-4DD6-714C-3D44-FABD553AA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providers serve millions of customers.</a:t>
            </a:r>
          </a:p>
          <a:p>
            <a:r>
              <a:rPr lang="en-US" dirty="0"/>
              <a:t>All hardware is shared, but logically isolated.</a:t>
            </a:r>
          </a:p>
          <a:p>
            <a:r>
              <a:rPr lang="en-US" b="1" dirty="0"/>
              <a:t>VPC provides the isolation.</a:t>
            </a:r>
            <a:endParaRPr lang="en-US" dirty="0"/>
          </a:p>
          <a:p>
            <a:r>
              <a:rPr lang="en-US" dirty="0"/>
              <a:t>Without a VPC, your instances would be on shared networks — increasing risk and reducing control.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E30C3-993A-080D-1C0D-20C774A6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3D3B44E-9FEB-9D5E-F061-67770563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319201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038D2-D4AA-9039-FCD7-022A50E1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8703-F44D-8A30-9DC2-CAF8CF16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VPN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1BA9F-89E4-B6F9-66FF-7FFEBEF1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BCCB256-A75D-5DFE-D549-21017F92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pic>
        <p:nvPicPr>
          <p:cNvPr id="1026" name="Picture 2" descr="Beyond Your Personal Network: What Is a VPN?">
            <a:extLst>
              <a:ext uri="{FF2B5EF4-FFF2-40B4-BE49-F238E27FC236}">
                <a16:creationId xmlns:a16="http://schemas.microsoft.com/office/drawing/2014/main" id="{52D375C0-9581-1F0E-1CB6-F513DCB2DA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39" y="1548581"/>
            <a:ext cx="7211474" cy="432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9575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39506-100E-1DD6-A258-A0268503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7B32-604E-F4B5-6622-96DF3AC7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7D648-0AF8-D2D5-C37E-4539EDE38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VPN</a:t>
            </a:r>
            <a:r>
              <a:rPr lang="en-US" dirty="0"/>
              <a:t> (Virtual Private Network) is a secure tunnel created over a public network (the Internet) to connect:</a:t>
            </a:r>
          </a:p>
          <a:p>
            <a:pPr lvl="1"/>
            <a:r>
              <a:rPr lang="en-US" dirty="0"/>
              <a:t>On-premises data centers to the cloud</a:t>
            </a:r>
          </a:p>
          <a:p>
            <a:pPr lvl="1"/>
            <a:r>
              <a:rPr lang="en-US" dirty="0"/>
              <a:t>Remote users to a cloud environment</a:t>
            </a:r>
          </a:p>
          <a:p>
            <a:pPr lvl="1"/>
            <a:r>
              <a:rPr lang="en-US" dirty="0"/>
              <a:t>Two cloud networks together</a:t>
            </a:r>
          </a:p>
          <a:p>
            <a:r>
              <a:rPr lang="en-US" dirty="0"/>
              <a:t>VPN ensures:</a:t>
            </a:r>
          </a:p>
          <a:p>
            <a:pPr lvl="1"/>
            <a:r>
              <a:rPr lang="en-US" dirty="0"/>
              <a:t>Confidentiality (encryption)</a:t>
            </a:r>
          </a:p>
          <a:p>
            <a:pPr lvl="1"/>
            <a:r>
              <a:rPr lang="en-US" dirty="0"/>
              <a:t>Integrity</a:t>
            </a:r>
          </a:p>
          <a:p>
            <a:pPr lvl="1"/>
            <a:r>
              <a:rPr lang="en-US" dirty="0"/>
              <a:t>Authentication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D3D36-3C20-3C12-21E7-3C7ED3D6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D5C5C80-B602-6AD5-FFA2-35865875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5058936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F1064-1467-142D-E0ED-BF468E02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D566-3820-BA7D-C2BB-EDD3F7B2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45A70-69DE-8CED-D112-36AF25305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You Connect to the Internet</a:t>
            </a:r>
          </a:p>
          <a:p>
            <a:pPr lvl="1"/>
            <a:r>
              <a:rPr lang="en-US" dirty="0"/>
              <a:t>Your device → ISP → Internet</a:t>
            </a:r>
          </a:p>
          <a:p>
            <a:pPr lvl="1"/>
            <a:r>
              <a:rPr lang="en-US" dirty="0"/>
              <a:t>Normally, everything is visible:</a:t>
            </a:r>
          </a:p>
          <a:p>
            <a:pPr lvl="2"/>
            <a:r>
              <a:rPr lang="en-US" dirty="0"/>
              <a:t>Your IP address</a:t>
            </a:r>
          </a:p>
          <a:p>
            <a:pPr lvl="2"/>
            <a:r>
              <a:rPr lang="en-US" dirty="0"/>
              <a:t>The websites you visit</a:t>
            </a:r>
          </a:p>
          <a:p>
            <a:pPr lvl="2"/>
            <a:r>
              <a:rPr lang="en-US" dirty="0"/>
              <a:t>Data you send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A1529-2940-A021-F069-8E75EB32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6C475EF-D884-28FB-C3EE-0D2B7380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9333289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E0320-CDC0-A8E4-2314-0DC70AF0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87F3-000C-C535-AB59-5EF2F023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235FF-E2D9-2560-FE0D-2CFAD7E14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You Turn ON the VPN</a:t>
            </a:r>
          </a:p>
          <a:p>
            <a:pPr lvl="1"/>
            <a:r>
              <a:rPr lang="en-US" dirty="0"/>
              <a:t>You select a </a:t>
            </a:r>
            <a:r>
              <a:rPr lang="en-US" b="1" dirty="0"/>
              <a:t>VPN server</a:t>
            </a:r>
            <a:r>
              <a:rPr lang="en-US" dirty="0"/>
              <a:t> (e.g., Singapore, USA, Nepal).</a:t>
            </a:r>
          </a:p>
          <a:p>
            <a:pPr lvl="1"/>
            <a:r>
              <a:rPr lang="en-US" dirty="0"/>
              <a:t>Your device and the VPN server:</a:t>
            </a:r>
          </a:p>
          <a:p>
            <a:pPr lvl="2"/>
            <a:r>
              <a:rPr lang="en-US" dirty="0"/>
              <a:t>Perform a </a:t>
            </a:r>
            <a:r>
              <a:rPr lang="en-US" b="1" dirty="0"/>
              <a:t>handshake</a:t>
            </a:r>
            <a:endParaRPr lang="en-US" dirty="0"/>
          </a:p>
          <a:p>
            <a:pPr lvl="2"/>
            <a:r>
              <a:rPr lang="en-US" dirty="0"/>
              <a:t>Agree on </a:t>
            </a:r>
            <a:r>
              <a:rPr lang="en-US" b="1" dirty="0"/>
              <a:t>encryption keys</a:t>
            </a:r>
            <a:endParaRPr lang="en-US" dirty="0"/>
          </a:p>
          <a:p>
            <a:pPr lvl="2"/>
            <a:r>
              <a:rPr lang="en-US" dirty="0"/>
              <a:t>Establish a </a:t>
            </a:r>
            <a:r>
              <a:rPr lang="en-US" b="1" dirty="0"/>
              <a:t>secure tunnel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F127D-C6FD-692D-86BD-76BA9C2C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BC822A8-288E-FC09-4246-85E7E59E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605072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EC7FD-715C-9BEA-B39A-E7F35124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F76B-5D37-2DD4-DBCA-DB2B6C00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A9DC1-B248-1341-9F5C-66638299C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A Secure Tunnel is Formed</a:t>
            </a:r>
          </a:p>
          <a:p>
            <a:pPr lvl="1"/>
            <a:r>
              <a:rPr lang="en-US" dirty="0"/>
              <a:t>This tunnel uses strong encryption protocols like:</a:t>
            </a:r>
          </a:p>
          <a:p>
            <a:pPr lvl="2"/>
            <a:r>
              <a:rPr lang="en-US" dirty="0"/>
              <a:t>OpenVPN</a:t>
            </a:r>
          </a:p>
          <a:p>
            <a:pPr lvl="2"/>
            <a:r>
              <a:rPr lang="en-US" dirty="0"/>
              <a:t>IPSec</a:t>
            </a:r>
          </a:p>
          <a:p>
            <a:pPr lvl="2"/>
            <a:r>
              <a:rPr lang="en-US" dirty="0" err="1"/>
              <a:t>WireGuard</a:t>
            </a:r>
            <a:endParaRPr lang="en-US" dirty="0"/>
          </a:p>
          <a:p>
            <a:pPr lvl="2"/>
            <a:r>
              <a:rPr lang="en-US" dirty="0"/>
              <a:t>L2TP/IPSec</a:t>
            </a:r>
          </a:p>
          <a:p>
            <a:pPr lvl="1"/>
            <a:r>
              <a:rPr lang="en-US" dirty="0"/>
              <a:t>This tunnel prevents:</a:t>
            </a:r>
          </a:p>
          <a:p>
            <a:pPr lvl="2"/>
            <a:r>
              <a:rPr lang="en-US" dirty="0"/>
              <a:t>Snooping</a:t>
            </a:r>
          </a:p>
          <a:p>
            <a:pPr lvl="2"/>
            <a:r>
              <a:rPr lang="en-US" dirty="0"/>
              <a:t>Man-in-the-middle attacks</a:t>
            </a:r>
          </a:p>
          <a:p>
            <a:pPr lvl="2"/>
            <a:r>
              <a:rPr lang="en-US" dirty="0"/>
              <a:t>Data tampering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71954-2239-36BF-D0E8-1FF0629F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9B4E731-69B6-BB71-7B17-08D9A9A8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3146637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1EE51-4C1B-9A66-5116-77FBD6A9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2375-D7AB-7301-D503-34FA973A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8953-C238-82A9-B9E9-0B7AE2E5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 A Secure Tunnel is Formed</a:t>
            </a:r>
          </a:p>
          <a:p>
            <a:pPr lvl="1"/>
            <a:r>
              <a:rPr lang="en-US" dirty="0"/>
              <a:t>This tunnel uses strong encryption protocols like:</a:t>
            </a:r>
          </a:p>
          <a:p>
            <a:pPr lvl="2"/>
            <a:r>
              <a:rPr lang="en-US" dirty="0"/>
              <a:t>OpenVPN</a:t>
            </a:r>
          </a:p>
          <a:p>
            <a:pPr lvl="2"/>
            <a:r>
              <a:rPr lang="en-US" dirty="0"/>
              <a:t>IPSec</a:t>
            </a:r>
          </a:p>
          <a:p>
            <a:pPr lvl="2"/>
            <a:r>
              <a:rPr lang="en-US" dirty="0" err="1"/>
              <a:t>WireGuard</a:t>
            </a:r>
            <a:endParaRPr lang="en-US" dirty="0"/>
          </a:p>
          <a:p>
            <a:pPr lvl="2"/>
            <a:r>
              <a:rPr lang="en-US" dirty="0"/>
              <a:t>L2TP/IPSec</a:t>
            </a:r>
          </a:p>
          <a:p>
            <a:pPr lvl="1"/>
            <a:r>
              <a:rPr lang="en-US" dirty="0"/>
              <a:t>This tunnel prevents:</a:t>
            </a:r>
          </a:p>
          <a:p>
            <a:pPr lvl="2"/>
            <a:r>
              <a:rPr lang="en-US" dirty="0"/>
              <a:t>Snooping</a:t>
            </a:r>
          </a:p>
          <a:p>
            <a:pPr lvl="2"/>
            <a:r>
              <a:rPr lang="en-US" dirty="0"/>
              <a:t>Man-in-the-middle attacks</a:t>
            </a:r>
          </a:p>
          <a:p>
            <a:pPr lvl="2"/>
            <a:r>
              <a:rPr lang="en-US" dirty="0"/>
              <a:t>Data tampering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A6D2-177A-E4DA-3C1A-9E488287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C04FFBC-39F7-2652-C2EE-AC60CFE5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889459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39AD8-574F-B6F9-B4E2-39070513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7BA4-AAF9-BFD5-8D68-812B305D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08562-9985-35E5-D2D2-6DF5186A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Your Data is Encrypted Before Leaving Your Device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You send a password or message.</a:t>
            </a:r>
          </a:p>
          <a:p>
            <a:pPr lvl="1"/>
            <a:r>
              <a:rPr lang="en-US" dirty="0"/>
              <a:t>VPN encrypts it using AES-256 or ChaCha20 encryption.</a:t>
            </a:r>
          </a:p>
          <a:p>
            <a:pPr lvl="1"/>
            <a:r>
              <a:rPr lang="en-US" dirty="0"/>
              <a:t>Even if someone intercepts it, they see: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xJ23%#jdASD8237!@# ... (nonsense)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80132-43CA-9709-9769-6FD64B8C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2BCB83D-9A28-4927-2348-9A9050F2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3062886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347E1-F583-4425-59D3-4374C2D57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1EF2-2EFB-B9D6-9F2E-FCE4C889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92512-DB52-C6F6-B3BA-4E4004BB5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Data Travels Through the Secure Tunnel</a:t>
            </a:r>
          </a:p>
          <a:p>
            <a:pPr lvl="1"/>
            <a:r>
              <a:rPr lang="en-US" dirty="0"/>
              <a:t>Your ISP sees only:</a:t>
            </a:r>
          </a:p>
          <a:p>
            <a:pPr lvl="2"/>
            <a:r>
              <a:rPr lang="en-US" dirty="0"/>
              <a:t>You are connected to a VPN</a:t>
            </a:r>
          </a:p>
          <a:p>
            <a:pPr lvl="2"/>
            <a:r>
              <a:rPr lang="en-US" dirty="0"/>
              <a:t>Amount of data</a:t>
            </a:r>
          </a:p>
          <a:p>
            <a:pPr lvl="1"/>
            <a:r>
              <a:rPr lang="en-US" dirty="0"/>
              <a:t>It </a:t>
            </a:r>
            <a:r>
              <a:rPr lang="en-US" b="1" dirty="0"/>
              <a:t>cannot</a:t>
            </a:r>
            <a:r>
              <a:rPr lang="en-US" dirty="0"/>
              <a:t> see:</a:t>
            </a:r>
          </a:p>
          <a:p>
            <a:pPr lvl="2"/>
            <a:r>
              <a:rPr lang="en-US" dirty="0"/>
              <a:t>Websites you opened</a:t>
            </a:r>
          </a:p>
          <a:p>
            <a:pPr lvl="2"/>
            <a:r>
              <a:rPr lang="en-US" dirty="0"/>
              <a:t>Content of data</a:t>
            </a:r>
          </a:p>
          <a:p>
            <a:pPr lvl="2"/>
            <a:r>
              <a:rPr lang="en-US" dirty="0"/>
              <a:t>Search queries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DDFBB-53CC-0A91-C047-749C984E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427F1B0-A750-4F4F-B147-99AF0D1A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436661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C7E24-C771-27EA-4FE7-D77527E2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4518-2387-4121-9CFC-6BF9CAC8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7978B-BD66-B507-53FC-583771D9F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 VPN Server Decrypts the Data</a:t>
            </a:r>
          </a:p>
          <a:p>
            <a:pPr lvl="1"/>
            <a:r>
              <a:rPr lang="en-US" dirty="0"/>
              <a:t>VPN server → removes encryption → forwards request to the Internet.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You request </a:t>
            </a:r>
            <a:r>
              <a:rPr lang="en-US" dirty="0" err="1"/>
              <a:t>www.google.com</a:t>
            </a:r>
            <a:endParaRPr lang="en-US" dirty="0"/>
          </a:p>
          <a:p>
            <a:pPr lvl="2"/>
            <a:r>
              <a:rPr lang="en-US" dirty="0"/>
              <a:t>VPN server sends the request to Google </a:t>
            </a:r>
            <a:r>
              <a:rPr lang="en-US" b="1" dirty="0"/>
              <a:t>on your behalf</a:t>
            </a:r>
            <a:endParaRPr lang="en-US" dirty="0"/>
          </a:p>
          <a:p>
            <a:pPr lvl="1"/>
            <a:r>
              <a:rPr lang="en-US" dirty="0"/>
              <a:t>So Google sees the VPN server’s </a:t>
            </a:r>
            <a:r>
              <a:rPr lang="en-US" b="1" dirty="0"/>
              <a:t>IP address</a:t>
            </a:r>
            <a:r>
              <a:rPr lang="en-US" dirty="0"/>
              <a:t>, not yours.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7E959-F4F4-8D94-9304-434887D8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3F53F6D8-B0C2-CCC0-D07F-6851D2740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234697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87B03-3AE1-9989-E956-10EF8E95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1B04-CC8D-3C79-7B77-31C561E4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C576-1879-D214-16EB-1B4DF5DB5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7. Response Returns Through the Tunnel</a:t>
            </a:r>
          </a:p>
          <a:p>
            <a:pPr lvl="1"/>
            <a:r>
              <a:rPr lang="en-US" dirty="0"/>
              <a:t>Google → VPN Server → encrypted tunnel → your device</a:t>
            </a:r>
          </a:p>
          <a:p>
            <a:pPr lvl="1"/>
            <a:r>
              <a:rPr lang="en-US" dirty="0"/>
              <a:t>Your device decrypts it.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ADAF5-7E6F-FB2E-8345-2174CFED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BB3F3BB-6458-2FBB-4527-08BF403FC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1875294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1765A-B811-3862-C17A-3709401F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A68A-7F84-03DC-DF87-EBF0234F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Step-by-Step Working of a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C31E-24FB-646E-7EE2-2851CBD8B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 Simple Terms</a:t>
            </a:r>
          </a:p>
          <a:p>
            <a:r>
              <a:rPr lang="en-US" b="1" dirty="0"/>
              <a:t>WITHOUT VPN:</a:t>
            </a:r>
            <a:br>
              <a:rPr lang="en-US" dirty="0"/>
            </a:br>
            <a:r>
              <a:rPr lang="en-US" dirty="0"/>
              <a:t>Your device — ISP — Internet</a:t>
            </a:r>
            <a:br>
              <a:rPr lang="en-US" dirty="0"/>
            </a:br>
            <a:r>
              <a:rPr lang="en-US" dirty="0"/>
              <a:t>(Everyone can see your activity)</a:t>
            </a:r>
          </a:p>
          <a:p>
            <a:r>
              <a:rPr lang="en-US" b="1" dirty="0"/>
              <a:t>WITH VPN:</a:t>
            </a:r>
            <a:br>
              <a:rPr lang="en-US" dirty="0"/>
            </a:br>
            <a:r>
              <a:rPr lang="en-US" dirty="0"/>
              <a:t>Your device — Encrypted Tunnel — VPN Server — Internet</a:t>
            </a:r>
            <a:br>
              <a:rPr lang="en-US" dirty="0"/>
            </a:br>
            <a:r>
              <a:rPr lang="en-US" dirty="0"/>
              <a:t>(ISP &amp; attackers see nothing)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0C74F-2154-9B01-CB81-5B583FE4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2587CEF-8D21-1E59-5527-D73A3B23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919409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E4263-F82E-4FE3-F678-DAF260BA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73DD-B439-23E3-4D84-86D44324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 Service and Cloud Network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60C83-5D03-09A8-2379-376F8AEC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419AEC1-FF25-5777-C33D-BF9139A4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pic>
        <p:nvPicPr>
          <p:cNvPr id="2050" name="Picture 2" descr="Difference between DNS and DHCP - GeeksforGeeks">
            <a:extLst>
              <a:ext uri="{FF2B5EF4-FFF2-40B4-BE49-F238E27FC236}">
                <a16:creationId xmlns:a16="http://schemas.microsoft.com/office/drawing/2014/main" id="{3B7F6E44-A14F-2295-6335-10C6216AB6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044" y="1932039"/>
            <a:ext cx="8589912" cy="386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367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3171D-6D2D-838E-F886-92685180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1464-AFDF-CC73-EEDB-7BF1AC275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88582-D261-55DC-22E0-22F1ACA0C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DNS (Domain Name System) converts </a:t>
            </a:r>
            <a:r>
              <a:rPr lang="en-US" b="1" dirty="0"/>
              <a:t>domain names</a:t>
            </a:r>
            <a:r>
              <a:rPr lang="en-US" dirty="0"/>
              <a:t> into </a:t>
            </a:r>
            <a:r>
              <a:rPr lang="en-US" b="1" dirty="0"/>
              <a:t>IP addresses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r>
              <a:rPr lang="en-US" dirty="0"/>
              <a:t>: </a:t>
            </a:r>
            <a:r>
              <a:rPr lang="en-US" dirty="0" err="1"/>
              <a:t>www.example.com</a:t>
            </a:r>
            <a:r>
              <a:rPr lang="en-US" dirty="0"/>
              <a:t> → 13.52.14.233</a:t>
            </a:r>
          </a:p>
          <a:p>
            <a:r>
              <a:rPr lang="en-US" dirty="0"/>
              <a:t>Cloud providers offer managed DNS services.</a:t>
            </a:r>
          </a:p>
          <a:p>
            <a:r>
              <a:rPr lang="en-US" b="1" dirty="0"/>
              <a:t>Features</a:t>
            </a:r>
          </a:p>
          <a:p>
            <a:pPr lvl="1"/>
            <a:r>
              <a:rPr lang="en-US" dirty="0"/>
              <a:t>Domain registration</a:t>
            </a:r>
          </a:p>
          <a:p>
            <a:pPr lvl="1"/>
            <a:r>
              <a:rPr lang="en-US" dirty="0"/>
              <a:t>DNS zones &amp; records (A, AAAA, CNAME, MX, TXT)</a:t>
            </a:r>
          </a:p>
          <a:p>
            <a:pPr lvl="1"/>
            <a:r>
              <a:rPr lang="en-US" dirty="0"/>
              <a:t>Health checks</a:t>
            </a:r>
          </a:p>
          <a:p>
            <a:pPr lvl="1"/>
            <a:r>
              <a:rPr lang="en-US" dirty="0"/>
              <a:t>Traffic routing (geolocation, latency-based)</a:t>
            </a:r>
          </a:p>
          <a:p>
            <a:pPr lvl="1"/>
            <a:r>
              <a:rPr lang="en-US" dirty="0"/>
              <a:t>Load balancing (using DNS policy)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D8049-45C5-3551-AD00-80C608A9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98D6A92-4411-AFB4-798E-250E6952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40143034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66C29-1A92-0D17-9846-EF69A54FF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92EA-A368-1ABB-095B-BDF7E981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DNS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C9F72-38B2-6186-D688-E456F1CE5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Initial request</a:t>
            </a:r>
            <a:r>
              <a:rPr lang="en-US" dirty="0"/>
              <a:t>: When you type a website address into your browser, your device sends a request to a DNS server to find the corresponding IP address.</a:t>
            </a:r>
          </a:p>
          <a:p>
            <a:r>
              <a:rPr lang="en-US" b="1" dirty="0"/>
              <a:t>DNS lookup</a:t>
            </a:r>
            <a:r>
              <a:rPr lang="en-US" dirty="0"/>
              <a:t>: The DNS server performs a "lookup" to find the correct IP address for the domain name.</a:t>
            </a:r>
          </a:p>
          <a:p>
            <a:r>
              <a:rPr lang="en-US" b="1" dirty="0"/>
              <a:t>Translation</a:t>
            </a:r>
            <a:r>
              <a:rPr lang="en-US" dirty="0"/>
              <a:t>: Once the IP address is found, the DNS server returns it to your device.</a:t>
            </a:r>
          </a:p>
          <a:p>
            <a:r>
              <a:rPr lang="en-US" b="1" dirty="0"/>
              <a:t>Accessing the site</a:t>
            </a:r>
            <a:r>
              <a:rPr lang="en-US" dirty="0"/>
              <a:t>: Your browser then uses this IP address to connect to the website's server and load the page. 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F5D28-5328-AC9B-BE8A-79707A9F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BDF31A3-E00C-2A6B-C6F8-39709CF2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4573576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7992F-7667-3056-DAA4-FEFBD580C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FCF8-A31E-56F1-DD61-7A6D4DDA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Multihoming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1232F-8B9F-D071-8AA9-4F53B27F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225AE18-9DBF-3840-D6F0-4A30BA30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  <p:pic>
        <p:nvPicPr>
          <p:cNvPr id="6148" name="Picture 4" descr="Example of Multi-homing technique. | Download Scientific Diagram">
            <a:extLst>
              <a:ext uri="{FF2B5EF4-FFF2-40B4-BE49-F238E27FC236}">
                <a16:creationId xmlns:a16="http://schemas.microsoft.com/office/drawing/2014/main" id="{D2A88E8E-1D9F-F59E-CC78-DFC098ABAD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634" y="1814052"/>
            <a:ext cx="7114732" cy="410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349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38913-E6F9-8970-1EBA-1F5B963D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EC67-4F02-02A9-1E0C-8A9DDE5C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Multihoming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1161-701C-B57B-B5E9-522A70BE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Multihoming</a:t>
            </a:r>
            <a:r>
              <a:rPr lang="en-US" dirty="0"/>
              <a:t> is connecting a network or host to </a:t>
            </a:r>
            <a:r>
              <a:rPr lang="en-US" b="1" dirty="0"/>
              <a:t>multiple networks or ISPs simultaneously</a:t>
            </a:r>
            <a:r>
              <a:rPr lang="en-US" dirty="0"/>
              <a:t> for reliability and performance.</a:t>
            </a:r>
          </a:p>
          <a:p>
            <a:r>
              <a:rPr lang="en-US" dirty="0"/>
              <a:t>In cloud computing, multihoming is used to ensure:</a:t>
            </a:r>
          </a:p>
          <a:p>
            <a:pPr lvl="1"/>
            <a:r>
              <a:rPr lang="en-US" dirty="0"/>
              <a:t>High availability</a:t>
            </a:r>
          </a:p>
          <a:p>
            <a:pPr lvl="1"/>
            <a:r>
              <a:rPr lang="en-US" dirty="0"/>
              <a:t>Redundancy</a:t>
            </a:r>
          </a:p>
          <a:p>
            <a:pPr lvl="1"/>
            <a:r>
              <a:rPr lang="en-US" dirty="0"/>
              <a:t>Traffic failover</a:t>
            </a:r>
          </a:p>
          <a:p>
            <a:pPr lvl="1"/>
            <a:r>
              <a:rPr lang="en-US" dirty="0"/>
              <a:t>Load balancing across multiple links</a:t>
            </a:r>
          </a:p>
          <a:p>
            <a:pPr lvl="1"/>
            <a:r>
              <a:rPr lang="en-US" dirty="0"/>
              <a:t>Better performance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7ABF2-CB40-46C6-6DE1-070480F0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8D073EE-3EE1-9C15-7B8E-1FF979F5F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1142920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103FB-8321-753F-AF8A-09403E1C3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8C38-D842-65DC-764E-C4E43496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Multihoming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2E689-98A0-43F9-B9AE-333083A6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Cloud + On-Premises + Another Cloud</a:t>
            </a:r>
            <a:endParaRPr lang="en-US" dirty="0"/>
          </a:p>
          <a:p>
            <a:pPr lvl="1"/>
            <a:r>
              <a:rPr lang="en-US" dirty="0"/>
              <a:t>AWS VPC connected to</a:t>
            </a:r>
            <a:br>
              <a:rPr lang="en-US" dirty="0"/>
            </a:br>
            <a:r>
              <a:rPr lang="en-US" dirty="0"/>
              <a:t>→ local office (via VPN or Direct Connect)</a:t>
            </a:r>
            <a:br>
              <a:rPr lang="en-US" dirty="0"/>
            </a:br>
            <a:r>
              <a:rPr lang="en-US" dirty="0"/>
              <a:t>→ Azure </a:t>
            </a:r>
            <a:r>
              <a:rPr lang="en-US" dirty="0" err="1"/>
              <a:t>VNet</a:t>
            </a:r>
            <a:r>
              <a:rPr lang="en-US" dirty="0"/>
              <a:t> (via inter-cloud VPN)</a:t>
            </a:r>
          </a:p>
          <a:p>
            <a:r>
              <a:rPr lang="en-US" b="1" dirty="0"/>
              <a:t>Multiple ISPs</a:t>
            </a:r>
            <a:endParaRPr lang="en-US" dirty="0"/>
          </a:p>
          <a:p>
            <a:pPr lvl="1"/>
            <a:r>
              <a:rPr lang="en-US" dirty="0"/>
              <a:t>Organization connects to 2 or more Internet providers.</a:t>
            </a:r>
            <a:br>
              <a:rPr lang="en-US" dirty="0"/>
            </a:br>
            <a:r>
              <a:rPr lang="en-US" dirty="0"/>
              <a:t>If ISP A fails → traffic routes through ISP B.</a:t>
            </a:r>
          </a:p>
          <a:p>
            <a:r>
              <a:rPr lang="en-US" b="1" dirty="0"/>
              <a:t>Multi-Region or Multi-AZ Setup</a:t>
            </a:r>
            <a:endParaRPr lang="en-US" dirty="0"/>
          </a:p>
          <a:p>
            <a:pPr lvl="1"/>
            <a:r>
              <a:rPr lang="en-US" dirty="0"/>
              <a:t>Applications deployed in multiple cloud regions.</a:t>
            </a:r>
          </a:p>
          <a:p>
            <a:r>
              <a:rPr lang="en-US" b="1" dirty="0"/>
              <a:t>Multiple Network Interfaces on a VM</a:t>
            </a:r>
            <a:endParaRPr lang="en-US" dirty="0"/>
          </a:p>
          <a:p>
            <a:pPr lvl="1"/>
            <a:r>
              <a:rPr lang="en-US" dirty="0"/>
              <a:t>One VM has 2 NICs connected to different subnets or VPCs.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00424-7223-F9E0-F3CD-9F0A980B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F90D62C-F9F6-AF1F-BFE1-30FE199F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9046108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16D9F-82CD-E628-1F29-620FC6BD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Multihoming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1C276-51BC-BBA6-17DF-2E4EB053C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Prevents downtime</a:t>
            </a:r>
          </a:p>
          <a:p>
            <a:r>
              <a:rPr lang="en-US" dirty="0"/>
              <a:t>Improves network performance</a:t>
            </a:r>
          </a:p>
          <a:p>
            <a:r>
              <a:rPr lang="en-US" dirty="0"/>
              <a:t>Ensures continuous connectivity</a:t>
            </a:r>
          </a:p>
          <a:p>
            <a:r>
              <a:rPr lang="en-US" dirty="0"/>
              <a:t>Avoids vendor lock-in</a:t>
            </a:r>
          </a:p>
          <a:p>
            <a:r>
              <a:rPr lang="en-US" dirty="0"/>
              <a:t>Enables hybrid and multi-cloud architectures</a:t>
            </a:r>
            <a:endParaRPr lang="en-NP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2F3F4-FFE8-A349-35FC-22D105B1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A92E3-69A5-4605-64C4-618AD3DC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7666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2964-D724-3AAA-9763-133C8491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5729-433A-D07F-9A33-C7B0E7F8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How multihoming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DF846-8DD1-DB09-AC64-8996C302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multihomed system has:</a:t>
            </a:r>
          </a:p>
          <a:p>
            <a:pPr lvl="1"/>
            <a:r>
              <a:rPr lang="en-US" b="1" dirty="0"/>
              <a:t>Multiple network interfaces</a:t>
            </a:r>
            <a:r>
              <a:rPr lang="en-US" dirty="0"/>
              <a:t> (NICs)</a:t>
            </a:r>
          </a:p>
          <a:p>
            <a:pPr lvl="1"/>
            <a:r>
              <a:rPr lang="en-US" b="1" dirty="0"/>
              <a:t>Multiple IP addresses</a:t>
            </a:r>
            <a:endParaRPr lang="en-US" dirty="0"/>
          </a:p>
          <a:p>
            <a:pPr lvl="1"/>
            <a:r>
              <a:rPr lang="en-US" b="1" dirty="0"/>
              <a:t>Multiple gateways or ISPs</a:t>
            </a:r>
            <a:endParaRPr lang="en-US" dirty="0"/>
          </a:p>
          <a:p>
            <a:r>
              <a:rPr lang="en-US" dirty="0"/>
              <a:t>Traffic can go through any available link.</a:t>
            </a:r>
          </a:p>
          <a:p>
            <a:endParaRPr lang="en-NP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ABFEC-F6A2-58C6-4B51-344D4616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71B27-1405-E57D-76F8-210DC038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1318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96F8-319D-AD7D-4131-4094BE2E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E491-912E-DD25-E08F-D31B8166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How multihoming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7CE10-8313-5417-9BEC-FEC8AF6F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Simple Example</a:t>
            </a:r>
          </a:p>
          <a:p>
            <a:endParaRPr lang="en-NP" dirty="0"/>
          </a:p>
          <a:p>
            <a:endParaRPr lang="en-NP" dirty="0"/>
          </a:p>
          <a:p>
            <a:endParaRPr lang="en-NP" dirty="0"/>
          </a:p>
          <a:p>
            <a:endParaRPr lang="en-NP" dirty="0"/>
          </a:p>
          <a:p>
            <a:r>
              <a:rPr lang="en-US" dirty="0"/>
              <a:t>If ISP1 stops working, server automatically switches to ISP2.</a:t>
            </a:r>
            <a:endParaRPr lang="en-NP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AFEF-A154-84AB-4AC5-CEF15284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2 | Virtualization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68E2D-7EC6-6B84-C446-5C55A5CA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65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0A48D4-6CF7-53B7-5CF7-12F97350E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007884"/>
              </p:ext>
            </p:extLst>
          </p:nvPr>
        </p:nvGraphicFramePr>
        <p:xfrm>
          <a:off x="1283110" y="2510518"/>
          <a:ext cx="8610600" cy="1371600"/>
        </p:xfrm>
        <a:graphic>
          <a:graphicData uri="http://schemas.openxmlformats.org/drawingml/2006/table">
            <a:tbl>
              <a:tblPr/>
              <a:tblGrid>
                <a:gridCol w="2870200">
                  <a:extLst>
                    <a:ext uri="{9D8B030D-6E8A-4147-A177-3AD203B41FA5}">
                      <a16:colId xmlns:a16="http://schemas.microsoft.com/office/drawing/2014/main" val="52008293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451763645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3962780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ISP/Network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46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eth0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ISP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192.168.1.10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88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eth1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ISP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 dirty="0">
                          <a:latin typeface=""/>
                        </a:rPr>
                        <a:t>10.0.0.5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331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3317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1EB86E-92CA-8425-23CB-1C912DD5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/>
          <a:lstStyle/>
          <a:p>
            <a:r>
              <a:rPr lang="en-US" dirty="0"/>
              <a:t>End of </a:t>
            </a:r>
            <a:br>
              <a:rPr lang="en-US" dirty="0"/>
            </a:br>
            <a:r>
              <a:rPr lang="en-US" dirty="0"/>
              <a:t>Unit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98789-ED0E-CA9B-FF87-C82F5863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36AD3355-1A39-4F95-8D2D-9BA34F1D5DE9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032F37-907E-9C2E-C22C-C745CEE55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434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BA0-27E2-F622-221D-B1B9F6C3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in Cloud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AA0D-2DA5-FCAB-B808-83012ED0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3355-1A39-4F95-8D2D-9BA34F1D5DE9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8889-52EA-6797-57CD-59AEF91798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2 | 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526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3129</Words>
  <Application>Microsoft Macintosh PowerPoint</Application>
  <PresentationFormat>Widescreen</PresentationFormat>
  <Paragraphs>555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Nunito</vt:lpstr>
      <vt:lpstr>Roboto</vt:lpstr>
      <vt:lpstr>2_Office Theme</vt:lpstr>
      <vt:lpstr>PowerPoint Presentation</vt:lpstr>
      <vt:lpstr>Unit 2: Virtualization (7hrs)</vt:lpstr>
      <vt:lpstr>Virtualization</vt:lpstr>
      <vt:lpstr>Virtualization</vt:lpstr>
      <vt:lpstr>Virtualization</vt:lpstr>
      <vt:lpstr>Virtualization</vt:lpstr>
      <vt:lpstr>Virtualization</vt:lpstr>
      <vt:lpstr>Benefits of Virtualization</vt:lpstr>
      <vt:lpstr>Types of Virtualization</vt:lpstr>
      <vt:lpstr>Server Virtualization</vt:lpstr>
      <vt:lpstr>Desktop Virtualization</vt:lpstr>
      <vt:lpstr>Application Virtualization</vt:lpstr>
      <vt:lpstr>Network Virtualization</vt:lpstr>
      <vt:lpstr>Storage Virtualization</vt:lpstr>
      <vt:lpstr>Data Virtualization</vt:lpstr>
      <vt:lpstr>OS Virtualization </vt:lpstr>
      <vt:lpstr>Virtual Machines</vt:lpstr>
      <vt:lpstr>Hypervisors in Virtualization</vt:lpstr>
      <vt:lpstr>Hypervisors in Virtualization</vt:lpstr>
      <vt:lpstr>Containerization</vt:lpstr>
      <vt:lpstr>Containerization</vt:lpstr>
      <vt:lpstr>Containerization</vt:lpstr>
      <vt:lpstr>Why Containerization Exists</vt:lpstr>
      <vt:lpstr>How Containerization Works Internally</vt:lpstr>
      <vt:lpstr>How Containerization Works Internally</vt:lpstr>
      <vt:lpstr>How Containerization Works Internally</vt:lpstr>
      <vt:lpstr>How Containerization Works Internally</vt:lpstr>
      <vt:lpstr>How Containerization Works Internally</vt:lpstr>
      <vt:lpstr>How Containerization Works Internally</vt:lpstr>
      <vt:lpstr>VMs vs Containers</vt:lpstr>
      <vt:lpstr>Kubernetes</vt:lpstr>
      <vt:lpstr>Why use Kubernetes?</vt:lpstr>
      <vt:lpstr>Why use Kubernetes?</vt:lpstr>
      <vt:lpstr>What Kubernetes does to you?</vt:lpstr>
      <vt:lpstr>What Kubernetes does to you?</vt:lpstr>
      <vt:lpstr>What Kubernetes does to you?</vt:lpstr>
      <vt:lpstr>What Kubernetes does to you?</vt:lpstr>
      <vt:lpstr>What Kubernetes does to you?</vt:lpstr>
      <vt:lpstr>What Kubernetes does to you?</vt:lpstr>
      <vt:lpstr>What Kubernetes does to you?</vt:lpstr>
      <vt:lpstr>Kubernetes Architecture</vt:lpstr>
      <vt:lpstr>How Kubernetes Uses Containers</vt:lpstr>
      <vt:lpstr>VPC</vt:lpstr>
      <vt:lpstr>Key Features of VPC</vt:lpstr>
      <vt:lpstr>VPC</vt:lpstr>
      <vt:lpstr>VPN</vt:lpstr>
      <vt:lpstr>VPN</vt:lpstr>
      <vt:lpstr>Step-by-Step Working of a VPN</vt:lpstr>
      <vt:lpstr>Step-by-Step Working of a VPN</vt:lpstr>
      <vt:lpstr>Step-by-Step Working of a VPN</vt:lpstr>
      <vt:lpstr>Step-by-Step Working of a VPN</vt:lpstr>
      <vt:lpstr>Step-by-Step Working of a VPN</vt:lpstr>
      <vt:lpstr>Step-by-Step Working of a VPN</vt:lpstr>
      <vt:lpstr>Step-by-Step Working of a VPN</vt:lpstr>
      <vt:lpstr>Step-by-Step Working of a VPN</vt:lpstr>
      <vt:lpstr>Step-by-Step Working of a VPN</vt:lpstr>
      <vt:lpstr>DNS Service and Cloud Network</vt:lpstr>
      <vt:lpstr>DNS Service</vt:lpstr>
      <vt:lpstr>How DNS Works?</vt:lpstr>
      <vt:lpstr>Multihoming</vt:lpstr>
      <vt:lpstr>Multihoming</vt:lpstr>
      <vt:lpstr>Examples of Multihoming</vt:lpstr>
      <vt:lpstr>Multihoming</vt:lpstr>
      <vt:lpstr>How multihoming works?</vt:lpstr>
      <vt:lpstr>How multihoming works?</vt:lpstr>
      <vt:lpstr>End of  Unit 2</vt:lpstr>
      <vt:lpstr>Storage in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</dc:title>
  <dc:creator>Shiva Kunwar</dc:creator>
  <cp:lastModifiedBy>Shiva Kunwar</cp:lastModifiedBy>
  <cp:revision>39</cp:revision>
  <dcterms:created xsi:type="dcterms:W3CDTF">2024-09-21T07:18:01Z</dcterms:created>
  <dcterms:modified xsi:type="dcterms:W3CDTF">2025-11-25T14:32:59Z</dcterms:modified>
</cp:coreProperties>
</file>