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6" r:id="rId1"/>
  </p:sldMasterIdLst>
  <p:notesMasterIdLst>
    <p:notesMasterId r:id="rId70"/>
  </p:notesMasterIdLst>
  <p:handoutMasterIdLst>
    <p:handoutMasterId r:id="rId71"/>
  </p:handoutMasterIdLst>
  <p:sldIdLst>
    <p:sldId id="262" r:id="rId2"/>
    <p:sldId id="277" r:id="rId3"/>
    <p:sldId id="294" r:id="rId4"/>
    <p:sldId id="295" r:id="rId5"/>
    <p:sldId id="296" r:id="rId6"/>
    <p:sldId id="311" r:id="rId7"/>
    <p:sldId id="312" r:id="rId8"/>
    <p:sldId id="313" r:id="rId9"/>
    <p:sldId id="314" r:id="rId10"/>
    <p:sldId id="315" r:id="rId11"/>
    <p:sldId id="297" r:id="rId12"/>
    <p:sldId id="316" r:id="rId13"/>
    <p:sldId id="317" r:id="rId14"/>
    <p:sldId id="318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7" r:id="rId25"/>
    <p:sldId id="308" r:id="rId26"/>
    <p:sldId id="309" r:id="rId27"/>
    <p:sldId id="319" r:id="rId28"/>
    <p:sldId id="320" r:id="rId29"/>
    <p:sldId id="310" r:id="rId30"/>
    <p:sldId id="321" r:id="rId31"/>
    <p:sldId id="333" r:id="rId32"/>
    <p:sldId id="334" r:id="rId33"/>
    <p:sldId id="335" r:id="rId34"/>
    <p:sldId id="336" r:id="rId35"/>
    <p:sldId id="337" r:id="rId36"/>
    <p:sldId id="338" r:id="rId37"/>
    <p:sldId id="339" r:id="rId38"/>
    <p:sldId id="340" r:id="rId39"/>
    <p:sldId id="341" r:id="rId40"/>
    <p:sldId id="342" r:id="rId41"/>
    <p:sldId id="323" r:id="rId42"/>
    <p:sldId id="324" r:id="rId43"/>
    <p:sldId id="328" r:id="rId44"/>
    <p:sldId id="343" r:id="rId45"/>
    <p:sldId id="329" r:id="rId46"/>
    <p:sldId id="354" r:id="rId47"/>
    <p:sldId id="325" r:id="rId48"/>
    <p:sldId id="344" r:id="rId49"/>
    <p:sldId id="345" r:id="rId50"/>
    <p:sldId id="346" r:id="rId51"/>
    <p:sldId id="347" r:id="rId52"/>
    <p:sldId id="348" r:id="rId53"/>
    <p:sldId id="349" r:id="rId54"/>
    <p:sldId id="350" r:id="rId55"/>
    <p:sldId id="351" r:id="rId56"/>
    <p:sldId id="326" r:id="rId57"/>
    <p:sldId id="352" r:id="rId58"/>
    <p:sldId id="327" r:id="rId59"/>
    <p:sldId id="353" r:id="rId60"/>
    <p:sldId id="322" r:id="rId61"/>
    <p:sldId id="355" r:id="rId62"/>
    <p:sldId id="356" r:id="rId63"/>
    <p:sldId id="357" r:id="rId64"/>
    <p:sldId id="330" r:id="rId65"/>
    <p:sldId id="331" r:id="rId66"/>
    <p:sldId id="332" r:id="rId67"/>
    <p:sldId id="263" r:id="rId68"/>
    <p:sldId id="264" r:id="rId6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576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92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886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F4AAF4-B8F3-33EC-52A9-9556E57E63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8DEACF-F8D5-65D6-65E3-338B2B0A60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572621-8294-46A0-AF65-3F36575F2326}" type="datetimeFigureOut">
              <a:rPr lang="en-US" smtClean="0"/>
              <a:t>1/6/26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97C6E-AD10-9E33-EB85-2BFA5B3262F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E2DCF5-DD40-B594-C366-ED0E57DC23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4D7F74-8BB9-4E0E-BFB9-27139482F5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98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675D34-0415-4310-B568-590084F5D713}" type="datetimeFigureOut">
              <a:rPr lang="en-US" smtClean="0"/>
              <a:t>1/6/26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410430-A6ED-49DA-875F-FAA9313FED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429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mailto:shiva.Kunwar@hotmail.com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1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D3E4401-654B-3331-0E2C-7406236D3B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" y="1"/>
            <a:ext cx="12191996" cy="6857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C129550-DA5D-C130-73B9-F36251FB393F}"/>
              </a:ext>
            </a:extLst>
          </p:cNvPr>
          <p:cNvSpPr/>
          <p:nvPr userDrawn="1"/>
        </p:nvSpPr>
        <p:spPr>
          <a:xfrm>
            <a:off x="-2" y="0"/>
            <a:ext cx="12191999" cy="6857999"/>
          </a:xfrm>
          <a:prstGeom prst="rect">
            <a:avLst/>
          </a:prstGeom>
          <a:solidFill>
            <a:schemeClr val="accent1">
              <a:alpha val="69804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54939-1092-154C-F943-8221DCF25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D55C77-84E6-3F45-846B-B339BF7E4C84}" type="datetime1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8189D-CC24-D084-077F-1EC0EA310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Unit 5 | Security in Cloud Computing</a:t>
            </a:r>
            <a:endParaRPr lang="en-US" dirty="0"/>
          </a:p>
        </p:txBody>
      </p:sp>
      <p:pic>
        <p:nvPicPr>
          <p:cNvPr id="8" name="Picture 7" descr="A logo with a star and a candle&#10;&#10;Description automatically generated">
            <a:extLst>
              <a:ext uri="{FF2B5EF4-FFF2-40B4-BE49-F238E27FC236}">
                <a16:creationId xmlns:a16="http://schemas.microsoft.com/office/drawing/2014/main" id="{5EE76DC0-94B7-A3AA-712F-BE98D17F082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77425" y="116127"/>
            <a:ext cx="2143125" cy="21431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3584078-0138-E900-23EB-074EF062EF67}"/>
              </a:ext>
            </a:extLst>
          </p:cNvPr>
          <p:cNvSpPr txBox="1">
            <a:spLocks/>
          </p:cNvSpPr>
          <p:nvPr userDrawn="1"/>
        </p:nvSpPr>
        <p:spPr>
          <a:xfrm>
            <a:off x="1524000" y="2103324"/>
            <a:ext cx="9144000" cy="25545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</a:rPr>
              <a:t>Cloud Computing and Virtualization</a:t>
            </a:r>
            <a:endParaRPr lang="en-US" sz="8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D25D32-6EF2-FAFE-2C36-BDD0330F818C}"/>
              </a:ext>
            </a:extLst>
          </p:cNvPr>
          <p:cNvSpPr txBox="1"/>
          <p:nvPr userDrawn="1"/>
        </p:nvSpPr>
        <p:spPr>
          <a:xfrm>
            <a:off x="1523999" y="4845050"/>
            <a:ext cx="9143999" cy="1301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Nunito" pitchFamily="2" charset="0"/>
                <a:cs typeface="Aparajita" panose="02020603050405020304" pitchFamily="18" charset="0"/>
              </a:rPr>
              <a:t>Prepared by:  Er. Shiva Kunwar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Nunito" pitchFamily="2" charset="0"/>
                <a:cs typeface="Aparajita" panose="02020603050405020304" pitchFamily="18" charset="0"/>
              </a:rPr>
              <a:t>Lecturer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bg1"/>
                </a:solidFill>
                <a:latin typeface="Nunito" pitchFamily="2" charset="0"/>
                <a:cs typeface="Aparajita" panose="02020603050405020304" pitchFamily="18" charset="0"/>
              </a:rPr>
              <a:t>Pokhara Engineering College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00811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6BBFC-EF9A-C646-B5B5-F5C0DD47C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D4F1A4-33E3-F613-3519-62CEA6B22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5A0EDD6-81A7-F4B8-D011-4DE865AD9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1458DD-B075-EE4E-B0FB-5190C128C2D5}" type="datetime1">
              <a:rPr lang="en-US" smtClean="0"/>
              <a:t>1/6/26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F532A0-B8D7-45DA-5FA5-39BC559D7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Unit 5 | Security in Cloud Computing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30CCC4-845F-FD1B-9585-3F3F4F72C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A917B-47FD-40E0-A121-9E586D961AA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082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5D533-58C8-E224-906F-5F88AEC5E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F8861-2083-0FF8-F733-4312C604AB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67543"/>
            <a:ext cx="5181600" cy="46094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B8EE7-49CE-F177-9BD3-AEC2ED7CF0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67543"/>
            <a:ext cx="5181600" cy="460942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9D13A55-B8F2-1FFF-B254-28F4F7CE8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ED97A-883F-004E-8978-413D544F535A}" type="datetime1">
              <a:rPr lang="en-US" smtClean="0"/>
              <a:t>1/6/26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C5F814C-8F5B-5ECF-D212-9E924DADA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Unit 5 | Security in Cloud Computing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B327A59-CF12-D21D-6359-9C7B7310F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A917B-47FD-40E0-A121-9E586D961AA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113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3D9C7D-7608-7B1C-1BBB-E09F972BEC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ED532F5-16FE-613A-417D-557E002A8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BC6C6A9-0D82-2733-1B67-53F2A3D684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B7D2052-25BC-843C-8ABA-792233D9DE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DEE7CD1-BC72-3908-B52C-69C7274B0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EA488A3C-7FB9-1EFA-C60D-233DBBFE45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12167FE-1698-734C-2D0C-C2B40CC45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483735"/>
            <a:ext cx="10515600" cy="10427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DA9F9C-5A91-403E-36CE-69E3C9969308}"/>
              </a:ext>
            </a:extLst>
          </p:cNvPr>
          <p:cNvSpPr txBox="1"/>
          <p:nvPr userDrawn="1"/>
        </p:nvSpPr>
        <p:spPr>
          <a:xfrm rot="10800000">
            <a:off x="11608817" y="-3090"/>
            <a:ext cx="584199" cy="548640"/>
          </a:xfrm>
          <a:prstGeom prst="round1Rect">
            <a:avLst>
              <a:gd name="adj" fmla="val 50000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57C64D1-0999-ECC9-556E-E526C78A7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1" y="88667"/>
            <a:ext cx="5841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Nunito" pitchFamily="2" charset="0"/>
              </a:defRPr>
            </a:lvl1pPr>
          </a:lstStyle>
          <a:p>
            <a:fld id="{B64A917B-47FD-40E0-A121-9E586D961AA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able Placeholder 4">
            <a:extLst>
              <a:ext uri="{FF2B5EF4-FFF2-40B4-BE49-F238E27FC236}">
                <a16:creationId xmlns:a16="http://schemas.microsoft.com/office/drawing/2014/main" id="{EAAE7709-C365-F582-CF49-7517BDEB8387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838198" y="1663021"/>
            <a:ext cx="10515602" cy="455680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41E667B7-7545-60E3-30C1-CE3C2A48949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2E884083-F3D1-7D44-92C7-D8A3FC0052D4}" type="datetime1">
              <a:rPr lang="en-US" smtClean="0"/>
              <a:t>1/6/26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2305699-A282-E12E-AE1C-1CFB25E238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Unit 5 | Security in Cloud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570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Hea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F6E645F8-F682-8D2D-268F-E5B7D5BF3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" name="Rectangle 2">
            <a:extLst>
              <a:ext uri="{FF2B5EF4-FFF2-40B4-BE49-F238E27FC236}">
                <a16:creationId xmlns:a16="http://schemas.microsoft.com/office/drawing/2014/main" id="{250187D5-3A16-AE1B-36DA-41D3FBE6D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1264F6-BD23-F293-72FB-E323525730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6855AD-ABAC-8C19-8178-6EB8E5E722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B39B6C-6741-2C5E-B819-B3A425454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8738339-0671-5630-FEB8-CC9C67032F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7484E4-73DD-0919-B58E-866F907007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3DF8B04-BA4D-3137-EEFB-2C9F96145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09" y="615909"/>
            <a:ext cx="3204415" cy="3387497"/>
          </a:xfrm>
        </p:spPr>
        <p:txBody>
          <a:bodyPr anchor="b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CB5711-9A41-EEE3-ECA8-3DF776546971}"/>
              </a:ext>
            </a:extLst>
          </p:cNvPr>
          <p:cNvSpPr txBox="1"/>
          <p:nvPr userDrawn="1"/>
        </p:nvSpPr>
        <p:spPr>
          <a:xfrm rot="10800000">
            <a:off x="11608817" y="-3090"/>
            <a:ext cx="584199" cy="548640"/>
          </a:xfrm>
          <a:prstGeom prst="round1Rect">
            <a:avLst>
              <a:gd name="adj" fmla="val 50000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98655D1-315F-7D95-3B9A-EC74A727E5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1" y="88667"/>
            <a:ext cx="5841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Nunito" pitchFamily="2" charset="0"/>
              </a:defRPr>
            </a:lvl1pPr>
          </a:lstStyle>
          <a:p>
            <a:fld id="{B64A917B-47FD-40E0-A121-9E586D961AA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E923455B-4E0B-F709-CAC5-455517FBE6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89488" y="615950"/>
            <a:ext cx="6530975" cy="5603875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E41F7B6-FA1C-08CE-1473-5AEEBCEE76B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F7C50A0-326A-5444-AEEF-6B21A9D82632}" type="datetime1">
              <a:rPr lang="en-US" smtClean="0"/>
              <a:t>1/6/26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37009528-D44A-660D-5354-4CF2C225E68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Unit 5 | Security in Cloud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037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Heading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>
            <a:extLst>
              <a:ext uri="{FF2B5EF4-FFF2-40B4-BE49-F238E27FC236}">
                <a16:creationId xmlns:a16="http://schemas.microsoft.com/office/drawing/2014/main" id="{21818950-1BC0-79F8-F3A1-C793DF91B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C4A06A-DC97-5499-2273-8019226EAC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A9634D-9BDD-B374-6DD7-03C03290F6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8769AA-85CF-4F16-36ED-08E81B006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837CB0-FBB5-1349-DFB4-563DF02B5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CCAB6FC-BE02-6F5E-8E9C-340FAC424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276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035E3B-ADC3-447C-17D8-2227F75D45AC}"/>
              </a:ext>
            </a:extLst>
          </p:cNvPr>
          <p:cNvSpPr txBox="1"/>
          <p:nvPr userDrawn="1"/>
        </p:nvSpPr>
        <p:spPr>
          <a:xfrm rot="10800000">
            <a:off x="11608817" y="-3090"/>
            <a:ext cx="584199" cy="548640"/>
          </a:xfrm>
          <a:prstGeom prst="round1Rect">
            <a:avLst>
              <a:gd name="adj" fmla="val 50000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E7808083-BCD1-7C29-51D7-C9EF69DBD3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1" y="88667"/>
            <a:ext cx="5841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Nunito" pitchFamily="2" charset="0"/>
              </a:defRPr>
            </a:lvl1pPr>
          </a:lstStyle>
          <a:p>
            <a:fld id="{B64A917B-47FD-40E0-A121-9E586D961AA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D367B66-BFAA-3DE9-8BD2-E64B46FCE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2557"/>
            <a:ext cx="10515600" cy="4214406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BE4831-D86C-E223-8E7F-61ACDC2CA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7D99A-8690-EC40-9C2B-E6A1A98F3A22}" type="datetime1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FE3D7-7A3D-FA0B-3F88-D5B5911E1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Unit 5 | Security in Cloud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545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A94531-650E-5195-CBA1-5B3978F0A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CAD83-EDE2-0A45-A16C-8D729C2585EF}" type="datetime1">
              <a:rPr lang="en-US" smtClean="0"/>
              <a:t>1/6/26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B60013-C917-A93A-C451-8E8B6203FC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480553" cy="6858000"/>
          </a:xfrm>
          <a:custGeom>
            <a:avLst/>
            <a:gdLst/>
            <a:ahLst/>
            <a:cxnLst/>
            <a:rect l="l" t="t" r="r" b="b"/>
            <a:pathLst>
              <a:path w="4481964" h="6858000">
                <a:moveTo>
                  <a:pt x="0" y="0"/>
                </a:moveTo>
                <a:lnTo>
                  <a:pt x="3137249" y="0"/>
                </a:ln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0D3A4C7-B5F0-8B63-1ECA-C14815983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0988" y="641377"/>
            <a:ext cx="5487841" cy="2540969"/>
          </a:xfrm>
        </p:spPr>
        <p:txBody>
          <a:bodyPr anchor="ctr">
            <a:noAutofit/>
          </a:bodyPr>
          <a:lstStyle>
            <a:lvl1pPr algn="l">
              <a:defRPr sz="6000" b="0" cap="none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Slide Number Placeholder 11">
            <a:extLst>
              <a:ext uri="{FF2B5EF4-FFF2-40B4-BE49-F238E27FC236}">
                <a16:creationId xmlns:a16="http://schemas.microsoft.com/office/drawing/2014/main" id="{FD99D63D-0492-7C66-0370-0040336A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/>
          <a:lstStyle/>
          <a:p>
            <a:fld id="{B64A917B-47FD-40E0-A121-9E586D961AA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AutoShape 2" descr="A peaceful illustration for C programming set in a serene environment. The setting is a quiet lakeside scene during sunrise or sunset, with soft golden lighting reflecting on calm waters. A laptop or book displaying C programming code is open on a wooden bench near the water, surrounded by nature with gentle trees and soft grass. The sky is a gradient of warm colors, and there are small details like a steaming coffee mug and a few scattered notes or pens nearby, adding a cozy atmosphere. The dimensions are 7.5 inches in height and 4.9 inches in width.">
            <a:extLst>
              <a:ext uri="{FF2B5EF4-FFF2-40B4-BE49-F238E27FC236}">
                <a16:creationId xmlns:a16="http://schemas.microsoft.com/office/drawing/2014/main" id="{6A97A55F-F05A-431D-3CF6-E049935C3995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19B0B8-54EB-02A5-06D4-A123119246F4}"/>
              </a:ext>
            </a:extLst>
          </p:cNvPr>
          <p:cNvSpPr txBox="1"/>
          <p:nvPr userDrawn="1"/>
        </p:nvSpPr>
        <p:spPr>
          <a:xfrm>
            <a:off x="5020988" y="4019550"/>
            <a:ext cx="60280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000" dirty="0">
                <a:latin typeface="Nunito" pitchFamily="2" charset="0"/>
                <a:hlinkClick r:id="rId3"/>
              </a:rPr>
              <a:t>shiva.kunwar@hotmail.com</a:t>
            </a:r>
            <a:br>
              <a:rPr lang="en-US" sz="3000" dirty="0">
                <a:latin typeface="Nunito" pitchFamily="2" charset="0"/>
              </a:rPr>
            </a:br>
            <a:r>
              <a:rPr lang="en-US" sz="3000" dirty="0">
                <a:latin typeface="Nunito" pitchFamily="2" charset="0"/>
              </a:rPr>
              <a:t>+977-9819123654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016E68-0017-74AE-E686-7960FA20C45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algn="r"/>
            <a:r>
              <a:rPr lang="en-US"/>
              <a:t>Unit 5 | Security in Cloud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51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review Card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DA83DF1-A84E-B163-956C-25D3B807BE99}"/>
              </a:ext>
            </a:extLst>
          </p:cNvPr>
          <p:cNvSpPr txBox="1">
            <a:spLocks/>
          </p:cNvSpPr>
          <p:nvPr userDrawn="1"/>
        </p:nvSpPr>
        <p:spPr>
          <a:xfrm>
            <a:off x="838200" y="417727"/>
            <a:ext cx="10515600" cy="1042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j-cs"/>
              </a:defRPr>
            </a:lvl1pPr>
          </a:lstStyle>
          <a:p>
            <a:r>
              <a:rPr lang="en-US" dirty="0"/>
              <a:t>PREVIEW FOR NEXT UNIT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3F62B2-F92E-BBBB-879D-EAA2FC432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3315"/>
            <a:ext cx="10515600" cy="3817256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E4F7403-710E-51F3-7202-7EBA53ED6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A917B-47FD-40E0-A121-9E586D961AA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22A69-1C6C-A8E7-081B-CD412014A82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299445AB-AD37-BC49-8D20-1D6F3C11045B}" type="datetime1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5FFE2-1F4D-9C49-4E2F-006619EA8CB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Unit 5 | Security in Cloud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579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3B644-5741-8467-C89E-7A43CCB7C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27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0AA4B1-9CE0-549C-7B06-728134B28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53029"/>
            <a:ext cx="10515600" cy="46239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E655E-F829-BD76-B10A-3B85DA5FD6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A5B86-B0A7-1646-82BA-33199862A6C8}" type="datetime1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4BA3D-AF77-0CD3-E6C2-CDFE9BF54B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91401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r>
              <a:rPr lang="en-US"/>
              <a:t>Unit 5 | Security in Cloud Computing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3EA662-E61B-0C38-8A92-8D9EA2250421}"/>
              </a:ext>
            </a:extLst>
          </p:cNvPr>
          <p:cNvSpPr txBox="1"/>
          <p:nvPr userDrawn="1"/>
        </p:nvSpPr>
        <p:spPr>
          <a:xfrm rot="10800000">
            <a:off x="11608817" y="-3090"/>
            <a:ext cx="584199" cy="548640"/>
          </a:xfrm>
          <a:prstGeom prst="round1Rect">
            <a:avLst>
              <a:gd name="adj" fmla="val 50000"/>
            </a:avLst>
          </a:prstGeom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CFC56-D6E1-E077-A067-C2CA064D40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1" y="88667"/>
            <a:ext cx="5841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bg1"/>
                </a:solidFill>
                <a:latin typeface="Nunito" pitchFamily="2" charset="0"/>
              </a:defRPr>
            </a:lvl1pPr>
          </a:lstStyle>
          <a:p>
            <a:fld id="{B64A917B-47FD-40E0-A121-9E586D961AA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690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9" r:id="rId3"/>
    <p:sldLayoutId id="2147483670" r:id="rId4"/>
    <p:sldLayoutId id="2147483672" r:id="rId5"/>
    <p:sldLayoutId id="2147483673" r:id="rId6"/>
    <p:sldLayoutId id="2147483664" r:id="rId7"/>
    <p:sldLayoutId id="2147483665" r:id="rId8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unito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Nunito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Nunito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Nunito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unito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3626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C15B3-1011-3094-C557-EE18153CB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Unit 5: Security in Cloud Computing (5hrs)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FD919-B700-7537-7FA6-AA98852B7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Cloud Security</a:t>
            </a:r>
          </a:p>
          <a:p>
            <a:pPr lvl="1"/>
            <a:r>
              <a:rPr lang="en-US" b="1" dirty="0"/>
              <a:t>1.1 Cloud Security Threats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Security as a Service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Dimension of Cloud Security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Cloud Security Mechanism</a:t>
            </a:r>
          </a:p>
          <a:p>
            <a:pPr lvl="1"/>
            <a:r>
              <a:rPr lang="en-US" b="1" dirty="0"/>
              <a:t>4.1 SSO, IAM, Hashing, and Digital Signatures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Disaster Management in Cloud Computing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Challenges of Cloud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0CAC79-7491-A7F8-44FB-8E0B6CF63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2" name="Footer Placeholder 51">
            <a:extLst>
              <a:ext uri="{FF2B5EF4-FFF2-40B4-BE49-F238E27FC236}">
                <a16:creationId xmlns:a16="http://schemas.microsoft.com/office/drawing/2014/main" id="{292B35F0-1CB3-69F8-F0EF-7F91DAC32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1750136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8E04B2-0CDC-CFEE-659F-ACD82F9DC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05D6D-3041-3953-8A1C-9FCC76A67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3B100-700C-589A-5418-BDA9CAD4C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Security refers to the </a:t>
            </a:r>
            <a:r>
              <a:rPr lang="en-US" b="1" dirty="0"/>
              <a:t>set of policies, technologies, controls, and services</a:t>
            </a:r>
            <a:r>
              <a:rPr lang="en-US" dirty="0"/>
              <a:t> used to </a:t>
            </a:r>
            <a:r>
              <a:rPr lang="en-US" b="1" dirty="0"/>
              <a:t>protect cloud-based systems, data, and infrastructure</a:t>
            </a:r>
            <a:r>
              <a:rPr lang="en-US" dirty="0"/>
              <a:t> from unauthorized access, attacks, and data loss.</a:t>
            </a:r>
          </a:p>
          <a:p>
            <a:r>
              <a:rPr lang="en-US" dirty="0"/>
              <a:t>Cloud security is a </a:t>
            </a:r>
            <a:r>
              <a:rPr lang="en-US" b="1" dirty="0"/>
              <a:t>shared responsibility</a:t>
            </a:r>
            <a:r>
              <a:rPr lang="en-US" dirty="0"/>
              <a:t> between:</a:t>
            </a:r>
          </a:p>
          <a:p>
            <a:pPr lvl="1"/>
            <a:r>
              <a:rPr lang="en-US" b="1" dirty="0"/>
              <a:t>Cloud Service Provider (CSP)</a:t>
            </a:r>
            <a:r>
              <a:rPr lang="en-US" dirty="0"/>
              <a:t> – Physical data centers, infrastructure</a:t>
            </a:r>
          </a:p>
          <a:p>
            <a:pPr lvl="1"/>
            <a:r>
              <a:rPr lang="en-US" b="1" dirty="0"/>
              <a:t>Cloud Customer</a:t>
            </a:r>
            <a:r>
              <a:rPr lang="en-US" dirty="0"/>
              <a:t> – Data, applications, access management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CC0909-4C51-B223-AE78-AC7112F72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C18DC185-0622-BA19-02B8-B8BE4228C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651491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EB3E7F-19C4-17E9-A1CC-2DCBDDEFD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CFDED-5BD8-7CB0-875F-B2D97675E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Shared Responsibility Model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4FFBD48-54D8-E52B-6C5B-6A98B49180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287652"/>
              </p:ext>
            </p:extLst>
          </p:nvPr>
        </p:nvGraphicFramePr>
        <p:xfrm>
          <a:off x="1959078" y="1830506"/>
          <a:ext cx="8807246" cy="2743200"/>
        </p:xfrm>
        <a:graphic>
          <a:graphicData uri="http://schemas.openxmlformats.org/drawingml/2006/table">
            <a:tbl>
              <a:tblPr/>
              <a:tblGrid>
                <a:gridCol w="4403623">
                  <a:extLst>
                    <a:ext uri="{9D8B030D-6E8A-4147-A177-3AD203B41FA5}">
                      <a16:colId xmlns:a16="http://schemas.microsoft.com/office/drawing/2014/main" val="4181207146"/>
                    </a:ext>
                  </a:extLst>
                </a:gridCol>
                <a:gridCol w="4403623">
                  <a:extLst>
                    <a:ext uri="{9D8B030D-6E8A-4147-A177-3AD203B41FA5}">
                      <a16:colId xmlns:a16="http://schemas.microsoft.com/office/drawing/2014/main" val="34231509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"/>
                        </a:rPr>
                        <a:t>Layer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"/>
                        </a:rPr>
                        <a:t>Responsibility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5852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"/>
                        </a:rPr>
                        <a:t>Physical Security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CSP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031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"/>
                        </a:rPr>
                        <a:t>Network Infrastructure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CSP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1827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Hypervisor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CSP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55199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OS, Applications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Customer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30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Data &amp; Access Control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"/>
                        </a:rPr>
                        <a:t>Customer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8221911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84131E-2FC5-F839-97B8-A6A2E983B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43579150-4F82-0FA0-DA90-374E6348B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2418648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F1C09F-0067-DAEC-54A7-7B76FFFFC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8AA2F-5062-8A4A-5756-52CEB4AB8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Benefits of Cloud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A80215-1914-9809-8836-7C9624C94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7E8BD888-7A08-4AC8-6C0B-56AC2FDDA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0BDEA1-4AFE-6283-F2F4-69132FAF2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Cost Efficiency</a:t>
            </a:r>
          </a:p>
          <a:p>
            <a:r>
              <a:rPr lang="en-US" dirty="0"/>
              <a:t>No need to purchase expensive security hardware</a:t>
            </a:r>
          </a:p>
          <a:p>
            <a:r>
              <a:rPr lang="en-US" dirty="0"/>
              <a:t>Pay-as-you-use security services</a:t>
            </a:r>
          </a:p>
          <a:p>
            <a:r>
              <a:rPr lang="en-US" dirty="0"/>
              <a:t>Using AWS Shield instead of on-premise DDoS appliances</a:t>
            </a:r>
          </a:p>
        </p:txBody>
      </p:sp>
    </p:spTree>
    <p:extLst>
      <p:ext uri="{BB962C8B-B14F-4D97-AF65-F5344CB8AC3E}">
        <p14:creationId xmlns:p14="http://schemas.microsoft.com/office/powerpoint/2010/main" val="2543531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9AADB6-0B6B-B408-9211-15C0D9C63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56316-B18E-BF9C-F0BE-54EA61CFE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Benefits of Cloud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73CEE9-F6EB-2D92-F6B7-681DA298A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C1F77609-B492-FD86-12B7-D7541D716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65A95C-5079-A76F-E090-F3315A6DD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2. Scalability and Flexibility</a:t>
            </a:r>
          </a:p>
          <a:p>
            <a:r>
              <a:rPr lang="en-US" dirty="0"/>
              <a:t>Security scales automatically with workload</a:t>
            </a:r>
          </a:p>
          <a:p>
            <a:r>
              <a:rPr lang="en-US" dirty="0"/>
              <a:t>Suitable for fluctuating traffic</a:t>
            </a:r>
          </a:p>
          <a:p>
            <a:r>
              <a:rPr lang="en-US" dirty="0"/>
              <a:t>Auto-scaling firewall rules during high traffic events</a:t>
            </a:r>
          </a:p>
        </p:txBody>
      </p:sp>
    </p:spTree>
    <p:extLst>
      <p:ext uri="{BB962C8B-B14F-4D97-AF65-F5344CB8AC3E}">
        <p14:creationId xmlns:p14="http://schemas.microsoft.com/office/powerpoint/2010/main" val="1948273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A504D9-FB75-FAD6-3B56-400D15E7B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F3537-9178-6933-1208-1A93B8724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Benefits of Cloud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92E4C-0E45-EB56-70DD-833129BCB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61FDF94E-2A41-7F4E-41AD-847E1C59F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373F3D-6A25-8AEE-B192-006C8D800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 Advanced Security Infrastructure</a:t>
            </a:r>
          </a:p>
          <a:p>
            <a:r>
              <a:rPr lang="en-US" dirty="0"/>
              <a:t>Cloud providers invest heavily in security</a:t>
            </a:r>
          </a:p>
          <a:p>
            <a:r>
              <a:rPr lang="en-US" dirty="0"/>
              <a:t>Use AI/ML for threat detection</a:t>
            </a:r>
            <a:endParaRPr lang="en-US" b="1" dirty="0"/>
          </a:p>
          <a:p>
            <a:r>
              <a:rPr lang="en-US" dirty="0"/>
              <a:t>Google Cloud’s AI-based anomaly detection</a:t>
            </a:r>
          </a:p>
        </p:txBody>
      </p:sp>
    </p:spTree>
    <p:extLst>
      <p:ext uri="{BB962C8B-B14F-4D97-AF65-F5344CB8AC3E}">
        <p14:creationId xmlns:p14="http://schemas.microsoft.com/office/powerpoint/2010/main" val="703773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8B55AE-BD55-B86C-14BE-D46E81E74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DC527-2A12-A7ED-1D27-C1B1BB574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Benefits of Cloud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F1CA3E-1649-A2E9-6748-7EBDC24B9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77099FAB-85DA-B51B-36C6-CADA41F7B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9C9A18-7C33-4350-F0A9-FE1100E1A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4. Automatic Updates and Patching</a:t>
            </a:r>
          </a:p>
          <a:p>
            <a:r>
              <a:rPr lang="en-US" dirty="0"/>
              <a:t>Providers handle security updates</a:t>
            </a:r>
          </a:p>
          <a:p>
            <a:r>
              <a:rPr lang="en-US" dirty="0"/>
              <a:t>Reduces vulnerability exposure</a:t>
            </a:r>
            <a:endParaRPr lang="en-US" b="1" dirty="0"/>
          </a:p>
          <a:p>
            <a:r>
              <a:rPr lang="en-US" dirty="0"/>
              <a:t>Automatic OS patching in managed services</a:t>
            </a:r>
          </a:p>
        </p:txBody>
      </p:sp>
    </p:spTree>
    <p:extLst>
      <p:ext uri="{BB962C8B-B14F-4D97-AF65-F5344CB8AC3E}">
        <p14:creationId xmlns:p14="http://schemas.microsoft.com/office/powerpoint/2010/main" val="872245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16B29C-0BDF-9D5F-F0A0-E9C6FBD13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3473B-FB15-B5FC-AE91-44797C3F7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Benefits of Cloud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156F15-210C-6B62-9F65-8A273078F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F10F4EFB-84CF-24D1-2E53-BCC8376C1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65BFB7-301F-8FE9-71C4-08BA776F2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5. Data Encryption and Compliance</a:t>
            </a:r>
          </a:p>
          <a:p>
            <a:r>
              <a:rPr lang="en-US" dirty="0"/>
              <a:t>Encryption at rest and in transit</a:t>
            </a:r>
          </a:p>
          <a:p>
            <a:r>
              <a:rPr lang="en-US" dirty="0"/>
              <a:t>Supports global compliance standards</a:t>
            </a:r>
            <a:endParaRPr lang="en-US" b="1" dirty="0"/>
          </a:p>
          <a:p>
            <a:r>
              <a:rPr lang="en-US" dirty="0"/>
              <a:t>HIPAA-compliant healthcare cloud storage</a:t>
            </a:r>
          </a:p>
        </p:txBody>
      </p:sp>
    </p:spTree>
    <p:extLst>
      <p:ext uri="{BB962C8B-B14F-4D97-AF65-F5344CB8AC3E}">
        <p14:creationId xmlns:p14="http://schemas.microsoft.com/office/powerpoint/2010/main" val="385993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763934-15E8-9473-2617-BFEC81722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80B8D-6512-6198-628F-A78AAC177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Benefits of Cloud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2AA863-3329-232A-4210-0D173E6DC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AA04AEEE-2275-200A-38D8-428D641A5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76F5AC-F264-0E44-FF4E-01B91AA113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7. Identity and Access Control</a:t>
            </a:r>
          </a:p>
          <a:p>
            <a:r>
              <a:rPr lang="en-US" dirty="0"/>
              <a:t>Fine-grained access control</a:t>
            </a:r>
          </a:p>
          <a:p>
            <a:r>
              <a:rPr lang="en-US" dirty="0"/>
              <a:t>Role-based access management</a:t>
            </a:r>
            <a:endParaRPr lang="en-US" b="1" dirty="0"/>
          </a:p>
          <a:p>
            <a:r>
              <a:rPr lang="en-US" dirty="0"/>
              <a:t>IAM policies restricting admin privileges</a:t>
            </a:r>
          </a:p>
        </p:txBody>
      </p:sp>
    </p:spTree>
    <p:extLst>
      <p:ext uri="{BB962C8B-B14F-4D97-AF65-F5344CB8AC3E}">
        <p14:creationId xmlns:p14="http://schemas.microsoft.com/office/powerpoint/2010/main" val="32109357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1309D0-34EF-4512-F12B-224242C5E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EE543-D9E4-C628-AEE7-4267D86D9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Challenges of Cloud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18B2E8-E917-45A7-DE06-8782A7C77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DE059CC1-D6F4-83CF-DF3A-B6E8DB496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0A568D-85E0-CC7E-818B-0B1AA3BF6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Data Privacy and Confidentiality</a:t>
            </a:r>
          </a:p>
          <a:p>
            <a:r>
              <a:rPr lang="en-US" dirty="0"/>
              <a:t>Data stored in third-party data centers</a:t>
            </a:r>
          </a:p>
          <a:p>
            <a:r>
              <a:rPr lang="en-US" b="1" dirty="0"/>
              <a:t>Risk: </a:t>
            </a:r>
            <a:r>
              <a:rPr lang="en-US" dirty="0"/>
              <a:t>Regulatory and legal issues</a:t>
            </a:r>
          </a:p>
          <a:p>
            <a:r>
              <a:rPr lang="en-US" b="1" dirty="0"/>
              <a:t>2. Shared Responsibility Complexity</a:t>
            </a:r>
          </a:p>
          <a:p>
            <a:r>
              <a:rPr lang="en-US" dirty="0"/>
              <a:t>Users misunderstand their responsibilities</a:t>
            </a:r>
          </a:p>
          <a:p>
            <a:r>
              <a:rPr lang="en-US" b="1" dirty="0"/>
              <a:t>Risk: </a:t>
            </a:r>
            <a:r>
              <a:rPr lang="en-US" dirty="0"/>
              <a:t>Misconfiguration leading to breaches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954411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189CF8-0C4C-1C0C-DECE-7C4243C23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93C70-9C5C-62D4-A433-2843C4A62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Challenges of Cloud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C5C506-2C1E-3B23-A0B4-4913494B3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D4DA209D-A070-C5EB-B331-068640C8D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6012E3-78C8-1381-87DA-8C816AAF3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3. Vendor Lock-In</a:t>
            </a:r>
          </a:p>
          <a:p>
            <a:r>
              <a:rPr lang="en-US" dirty="0"/>
              <a:t>Security tools are provider-specific</a:t>
            </a:r>
          </a:p>
          <a:p>
            <a:r>
              <a:rPr lang="en-US" b="1" dirty="0"/>
              <a:t>Risk: </a:t>
            </a:r>
            <a:r>
              <a:rPr lang="en-US" dirty="0"/>
              <a:t>Difficult migration between clouds</a:t>
            </a:r>
          </a:p>
          <a:p>
            <a:r>
              <a:rPr lang="en-US" b="1" dirty="0"/>
              <a:t>4. Misconfiguration and Human Error</a:t>
            </a:r>
          </a:p>
          <a:p>
            <a:r>
              <a:rPr lang="en-US" dirty="0"/>
              <a:t>Incorrect security settings</a:t>
            </a:r>
          </a:p>
          <a:p>
            <a:r>
              <a:rPr lang="en-US" b="1" dirty="0"/>
              <a:t>Example: </a:t>
            </a:r>
            <a:r>
              <a:rPr lang="en-US" dirty="0"/>
              <a:t>Publicly exposed storage buckets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617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3FC851-042B-8BE2-53C2-6803BE901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2DC52-B4D9-626D-D8A1-94DF1A3AF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Challenges of Cloud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FC7509-32CC-C294-8FDF-233059086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A1448BC9-54E7-18D7-1726-1C959F425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51D0C3-3283-BDB2-8667-3B84EB5A6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5. Insider Threats</a:t>
            </a:r>
          </a:p>
          <a:p>
            <a:r>
              <a:rPr lang="en-US" dirty="0"/>
              <a:t>Malicious or careless employees</a:t>
            </a:r>
          </a:p>
          <a:p>
            <a:r>
              <a:rPr lang="en-US" b="1" dirty="0"/>
              <a:t>Example: </a:t>
            </a:r>
            <a:r>
              <a:rPr lang="en-US" dirty="0"/>
              <a:t>Admin misuse of privileges</a:t>
            </a:r>
          </a:p>
          <a:p>
            <a:r>
              <a:rPr lang="en-US" b="1" dirty="0"/>
              <a:t>6. Internet Dependency</a:t>
            </a:r>
          </a:p>
          <a:p>
            <a:r>
              <a:rPr lang="en-US" dirty="0"/>
              <a:t>Cloud security depends on internet connectivity</a:t>
            </a:r>
          </a:p>
          <a:p>
            <a:r>
              <a:rPr lang="en-US" b="1" dirty="0"/>
              <a:t>Risk: </a:t>
            </a:r>
            <a:r>
              <a:rPr lang="en-US" dirty="0"/>
              <a:t>Service unavailability during outages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265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9868A1-CF72-A47A-2824-83DD33C33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47480-95FD-7682-1BF1-38AEE9A42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Challenges of Cloud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D18B91-BCD0-E88A-14E9-0575090AC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1E13C1BF-D9BA-DC37-6A85-A1A9A965B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98A3C6-6CA2-01D8-A721-1F1C364E9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7. Limited Visibility and Control</a:t>
            </a:r>
          </a:p>
          <a:p>
            <a:r>
              <a:rPr lang="en-US" dirty="0"/>
              <a:t>No access to physical infrastructure</a:t>
            </a:r>
          </a:p>
          <a:p>
            <a:r>
              <a:rPr lang="en-US" b="1" dirty="0"/>
              <a:t>Risk: </a:t>
            </a:r>
            <a:r>
              <a:rPr lang="en-US" dirty="0"/>
              <a:t>Difficulty in forensic investigations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35928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162887-D8DE-D4A6-FD81-2BFB3694A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6A11A-7F05-3B43-A43C-E73A1CDDC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Security Threats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FEA6F2-1BD2-7078-9A74-49CABCBEC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80E3C226-E405-E18E-105F-98B2BD25D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4D9CA5-2F33-2F85-374D-11D6F9551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Cloud security threats are risks that </a:t>
            </a:r>
            <a:r>
              <a:rPr lang="en-US" b="1" dirty="0"/>
              <a:t>compromise confidentiality, integrity, and availability (CIA Triad)</a:t>
            </a:r>
            <a:r>
              <a:rPr lang="en-US" dirty="0"/>
              <a:t>.</a:t>
            </a: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39531722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76A816-FEED-1EE2-DEE8-62860D0DE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6E75B-3327-D33A-0801-70C6566D3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Security Threats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BB38AC-5B11-C2D4-94D9-49254B7BA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1100A411-44A5-ABB1-7BAB-20D6AC01E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B3655D-9847-379C-A3DA-B5259231D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Data Breach</a:t>
            </a:r>
          </a:p>
          <a:p>
            <a:r>
              <a:rPr lang="en-US" dirty="0"/>
              <a:t>Unauthorized access to sensitive data.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Exposed S3 bucket containing customer records</a:t>
            </a:r>
          </a:p>
          <a:p>
            <a:r>
              <a:rPr lang="en-US" b="1" dirty="0"/>
              <a:t>Impact:</a:t>
            </a:r>
            <a:endParaRPr lang="en-US" dirty="0"/>
          </a:p>
          <a:p>
            <a:r>
              <a:rPr lang="en-US" dirty="0"/>
              <a:t>Financial loss</a:t>
            </a:r>
          </a:p>
          <a:p>
            <a:r>
              <a:rPr lang="en-US" dirty="0"/>
              <a:t>Legal penalties</a:t>
            </a:r>
          </a:p>
          <a:p>
            <a:r>
              <a:rPr lang="en-US" dirty="0"/>
              <a:t>Reputation damage</a:t>
            </a:r>
          </a:p>
        </p:txBody>
      </p:sp>
    </p:spTree>
    <p:extLst>
      <p:ext uri="{BB962C8B-B14F-4D97-AF65-F5344CB8AC3E}">
        <p14:creationId xmlns:p14="http://schemas.microsoft.com/office/powerpoint/2010/main" val="37312763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617AB8-89C9-59B6-F2DE-580D0CEBB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F2572-ADF5-DDFD-250F-59AF9E7FB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Security Threats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FB08C-27CD-8265-5447-C57B0762D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6C1B7CB8-B227-0E4F-32C1-53F42FBD7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7BC8DB-1DB4-DD5C-6877-A98FC7B73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2. Data Loss</a:t>
            </a:r>
          </a:p>
          <a:p>
            <a:r>
              <a:rPr lang="en-US" dirty="0"/>
              <a:t>Accidental deletion, ransomware, or hardware failure.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Deleting a production database without backup</a:t>
            </a:r>
          </a:p>
          <a:p>
            <a:r>
              <a:rPr lang="en-US" b="1" dirty="0"/>
              <a:t>Prevention:</a:t>
            </a:r>
            <a:endParaRPr lang="en-US" dirty="0"/>
          </a:p>
          <a:p>
            <a:r>
              <a:rPr lang="en-US" dirty="0"/>
              <a:t>Backup &amp; versioning</a:t>
            </a:r>
          </a:p>
          <a:p>
            <a:r>
              <a:rPr lang="en-US" dirty="0"/>
              <a:t>Replication</a:t>
            </a:r>
          </a:p>
        </p:txBody>
      </p:sp>
    </p:spTree>
    <p:extLst>
      <p:ext uri="{BB962C8B-B14F-4D97-AF65-F5344CB8AC3E}">
        <p14:creationId xmlns:p14="http://schemas.microsoft.com/office/powerpoint/2010/main" val="34342328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5B7585-C703-E3DA-0F62-29AB6CED9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F3045-A860-2B9F-77E1-004B2A888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Security Threats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CF3B33-49B1-C38E-C471-CA5508F4A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9D8FF543-EB87-E5BC-64A9-F7A5EC545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4DD7EE-A8B2-6AEF-DB6E-30CDFD169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 Insecure APIs</a:t>
            </a:r>
          </a:p>
          <a:p>
            <a:r>
              <a:rPr lang="en-US" dirty="0"/>
              <a:t>APIs expose cloud services to attackers.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Weak authentication on REST APIs</a:t>
            </a:r>
          </a:p>
          <a:p>
            <a:r>
              <a:rPr lang="en-US" b="1" dirty="0"/>
              <a:t>Mitigation:</a:t>
            </a:r>
            <a:endParaRPr lang="en-US" dirty="0"/>
          </a:p>
          <a:p>
            <a:r>
              <a:rPr lang="en-US" dirty="0"/>
              <a:t>API Gateway</a:t>
            </a:r>
          </a:p>
          <a:p>
            <a:r>
              <a:rPr lang="en-US" dirty="0"/>
              <a:t>OAuth, JWT tokens</a:t>
            </a:r>
          </a:p>
        </p:txBody>
      </p:sp>
    </p:spTree>
    <p:extLst>
      <p:ext uri="{BB962C8B-B14F-4D97-AF65-F5344CB8AC3E}">
        <p14:creationId xmlns:p14="http://schemas.microsoft.com/office/powerpoint/2010/main" val="10684968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90E59D-4B92-A79B-A74A-DA72B3637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FAB78-734C-F048-30EE-6AE53E692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Security Threats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C7CB0C-9DAC-0D78-0971-28D79F537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0593F8A6-DF98-07ED-786F-60B306605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68A937-EE84-142D-59D7-CC1FCE10B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4. Account Hijacking</a:t>
            </a:r>
          </a:p>
          <a:p>
            <a:r>
              <a:rPr lang="en-US" dirty="0"/>
              <a:t>Attackers gain control of cloud accounts.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Stolen IAM credentials used to launch crypto-mining VMs</a:t>
            </a:r>
          </a:p>
          <a:p>
            <a:r>
              <a:rPr lang="en-US" b="1" dirty="0"/>
              <a:t>Prevention:</a:t>
            </a:r>
            <a:endParaRPr lang="en-US" dirty="0"/>
          </a:p>
          <a:p>
            <a:r>
              <a:rPr lang="en-US" dirty="0"/>
              <a:t>Multi-Factor Authentication (MFA)</a:t>
            </a:r>
          </a:p>
          <a:p>
            <a:r>
              <a:rPr lang="en-US" dirty="0"/>
              <a:t>IAM policies</a:t>
            </a:r>
          </a:p>
        </p:txBody>
      </p:sp>
    </p:spTree>
    <p:extLst>
      <p:ext uri="{BB962C8B-B14F-4D97-AF65-F5344CB8AC3E}">
        <p14:creationId xmlns:p14="http://schemas.microsoft.com/office/powerpoint/2010/main" val="6943034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BB0BA9-8D99-2829-D6C0-393EDDE25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10815-D443-7038-144B-881216BA8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Security Threats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2C6C1B-E7BB-C998-47D8-79D3B4A37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ACDE83F9-CDB9-CA47-06E6-A2621AC08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4F8E7-F9C4-2ADE-4629-150B18052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5. Insider Threat</a:t>
            </a:r>
          </a:p>
          <a:p>
            <a:r>
              <a:rPr lang="en-US" dirty="0"/>
              <a:t>Malicious or careless employees.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Admin accidentally exposing database publicly</a:t>
            </a:r>
          </a:p>
          <a:p>
            <a:r>
              <a:rPr lang="en-US" b="1" dirty="0"/>
              <a:t>Mitigation:</a:t>
            </a:r>
            <a:endParaRPr lang="en-US" dirty="0"/>
          </a:p>
          <a:p>
            <a:r>
              <a:rPr lang="en-US" dirty="0"/>
              <a:t>Least privilege principle</a:t>
            </a:r>
          </a:p>
          <a:p>
            <a:r>
              <a:rPr lang="en-US" dirty="0"/>
              <a:t>Activity logging</a:t>
            </a:r>
          </a:p>
        </p:txBody>
      </p:sp>
    </p:spTree>
    <p:extLst>
      <p:ext uri="{BB962C8B-B14F-4D97-AF65-F5344CB8AC3E}">
        <p14:creationId xmlns:p14="http://schemas.microsoft.com/office/powerpoint/2010/main" val="1946524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A6164D-7F40-1E0D-F41E-66FE2C97A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86D29-05CE-F5B1-C44F-1F94646AB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Security Threats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37FBFB-9B1C-CD31-EBA5-9169EACB6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E9603ADA-9990-7791-19FA-D4BF58147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27C78E-C710-6AF3-799F-1A5B53866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6. Denial of Service (DoS / DDoS)</a:t>
            </a:r>
          </a:p>
          <a:p>
            <a:r>
              <a:rPr lang="en-US" dirty="0"/>
              <a:t>Overloading cloud services.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Traffic flood taking down an e-commerce site</a:t>
            </a:r>
          </a:p>
          <a:p>
            <a:r>
              <a:rPr lang="en-US" b="1" dirty="0"/>
              <a:t>Protection:</a:t>
            </a:r>
            <a:endParaRPr lang="en-US" dirty="0"/>
          </a:p>
          <a:p>
            <a:r>
              <a:rPr lang="en-US" dirty="0"/>
              <a:t>Auto-scaling</a:t>
            </a:r>
          </a:p>
          <a:p>
            <a:r>
              <a:rPr lang="en-US" dirty="0"/>
              <a:t>DDoS protection services</a:t>
            </a:r>
          </a:p>
        </p:txBody>
      </p:sp>
    </p:spTree>
    <p:extLst>
      <p:ext uri="{BB962C8B-B14F-4D97-AF65-F5344CB8AC3E}">
        <p14:creationId xmlns:p14="http://schemas.microsoft.com/office/powerpoint/2010/main" val="28725095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8CB9C3-7C72-EB4A-A6CC-D3BBB29F1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FAE5F-55FA-E713-2013-360FBD240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Security Threats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27FA6-5734-3DEB-2655-3BCF05833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F59BEDC4-9E97-F0A3-A394-CEDD451E0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E12C9D-4617-8BE8-D1B9-EFE9E5DC0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7. Misconfiguration</a:t>
            </a:r>
          </a:p>
          <a:p>
            <a:r>
              <a:rPr lang="en-US" dirty="0"/>
              <a:t>Most common cloud threat.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Open security groups (0.0.0.0/0)</a:t>
            </a:r>
          </a:p>
          <a:p>
            <a:r>
              <a:rPr lang="en-US" b="1" dirty="0"/>
              <a:t>Mitigation:</a:t>
            </a:r>
            <a:endParaRPr lang="en-US" dirty="0"/>
          </a:p>
          <a:p>
            <a:r>
              <a:rPr lang="en-US" dirty="0"/>
              <a:t>Security audits</a:t>
            </a:r>
          </a:p>
          <a:p>
            <a:r>
              <a:rPr lang="en-US" dirty="0"/>
              <a:t>Automated policy checks</a:t>
            </a:r>
          </a:p>
        </p:txBody>
      </p:sp>
    </p:spTree>
    <p:extLst>
      <p:ext uri="{BB962C8B-B14F-4D97-AF65-F5344CB8AC3E}">
        <p14:creationId xmlns:p14="http://schemas.microsoft.com/office/powerpoint/2010/main" val="3278827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3E0AE7-73F3-4E08-944C-9363BFFE2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65A7E-61B8-1067-4061-44B1801AE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Security Threats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FC7230-3AE3-5594-8F65-EF82C00CB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FFEFE788-1F95-DF18-EB45-EA286BD9A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711766-69C7-47C3-AF48-F72B88E64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8. Malware Injection</a:t>
            </a:r>
          </a:p>
          <a:p>
            <a:r>
              <a:rPr lang="en-US" dirty="0"/>
              <a:t>Attacker injects malicious code.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Infected VM image used by users</a:t>
            </a:r>
          </a:p>
          <a:p>
            <a:r>
              <a:rPr lang="en-US" b="1" dirty="0"/>
              <a:t>Prevention:</a:t>
            </a:r>
            <a:endParaRPr lang="en-US" dirty="0"/>
          </a:p>
          <a:p>
            <a:r>
              <a:rPr lang="en-US" dirty="0"/>
              <a:t>Image scanning</a:t>
            </a:r>
          </a:p>
          <a:p>
            <a:r>
              <a:rPr lang="en-US" dirty="0"/>
              <a:t>Trusted repositories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8192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C48B8B-DEA2-D60F-3D72-9BDE1DA27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F8975-F80A-06EA-9628-E62211C77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Security Threats Mapping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A5F26C-85C3-858C-BCEF-60DB82597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8A7D297B-FA82-0FFD-0C66-30A9C363A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D107C07E-6D10-5038-852D-372D257984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4209748"/>
              </p:ext>
            </p:extLst>
          </p:nvPr>
        </p:nvGraphicFramePr>
        <p:xfrm>
          <a:off x="2592029" y="1912082"/>
          <a:ext cx="7007942" cy="2743200"/>
        </p:xfrm>
        <a:graphic>
          <a:graphicData uri="http://schemas.openxmlformats.org/drawingml/2006/table">
            <a:tbl>
              <a:tblPr/>
              <a:tblGrid>
                <a:gridCol w="3503971">
                  <a:extLst>
                    <a:ext uri="{9D8B030D-6E8A-4147-A177-3AD203B41FA5}">
                      <a16:colId xmlns:a16="http://schemas.microsoft.com/office/drawing/2014/main" val="580390720"/>
                    </a:ext>
                  </a:extLst>
                </a:gridCol>
                <a:gridCol w="3503971">
                  <a:extLst>
                    <a:ext uri="{9D8B030D-6E8A-4147-A177-3AD203B41FA5}">
                      <a16:colId xmlns:a16="http://schemas.microsoft.com/office/drawing/2014/main" val="14586570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latin typeface=""/>
                        </a:rPr>
                        <a:t>Threat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latin typeface=""/>
                        </a:rPr>
                        <a:t>Affects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19412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Data Breach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Confidentiality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0510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Data Loss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Integrity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466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DDoS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Availability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3048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Insider Attack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968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API Attack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latin typeface=""/>
                        </a:rPr>
                        <a:t>Confidentiality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317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83114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FC4D64-938D-3A16-7436-2A10020BA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02067-3DA3-87B9-8797-752020A3D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Security as a Service (</a:t>
            </a:r>
            <a:r>
              <a:rPr lang="en-US" dirty="0" err="1"/>
              <a:t>SECaaS</a:t>
            </a:r>
            <a:r>
              <a:rPr lang="en-US" dirty="0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D44D13-0B7C-2E08-0373-05E1B05FF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6660FD98-4B8C-C84F-841F-760250495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5B88F1-C0A0-B24E-C307-02F0FD180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Security as a Service is a </a:t>
            </a:r>
            <a:r>
              <a:rPr lang="en-US" b="1" dirty="0"/>
              <a:t>cloud-based delivery model</a:t>
            </a:r>
            <a:r>
              <a:rPr lang="en-US" dirty="0"/>
              <a:t> where </a:t>
            </a:r>
            <a:r>
              <a:rPr lang="en-US" b="1" dirty="0"/>
              <a:t>security services are provided on demand</a:t>
            </a:r>
            <a:r>
              <a:rPr lang="en-US" dirty="0"/>
              <a:t> by cloud providers instead of being implemented on-premises.</a:t>
            </a:r>
          </a:p>
          <a:p>
            <a:r>
              <a:rPr lang="en-US" dirty="0"/>
              <a:t>Security itself becomes a </a:t>
            </a:r>
            <a:r>
              <a:rPr lang="en-US" b="1" dirty="0"/>
              <a:t>cloud service</a:t>
            </a:r>
            <a:r>
              <a:rPr lang="en-US" dirty="0"/>
              <a:t>.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9419850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34249C-E8F5-5591-A3B4-37A0CBC5B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69F55-B2A0-86E1-10DB-D32FEE742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SECaaS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481AF-8F2A-F804-46A2-FFBC29A6F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D9B86815-CDA3-D1C5-14E4-6DAB1BD4E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7C0F28-A691-01AB-2933-62F7352C4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Traditional security systems:</a:t>
            </a:r>
          </a:p>
          <a:p>
            <a:pPr lvl="1"/>
            <a:r>
              <a:rPr lang="en-US" dirty="0"/>
              <a:t>Require heavy investment</a:t>
            </a:r>
          </a:p>
          <a:p>
            <a:pPr lvl="1"/>
            <a:r>
              <a:rPr lang="en-US" dirty="0"/>
              <a:t>Are difficult to scale</a:t>
            </a:r>
          </a:p>
          <a:p>
            <a:pPr lvl="1"/>
            <a:r>
              <a:rPr lang="en-US" dirty="0"/>
              <a:t>Need constant updates and monitoring</a:t>
            </a:r>
          </a:p>
          <a:p>
            <a:r>
              <a:rPr lang="en-US" dirty="0"/>
              <a:t>Cloud environments demand:</a:t>
            </a:r>
          </a:p>
          <a:p>
            <a:pPr lvl="1"/>
            <a:r>
              <a:rPr lang="en-US" dirty="0"/>
              <a:t>Elastic security</a:t>
            </a:r>
          </a:p>
          <a:p>
            <a:pPr lvl="1"/>
            <a:r>
              <a:rPr lang="en-US" dirty="0"/>
              <a:t>Real-time threat detection</a:t>
            </a:r>
          </a:p>
          <a:p>
            <a:pPr lvl="1"/>
            <a:r>
              <a:rPr lang="en-US" dirty="0"/>
              <a:t>Centralized management</a:t>
            </a:r>
          </a:p>
          <a:p>
            <a:r>
              <a:rPr lang="en-US" dirty="0" err="1"/>
              <a:t>SECaaS</a:t>
            </a:r>
            <a:r>
              <a:rPr lang="en-US" dirty="0"/>
              <a:t> addresses these needs efficiently.</a:t>
            </a:r>
          </a:p>
        </p:txBody>
      </p:sp>
    </p:spTree>
    <p:extLst>
      <p:ext uri="{BB962C8B-B14F-4D97-AF65-F5344CB8AC3E}">
        <p14:creationId xmlns:p14="http://schemas.microsoft.com/office/powerpoint/2010/main" val="11921097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C6D414-0FCB-A396-B490-8DB480519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F9079-8CB6-C6A1-2A38-D3CD5E29B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</a:t>
            </a:r>
            <a:r>
              <a:rPr lang="en-US" dirty="0" err="1"/>
              <a:t>SECaaS</a:t>
            </a:r>
            <a:r>
              <a:rPr lang="en-US" dirty="0"/>
              <a:t>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D58731-EEB7-7398-41AD-1E94EF304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01ED29DB-B3D1-7340-E713-14520C2C6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CBB4C3-F7A0-96B6-BD0E-F259252BF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Reduces security infrastructure cost</a:t>
            </a:r>
          </a:p>
          <a:p>
            <a:r>
              <a:rPr lang="en-US" dirty="0"/>
              <a:t>Automatic updates</a:t>
            </a:r>
          </a:p>
          <a:p>
            <a:r>
              <a:rPr lang="en-US" dirty="0"/>
              <a:t>Scalable and comprehensive protection</a:t>
            </a:r>
          </a:p>
          <a:p>
            <a:r>
              <a:rPr lang="en-US" dirty="0"/>
              <a:t>Centralized management</a:t>
            </a:r>
          </a:p>
        </p:txBody>
      </p:sp>
    </p:spTree>
    <p:extLst>
      <p:ext uri="{BB962C8B-B14F-4D97-AF65-F5344CB8AC3E}">
        <p14:creationId xmlns:p14="http://schemas.microsoft.com/office/powerpoint/2010/main" val="22300943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7B5B6B-5DEF-7983-971C-3A7A7A40D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0763A-1735-EA32-5781-CE07FA770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Cloud-Based E-Commerce Platform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2B3974-B163-E318-6CF9-D1EEB6C70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6B7DEE59-1FF4-EBD1-44B9-AD24D0B76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C670AD-CA28-EDDC-095A-36CB6D3E5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IAM controls admin roles</a:t>
            </a:r>
          </a:p>
          <a:p>
            <a:r>
              <a:rPr lang="en-US" dirty="0"/>
              <a:t>TLS encryption for transactions</a:t>
            </a:r>
          </a:p>
          <a:p>
            <a:r>
              <a:rPr lang="en-US" dirty="0"/>
              <a:t>DDoS protection during sales</a:t>
            </a:r>
          </a:p>
          <a:p>
            <a:r>
              <a:rPr lang="en-US" dirty="0"/>
              <a:t>Monitoring logs for audit</a:t>
            </a:r>
          </a:p>
          <a:p>
            <a:r>
              <a:rPr lang="en-US" dirty="0"/>
              <a:t>Backup and disaster recovery</a:t>
            </a:r>
          </a:p>
        </p:txBody>
      </p:sp>
    </p:spTree>
    <p:extLst>
      <p:ext uri="{BB962C8B-B14F-4D97-AF65-F5344CB8AC3E}">
        <p14:creationId xmlns:p14="http://schemas.microsoft.com/office/powerpoint/2010/main" val="4549285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273CA4-4851-B299-FAF8-02C252317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E545E-DEC3-7C37-6CC4-32A73A229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Challenges of  </a:t>
            </a:r>
            <a:r>
              <a:rPr lang="en-US" dirty="0" err="1"/>
              <a:t>SECaaS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537BC1-1A1F-410A-CEFE-07FDA1CE8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FFEE03C6-350E-966F-E12F-FF9910D94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4F994C-706C-824B-0E7D-2583EE22A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Vendor dependency</a:t>
            </a:r>
          </a:p>
          <a:p>
            <a:r>
              <a:rPr lang="en-US" dirty="0"/>
              <a:t>Limited customization</a:t>
            </a:r>
          </a:p>
          <a:p>
            <a:r>
              <a:rPr lang="en-US" dirty="0"/>
              <a:t>Privacy concerns</a:t>
            </a:r>
          </a:p>
          <a:p>
            <a:r>
              <a:rPr lang="en-US" dirty="0"/>
              <a:t>Compliance complexity</a:t>
            </a: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11227259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AEEBB3-419C-5ACB-B114-46E55CA0E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50451-A499-ADD8-6BA4-C92F250CA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Dimensions of Cloud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AEC38A-FD23-9157-0F29-A41FB120F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E8FD7987-14C4-28E1-02A9-098C727FA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497BE1-2154-E1B9-D1BA-D3FB3C80D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Cloud security is </a:t>
            </a:r>
            <a:r>
              <a:rPr lang="en-US" b="1" dirty="0"/>
              <a:t>multi-dimensional</a:t>
            </a:r>
            <a:r>
              <a:rPr lang="en-US" dirty="0"/>
              <a:t>, meaning it does not rely on a single mechanism.</a:t>
            </a:r>
          </a:p>
          <a:p>
            <a:r>
              <a:rPr lang="en-US" dirty="0"/>
              <a:t>Instead, it combines </a:t>
            </a:r>
            <a:r>
              <a:rPr lang="en-US" b="1" dirty="0"/>
              <a:t>technical, organizational, legal, and operational dimensions</a:t>
            </a:r>
            <a:r>
              <a:rPr lang="en-US" dirty="0"/>
              <a:t> to ensure protection of cloud resources.</a:t>
            </a: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24388027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2A6863-EB59-1647-B8BD-A954DA541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167E5-4382-5A94-0ADB-5494ADDAE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Dimensions of Cloud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9816E7-7873-F004-D8DB-C7D570B7B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86D13771-8E36-E27D-B836-F65138EB5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3E2890-315C-405E-1A35-38EE83824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 Security Dimension</a:t>
            </a:r>
          </a:p>
          <a:p>
            <a:pPr lvl="1"/>
            <a:r>
              <a:rPr lang="en-US" b="1" dirty="0"/>
              <a:t>Protection of data</a:t>
            </a:r>
            <a:r>
              <a:rPr lang="en-US" dirty="0"/>
              <a:t> stored, processed, and transmitted in the cloud.</a:t>
            </a:r>
          </a:p>
          <a:p>
            <a:pPr lvl="2"/>
            <a:r>
              <a:rPr lang="en-US" dirty="0"/>
              <a:t>Data encryption (at rest &amp; in transit)</a:t>
            </a:r>
          </a:p>
          <a:p>
            <a:pPr lvl="2"/>
            <a:r>
              <a:rPr lang="en-US" dirty="0"/>
              <a:t>Backup and recovery</a:t>
            </a:r>
          </a:p>
          <a:p>
            <a:pPr lvl="2"/>
            <a:r>
              <a:rPr lang="en-US" dirty="0"/>
              <a:t>Data integrity</a:t>
            </a:r>
          </a:p>
          <a:p>
            <a:pPr lvl="2"/>
            <a:r>
              <a:rPr lang="en-US" dirty="0"/>
              <a:t>Data lifecycle management</a:t>
            </a:r>
          </a:p>
          <a:p>
            <a:endParaRPr lang="en-US" dirty="0"/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30132858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159270-F679-CFE9-149C-4C675F826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2D00A-F40E-195F-A67A-B1B9174AC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Dimensions of Cloud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B1938F-82B7-6A1F-4154-03DCA060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99A17B43-3A2F-9D69-59C2-09D0EE5FF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FB354E-C6D2-8FF1-FCF2-702B287CC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Identity and Access Management (IAM) Dimension</a:t>
            </a:r>
          </a:p>
          <a:p>
            <a:pPr lvl="1"/>
            <a:r>
              <a:rPr lang="en-US" dirty="0"/>
              <a:t>Controls </a:t>
            </a:r>
            <a:r>
              <a:rPr lang="en-US" b="1" dirty="0"/>
              <a:t>who can access cloud resources and what actions they can perform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User authentication</a:t>
            </a:r>
          </a:p>
          <a:p>
            <a:pPr lvl="2"/>
            <a:r>
              <a:rPr lang="en-US" dirty="0"/>
              <a:t>Role-based access control (RBAC)</a:t>
            </a:r>
          </a:p>
          <a:p>
            <a:pPr lvl="2"/>
            <a:r>
              <a:rPr lang="en-US" dirty="0"/>
              <a:t>Multi-Factor Authentication (MFA)</a:t>
            </a:r>
          </a:p>
          <a:p>
            <a:pPr lvl="2"/>
            <a:r>
              <a:rPr lang="en-US" dirty="0"/>
              <a:t>Least privilege principle</a:t>
            </a:r>
          </a:p>
          <a:p>
            <a:pPr lvl="1"/>
            <a:r>
              <a:rPr lang="en-US" b="1" dirty="0"/>
              <a:t>Example: </a:t>
            </a:r>
            <a:r>
              <a:rPr lang="en-US" dirty="0"/>
              <a:t>Developer can read logs but cannot delete databases</a:t>
            </a:r>
          </a:p>
        </p:txBody>
      </p:sp>
    </p:spTree>
    <p:extLst>
      <p:ext uri="{BB962C8B-B14F-4D97-AF65-F5344CB8AC3E}">
        <p14:creationId xmlns:p14="http://schemas.microsoft.com/office/powerpoint/2010/main" val="41659176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9BFD84-F904-5B0D-CD41-450D6069B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F9D32-3DDB-0580-45A0-15C7841F6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Dimensions of Cloud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DF123F-FAB5-9C8E-9F51-06D57276A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92AE977D-EDDC-3339-A6ED-A37D50F3A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E5BFCB-6C04-D89E-B143-D3944B0D3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Application Security Dimension</a:t>
            </a:r>
          </a:p>
          <a:p>
            <a:pPr lvl="1"/>
            <a:r>
              <a:rPr lang="en-US" dirty="0"/>
              <a:t>Ensures cloud applications are free from vulnerabilities.</a:t>
            </a:r>
            <a:endParaRPr lang="en-US" b="1" dirty="0"/>
          </a:p>
          <a:p>
            <a:pPr lvl="2"/>
            <a:r>
              <a:rPr lang="en-US" dirty="0"/>
              <a:t>Secure coding</a:t>
            </a:r>
          </a:p>
          <a:p>
            <a:pPr lvl="2"/>
            <a:r>
              <a:rPr lang="en-US" dirty="0"/>
              <a:t>Input validation</a:t>
            </a:r>
          </a:p>
          <a:p>
            <a:pPr lvl="2"/>
            <a:r>
              <a:rPr lang="en-US" dirty="0"/>
              <a:t>API security</a:t>
            </a:r>
          </a:p>
          <a:p>
            <a:pPr lvl="2"/>
            <a:r>
              <a:rPr lang="en-US" dirty="0"/>
              <a:t>Application firewall</a:t>
            </a:r>
          </a:p>
          <a:p>
            <a:pPr lvl="1"/>
            <a:r>
              <a:rPr lang="en-US" b="1" dirty="0"/>
              <a:t>Example: </a:t>
            </a:r>
            <a:r>
              <a:rPr lang="en-US" dirty="0"/>
              <a:t>Web Application Firewall (WAF) blocking SQL injection</a:t>
            </a:r>
          </a:p>
        </p:txBody>
      </p:sp>
    </p:spTree>
    <p:extLst>
      <p:ext uri="{BB962C8B-B14F-4D97-AF65-F5344CB8AC3E}">
        <p14:creationId xmlns:p14="http://schemas.microsoft.com/office/powerpoint/2010/main" val="17912912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9884B4-63B2-300F-0210-1AA366E1E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F1E9D-B3EA-B943-173F-761952610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Dimensions of Cloud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2585A-422A-A6FD-2477-BAE3FFC36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E9CA284B-FDFB-60A9-20D8-3BE896712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C48B45-E829-5A6B-2D0D-0B6A7D0BC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Network Security Dimension</a:t>
            </a:r>
          </a:p>
          <a:p>
            <a:pPr lvl="1"/>
            <a:r>
              <a:rPr lang="en-US" dirty="0"/>
              <a:t>Protects cloud networking components and traffic.</a:t>
            </a:r>
          </a:p>
          <a:p>
            <a:pPr lvl="2"/>
            <a:r>
              <a:rPr lang="en-US" dirty="0"/>
              <a:t>Firewalls</a:t>
            </a:r>
          </a:p>
          <a:p>
            <a:pPr lvl="2"/>
            <a:r>
              <a:rPr lang="en-US" dirty="0"/>
              <a:t>Security Groups</a:t>
            </a:r>
          </a:p>
          <a:p>
            <a:pPr lvl="2"/>
            <a:r>
              <a:rPr lang="en-US" dirty="0"/>
              <a:t>Network ACLs</a:t>
            </a:r>
          </a:p>
          <a:p>
            <a:pPr lvl="2"/>
            <a:r>
              <a:rPr lang="en-US" dirty="0"/>
              <a:t>VPNs</a:t>
            </a:r>
          </a:p>
          <a:p>
            <a:pPr lvl="1"/>
            <a:r>
              <a:rPr lang="en-US" b="1" dirty="0"/>
              <a:t>Example: </a:t>
            </a:r>
            <a:r>
              <a:rPr lang="en-US" dirty="0"/>
              <a:t>Private subnets with no internet access, VPN connecting on-premise to cloud</a:t>
            </a:r>
          </a:p>
        </p:txBody>
      </p:sp>
    </p:spTree>
    <p:extLst>
      <p:ext uri="{BB962C8B-B14F-4D97-AF65-F5344CB8AC3E}">
        <p14:creationId xmlns:p14="http://schemas.microsoft.com/office/powerpoint/2010/main" val="8304922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3EB3F9-1073-9802-7A74-BE4404A2E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76DD3-E202-4AF1-BEDF-54D147C6E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Dimensions of Cloud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1AD14E-2D11-1EF4-00E5-56E43EFFA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E4F47626-7FDD-9CEC-06DB-C2B6C1ED9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B57D0-D7C9-BE16-4396-F4205F909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Infrastructure Security Dimension</a:t>
            </a:r>
          </a:p>
          <a:p>
            <a:pPr lvl="1"/>
            <a:r>
              <a:rPr lang="en-US" dirty="0"/>
              <a:t>Protects the underlying cloud infrastructure including physical and virtual resources.</a:t>
            </a:r>
          </a:p>
          <a:p>
            <a:pPr lvl="2"/>
            <a:r>
              <a:rPr lang="en-US" dirty="0"/>
              <a:t>Secure hypervisors</a:t>
            </a:r>
          </a:p>
          <a:p>
            <a:pPr lvl="2"/>
            <a:r>
              <a:rPr lang="en-US" dirty="0"/>
              <a:t>Physical data center security</a:t>
            </a:r>
          </a:p>
          <a:p>
            <a:pPr lvl="2"/>
            <a:r>
              <a:rPr lang="en-US" dirty="0"/>
              <a:t>Host OS protection</a:t>
            </a:r>
          </a:p>
          <a:p>
            <a:pPr lvl="1"/>
            <a:r>
              <a:rPr lang="en-US" dirty="0"/>
              <a:t>Mostly handled by Cloud Service Provider</a:t>
            </a:r>
          </a:p>
        </p:txBody>
      </p:sp>
    </p:spTree>
    <p:extLst>
      <p:ext uri="{BB962C8B-B14F-4D97-AF65-F5344CB8AC3E}">
        <p14:creationId xmlns:p14="http://schemas.microsoft.com/office/powerpoint/2010/main" val="27837256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B0E062-94CE-1157-65EA-F4C3A2C0E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BA397-B9E3-94D6-422F-13685D81A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Dimensions of Cloud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80A950-89C9-1544-A60D-B823C2E26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662C093E-FDC3-FAF7-7E0D-81C91044D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24447E-1616-49D4-0280-070487BC3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Compliance and Legal Dimension</a:t>
            </a:r>
          </a:p>
          <a:p>
            <a:pPr lvl="1"/>
            <a:r>
              <a:rPr lang="en-US" dirty="0"/>
              <a:t>Ensures cloud usage meets legal, regulatory, and industry standards.</a:t>
            </a:r>
          </a:p>
          <a:p>
            <a:pPr lvl="1"/>
            <a:r>
              <a:rPr lang="en-US" b="1" dirty="0"/>
              <a:t>Commonly used Standards are:</a:t>
            </a:r>
          </a:p>
          <a:p>
            <a:pPr lvl="2"/>
            <a:r>
              <a:rPr lang="en-US" dirty="0"/>
              <a:t>GDPR</a:t>
            </a:r>
          </a:p>
          <a:p>
            <a:pPr lvl="2"/>
            <a:r>
              <a:rPr lang="en-US" dirty="0"/>
              <a:t>HIPAA</a:t>
            </a:r>
          </a:p>
          <a:p>
            <a:pPr lvl="2"/>
            <a:r>
              <a:rPr lang="en-US" dirty="0"/>
              <a:t>ISO/IEC 27001</a:t>
            </a:r>
          </a:p>
          <a:p>
            <a:pPr lvl="2"/>
            <a:r>
              <a:rPr lang="en-US" dirty="0"/>
              <a:t>PCI-DSS</a:t>
            </a:r>
          </a:p>
          <a:p>
            <a:pPr lvl="1"/>
            <a:r>
              <a:rPr lang="en-US" b="1" dirty="0"/>
              <a:t>Example: </a:t>
            </a:r>
            <a:r>
              <a:rPr lang="en-US" dirty="0"/>
              <a:t>Storing EU customer data only in EU regions</a:t>
            </a:r>
          </a:p>
        </p:txBody>
      </p:sp>
    </p:spTree>
    <p:extLst>
      <p:ext uri="{BB962C8B-B14F-4D97-AF65-F5344CB8AC3E}">
        <p14:creationId xmlns:p14="http://schemas.microsoft.com/office/powerpoint/2010/main" val="18693336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A72067-9D2D-A18A-0BD8-44B53E425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642D2-1C2E-4FA4-CFD2-00995ED2F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Dimensions of Cloud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FE188E-EE59-4D3B-A5CA-1F550E8F8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7A4ED092-B8B6-4D7E-30BB-392F67330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CE92E5-3563-81C3-D691-CF29B102EB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Monitoring and Incident Response Dimension</a:t>
            </a:r>
          </a:p>
          <a:p>
            <a:pPr lvl="1"/>
            <a:r>
              <a:rPr lang="en-US" dirty="0"/>
              <a:t>Continuous monitoring and quick response to security incidents.</a:t>
            </a:r>
          </a:p>
          <a:p>
            <a:pPr lvl="2"/>
            <a:r>
              <a:rPr lang="en-US" dirty="0"/>
              <a:t>Log management</a:t>
            </a:r>
          </a:p>
          <a:p>
            <a:pPr lvl="2"/>
            <a:r>
              <a:rPr lang="en-US" dirty="0"/>
              <a:t>Intrusion detection</a:t>
            </a:r>
          </a:p>
          <a:p>
            <a:pPr lvl="2"/>
            <a:r>
              <a:rPr lang="en-US" dirty="0"/>
              <a:t>Alert systems</a:t>
            </a:r>
          </a:p>
          <a:p>
            <a:pPr lvl="1"/>
            <a:r>
              <a:rPr lang="en-US" b="1" dirty="0"/>
              <a:t>Example: </a:t>
            </a:r>
            <a:r>
              <a:rPr lang="en-US" dirty="0"/>
              <a:t>Detecting unusual login attempts</a:t>
            </a:r>
          </a:p>
        </p:txBody>
      </p:sp>
    </p:spTree>
    <p:extLst>
      <p:ext uri="{BB962C8B-B14F-4D97-AF65-F5344CB8AC3E}">
        <p14:creationId xmlns:p14="http://schemas.microsoft.com/office/powerpoint/2010/main" val="17326194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B2EBB4-FE10-821B-C278-23206CBED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D4EBC-490A-F279-F598-E9D450565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Dimensions of Cloud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888C6F-17B1-883F-B1F7-60B5C8EB3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7E3233D1-C143-9117-963E-BB5063A0D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D048BD-53A8-0E08-1680-94A4982CE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Disaster Recovery and Business Continuity Dimension</a:t>
            </a:r>
          </a:p>
          <a:p>
            <a:pPr lvl="1"/>
            <a:r>
              <a:rPr lang="en-US" dirty="0"/>
              <a:t>Ensures service availability during failures or disasters.</a:t>
            </a:r>
          </a:p>
          <a:p>
            <a:pPr lvl="2"/>
            <a:r>
              <a:rPr lang="en-US" dirty="0"/>
              <a:t>Backup</a:t>
            </a:r>
          </a:p>
          <a:p>
            <a:pPr lvl="2"/>
            <a:r>
              <a:rPr lang="en-US" dirty="0"/>
              <a:t>Replication</a:t>
            </a:r>
          </a:p>
          <a:p>
            <a:pPr lvl="2"/>
            <a:r>
              <a:rPr lang="en-US" dirty="0"/>
              <a:t>Failover</a:t>
            </a:r>
          </a:p>
          <a:p>
            <a:pPr lvl="2"/>
            <a:r>
              <a:rPr lang="en-US" dirty="0"/>
              <a:t>Multi-region deployment</a:t>
            </a:r>
          </a:p>
          <a:p>
            <a:pPr lvl="1"/>
            <a:r>
              <a:rPr lang="en-US" b="1" dirty="0"/>
              <a:t>Example: </a:t>
            </a:r>
            <a:r>
              <a:rPr lang="en-US" dirty="0"/>
              <a:t>Automatic failover to another region</a:t>
            </a:r>
          </a:p>
        </p:txBody>
      </p:sp>
    </p:spTree>
    <p:extLst>
      <p:ext uri="{BB962C8B-B14F-4D97-AF65-F5344CB8AC3E}">
        <p14:creationId xmlns:p14="http://schemas.microsoft.com/office/powerpoint/2010/main" val="27134129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79376A-8E20-2235-95E9-C00CF6AC1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906D6-BD0C-42EA-658D-637228B55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Dimensions of Cloud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C0E7A-88A0-590D-8E31-0E7E369AD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39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76BA9BCC-BA35-A5C8-2AFB-AF34367A9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AC8FDC-BDDC-54D0-CB17-72927CF85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Governance and Policy Dimension</a:t>
            </a:r>
          </a:p>
          <a:p>
            <a:pPr lvl="1"/>
            <a:r>
              <a:rPr lang="en-US" dirty="0"/>
              <a:t>Defines rules, policies, and procedures for cloud usage.</a:t>
            </a:r>
          </a:p>
          <a:p>
            <a:pPr lvl="2"/>
            <a:r>
              <a:rPr lang="en-US" dirty="0"/>
              <a:t>Security policies</a:t>
            </a:r>
          </a:p>
          <a:p>
            <a:pPr lvl="2"/>
            <a:r>
              <a:rPr lang="en-US" dirty="0"/>
              <a:t>Risk management</a:t>
            </a:r>
          </a:p>
          <a:p>
            <a:pPr lvl="2"/>
            <a:r>
              <a:rPr lang="en-US" dirty="0"/>
              <a:t>Auditing</a:t>
            </a:r>
          </a:p>
          <a:p>
            <a:pPr lvl="1"/>
            <a:r>
              <a:rPr lang="en-US" b="1" dirty="0"/>
              <a:t>Example: </a:t>
            </a:r>
            <a:r>
              <a:rPr lang="en-US" dirty="0"/>
              <a:t>Policy requiring MFA for all admin users</a:t>
            </a:r>
          </a:p>
        </p:txBody>
      </p:sp>
    </p:spTree>
    <p:extLst>
      <p:ext uri="{BB962C8B-B14F-4D97-AF65-F5344CB8AC3E}">
        <p14:creationId xmlns:p14="http://schemas.microsoft.com/office/powerpoint/2010/main" val="38728067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D436CD-852D-90F6-6C42-08E2F36E6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E3F85-E264-01EE-9E79-640CF5AB6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Dimensions of Cloud Security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DDBEE5-25FB-D9E4-180C-2051FF03F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12CCBE58-EB3F-1FD1-066F-AD1809D2D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49C31486-4624-C8F1-812E-A6E23620EF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8877104"/>
              </p:ext>
            </p:extLst>
          </p:nvPr>
        </p:nvGraphicFramePr>
        <p:xfrm>
          <a:off x="838200" y="2049032"/>
          <a:ext cx="10515600" cy="31089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17895132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1813094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3596453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637910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Dimension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Confidentiality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Integrity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Availability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0574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Data Security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P" sz="2400" dirty="0">
                          <a:latin typeface=""/>
                        </a:rPr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P" sz="2400">
                          <a:latin typeface=""/>
                        </a:rPr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NP" sz="2400">
                        <a:latin typeface="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4893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IAM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P" sz="2400">
                          <a:latin typeface=""/>
                        </a:rPr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P" sz="2400">
                          <a:latin typeface=""/>
                        </a:rPr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NP" sz="2400">
                        <a:latin typeface="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681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Network Security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P" sz="2400">
                          <a:latin typeface=""/>
                        </a:rPr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NP" sz="2400">
                        <a:latin typeface="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P" sz="2400">
                          <a:latin typeface=""/>
                        </a:rPr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9851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Monitoring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NP" sz="2400">
                        <a:latin typeface="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P" sz="2400">
                          <a:latin typeface=""/>
                        </a:rPr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P" sz="2400">
                          <a:latin typeface=""/>
                        </a:rPr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2107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latin typeface=""/>
                        </a:rPr>
                        <a:t>Disaster Recovery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NP" sz="2400">
                        <a:latin typeface="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NP" sz="2400">
                        <a:latin typeface="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NP" sz="2400" dirty="0">
                          <a:latin typeface=""/>
                        </a:rPr>
                        <a:t>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57036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57904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4F9352-EC69-A737-258F-0B563EB78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11F5E-08A2-74BD-539A-621EC9793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Cloud Security Mechanism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30E8F1-82BE-02A4-686F-45ECDBB15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627D7D9F-D832-631B-F387-7A76BB85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41D470-07E4-0EC3-94D1-7276533B1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Cloud Security Mechanisms are </a:t>
            </a:r>
            <a:r>
              <a:rPr lang="en-US" b="1" dirty="0"/>
              <a:t>technical controls</a:t>
            </a:r>
            <a:r>
              <a:rPr lang="en-US" dirty="0"/>
              <a:t> used to </a:t>
            </a:r>
            <a:r>
              <a:rPr lang="en-US" b="1" dirty="0"/>
              <a:t>protect cloud systems, data, and users</a:t>
            </a:r>
            <a:r>
              <a:rPr lang="en-US" dirty="0"/>
              <a:t> by ensuring:</a:t>
            </a:r>
          </a:p>
          <a:p>
            <a:pPr lvl="1"/>
            <a:r>
              <a:rPr lang="en-US" dirty="0"/>
              <a:t>Authentication (Who are you?)</a:t>
            </a:r>
          </a:p>
          <a:p>
            <a:pPr lvl="1"/>
            <a:r>
              <a:rPr lang="en-US" dirty="0"/>
              <a:t>Authorization (What can you do?)</a:t>
            </a:r>
          </a:p>
          <a:p>
            <a:pPr lvl="1"/>
            <a:r>
              <a:rPr lang="en-US" dirty="0"/>
              <a:t>Integrity (Has data been altered?)</a:t>
            </a:r>
          </a:p>
          <a:p>
            <a:pPr lvl="1"/>
            <a:r>
              <a:rPr lang="en-US" dirty="0"/>
              <a:t>Non-repudiation (You cannot deny your action)</a:t>
            </a:r>
          </a:p>
        </p:txBody>
      </p:sp>
    </p:spTree>
    <p:extLst>
      <p:ext uri="{BB962C8B-B14F-4D97-AF65-F5344CB8AC3E}">
        <p14:creationId xmlns:p14="http://schemas.microsoft.com/office/powerpoint/2010/main" val="22966702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041E21-3090-CAC1-5862-00D9F9DA5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A80B5-7BBC-35C9-9949-3759A3C92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Single Sign-On (SSO)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2DFF7F-CB1D-9641-C824-FF441DA02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E5D05AC1-8943-78A8-ADAC-49A4E4235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5FF06E-98F5-CA19-6F16-438DF1D61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Single Sign-On (SSO)</a:t>
            </a:r>
            <a:r>
              <a:rPr lang="en-US" dirty="0"/>
              <a:t> allows a user to </a:t>
            </a:r>
            <a:r>
              <a:rPr lang="en-US" b="1" dirty="0"/>
              <a:t>log in once</a:t>
            </a:r>
            <a:r>
              <a:rPr lang="en-US" dirty="0"/>
              <a:t> and access </a:t>
            </a:r>
            <a:r>
              <a:rPr lang="en-US" b="1" dirty="0"/>
              <a:t>multiple cloud services</a:t>
            </a:r>
            <a:r>
              <a:rPr lang="en-US" dirty="0"/>
              <a:t> without re-entering credentials.</a:t>
            </a:r>
          </a:p>
          <a:p>
            <a:r>
              <a:rPr lang="en-US" b="1" dirty="0"/>
              <a:t>SSO</a:t>
            </a:r>
            <a:r>
              <a:rPr lang="en-US" dirty="0"/>
              <a:t> has single authentication server, managing multiple accesses to other systems.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16967706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0374D9-FAA5-42C3-1E14-88C49DE92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5DE7E-C086-B80F-08BC-F8526EADE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SSO Working Mechanism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03F296-4AF7-3C5C-1C9F-83E33ED17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1266A65C-FB1B-E89D-96F1-872120139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EF3846-68C7-E33B-D55A-920F9E384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3029"/>
            <a:ext cx="10515600" cy="4939846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Step 1: User Requests Access</a:t>
            </a:r>
          </a:p>
          <a:p>
            <a:pPr lvl="1"/>
            <a:r>
              <a:rPr lang="en-US" dirty="0"/>
              <a:t>The user tries to access a cloud application (Service Provider).</a:t>
            </a:r>
          </a:p>
          <a:p>
            <a:r>
              <a:rPr lang="en-US" b="1" dirty="0"/>
              <a:t>Step 2: Redirect to Identity Provider</a:t>
            </a:r>
          </a:p>
          <a:p>
            <a:pPr lvl="1"/>
            <a:r>
              <a:rPr lang="en-US" dirty="0"/>
              <a:t>The application redirects the user to a </a:t>
            </a:r>
            <a:r>
              <a:rPr lang="en-US" b="1" dirty="0"/>
              <a:t>trusted Identity Provider (IdP)</a:t>
            </a:r>
            <a:r>
              <a:rPr lang="en-US" dirty="0"/>
              <a:t>.</a:t>
            </a:r>
          </a:p>
          <a:p>
            <a:r>
              <a:rPr lang="en-US" b="1" dirty="0"/>
              <a:t>Step 3: User Authentication</a:t>
            </a:r>
          </a:p>
          <a:p>
            <a:pPr lvl="1"/>
            <a:r>
              <a:rPr lang="en-US" dirty="0"/>
              <a:t>The user enters credentials (username/password, MFA, biometrics).</a:t>
            </a:r>
          </a:p>
          <a:p>
            <a:r>
              <a:rPr lang="en-US" b="1" dirty="0"/>
              <a:t>Step 4: Token Generation</a:t>
            </a:r>
          </a:p>
          <a:p>
            <a:pPr lvl="1"/>
            <a:r>
              <a:rPr lang="en-US" dirty="0"/>
              <a:t>If authentication is successful, the IdP generates a </a:t>
            </a:r>
            <a:r>
              <a:rPr lang="en-US" b="1" dirty="0"/>
              <a:t>security token</a:t>
            </a:r>
            <a:r>
              <a:rPr lang="en-US" dirty="0"/>
              <a:t>.</a:t>
            </a:r>
          </a:p>
          <a:p>
            <a:r>
              <a:rPr lang="en-US" b="1" dirty="0"/>
              <a:t>Step 5: Token Exchange</a:t>
            </a:r>
          </a:p>
          <a:p>
            <a:pPr lvl="1"/>
            <a:r>
              <a:rPr lang="en-US" dirty="0"/>
              <a:t>The token is sent back to the cloud application.</a:t>
            </a:r>
          </a:p>
          <a:p>
            <a:r>
              <a:rPr lang="en-US" b="1" dirty="0"/>
              <a:t>Step 6: Access Granted</a:t>
            </a:r>
          </a:p>
          <a:p>
            <a:pPr lvl="1"/>
            <a:r>
              <a:rPr lang="en-US" dirty="0"/>
              <a:t>The application validates the token and grants access.</a:t>
            </a:r>
          </a:p>
          <a:p>
            <a:r>
              <a:rPr lang="en-US" b="1" dirty="0"/>
              <a:t>Step 7: Access to Multiple Services</a:t>
            </a:r>
          </a:p>
          <a:p>
            <a:pPr lvl="1"/>
            <a:r>
              <a:rPr lang="en-US" dirty="0"/>
              <a:t>The same token is reused to access other cloud services </a:t>
            </a:r>
            <a:r>
              <a:rPr lang="en-US" b="1" dirty="0"/>
              <a:t>without re-authentication</a:t>
            </a:r>
            <a:endParaRPr lang="en-US" dirty="0"/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176453053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EF5C87-469E-78E1-9A05-A5A152A47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5E21-4034-532B-42EF-8E4B8B3D1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SSO Working Mechanism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20EC65-C7C9-F253-6394-8CC16EC56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CDEE2646-537B-722F-B95B-43E10E73A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pic>
        <p:nvPicPr>
          <p:cNvPr id="4098" name="Picture 2" descr="What is SSO Authentication ? How it works ? | Tata 1mg Technology">
            <a:extLst>
              <a:ext uri="{FF2B5EF4-FFF2-40B4-BE49-F238E27FC236}">
                <a16:creationId xmlns:a16="http://schemas.microsoft.com/office/drawing/2014/main" id="{1CC06FFF-E489-2498-33B0-6568713FC3E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7253" y="1552575"/>
            <a:ext cx="8197494" cy="462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352244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EF3648-DFA6-96D2-3623-FE5796760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E9E7A-D0BA-BCC0-7C1E-6184F13AE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OpenID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052FC8-A56D-3482-B9A3-2AA970AE4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1CA8EFB6-3448-EFD8-3C6B-EC0A521BD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DFB149-E507-DB74-402E-3F1CEF099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OpenID is an authentication protocol that allows users to </a:t>
            </a:r>
            <a:r>
              <a:rPr lang="en-US" b="1" dirty="0"/>
              <a:t>log in to multiple applications using a single digital identity</a:t>
            </a:r>
            <a:r>
              <a:rPr lang="en-US" dirty="0"/>
              <a:t>.</a:t>
            </a:r>
          </a:p>
          <a:p>
            <a:r>
              <a:rPr lang="en-US" dirty="0"/>
              <a:t>Modern cloud systems use OpenID Connect (OIDC), which is built on top of OAuth 2.0.</a:t>
            </a:r>
          </a:p>
          <a:p>
            <a:r>
              <a:rPr lang="en-US" dirty="0"/>
              <a:t>OpenID Connect provides secure user authentication using tokens.</a:t>
            </a:r>
          </a:p>
          <a:p>
            <a:r>
              <a:rPr lang="en-US" b="1" dirty="0"/>
              <a:t>Example</a:t>
            </a:r>
            <a:r>
              <a:rPr lang="en-US" dirty="0"/>
              <a:t>: Students log in using Google ID in University Cloud Portal.</a:t>
            </a:r>
          </a:p>
          <a:p>
            <a:endParaRPr lang="en-US" dirty="0"/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30530936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12AC9-5C51-010C-05CA-3FA620C72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9BA26-4B49-07D6-6A30-D40236ADA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Advantages of SSO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D0609A-F858-9139-7FF9-81230B50C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B2743C2F-570B-3D8F-5811-906E19EAE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B27C9-8526-B27D-107F-4AF9F4A8B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Improved user experience</a:t>
            </a:r>
          </a:p>
          <a:p>
            <a:r>
              <a:rPr lang="en-US" dirty="0"/>
              <a:t>Reduced password fatigue</a:t>
            </a:r>
          </a:p>
          <a:p>
            <a:r>
              <a:rPr lang="en-US" dirty="0"/>
              <a:t>Centralized authentication</a:t>
            </a:r>
          </a:p>
          <a:p>
            <a:r>
              <a:rPr lang="en-US" dirty="0"/>
              <a:t>Better security control</a:t>
            </a:r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36071670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2FFCC9-5DDA-04C8-6AA1-823DE0C71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7982C-6EE8-1531-24A3-A6EF1EE75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Identity and Access Management (IAM)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522832-48EB-601A-5917-AACEF5607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CEA8654A-DD75-0CD8-D07A-E4387BA17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889629-E406-3273-9350-EAEE72E05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IAM is a mechanism that </a:t>
            </a:r>
            <a:r>
              <a:rPr lang="en-US" b="1" dirty="0"/>
              <a:t>controls access to cloud resources</a:t>
            </a:r>
            <a:r>
              <a:rPr lang="en-US" dirty="0"/>
              <a:t> by defining:</a:t>
            </a:r>
          </a:p>
          <a:p>
            <a:pPr lvl="1"/>
            <a:r>
              <a:rPr lang="en-US" dirty="0"/>
              <a:t>Who (user, role, service)</a:t>
            </a:r>
          </a:p>
          <a:p>
            <a:pPr lvl="1"/>
            <a:r>
              <a:rPr lang="en-US" dirty="0"/>
              <a:t>What (permissions)</a:t>
            </a:r>
          </a:p>
          <a:p>
            <a:pPr lvl="1"/>
            <a:r>
              <a:rPr lang="en-US" dirty="0"/>
              <a:t>Under which conditions</a:t>
            </a:r>
          </a:p>
          <a:p>
            <a:r>
              <a:rPr lang="en-US" dirty="0"/>
              <a:t>IAM ensures </a:t>
            </a:r>
            <a:r>
              <a:rPr lang="en-US" b="1" dirty="0"/>
              <a:t>right user → right access → right resources → right time</a:t>
            </a:r>
            <a:r>
              <a:rPr lang="en-US" dirty="0"/>
              <a:t>.</a:t>
            </a:r>
          </a:p>
          <a:p>
            <a:r>
              <a:rPr lang="en-US" dirty="0"/>
              <a:t>Authentication (Who are you?)</a:t>
            </a:r>
          </a:p>
          <a:p>
            <a:r>
              <a:rPr lang="en-US" dirty="0"/>
              <a:t>Authorization (What can you do?)</a:t>
            </a:r>
          </a:p>
          <a:p>
            <a:r>
              <a:rPr lang="en-US" dirty="0"/>
              <a:t>User lifecycle management</a:t>
            </a:r>
          </a:p>
          <a:p>
            <a:r>
              <a:rPr lang="en-US" b="1" dirty="0"/>
              <a:t>IAM Examples: </a:t>
            </a:r>
            <a:r>
              <a:rPr lang="en-US" dirty="0"/>
              <a:t>AWS IAM, Azure AD, Okta</a:t>
            </a:r>
          </a:p>
          <a:p>
            <a:endParaRPr lang="en-US" dirty="0"/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34799433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A8EC86-522A-48A3-61DE-15AC51AE8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C0225-2B70-9BAC-01EC-2697790D0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Identity and Access Management (IAM)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6DC23A-FAEE-C57E-68C2-1148594B9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65D59F84-8606-33CC-0068-7921F69A5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AA60B8-64CD-3522-9488-7C5134101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1. Identity</a:t>
            </a:r>
          </a:p>
          <a:p>
            <a:r>
              <a:rPr lang="en-US" dirty="0"/>
              <a:t>A digital representation of a user, system, or device.</a:t>
            </a:r>
          </a:p>
          <a:p>
            <a:pPr lvl="1"/>
            <a:r>
              <a:rPr lang="en-US" dirty="0"/>
              <a:t>Username</a:t>
            </a:r>
          </a:p>
          <a:p>
            <a:pPr lvl="1"/>
            <a:r>
              <a:rPr lang="en-US" dirty="0"/>
              <a:t>Email</a:t>
            </a:r>
          </a:p>
          <a:p>
            <a:pPr lvl="1"/>
            <a:r>
              <a:rPr lang="en-US" dirty="0"/>
              <a:t>Employee ID</a:t>
            </a:r>
          </a:p>
          <a:p>
            <a:pPr lvl="1"/>
            <a:r>
              <a:rPr lang="en-US" dirty="0"/>
              <a:t>Role</a:t>
            </a:r>
          </a:p>
        </p:txBody>
      </p:sp>
    </p:spTree>
    <p:extLst>
      <p:ext uri="{BB962C8B-B14F-4D97-AF65-F5344CB8AC3E}">
        <p14:creationId xmlns:p14="http://schemas.microsoft.com/office/powerpoint/2010/main" val="41259434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DFBA08-0273-6333-D1C1-D6AF48207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75690-D3C9-EE8C-5F0D-22BD7D4C6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Identity and Access Management (IAM)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BE7960-00AC-9635-952E-36E0DCECF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49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D7FDFD93-1A7D-5F65-884C-8CCEE8F8D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F006F6-A6C4-E7AF-774F-95CEB8874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2. Authentication (Who are you?)</a:t>
            </a:r>
          </a:p>
          <a:p>
            <a:r>
              <a:rPr lang="en-US" dirty="0"/>
              <a:t>Verifies user identity.</a:t>
            </a:r>
          </a:p>
          <a:p>
            <a:r>
              <a:rPr lang="en-US" dirty="0"/>
              <a:t>Methods:</a:t>
            </a:r>
          </a:p>
          <a:p>
            <a:pPr lvl="1"/>
            <a:r>
              <a:rPr lang="en-US" dirty="0"/>
              <a:t>Passwords</a:t>
            </a:r>
          </a:p>
          <a:p>
            <a:pPr lvl="1"/>
            <a:r>
              <a:rPr lang="en-US" dirty="0"/>
              <a:t>OTP</a:t>
            </a:r>
          </a:p>
          <a:p>
            <a:pPr lvl="1"/>
            <a:r>
              <a:rPr lang="en-US" dirty="0"/>
              <a:t>Biometrics</a:t>
            </a:r>
          </a:p>
          <a:p>
            <a:pPr lvl="1"/>
            <a:r>
              <a:rPr lang="en-US" dirty="0"/>
              <a:t>Smart cards</a:t>
            </a:r>
          </a:p>
          <a:p>
            <a:pPr lvl="1"/>
            <a:r>
              <a:rPr lang="en-US" dirty="0"/>
              <a:t>Multi-Factor Authentication (MFA)</a:t>
            </a:r>
          </a:p>
          <a:p>
            <a:r>
              <a:rPr lang="en-US" i="1" dirty="0"/>
              <a:t>Example:</a:t>
            </a:r>
            <a:r>
              <a:rPr lang="en-US" dirty="0"/>
              <a:t> Login using password + OTP.</a:t>
            </a:r>
          </a:p>
        </p:txBody>
      </p:sp>
    </p:spTree>
    <p:extLst>
      <p:ext uri="{BB962C8B-B14F-4D97-AF65-F5344CB8AC3E}">
        <p14:creationId xmlns:p14="http://schemas.microsoft.com/office/powerpoint/2010/main" val="20855371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EBCE32-2BF7-A552-C48F-20E70871B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D7415-82AC-8F3D-3A25-018E6AE6E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Identity and Access Management (IAM)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125167-8DC7-E90D-0E03-1B80EC7A9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50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71BC0888-AB33-81BB-072A-B84E7B552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F1DD14-6D96-5298-870D-BE4C59973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3. Authorization (What can you do?)</a:t>
            </a:r>
          </a:p>
          <a:p>
            <a:r>
              <a:rPr lang="en-US" dirty="0"/>
              <a:t>Determines access permissions.</a:t>
            </a:r>
          </a:p>
          <a:p>
            <a:r>
              <a:rPr lang="en-US" dirty="0"/>
              <a:t>Models:</a:t>
            </a:r>
          </a:p>
          <a:p>
            <a:pPr lvl="1"/>
            <a:r>
              <a:rPr lang="en-US" dirty="0"/>
              <a:t>Role-Based Access Control (RBAC)</a:t>
            </a:r>
          </a:p>
          <a:p>
            <a:pPr lvl="1"/>
            <a:r>
              <a:rPr lang="en-US" dirty="0"/>
              <a:t>Attribute-Based Access Control (ABAC)</a:t>
            </a:r>
          </a:p>
          <a:p>
            <a:pPr lvl="1"/>
            <a:r>
              <a:rPr lang="en-US" dirty="0"/>
              <a:t>Policy-Based Access Control</a:t>
            </a:r>
          </a:p>
          <a:p>
            <a:r>
              <a:rPr lang="en-US" i="1" dirty="0"/>
              <a:t>Example:</a:t>
            </a:r>
            <a:r>
              <a:rPr lang="en-US" dirty="0"/>
              <a:t> Admin can edit data; user can only view.</a:t>
            </a:r>
          </a:p>
        </p:txBody>
      </p:sp>
    </p:spTree>
    <p:extLst>
      <p:ext uri="{BB962C8B-B14F-4D97-AF65-F5344CB8AC3E}">
        <p14:creationId xmlns:p14="http://schemas.microsoft.com/office/powerpoint/2010/main" val="10544332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E45564-5CA9-FCF2-B30F-57AD85231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D4EE-DC9B-0C6D-471C-EDAF6D7D7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Identity and Access Management (IAM)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FF5331-761C-68D8-E713-2CE30648D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A490A0CF-EC70-A3BA-9BF3-864494798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F8DB3C-AB1C-8C57-4D0C-407FF8955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4. Accounting / Auditing</a:t>
            </a:r>
          </a:p>
          <a:p>
            <a:r>
              <a:rPr lang="en-US" dirty="0"/>
              <a:t>Tracks user actions for security and compliance.</a:t>
            </a:r>
          </a:p>
          <a:p>
            <a:r>
              <a:rPr lang="en-US" dirty="0"/>
              <a:t>Login logs</a:t>
            </a:r>
          </a:p>
          <a:p>
            <a:r>
              <a:rPr lang="en-US" dirty="0"/>
              <a:t>Activity logs</a:t>
            </a:r>
          </a:p>
          <a:p>
            <a:r>
              <a:rPr lang="en-US" dirty="0"/>
              <a:t>Access reviews</a:t>
            </a:r>
          </a:p>
        </p:txBody>
      </p:sp>
    </p:spTree>
    <p:extLst>
      <p:ext uri="{BB962C8B-B14F-4D97-AF65-F5344CB8AC3E}">
        <p14:creationId xmlns:p14="http://schemas.microsoft.com/office/powerpoint/2010/main" val="28940642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7F57A5-73DE-FC85-5855-D18E2B717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928EB-2392-5795-22D7-91C7B3101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Identity and Access Management (IAM)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2BB775-BAD7-01D0-1696-D95E81CB1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4101D08B-A98C-7395-98EF-0AF55ECCB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9A4721-64AA-0EE8-92C1-477494955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3029"/>
            <a:ext cx="10515600" cy="4939846"/>
          </a:xfrm>
        </p:spPr>
        <p:txBody>
          <a:bodyPr>
            <a:normAutofit lnSpcReduction="10000"/>
          </a:bodyPr>
          <a:lstStyle/>
          <a:p>
            <a:pPr lvl="0" fontAlgn="base"/>
            <a:r>
              <a:rPr lang="en-NP" sz="2500" b="1" dirty="0"/>
              <a:t>5. Access Control</a:t>
            </a:r>
            <a:endParaRPr lang="en-NP" sz="2500" dirty="0"/>
          </a:p>
          <a:p>
            <a:pPr fontAlgn="base"/>
            <a:r>
              <a:rPr lang="en-NP" sz="2500" dirty="0"/>
              <a:t>Defines the rights and permissions that users and devices have to access systems, applications, and data.</a:t>
            </a:r>
          </a:p>
          <a:p>
            <a:pPr lvl="1" fontAlgn="base"/>
            <a:r>
              <a:rPr lang="en-NP" sz="2400" b="1" dirty="0"/>
              <a:t>Principles</a:t>
            </a:r>
            <a:r>
              <a:rPr lang="en-NP" sz="2400" dirty="0"/>
              <a:t>:</a:t>
            </a:r>
          </a:p>
          <a:p>
            <a:pPr lvl="2" fontAlgn="base"/>
            <a:r>
              <a:rPr lang="en-NP" sz="2300" b="1" dirty="0"/>
              <a:t>Least Privilege</a:t>
            </a:r>
            <a:r>
              <a:rPr lang="en-NP" sz="2300" dirty="0"/>
              <a:t>: Users should only have the minimum necessary permissions to perform their tasks. </a:t>
            </a:r>
          </a:p>
          <a:p>
            <a:pPr lvl="2" fontAlgn="base"/>
            <a:r>
              <a:rPr lang="en-NP" sz="2300" b="1" dirty="0"/>
              <a:t>Separation of Duties</a:t>
            </a:r>
            <a:r>
              <a:rPr lang="en-NP" sz="2300" dirty="0"/>
              <a:t>: Certain tasks and responsibilities are divided among different individuals to prevent fraud or errors. </a:t>
            </a:r>
          </a:p>
          <a:p>
            <a:pPr lvl="2" fontAlgn="base"/>
            <a:r>
              <a:rPr lang="en-NP" sz="2300" dirty="0"/>
              <a:t>Zero Trust Principle, </a:t>
            </a:r>
            <a:r>
              <a:rPr lang="en-US" sz="2400" dirty="0"/>
              <a:t>Role-based access control (RBAC)</a:t>
            </a:r>
            <a:endParaRPr lang="en-NP" sz="2300" dirty="0"/>
          </a:p>
        </p:txBody>
      </p:sp>
    </p:spTree>
    <p:extLst>
      <p:ext uri="{BB962C8B-B14F-4D97-AF65-F5344CB8AC3E}">
        <p14:creationId xmlns:p14="http://schemas.microsoft.com/office/powerpoint/2010/main" val="2317035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BDC48A-EF58-1F2B-6E28-4EBC0B8D3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85563-670E-8182-07E5-2769036F3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IAM Lifecycle (User Lifecycle Management)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DD974E-EF60-3D7D-185D-B671D5CD1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53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1C4FD9AD-A679-1B5F-6223-58665B3ED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960B3B-04F1-7520-86CA-88A479580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1. Provisioning</a:t>
            </a:r>
          </a:p>
          <a:p>
            <a:pPr lvl="1"/>
            <a:r>
              <a:rPr lang="en-US" dirty="0"/>
              <a:t>Creating user accounts and assigning roles.</a:t>
            </a:r>
          </a:p>
          <a:p>
            <a:r>
              <a:rPr lang="en-US" b="1" dirty="0"/>
              <a:t>2. Access Management</a:t>
            </a:r>
          </a:p>
          <a:p>
            <a:pPr lvl="1"/>
            <a:r>
              <a:rPr lang="en-US" dirty="0"/>
              <a:t>Granting or modifying permissions.</a:t>
            </a:r>
          </a:p>
          <a:p>
            <a:r>
              <a:rPr lang="en-US" b="1" dirty="0"/>
              <a:t>3. De-provisioning</a:t>
            </a:r>
          </a:p>
          <a:p>
            <a:pPr lvl="1"/>
            <a:r>
              <a:rPr lang="en-US" dirty="0"/>
              <a:t>Removing access when a user leaves.</a:t>
            </a:r>
          </a:p>
          <a:p>
            <a:r>
              <a:rPr lang="en-US" i="1" dirty="0"/>
              <a:t>Example:</a:t>
            </a:r>
            <a:r>
              <a:rPr lang="en-US" dirty="0"/>
              <a:t> Employee leaves company → access revoked immediately.</a:t>
            </a:r>
          </a:p>
        </p:txBody>
      </p:sp>
    </p:spTree>
    <p:extLst>
      <p:ext uri="{BB962C8B-B14F-4D97-AF65-F5344CB8AC3E}">
        <p14:creationId xmlns:p14="http://schemas.microsoft.com/office/powerpoint/2010/main" val="8459669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73B3AB-CC1A-B1A0-3FB8-80B938BF3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087A1-7824-4B11-BDA9-E8305A546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IAM is Important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ED2E89-C85D-5814-3677-DD2827D50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54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B1708E36-054A-86D7-1ACA-442A5CA9B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575343-FB6F-ABD3-F4BE-F431FDA48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Prevents unauthorized access</a:t>
            </a:r>
          </a:p>
          <a:p>
            <a:r>
              <a:rPr lang="en-US" dirty="0"/>
              <a:t>Protects sensitive data</a:t>
            </a:r>
          </a:p>
          <a:p>
            <a:r>
              <a:rPr lang="en-US" dirty="0"/>
              <a:t>Reduces insider threats</a:t>
            </a:r>
          </a:p>
          <a:p>
            <a:r>
              <a:rPr lang="en-US" dirty="0"/>
              <a:t>Supports compliance</a:t>
            </a:r>
          </a:p>
          <a:p>
            <a:r>
              <a:rPr lang="en-US" dirty="0"/>
              <a:t>Enables secure remote access</a:t>
            </a:r>
          </a:p>
          <a:p>
            <a:r>
              <a:rPr lang="en-US" i="1" dirty="0"/>
              <a:t>Example:</a:t>
            </a:r>
            <a:r>
              <a:rPr lang="en-US" dirty="0"/>
              <a:t> Only teachers can upload grades; students can only view them.</a:t>
            </a:r>
          </a:p>
        </p:txBody>
      </p:sp>
    </p:spTree>
    <p:extLst>
      <p:ext uri="{BB962C8B-B14F-4D97-AF65-F5344CB8AC3E}">
        <p14:creationId xmlns:p14="http://schemas.microsoft.com/office/powerpoint/2010/main" val="277893017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D8CD57-5A77-2F01-B035-ADC0F3CA8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22DCE-424D-34F4-DCB6-C56F09E2C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IAM Best Practices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18EF73-7445-E558-57D3-C92BD8F4E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03112CB2-8DE8-485D-8508-596C97F0F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2C17A2-491A-FABA-2E0E-482815721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NP" b="1" dirty="0"/>
              <a:t>Use Multi-Factor Authentication (MFA)</a:t>
            </a:r>
            <a:endParaRPr lang="en-NP" dirty="0"/>
          </a:p>
          <a:p>
            <a:pPr lvl="0" fontAlgn="base"/>
            <a:r>
              <a:rPr lang="en-NP" b="1" dirty="0"/>
              <a:t>Implement the Principle of Least Privilege</a:t>
            </a:r>
            <a:endParaRPr lang="en-NP" dirty="0"/>
          </a:p>
          <a:p>
            <a:pPr lvl="0" fontAlgn="base"/>
            <a:r>
              <a:rPr lang="en-NP" b="1" dirty="0"/>
              <a:t>Regular Access Reviews</a:t>
            </a:r>
            <a:endParaRPr lang="en-NP" dirty="0"/>
          </a:p>
          <a:p>
            <a:pPr lvl="0" fontAlgn="base"/>
            <a:r>
              <a:rPr lang="en-NP" b="1" dirty="0"/>
              <a:t>Centralized Identity Management</a:t>
            </a:r>
            <a:endParaRPr lang="en-NP" dirty="0"/>
          </a:p>
          <a:p>
            <a:r>
              <a:rPr lang="en-NP" b="1" dirty="0"/>
              <a:t>Enforce Strong Password Policies</a:t>
            </a:r>
          </a:p>
          <a:p>
            <a:r>
              <a:rPr lang="en-NP" b="1" dirty="0"/>
              <a:t>Automate Provisioning and De-Provisioning</a:t>
            </a:r>
            <a:r>
              <a:rPr lang="en-NP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99867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8782A9-84E6-80C2-7A5B-081826B96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8B6CF-56DB-1421-25EB-EE8B19FBC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Hashing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9498C5-1619-1FDE-702B-C2BBE64CE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FC44E236-1B28-9C40-2417-DF4B066E5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F3DE3A-B039-A6E2-4BA7-68E05C733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Hashing is a </a:t>
            </a:r>
            <a:r>
              <a:rPr lang="en-US" b="1" dirty="0"/>
              <a:t>one-way cryptographic process</a:t>
            </a:r>
            <a:r>
              <a:rPr lang="en-US" dirty="0"/>
              <a:t> that converts data into a </a:t>
            </a:r>
            <a:r>
              <a:rPr lang="en-US" b="1" dirty="0"/>
              <a:t>fixed-length hash value</a:t>
            </a:r>
            <a:r>
              <a:rPr lang="en-US" dirty="0"/>
              <a:t>.</a:t>
            </a:r>
          </a:p>
          <a:p>
            <a:r>
              <a:rPr lang="en-US" dirty="0"/>
              <a:t>Password protection</a:t>
            </a:r>
          </a:p>
          <a:p>
            <a:pPr lvl="1"/>
            <a:r>
              <a:rPr lang="en-US" b="1" dirty="0"/>
              <a:t>Original Data → Hash Function → Hash Value</a:t>
            </a:r>
          </a:p>
          <a:p>
            <a:r>
              <a:rPr lang="en-US" b="1" dirty="0"/>
              <a:t>Common Hash Algorithms</a:t>
            </a:r>
          </a:p>
          <a:p>
            <a:pPr lvl="1"/>
            <a:r>
              <a:rPr lang="en-US" dirty="0"/>
              <a:t>SHA-256</a:t>
            </a:r>
          </a:p>
          <a:p>
            <a:pPr lvl="1"/>
            <a:r>
              <a:rPr lang="en-US" dirty="0"/>
              <a:t>SHA-512</a:t>
            </a:r>
          </a:p>
          <a:p>
            <a:pPr lvl="1"/>
            <a:r>
              <a:rPr lang="en-US" dirty="0"/>
              <a:t>MD5 (not secure)</a:t>
            </a:r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39375407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431E08-73F6-6AC1-F124-9767643DC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15616-4C32-DD22-1C69-F8FFB08DB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Hashing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6FE09E-1CA0-8EC9-6E7E-A48046B09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9D15F857-1000-6EFB-ABE5-AB3E77881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D0497-4C36-E0EB-2ABB-EEED1BE42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Key Properties</a:t>
            </a:r>
          </a:p>
          <a:p>
            <a:pPr lvl="1"/>
            <a:r>
              <a:rPr lang="en-US" dirty="0"/>
              <a:t>One-way function</a:t>
            </a:r>
          </a:p>
          <a:p>
            <a:pPr lvl="1"/>
            <a:r>
              <a:rPr lang="en-US" dirty="0"/>
              <a:t>Same input → same hash</a:t>
            </a:r>
          </a:p>
          <a:p>
            <a:pPr lvl="1"/>
            <a:r>
              <a:rPr lang="en-US" dirty="0"/>
              <a:t>Small change → big hash change</a:t>
            </a:r>
          </a:p>
          <a:p>
            <a:r>
              <a:rPr lang="en-US" b="1" dirty="0"/>
              <a:t>Usage</a:t>
            </a:r>
          </a:p>
          <a:p>
            <a:pPr lvl="1"/>
            <a:r>
              <a:rPr lang="en-US" dirty="0"/>
              <a:t>Password storage</a:t>
            </a:r>
          </a:p>
          <a:p>
            <a:pPr lvl="1"/>
            <a:r>
              <a:rPr lang="en-US" dirty="0"/>
              <a:t>Data integrity verification</a:t>
            </a:r>
          </a:p>
        </p:txBody>
      </p:sp>
    </p:spTree>
    <p:extLst>
      <p:ext uri="{BB962C8B-B14F-4D97-AF65-F5344CB8AC3E}">
        <p14:creationId xmlns:p14="http://schemas.microsoft.com/office/powerpoint/2010/main" val="26826479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C58088-2B88-BB38-C690-E3BED3A59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514D5-7851-6190-6093-C78487195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Digital Signatures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AB4A26-0B63-E714-0FFD-CD65A139E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507A9187-99A4-7517-4917-1BB0F3B23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3DB06A-372E-FB75-6143-BBB29121C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Digital Signature</a:t>
            </a:r>
            <a:r>
              <a:rPr lang="en-US" dirty="0"/>
              <a:t> is a cryptographic mechanism that ensures:</a:t>
            </a:r>
          </a:p>
          <a:p>
            <a:pPr lvl="1"/>
            <a:r>
              <a:rPr lang="en-US" dirty="0"/>
              <a:t>Authenticity</a:t>
            </a:r>
          </a:p>
          <a:p>
            <a:pPr lvl="1"/>
            <a:r>
              <a:rPr lang="en-US" dirty="0"/>
              <a:t>Integrity</a:t>
            </a:r>
          </a:p>
          <a:p>
            <a:pPr lvl="1"/>
            <a:r>
              <a:rPr lang="en-US" dirty="0"/>
              <a:t>Non-repudiation</a:t>
            </a:r>
          </a:p>
          <a:p>
            <a:r>
              <a:rPr lang="en-NP" b="1" dirty="0"/>
              <a:t>Example</a:t>
            </a:r>
            <a:endParaRPr lang="en-US" b="1" dirty="0"/>
          </a:p>
          <a:p>
            <a:pPr lvl="1"/>
            <a:r>
              <a:rPr lang="en-US" dirty="0"/>
              <a:t>Secure software updates</a:t>
            </a:r>
          </a:p>
          <a:p>
            <a:pPr lvl="1"/>
            <a:r>
              <a:rPr lang="en-US" dirty="0"/>
              <a:t>Cloud API request signing</a:t>
            </a:r>
          </a:p>
          <a:p>
            <a:pPr lvl="1"/>
            <a:r>
              <a:rPr lang="en-NP" dirty="0"/>
              <a:t>Legal Document Verification</a:t>
            </a:r>
          </a:p>
        </p:txBody>
      </p:sp>
    </p:spTree>
    <p:extLst>
      <p:ext uri="{BB962C8B-B14F-4D97-AF65-F5344CB8AC3E}">
        <p14:creationId xmlns:p14="http://schemas.microsoft.com/office/powerpoint/2010/main" val="321551108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112884-CD95-9B6C-1DEC-55FB3E116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D08C3-0C11-4DED-6053-1D49D3F84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Digital Signature Works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2D8B61-A75D-D346-9987-6B9B0D242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BA556301-0657-DAFC-FE74-11957BA66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891C2F-6E52-8E12-096F-0C710929F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Message → Hash → Encrypt (Private Key) → Signature</a:t>
            </a:r>
            <a:endParaRPr lang="en-US" dirty="0"/>
          </a:p>
          <a:p>
            <a:r>
              <a:rPr lang="en-US" dirty="0"/>
              <a:t>Sender hashes the message</a:t>
            </a:r>
          </a:p>
          <a:p>
            <a:r>
              <a:rPr lang="en-US" dirty="0"/>
              <a:t>Hash encrypted using sender’s </a:t>
            </a:r>
            <a:r>
              <a:rPr lang="en-US" b="1" dirty="0"/>
              <a:t>private key</a:t>
            </a:r>
            <a:endParaRPr lang="en-US" dirty="0"/>
          </a:p>
          <a:p>
            <a:r>
              <a:rPr lang="en-US" dirty="0"/>
              <a:t>Receiver decrypts using </a:t>
            </a:r>
            <a:r>
              <a:rPr lang="en-US" b="1" dirty="0"/>
              <a:t>public key</a:t>
            </a:r>
            <a:endParaRPr lang="en-US" dirty="0"/>
          </a:p>
          <a:p>
            <a:r>
              <a:rPr lang="en-US" dirty="0"/>
              <a:t>Hash compared</a:t>
            </a:r>
          </a:p>
        </p:txBody>
      </p:sp>
    </p:spTree>
    <p:extLst>
      <p:ext uri="{BB962C8B-B14F-4D97-AF65-F5344CB8AC3E}">
        <p14:creationId xmlns:p14="http://schemas.microsoft.com/office/powerpoint/2010/main" val="387389766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3DAF9C-A707-7526-22A1-5E52ED397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C1018-8477-EF4F-BD12-2DF09F274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Disaster Management in Cloud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15D508-5BF0-1063-D79F-12ABD1003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60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BF946555-855B-1A7C-F14E-27F9CD6DA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8BBE97-BEE3-08D5-F17D-12DE79D3E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Disaster Management in Cloud Computing refers to the </a:t>
            </a:r>
            <a:r>
              <a:rPr lang="en-US" b="1" dirty="0"/>
              <a:t>planning, implementation, and execution of strategies</a:t>
            </a:r>
            <a:r>
              <a:rPr lang="en-US" dirty="0"/>
              <a:t> that ensure </a:t>
            </a:r>
            <a:r>
              <a:rPr lang="en-US" b="1" dirty="0"/>
              <a:t>business continuity and data protection</a:t>
            </a:r>
            <a:r>
              <a:rPr lang="en-US" dirty="0"/>
              <a:t> when unexpected failures or disasters occur to ensure </a:t>
            </a:r>
            <a:r>
              <a:rPr lang="en-US" b="1" dirty="0"/>
              <a:t>availability, reliability and rapid recovery of cloud services</a:t>
            </a:r>
            <a:r>
              <a:rPr lang="en-US" dirty="0"/>
              <a:t>.</a:t>
            </a:r>
          </a:p>
          <a:p>
            <a:r>
              <a:rPr lang="en-US" dirty="0"/>
              <a:t>A disaster can cause:</a:t>
            </a:r>
          </a:p>
          <a:p>
            <a:pPr lvl="1"/>
            <a:r>
              <a:rPr lang="en-US" dirty="0"/>
              <a:t>Data loss</a:t>
            </a:r>
          </a:p>
          <a:p>
            <a:pPr lvl="1"/>
            <a:r>
              <a:rPr lang="en-US" dirty="0"/>
              <a:t>Service downtime</a:t>
            </a:r>
          </a:p>
          <a:p>
            <a:pPr lvl="1"/>
            <a:r>
              <a:rPr lang="en-US" dirty="0"/>
              <a:t>Financial loss</a:t>
            </a:r>
          </a:p>
          <a:p>
            <a:pPr lvl="1"/>
            <a:r>
              <a:rPr lang="en-US" dirty="0"/>
              <a:t>Reputation damage</a:t>
            </a:r>
          </a:p>
        </p:txBody>
      </p:sp>
    </p:spTree>
    <p:extLst>
      <p:ext uri="{BB962C8B-B14F-4D97-AF65-F5344CB8AC3E}">
        <p14:creationId xmlns:p14="http://schemas.microsoft.com/office/powerpoint/2010/main" val="338639478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57427C-6037-D16C-D201-659C3357A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B4761-778C-01F5-AC27-96C6444F9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Disaster Management in Cloud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ED10A-0F5C-E601-A911-22833C6A9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8E9770A2-3CF1-0D52-0BF3-03D78D0F6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6A7BAB-B8FC-5405-4C90-9786BB6E6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3029"/>
            <a:ext cx="4876800" cy="4623934"/>
          </a:xfrm>
        </p:spPr>
        <p:txBody>
          <a:bodyPr>
            <a:normAutofit/>
          </a:bodyPr>
          <a:lstStyle/>
          <a:p>
            <a:r>
              <a:rPr lang="en-US" b="1" dirty="0"/>
              <a:t>1. Natural Disasters</a:t>
            </a:r>
          </a:p>
          <a:p>
            <a:r>
              <a:rPr lang="en-US" dirty="0"/>
              <a:t>Earthquake</a:t>
            </a:r>
          </a:p>
          <a:p>
            <a:r>
              <a:rPr lang="en-US" dirty="0"/>
              <a:t>Flood</a:t>
            </a:r>
          </a:p>
          <a:p>
            <a:r>
              <a:rPr lang="en-US" dirty="0"/>
              <a:t>Fire</a:t>
            </a:r>
          </a:p>
          <a:p>
            <a:r>
              <a:rPr lang="en-US" b="1" dirty="0"/>
              <a:t>2. Technical Failures</a:t>
            </a:r>
          </a:p>
          <a:p>
            <a:r>
              <a:rPr lang="en-US" dirty="0"/>
              <a:t>Hardware failure</a:t>
            </a:r>
          </a:p>
          <a:p>
            <a:r>
              <a:rPr lang="en-US" dirty="0"/>
              <a:t>Power outage</a:t>
            </a:r>
          </a:p>
          <a:p>
            <a:r>
              <a:rPr lang="en-US" dirty="0"/>
              <a:t>Network failure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C182ADE9-9103-7A7F-60F4-6E39A2D4F246}"/>
              </a:ext>
            </a:extLst>
          </p:cNvPr>
          <p:cNvSpPr txBox="1">
            <a:spLocks/>
          </p:cNvSpPr>
          <p:nvPr/>
        </p:nvSpPr>
        <p:spPr>
          <a:xfrm>
            <a:off x="6477002" y="1570151"/>
            <a:ext cx="4876800" cy="46239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3. Cyber Disasters</a:t>
            </a:r>
          </a:p>
          <a:p>
            <a:r>
              <a:rPr lang="en-US" dirty="0"/>
              <a:t>DDoS attacks</a:t>
            </a:r>
          </a:p>
          <a:p>
            <a:r>
              <a:rPr lang="en-US" dirty="0"/>
              <a:t>Ransomware</a:t>
            </a:r>
          </a:p>
          <a:p>
            <a:r>
              <a:rPr lang="en-US" dirty="0"/>
              <a:t>Data breaches</a:t>
            </a:r>
          </a:p>
          <a:p>
            <a:r>
              <a:rPr lang="en-US" b="1" dirty="0"/>
              <a:t>4. Human Errors</a:t>
            </a:r>
          </a:p>
          <a:p>
            <a:r>
              <a:rPr lang="en-US" dirty="0"/>
              <a:t>Accidental deletion</a:t>
            </a:r>
          </a:p>
          <a:p>
            <a:r>
              <a:rPr lang="en-US" dirty="0"/>
              <a:t>Misconfiguration</a:t>
            </a:r>
          </a:p>
        </p:txBody>
      </p:sp>
    </p:spTree>
    <p:extLst>
      <p:ext uri="{BB962C8B-B14F-4D97-AF65-F5344CB8AC3E}">
        <p14:creationId xmlns:p14="http://schemas.microsoft.com/office/powerpoint/2010/main" val="247870414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F28FDC-8116-BE1D-115E-107147ED0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C9E24-3254-9944-C76C-F2360AD58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Disaster Recovery Strategies in Cloud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A0D3E8-A45E-3B30-19A1-4509373EB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5335C455-8966-BF82-E9FB-68EB616E0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13A575-E2C1-1DA2-5B10-8E0B93399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Backup and Restore: </a:t>
            </a:r>
            <a:r>
              <a:rPr lang="en-US" dirty="0"/>
              <a:t>Regular backups stored in cloud storage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Pilot Light Strategy: </a:t>
            </a:r>
            <a:r>
              <a:rPr lang="en-US" dirty="0"/>
              <a:t>Minimal core services always running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Warm Standby: </a:t>
            </a:r>
            <a:r>
              <a:rPr lang="en-US" dirty="0"/>
              <a:t>Fully functional backup environment with reduced capacity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Hot Standby (Active-Active): </a:t>
            </a:r>
            <a:r>
              <a:rPr lang="en-US" dirty="0"/>
              <a:t>Two fully active environments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08415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851C33-29B2-0249-D21D-BA0DEE8C6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11797-55DE-362A-C24B-8BE116305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Disaster Recovery Strategies in Cloud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80D708-169B-DFBE-D446-7BFF4CA75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63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FB04DDA6-313D-ADD8-879C-1FC6BE4E2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68D027-BE98-D124-7BBE-0763FC152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3029"/>
            <a:ext cx="5056414" cy="4623934"/>
          </a:xfrm>
        </p:spPr>
        <p:txBody>
          <a:bodyPr>
            <a:normAutofit/>
          </a:bodyPr>
          <a:lstStyle/>
          <a:p>
            <a:r>
              <a:rPr lang="en-US" b="1" dirty="0"/>
              <a:t>Benefits of Cloud-Based Disaster Management</a:t>
            </a:r>
          </a:p>
          <a:p>
            <a:pPr lvl="1"/>
            <a:r>
              <a:rPr lang="en-US" dirty="0"/>
              <a:t>Lower cost than on-premises</a:t>
            </a:r>
          </a:p>
          <a:p>
            <a:pPr lvl="1"/>
            <a:r>
              <a:rPr lang="en-US" dirty="0"/>
              <a:t>Faster recovery</a:t>
            </a:r>
          </a:p>
          <a:p>
            <a:pPr lvl="1"/>
            <a:r>
              <a:rPr lang="en-US" dirty="0"/>
              <a:t>Geographic redundancy</a:t>
            </a:r>
          </a:p>
          <a:p>
            <a:pPr lvl="1"/>
            <a:r>
              <a:rPr lang="en-US" dirty="0"/>
              <a:t>Automated failover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EBA3C636-526A-3AAE-6099-EF519986887C}"/>
              </a:ext>
            </a:extLst>
          </p:cNvPr>
          <p:cNvSpPr txBox="1">
            <a:spLocks/>
          </p:cNvSpPr>
          <p:nvPr/>
        </p:nvSpPr>
        <p:spPr>
          <a:xfrm>
            <a:off x="6297386" y="1570151"/>
            <a:ext cx="5056414" cy="46239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3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Nunito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Challenges of Disaster Management in Cloud</a:t>
            </a:r>
          </a:p>
          <a:p>
            <a:pPr lvl="1"/>
            <a:r>
              <a:rPr lang="en-US" dirty="0"/>
              <a:t>Cost of multi-region setup</a:t>
            </a:r>
          </a:p>
          <a:p>
            <a:pPr lvl="1"/>
            <a:r>
              <a:rPr lang="en-US" dirty="0"/>
              <a:t>Complexity in planning</a:t>
            </a:r>
          </a:p>
          <a:p>
            <a:pPr lvl="1"/>
            <a:r>
              <a:rPr lang="en-US" dirty="0"/>
              <a:t>Compliance constraints</a:t>
            </a:r>
          </a:p>
          <a:p>
            <a:pPr lvl="1"/>
            <a:r>
              <a:rPr lang="en-US" dirty="0"/>
              <a:t>Dependency on provider</a:t>
            </a:r>
          </a:p>
        </p:txBody>
      </p:sp>
    </p:spTree>
    <p:extLst>
      <p:ext uri="{BB962C8B-B14F-4D97-AF65-F5344CB8AC3E}">
        <p14:creationId xmlns:p14="http://schemas.microsoft.com/office/powerpoint/2010/main" val="284868447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8B384B-D718-C8F7-D23B-EF486E67B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59904-ECCF-1FEE-3474-03041E71C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CSA Model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1121C9-089B-DD0C-C72C-19A598D7F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64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F6336B8C-E647-2D96-6933-9BA00D179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4F47D7-3C78-3F43-A7E2-1192344E8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particular service model defines the boundary between the responsibilities of service provider and</a:t>
            </a:r>
          </a:p>
          <a:p>
            <a:r>
              <a:rPr lang="en-US" dirty="0"/>
              <a:t>consumer. </a:t>
            </a:r>
            <a:r>
              <a:rPr lang="en-US" b="1" dirty="0"/>
              <a:t>Cloud Security Alliance (CSA)</a:t>
            </a:r>
            <a:r>
              <a:rPr lang="en-US" dirty="0"/>
              <a:t> stack model defines the boundaries between each service model and</a:t>
            </a:r>
          </a:p>
          <a:p>
            <a:r>
              <a:rPr lang="en-US" dirty="0"/>
              <a:t>shows how different functional units relate to each other. The following diagram shows the </a:t>
            </a:r>
            <a:r>
              <a:rPr lang="en-US" b="1" dirty="0"/>
              <a:t>CSA stack model:</a:t>
            </a:r>
            <a:endParaRPr lang="en-US" dirty="0"/>
          </a:p>
          <a:p>
            <a:endParaRPr lang="en-NP" dirty="0"/>
          </a:p>
        </p:txBody>
      </p:sp>
    </p:spTree>
    <p:extLst>
      <p:ext uri="{BB962C8B-B14F-4D97-AF65-F5344CB8AC3E}">
        <p14:creationId xmlns:p14="http://schemas.microsoft.com/office/powerpoint/2010/main" val="44053030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788A1A-33AC-E4CD-8368-8CFE45609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C7297-02C1-94F5-53E7-64802CD5D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CSA Model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8314EF-BD07-B042-4AED-51A399D08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65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BEF1050E-F7EF-BD05-2DE8-1B7D8FAE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pic>
        <p:nvPicPr>
          <p:cNvPr id="4" name="Content Placeholder 3" descr="A diagram of a presentation platform&#10;&#10;AI-generated content may be incorrect.">
            <a:extLst>
              <a:ext uri="{FF2B5EF4-FFF2-40B4-BE49-F238E27FC236}">
                <a16:creationId xmlns:a16="http://schemas.microsoft.com/office/drawing/2014/main" id="{403730F5-1A19-8273-06D1-F2959B0435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233" y="1299730"/>
            <a:ext cx="6633534" cy="5172940"/>
          </a:xfrm>
        </p:spPr>
      </p:pic>
    </p:spTree>
    <p:extLst>
      <p:ext uri="{BB962C8B-B14F-4D97-AF65-F5344CB8AC3E}">
        <p14:creationId xmlns:p14="http://schemas.microsoft.com/office/powerpoint/2010/main" val="176523155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C35B75-0D7C-8B49-6C3B-7844BECC2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98B46-C85B-4088-3C30-D7B96B30C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CSA Model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B81060-CE9F-B21D-4CC5-3029132B8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>
            <a:normAutofit/>
          </a:bodyPr>
          <a:lstStyle/>
          <a:p>
            <a:fld id="{36AD3355-1A39-4F95-8D2D-9BA34F1D5DE9}" type="slidenum">
              <a:rPr lang="en-US" smtClean="0"/>
              <a:pPr/>
              <a:t>66</a:t>
            </a:fld>
            <a:endParaRPr lang="en-US"/>
          </a:p>
        </p:txBody>
      </p:sp>
      <p:sp>
        <p:nvSpPr>
          <p:cNvPr id="79" name="Footer Placeholder 78">
            <a:extLst>
              <a:ext uri="{FF2B5EF4-FFF2-40B4-BE49-F238E27FC236}">
                <a16:creationId xmlns:a16="http://schemas.microsoft.com/office/drawing/2014/main" id="{74526AD5-D69B-308D-9132-94B7A13C8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A650B4-AF45-ABCE-AD82-38E68B01A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IaaS</a:t>
            </a:r>
            <a:r>
              <a:rPr lang="en-US" dirty="0"/>
              <a:t> is the most basic cloud service model</a:t>
            </a:r>
          </a:p>
          <a:p>
            <a:r>
              <a:rPr lang="en-US" b="1" dirty="0"/>
              <a:t>PaaS</a:t>
            </a:r>
            <a:r>
              <a:rPr lang="en-US" dirty="0"/>
              <a:t> and </a:t>
            </a:r>
            <a:r>
              <a:rPr lang="en-US" b="1" dirty="0"/>
              <a:t>SaaS</a:t>
            </a:r>
            <a:r>
              <a:rPr lang="en-US" dirty="0"/>
              <a:t> are higher-level services built on IaaS</a:t>
            </a:r>
          </a:p>
          <a:p>
            <a:r>
              <a:rPr lang="en-US" dirty="0"/>
              <a:t>Each higher model </a:t>
            </a:r>
            <a:r>
              <a:rPr lang="en-US" b="1" dirty="0"/>
              <a:t>inherits capabilities and security risks</a:t>
            </a:r>
            <a:r>
              <a:rPr lang="en-US" dirty="0"/>
              <a:t> of lower layers</a:t>
            </a:r>
          </a:p>
          <a:p>
            <a:r>
              <a:rPr lang="en-US" b="1" dirty="0"/>
              <a:t>IaaS</a:t>
            </a:r>
            <a:r>
              <a:rPr lang="en-US" dirty="0"/>
              <a:t> has the </a:t>
            </a:r>
            <a:r>
              <a:rPr lang="en-US" b="1" dirty="0"/>
              <a:t>least integrated functionality and security</a:t>
            </a:r>
            <a:endParaRPr lang="en-US" dirty="0"/>
          </a:p>
          <a:p>
            <a:r>
              <a:rPr lang="en-US" b="1" dirty="0"/>
              <a:t>SaaS</a:t>
            </a:r>
            <a:r>
              <a:rPr lang="en-US" dirty="0"/>
              <a:t> has the </a:t>
            </a:r>
            <a:r>
              <a:rPr lang="en-US" b="1" dirty="0"/>
              <a:t>most built-in functionality and security</a:t>
            </a:r>
            <a:endParaRPr lang="en-US" dirty="0"/>
          </a:p>
          <a:p>
            <a:r>
              <a:rPr lang="en-US" dirty="0"/>
              <a:t>CSA model defines the </a:t>
            </a:r>
            <a:r>
              <a:rPr lang="en-US" b="1" dirty="0"/>
              <a:t>security boundary</a:t>
            </a:r>
            <a:r>
              <a:rPr lang="en-US" dirty="0"/>
              <a:t> between provider and consumer</a:t>
            </a:r>
          </a:p>
          <a:p>
            <a:r>
              <a:rPr lang="en-US" b="1" dirty="0"/>
              <a:t>Below the boundary:</a:t>
            </a:r>
            <a:r>
              <a:rPr lang="en-US" dirty="0"/>
              <a:t> security handled by </a:t>
            </a:r>
            <a:r>
              <a:rPr lang="en-US" b="1" dirty="0"/>
              <a:t>cloud provider</a:t>
            </a:r>
            <a:endParaRPr lang="en-US" dirty="0"/>
          </a:p>
          <a:p>
            <a:r>
              <a:rPr lang="en-US" b="1" dirty="0"/>
              <a:t>Above the boundary:</a:t>
            </a:r>
            <a:r>
              <a:rPr lang="en-US" dirty="0"/>
              <a:t> security managed by </a:t>
            </a:r>
            <a:r>
              <a:rPr lang="en-US" b="1" dirty="0"/>
              <a:t>cloud consumer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05463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1EB86E-92CA-8425-23CB-1C912DD51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0988" y="641377"/>
            <a:ext cx="5487841" cy="2540969"/>
          </a:xfrm>
        </p:spPr>
        <p:txBody>
          <a:bodyPr/>
          <a:lstStyle/>
          <a:p>
            <a:r>
              <a:rPr lang="en-US" dirty="0"/>
              <a:t>End of </a:t>
            </a:r>
            <a:br>
              <a:rPr lang="en-US" dirty="0"/>
            </a:br>
            <a:r>
              <a:rPr lang="en-US" dirty="0"/>
              <a:t>Unit 5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598789-ED0E-CA9B-FF87-C82F58631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6201" y="88667"/>
            <a:ext cx="584199" cy="365125"/>
          </a:xfrm>
        </p:spPr>
        <p:txBody>
          <a:bodyPr/>
          <a:lstStyle/>
          <a:p>
            <a:fld id="{36AD3355-1A39-4F95-8D2D-9BA34F1D5DE9}" type="slidenum">
              <a:rPr lang="en-US" smtClean="0"/>
              <a:pPr/>
              <a:t>67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5032F37-907E-9C2E-C22C-C745CEE55F2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94344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0FBA0-27E2-F622-221D-B1B9F6C3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8AA0D-2DA5-FCAB-B808-83012ED09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D3355-1A39-4F95-8D2D-9BA34F1D5DE9}" type="slidenum">
              <a:rPr lang="en-US" smtClean="0"/>
              <a:pPr/>
              <a:t>68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548889-52EA-6797-57CD-59AEF91798C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077200" y="6356350"/>
            <a:ext cx="4114800" cy="365125"/>
          </a:xfrm>
        </p:spPr>
        <p:txBody>
          <a:bodyPr/>
          <a:lstStyle/>
          <a:p>
            <a:r>
              <a:rPr lang="en-US"/>
              <a:t>Unit 5 | Security in Cloud Computing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7152629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651</TotalTime>
  <Words>2841</Words>
  <Application>Microsoft Macintosh PowerPoint</Application>
  <PresentationFormat>Widescreen</PresentationFormat>
  <Paragraphs>607</Paragraphs>
  <Slides>68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3" baseType="lpstr">
      <vt:lpstr>Arial</vt:lpstr>
      <vt:lpstr>Calibri</vt:lpstr>
      <vt:lpstr>Nunito</vt:lpstr>
      <vt:lpstr>Roboto</vt:lpstr>
      <vt:lpstr>2_Office Theme</vt:lpstr>
      <vt:lpstr>PowerPoint Presentation</vt:lpstr>
      <vt:lpstr>Unit 5: Security in Cloud Computing (5hrs)</vt:lpstr>
      <vt:lpstr>Cloud Security</vt:lpstr>
      <vt:lpstr>Shared Responsibility Model</vt:lpstr>
      <vt:lpstr>Benefits of Cloud Security</vt:lpstr>
      <vt:lpstr>Benefits of Cloud Security</vt:lpstr>
      <vt:lpstr>Benefits of Cloud Security</vt:lpstr>
      <vt:lpstr>Benefits of Cloud Security</vt:lpstr>
      <vt:lpstr>Benefits of Cloud Security</vt:lpstr>
      <vt:lpstr>Benefits of Cloud Security</vt:lpstr>
      <vt:lpstr>Challenges of Cloud Security</vt:lpstr>
      <vt:lpstr>Challenges of Cloud Security</vt:lpstr>
      <vt:lpstr>Challenges of Cloud Security</vt:lpstr>
      <vt:lpstr>Challenges of Cloud Security</vt:lpstr>
      <vt:lpstr>Cloud Security Threats</vt:lpstr>
      <vt:lpstr>Cloud Security Threats</vt:lpstr>
      <vt:lpstr>Cloud Security Threats</vt:lpstr>
      <vt:lpstr>Cloud Security Threats</vt:lpstr>
      <vt:lpstr>Cloud Security Threats</vt:lpstr>
      <vt:lpstr>Cloud Security Threats</vt:lpstr>
      <vt:lpstr>Cloud Security Threats</vt:lpstr>
      <vt:lpstr>Cloud Security Threats</vt:lpstr>
      <vt:lpstr>Cloud Security Threats</vt:lpstr>
      <vt:lpstr>Cloud Security Threats Mapping</vt:lpstr>
      <vt:lpstr>Security as a Service (SECaaS)</vt:lpstr>
      <vt:lpstr>SECaaS</vt:lpstr>
      <vt:lpstr>Why SECaaS?</vt:lpstr>
      <vt:lpstr>Cloud-Based E-Commerce Platform</vt:lpstr>
      <vt:lpstr>Challenges of  SECaaS</vt:lpstr>
      <vt:lpstr>Dimensions of Cloud Security</vt:lpstr>
      <vt:lpstr>Dimensions of Cloud Security</vt:lpstr>
      <vt:lpstr>Dimensions of Cloud Security</vt:lpstr>
      <vt:lpstr>Dimensions of Cloud Security</vt:lpstr>
      <vt:lpstr>Dimensions of Cloud Security</vt:lpstr>
      <vt:lpstr>Dimensions of Cloud Security</vt:lpstr>
      <vt:lpstr>Dimensions of Cloud Security</vt:lpstr>
      <vt:lpstr>Dimensions of Cloud Security</vt:lpstr>
      <vt:lpstr>Dimensions of Cloud Security</vt:lpstr>
      <vt:lpstr>Dimensions of Cloud Security</vt:lpstr>
      <vt:lpstr>Dimensions of Cloud Security</vt:lpstr>
      <vt:lpstr>Cloud Security Mechanism</vt:lpstr>
      <vt:lpstr>Single Sign-On (SSO)</vt:lpstr>
      <vt:lpstr>SSO Working Mechanism</vt:lpstr>
      <vt:lpstr>SSO Working Mechanism</vt:lpstr>
      <vt:lpstr>OpenID</vt:lpstr>
      <vt:lpstr>Advantages of SSO</vt:lpstr>
      <vt:lpstr>Identity and Access Management (IAM)</vt:lpstr>
      <vt:lpstr>Identity and Access Management (IAM)</vt:lpstr>
      <vt:lpstr>Identity and Access Management (IAM)</vt:lpstr>
      <vt:lpstr>Identity and Access Management (IAM)</vt:lpstr>
      <vt:lpstr>Identity and Access Management (IAM)</vt:lpstr>
      <vt:lpstr>Identity and Access Management (IAM)</vt:lpstr>
      <vt:lpstr>IAM Lifecycle (User Lifecycle Management)</vt:lpstr>
      <vt:lpstr>Why IAM is Important</vt:lpstr>
      <vt:lpstr>IAM Best Practices</vt:lpstr>
      <vt:lpstr>Hashing</vt:lpstr>
      <vt:lpstr>Hashing</vt:lpstr>
      <vt:lpstr>Digital Signatures</vt:lpstr>
      <vt:lpstr>How Digital Signature Works</vt:lpstr>
      <vt:lpstr>Disaster Management in Cloud</vt:lpstr>
      <vt:lpstr>Disaster Management in Cloud</vt:lpstr>
      <vt:lpstr>Disaster Recovery Strategies in Cloud</vt:lpstr>
      <vt:lpstr>Disaster Recovery Strategies in Cloud</vt:lpstr>
      <vt:lpstr>CSA Model</vt:lpstr>
      <vt:lpstr>CSA Model</vt:lpstr>
      <vt:lpstr>CSA Model</vt:lpstr>
      <vt:lpstr>End of  Unit 5</vt:lpstr>
      <vt:lpstr>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in C</dc:title>
  <dc:creator>Shiva Kunwar</dc:creator>
  <cp:lastModifiedBy>Shiva Kunwar</cp:lastModifiedBy>
  <cp:revision>43</cp:revision>
  <dcterms:created xsi:type="dcterms:W3CDTF">2024-09-21T07:18:01Z</dcterms:created>
  <dcterms:modified xsi:type="dcterms:W3CDTF">2026-01-06T16:18:21Z</dcterms:modified>
</cp:coreProperties>
</file>