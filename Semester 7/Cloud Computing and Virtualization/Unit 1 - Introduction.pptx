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1"/>
  </p:sldMasterIdLst>
  <p:notesMasterIdLst>
    <p:notesMasterId r:id="rId62"/>
  </p:notesMasterIdLst>
  <p:handoutMasterIdLst>
    <p:handoutMasterId r:id="rId63"/>
  </p:handoutMasterIdLst>
  <p:sldIdLst>
    <p:sldId id="262" r:id="rId2"/>
    <p:sldId id="273" r:id="rId3"/>
    <p:sldId id="293" r:id="rId4"/>
    <p:sldId id="294" r:id="rId5"/>
    <p:sldId id="302" r:id="rId6"/>
    <p:sldId id="295" r:id="rId7"/>
    <p:sldId id="303" r:id="rId8"/>
    <p:sldId id="296" r:id="rId9"/>
    <p:sldId id="305" r:id="rId10"/>
    <p:sldId id="304" r:id="rId11"/>
    <p:sldId id="297" r:id="rId12"/>
    <p:sldId id="298" r:id="rId13"/>
    <p:sldId id="299" r:id="rId14"/>
    <p:sldId id="306" r:id="rId15"/>
    <p:sldId id="307" r:id="rId16"/>
    <p:sldId id="308" r:id="rId17"/>
    <p:sldId id="300" r:id="rId18"/>
    <p:sldId id="309" r:id="rId19"/>
    <p:sldId id="310" r:id="rId20"/>
    <p:sldId id="311" r:id="rId21"/>
    <p:sldId id="30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0" r:id="rId41"/>
    <p:sldId id="331" r:id="rId42"/>
    <p:sldId id="332" r:id="rId43"/>
    <p:sldId id="333" r:id="rId44"/>
    <p:sldId id="334" r:id="rId45"/>
    <p:sldId id="335" r:id="rId46"/>
    <p:sldId id="336" r:id="rId47"/>
    <p:sldId id="337" r:id="rId48"/>
    <p:sldId id="338" r:id="rId49"/>
    <p:sldId id="339" r:id="rId50"/>
    <p:sldId id="340" r:id="rId51"/>
    <p:sldId id="341" r:id="rId52"/>
    <p:sldId id="342" r:id="rId53"/>
    <p:sldId id="343" r:id="rId54"/>
    <p:sldId id="344" r:id="rId55"/>
    <p:sldId id="345" r:id="rId56"/>
    <p:sldId id="346" r:id="rId57"/>
    <p:sldId id="347" r:id="rId58"/>
    <p:sldId id="348" r:id="rId59"/>
    <p:sldId id="263" r:id="rId60"/>
    <p:sldId id="264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90" autoAdjust="0"/>
    <p:restoredTop sz="94660"/>
  </p:normalViewPr>
  <p:slideViewPr>
    <p:cSldViewPr snapToGrid="0">
      <p:cViewPr varScale="1">
        <p:scale>
          <a:sx n="87" d="100"/>
          <a:sy n="87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886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F4AAF4-B8F3-33EC-52A9-9556E57E63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8DEACF-F8D5-65D6-65E3-338B2B0A60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72621-8294-46A0-AF65-3F36575F232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97C6E-AD10-9E33-EB85-2BFA5B3262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2DCF5-DD40-B594-C366-ED0E57DC23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D7F74-8BB9-4E0E-BFB9-27139482F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9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75D34-0415-4310-B568-590084F5D71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10430-A6ED-49DA-875F-FAA9313FE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29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.Kunwar@hotmail.com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D3E4401-654B-3331-0E2C-7406236D3B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" y="1"/>
            <a:ext cx="12191996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C129550-DA5D-C130-73B9-F36251FB393F}"/>
              </a:ext>
            </a:extLst>
          </p:cNvPr>
          <p:cNvSpPr/>
          <p:nvPr userDrawn="1"/>
        </p:nvSpPr>
        <p:spPr>
          <a:xfrm>
            <a:off x="-2" y="0"/>
            <a:ext cx="12191999" cy="6857999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54939-1092-154C-F943-8221DCF25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308-039D-DC42-A711-A8D4CA1F617B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8189D-CC24-D084-077F-1EC0EA310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1 | Introduction of Cloud Computing</a:t>
            </a:r>
            <a:endParaRPr lang="en-US" dirty="0"/>
          </a:p>
        </p:txBody>
      </p:sp>
      <p:pic>
        <p:nvPicPr>
          <p:cNvPr id="8" name="Picture 7" descr="A logo with a star and a candle&#10;&#10;Description automatically generated">
            <a:extLst>
              <a:ext uri="{FF2B5EF4-FFF2-40B4-BE49-F238E27FC236}">
                <a16:creationId xmlns:a16="http://schemas.microsoft.com/office/drawing/2014/main" id="{5EE76DC0-94B7-A3AA-712F-BE98D17F08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77425" y="116127"/>
            <a:ext cx="2143125" cy="21431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584078-0138-E900-23EB-074EF062EF67}"/>
              </a:ext>
            </a:extLst>
          </p:cNvPr>
          <p:cNvSpPr txBox="1">
            <a:spLocks/>
          </p:cNvSpPr>
          <p:nvPr userDrawn="1"/>
        </p:nvSpPr>
        <p:spPr>
          <a:xfrm>
            <a:off x="1524000" y="2103324"/>
            <a:ext cx="9144000" cy="25545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</a:rPr>
              <a:t>Cloud Computing and Virtualization</a:t>
            </a:r>
            <a:endParaRPr lang="en-US" sz="8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D25D32-6EF2-FAFE-2C36-BDD0330F818C}"/>
              </a:ext>
            </a:extLst>
          </p:cNvPr>
          <p:cNvSpPr txBox="1"/>
          <p:nvPr userDrawn="1"/>
        </p:nvSpPr>
        <p:spPr>
          <a:xfrm>
            <a:off x="1523999" y="4845050"/>
            <a:ext cx="9143999" cy="1301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Nunito" pitchFamily="2" charset="0"/>
                <a:cs typeface="Aparajita" panose="02020603050405020304" pitchFamily="18" charset="0"/>
              </a:rPr>
              <a:t>Prepared by:  Er. Shiva Kunwar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Nunito" pitchFamily="2" charset="0"/>
                <a:cs typeface="Aparajita" panose="02020603050405020304" pitchFamily="18" charset="0"/>
              </a:rPr>
              <a:t>Lecturer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Nunito" pitchFamily="2" charset="0"/>
                <a:cs typeface="Aparajita" panose="02020603050405020304" pitchFamily="18" charset="0"/>
              </a:rPr>
              <a:t>Pokhara Engineering College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0081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6BBFC-EF9A-C646-B5B5-F5C0DD47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4F1A4-33E3-F613-3519-62CEA6B22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A0EDD6-81A7-F4B8-D011-4DE865AD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A9349-FE5E-514B-86DF-0144E8AA8751}" type="datetime1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F532A0-B8D7-45DA-5FA5-39BC559D7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1 | Introduction of Cloud Computing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0CCC4-845F-FD1B-9585-3F3F4F72C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082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D533-58C8-E224-906F-5F88AEC5E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F8861-2083-0FF8-F733-4312C604A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67543"/>
            <a:ext cx="5181600" cy="46094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B8EE7-49CE-F177-9BD3-AEC2ED7CF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67543"/>
            <a:ext cx="5181600" cy="46094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9D13A55-B8F2-1FFF-B254-28F4F7CE8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0631-DFE4-6F4A-B932-5CE59F53D799}" type="datetime1">
              <a:rPr lang="en-US" smtClean="0"/>
              <a:t>11/20/25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C5F814C-8F5B-5ECF-D212-9E924DAD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1 | Introduction of Cloud Computing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B327A59-CF12-D21D-6359-9C7B7310F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11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3D9C7D-7608-7B1C-1BBB-E09F972BE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ED532F5-16FE-613A-417D-557E002A8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BC6C6A9-0D82-2733-1B67-53F2A3D68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7D2052-25BC-843C-8ABA-792233D9D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DEE7CD1-BC72-3908-B52C-69C7274B0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A488A3C-7FB9-1EFA-C60D-233DBBFE4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12167FE-1698-734C-2D0C-C2B40CC45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483735"/>
            <a:ext cx="10515600" cy="10427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DA9F9C-5A91-403E-36CE-69E3C9969308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57C64D1-0999-ECC9-556E-E526C78A7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able Placeholder 4">
            <a:extLst>
              <a:ext uri="{FF2B5EF4-FFF2-40B4-BE49-F238E27FC236}">
                <a16:creationId xmlns:a16="http://schemas.microsoft.com/office/drawing/2014/main" id="{EAAE7709-C365-F582-CF49-7517BDEB8387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838198" y="1663021"/>
            <a:ext cx="10515602" cy="455680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1E667B7-7545-60E3-30C1-CE3C2A48949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6CF683C-BCE4-1149-99DC-8FBD0932D153}" type="datetime1">
              <a:rPr lang="en-US" smtClean="0"/>
              <a:t>11/20/25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2305699-A282-E12E-AE1C-1CFB25E238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Unit 1 | Introduction of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570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F6E645F8-F682-8D2D-268F-E5B7D5BF3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250187D5-3A16-AE1B-36DA-41D3FBE6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1264F6-BD23-F293-72FB-E32352573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6855AD-ABAC-8C19-8178-6EB8E5E72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B39B6C-6741-2C5E-B819-B3A425454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8738339-0671-5630-FEB8-CC9C67032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7484E4-73DD-0919-B58E-866F90700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3DF8B04-BA4D-3137-EEFB-2C9F96145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09" y="615909"/>
            <a:ext cx="3204415" cy="3387497"/>
          </a:xfrm>
        </p:spPr>
        <p:txBody>
          <a:bodyPr anchor="b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CB5711-9A41-EEE3-ECA8-3DF776546971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98655D1-315F-7D95-3B9A-EC74A727E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E923455B-4E0B-F709-CAC5-455517FBE6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9488" y="615950"/>
            <a:ext cx="6530975" cy="5603875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E41F7B6-FA1C-08CE-1473-5AEEBCEE76B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DC17FE0-F98F-5847-8D62-AEFF18EDF00B}" type="datetime1">
              <a:rPr lang="en-US" smtClean="0"/>
              <a:t>11/20/25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7009528-D44A-660D-5354-4CF2C225E6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Unit 1 | Introduction of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037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21818950-1BC0-79F8-F3A1-C793DF91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C4A06A-DC97-5499-2273-8019226EA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A9634D-9BDD-B374-6DD7-03C03290F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8769AA-85CF-4F16-36ED-08E81B006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837CB0-FBB5-1349-DFB4-563DF02B5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CCAB6FC-BE02-6F5E-8E9C-340FAC424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035E3B-ADC3-447C-17D8-2227F75D45AC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7808083-BCD1-7C29-51D7-C9EF69DBD3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367B66-BFAA-3DE9-8BD2-E64B46FC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2557"/>
            <a:ext cx="10515600" cy="4214406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BE4831-D86C-E223-8E7F-61ACDC2CA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9B1F5-068C-6042-978A-B5FCFB4CFF06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FE3D7-7A3D-FA0B-3F88-D5B5911E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1 | Introduction of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545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A94531-650E-5195-CBA1-5B3978F0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A213-4903-0B4F-B88A-EF46B415813C}" type="datetime1">
              <a:rPr lang="en-US" smtClean="0"/>
              <a:t>11/20/25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B60013-C917-A93A-C451-8E8B6203FC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480553" cy="685800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0D3A4C7-B5F0-8B63-1ECA-C14815983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988" y="641377"/>
            <a:ext cx="5487841" cy="2540969"/>
          </a:xfrm>
        </p:spPr>
        <p:txBody>
          <a:bodyPr anchor="ctr">
            <a:noAutofit/>
          </a:bodyPr>
          <a:lstStyle>
            <a:lvl1pPr algn="l">
              <a:defRPr sz="6000" b="0" cap="none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FD99D63D-0492-7C66-0370-0040336A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AutoShape 2" descr="A peaceful illustration for C programming set in a serene environment. The setting is a quiet lakeside scene during sunrise or sunset, with soft golden lighting reflecting on calm waters. A laptop or book displaying C programming code is open on a wooden bench near the water, surrounded by nature with gentle trees and soft grass. The sky is a gradient of warm colors, and there are small details like a steaming coffee mug and a few scattered notes or pens nearby, adding a cozy atmosphere. The dimensions are 7.5 inches in height and 4.9 inches in width.">
            <a:extLst>
              <a:ext uri="{FF2B5EF4-FFF2-40B4-BE49-F238E27FC236}">
                <a16:creationId xmlns:a16="http://schemas.microsoft.com/office/drawing/2014/main" id="{6A97A55F-F05A-431D-3CF6-E049935C399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19B0B8-54EB-02A5-06D4-A123119246F4}"/>
              </a:ext>
            </a:extLst>
          </p:cNvPr>
          <p:cNvSpPr txBox="1"/>
          <p:nvPr userDrawn="1"/>
        </p:nvSpPr>
        <p:spPr>
          <a:xfrm>
            <a:off x="5020988" y="4019550"/>
            <a:ext cx="60280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dirty="0">
                <a:latin typeface="Nunito" pitchFamily="2" charset="0"/>
                <a:hlinkClick r:id="rId3"/>
              </a:rPr>
              <a:t>shiva.kunwar@hotmail.com</a:t>
            </a:r>
            <a:br>
              <a:rPr lang="en-US" sz="3000" dirty="0">
                <a:latin typeface="Nunito" pitchFamily="2" charset="0"/>
              </a:rPr>
            </a:br>
            <a:r>
              <a:rPr lang="en-US" sz="3000" dirty="0">
                <a:latin typeface="Nunito" pitchFamily="2" charset="0"/>
              </a:rPr>
              <a:t>+977-9819123654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16E68-0017-74AE-E686-7960FA20C45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r"/>
            <a:r>
              <a:rPr lang="en-US"/>
              <a:t>Unit 1 | Introduction of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1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review Card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DA83DF1-A84E-B163-956C-25D3B807BE99}"/>
              </a:ext>
            </a:extLst>
          </p:cNvPr>
          <p:cNvSpPr txBox="1">
            <a:spLocks/>
          </p:cNvSpPr>
          <p:nvPr userDrawn="1"/>
        </p:nvSpPr>
        <p:spPr>
          <a:xfrm>
            <a:off x="838200" y="417727"/>
            <a:ext cx="10515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PREVIEW FOR NEXT UNIT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F62B2-F92E-BBBB-879D-EAA2FC432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3315"/>
            <a:ext cx="10515600" cy="381725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E4F7403-710E-51F3-7202-7EBA53ED6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22A69-1C6C-A8E7-081B-CD412014A82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893B098-FD89-D447-83A3-4A4D95589C48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5FFE2-1F4D-9C49-4E2F-006619EA8C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Unit 1 | Introduction of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579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B644-5741-8467-C89E-7A43CCB7C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AA4B1-9CE0-549C-7B06-728134B28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53029"/>
            <a:ext cx="10515600" cy="4623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E655E-F829-BD76-B10A-3B85DA5FD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248FE-58E3-3B40-9643-87DDA9AFDBD2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4BA3D-AF77-0CD3-E6C2-CDFE9BF54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91401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Unit 1 | Introduction of Cloud Computing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3EA662-E61B-0C38-8A92-8D9EA2250421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CFC56-D6E1-E077-A067-C2CA064D4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690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9" r:id="rId3"/>
    <p:sldLayoutId id="2147483670" r:id="rId4"/>
    <p:sldLayoutId id="2147483672" r:id="rId5"/>
    <p:sldLayoutId id="2147483673" r:id="rId6"/>
    <p:sldLayoutId id="2147483664" r:id="rId7"/>
    <p:sldLayoutId id="214748366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Nunito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Nunito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Nunito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unito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362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C15B3-1011-3094-C557-EE18153CB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Unit 1: </a:t>
            </a:r>
            <a:r>
              <a:rPr lang="en-US" i="0" dirty="0">
                <a:solidFill>
                  <a:srgbClr val="000000"/>
                </a:solidFill>
                <a:effectLst/>
              </a:rPr>
              <a:t>Introduction (8hrs)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FD919-B700-7537-7FA6-AA98852B77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Introduction of Cloud Computing</a:t>
            </a:r>
          </a:p>
          <a:p>
            <a:pPr lvl="1"/>
            <a:r>
              <a:rPr lang="en-US" b="1" dirty="0"/>
              <a:t>1.1 Need for Cloud Computing</a:t>
            </a:r>
          </a:p>
          <a:p>
            <a:pPr lvl="1"/>
            <a:r>
              <a:rPr lang="en-US" b="1" dirty="0"/>
              <a:t>1.2 NIST definition</a:t>
            </a:r>
          </a:p>
          <a:p>
            <a:pPr lvl="1"/>
            <a:r>
              <a:rPr lang="en-US" b="1" dirty="0"/>
              <a:t>1.3 Characteristics and Benefits</a:t>
            </a:r>
          </a:p>
          <a:p>
            <a:pPr lvl="1"/>
            <a:r>
              <a:rPr lang="en-US" b="1" dirty="0"/>
              <a:t>1.4 Application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Cloud Reference Model</a:t>
            </a:r>
          </a:p>
          <a:p>
            <a:pPr lvl="1"/>
            <a:r>
              <a:rPr lang="en-US" b="1" dirty="0"/>
              <a:t>2.1 NIST Architecture</a:t>
            </a:r>
          </a:p>
          <a:p>
            <a:pPr lvl="1"/>
            <a:r>
              <a:rPr lang="en-US" b="1" dirty="0"/>
              <a:t>2.2 Design Principles of Cloud Architecture</a:t>
            </a:r>
          </a:p>
          <a:p>
            <a:pPr lvl="1"/>
            <a:r>
              <a:rPr lang="en-US" b="1" dirty="0"/>
              <a:t>2.3 Infrastructural Constraints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9BFE4-2ABE-2BF6-9A11-5A27376564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/>
              <a:t>Evolution of Cloud Computing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b="1" dirty="0"/>
              <a:t>Cloud Service Model</a:t>
            </a:r>
          </a:p>
          <a:p>
            <a:pPr marL="457200" lvl="1" indent="0">
              <a:buNone/>
            </a:pPr>
            <a:r>
              <a:rPr lang="en-US" b="1" dirty="0"/>
              <a:t>4.1 Software as a Service (SaaS), Platform as a Service (</a:t>
            </a:r>
            <a:r>
              <a:rPr lang="en-US" b="1" dirty="0" err="1"/>
              <a:t>Paas</a:t>
            </a:r>
            <a:r>
              <a:rPr lang="en-US" b="1" dirty="0"/>
              <a:t>), and Infrastructure as a Service (</a:t>
            </a:r>
            <a:r>
              <a:rPr lang="en-US" b="1" dirty="0" err="1"/>
              <a:t>Iaas</a:t>
            </a:r>
            <a:r>
              <a:rPr lang="en-US" b="1" dirty="0"/>
              <a:t>)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b="1" dirty="0"/>
              <a:t>Cloud Deployment Model</a:t>
            </a:r>
          </a:p>
          <a:p>
            <a:pPr lvl="1"/>
            <a:r>
              <a:rPr lang="en-US" b="1" dirty="0"/>
              <a:t>5.1 Public, Private, Hybrid and Community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b="1" dirty="0"/>
              <a:t>Jericho Cloud Cube Model</a:t>
            </a:r>
          </a:p>
          <a:p>
            <a:endParaRPr lang="en-NP" dirty="0"/>
          </a:p>
        </p:txBody>
      </p:sp>
      <p:sp>
        <p:nvSpPr>
          <p:cNvPr id="66" name="Footer Placeholder 65">
            <a:extLst>
              <a:ext uri="{FF2B5EF4-FFF2-40B4-BE49-F238E27FC236}">
                <a16:creationId xmlns:a16="http://schemas.microsoft.com/office/drawing/2014/main" id="{26BB203E-0487-AAE3-07F6-0DCEC841F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1 | Introduction of Cloud Computing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CAC79-7491-A7F8-44FB-8E0B6CF6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86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A7E97A-84A7-63A3-4E35-26E3C1B4A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104FC-E73B-433F-8E9C-063DC9B33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89C3F-E4A8-6A6D-8C9B-66C686F0F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Computing is the </a:t>
            </a:r>
            <a:r>
              <a:rPr lang="en-US" b="1" dirty="0">
                <a:solidFill>
                  <a:srgbClr val="FF0000"/>
                </a:solidFill>
              </a:rPr>
              <a:t>delivery of computing services</a:t>
            </a:r>
            <a:r>
              <a:rPr lang="en-US" dirty="0"/>
              <a:t>—such as servers, storage, databases, networking, software, analytics, and intelligence—over the internet (“the cloud”) to offer faster innovation, flexible resources, and economies of scale.</a:t>
            </a:r>
          </a:p>
          <a:p>
            <a:r>
              <a:rPr lang="en-US" dirty="0"/>
              <a:t>In simple terms, instead of owning physical data centers or servers, organizations can </a:t>
            </a:r>
            <a:r>
              <a:rPr lang="en-US" b="1" dirty="0">
                <a:solidFill>
                  <a:srgbClr val="FFC000"/>
                </a:solidFill>
              </a:rPr>
              <a:t>rent access to everything </a:t>
            </a:r>
            <a:r>
              <a:rPr lang="en-US" dirty="0"/>
              <a:t>from applications to storage from a cloud service provider.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1AAB5-2D09-53B0-0DB5-2F687EBB7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049A928-F9F6-F792-7B01-97B8AF04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818538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8E04B2-0CDC-CFEE-659F-ACD82F9DC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05D6D-3041-3953-8A1C-9FCC76A67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Need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3B100-700C-589A-5418-BDA9CAD4C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Before cloud computing, organizations had to:</a:t>
            </a:r>
          </a:p>
          <a:p>
            <a:pPr lvl="1"/>
            <a:r>
              <a:rPr lang="en-US" dirty="0"/>
              <a:t>Buy and maintain </a:t>
            </a:r>
            <a:r>
              <a:rPr lang="en-US" b="1" dirty="0">
                <a:solidFill>
                  <a:srgbClr val="FF0000"/>
                </a:solidFill>
              </a:rPr>
              <a:t>expensive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hardware and infrastructure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Face </a:t>
            </a:r>
            <a:r>
              <a:rPr lang="en-US" b="1" dirty="0">
                <a:solidFill>
                  <a:srgbClr val="00B0F0"/>
                </a:solidFill>
              </a:rPr>
              <a:t>scalability issues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/>
              <a:t>when demand fluctuated.</a:t>
            </a:r>
          </a:p>
          <a:p>
            <a:pPr lvl="1"/>
            <a:r>
              <a:rPr lang="en-US" dirty="0"/>
              <a:t>Spend significant time in </a:t>
            </a:r>
            <a:r>
              <a:rPr lang="en-US" b="1" dirty="0">
                <a:solidFill>
                  <a:srgbClr val="7030A0"/>
                </a:solidFill>
              </a:rPr>
              <a:t>deployment and maintenance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Handle </a:t>
            </a:r>
            <a:r>
              <a:rPr lang="en-US" b="1" dirty="0">
                <a:solidFill>
                  <a:srgbClr val="FFC000"/>
                </a:solidFill>
              </a:rPr>
              <a:t>security, backup, and disaster recovery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/>
              <a:t>on their own.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CC0909-4C51-B223-AE78-AC7112F7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18DC185-0622-BA19-02B8-B8BE4228C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651491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C912D-912F-ED35-BD11-AC4EF590D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0766-4D68-BC49-E72E-9B484C3F5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Need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EA08D-E099-CDF5-84BB-3C7A0D841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Cloud computing addresses these challenges by providing: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On-demand resources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— access computing power when needed.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Cost efficiency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— pay only for what you use.</a:t>
            </a:r>
          </a:p>
          <a:p>
            <a:pPr lvl="1"/>
            <a:r>
              <a:rPr lang="en-US" b="1" dirty="0">
                <a:solidFill>
                  <a:srgbClr val="00B0F0"/>
                </a:solidFill>
              </a:rPr>
              <a:t>Scalability</a:t>
            </a:r>
            <a:r>
              <a:rPr lang="en-US" dirty="0"/>
              <a:t> — easily scale up or down.</a:t>
            </a:r>
          </a:p>
          <a:p>
            <a:pPr lvl="1"/>
            <a:r>
              <a:rPr lang="en-US" b="1" dirty="0">
                <a:solidFill>
                  <a:srgbClr val="FFC000"/>
                </a:solidFill>
              </a:rPr>
              <a:t>Accessibility</a:t>
            </a:r>
            <a:r>
              <a:rPr lang="en-US" dirty="0"/>
              <a:t> — access from anywhere via the internet.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Focus on core business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— no need to maintain hardware.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startup can deploy its website using AWS or Azure instead of setting up servers physically. This allows them to focus on development and growth.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F9F95-2CC1-E489-37AF-B66DBA8C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FC977FB-070F-73E2-CE2C-7E9DD3E6A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215433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DE3E30-B9F6-956D-FC6E-7A3FC85D9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DCD17-7AEE-0514-B391-3AA08459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NIST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A51B3-EE61-8CD8-6484-71B86FC30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According to the </a:t>
            </a:r>
            <a:r>
              <a:rPr lang="en-US" b="1" dirty="0"/>
              <a:t>National Institute of Standards and Technology (NIST)</a:t>
            </a:r>
            <a:r>
              <a:rPr lang="en-US" dirty="0"/>
              <a:t>,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“Cloud computing is a model for enabling ubiquitous, convenient, on-demand network access to a shared pool of configurable computing resources (e.g., networks, servers, storage, applications, and services) that can be rapidly provisioned and released with minimal management effort or service provider interaction.”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C0554-6487-FC0B-E030-1C601C5C4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91F596A9-86BB-88D1-A076-A107F3C6D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964561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649759-8539-5E5F-6173-1641248D5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30DFA-5800-DADE-42D2-755185FB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NIST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1BCC1-95AF-51CE-3308-D1BDCE4A4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NIST Identifies 5 Essential Characteristics: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On-demand self-service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– Users can provision computing resources automatically.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Broad network access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– Services available over the network through standard mechanisms.</a:t>
            </a:r>
          </a:p>
          <a:p>
            <a:pPr lvl="1"/>
            <a:r>
              <a:rPr lang="en-US" b="1" dirty="0">
                <a:solidFill>
                  <a:srgbClr val="00B0F0"/>
                </a:solidFill>
              </a:rPr>
              <a:t>Resource pooling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/>
              <a:t>– Provider’s resources are shared among multiple users.</a:t>
            </a:r>
          </a:p>
          <a:p>
            <a:pPr lvl="1"/>
            <a:r>
              <a:rPr lang="en-US" b="1" dirty="0">
                <a:solidFill>
                  <a:srgbClr val="FFC000"/>
                </a:solidFill>
              </a:rPr>
              <a:t>Rapid elasticity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/>
              <a:t>– Resources can be scaled up or down quickly.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Measured service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– Resource usage is monitored and billed based on consumption.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085D58-CC2C-4068-C64D-E14642B8A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E55035FE-E1DE-34F0-43E0-97536815A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524788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32280B-A862-085B-193F-47F034D76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5DB4F-CD6F-4970-A79E-D1C78355A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Computing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D2423-0E45-6D25-4CB8-C08384A2B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Elasticity</a:t>
            </a:r>
            <a:r>
              <a:rPr lang="en-US" dirty="0"/>
              <a:t> – Expand or shrink resources dynamically.</a:t>
            </a:r>
          </a:p>
          <a:p>
            <a:r>
              <a:rPr lang="en-US" b="1" dirty="0">
                <a:solidFill>
                  <a:srgbClr val="00B050"/>
                </a:solidFill>
              </a:rPr>
              <a:t>Service-based model </a:t>
            </a:r>
            <a:r>
              <a:rPr lang="en-US" dirty="0"/>
              <a:t>– Services delivered as SaaS, PaaS, or IaaS.</a:t>
            </a:r>
          </a:p>
          <a:p>
            <a:r>
              <a:rPr lang="en-US" b="1" dirty="0">
                <a:solidFill>
                  <a:srgbClr val="00B0F0"/>
                </a:solidFill>
              </a:rPr>
              <a:t>Multi-tenancy</a:t>
            </a:r>
            <a:r>
              <a:rPr lang="en-US" dirty="0"/>
              <a:t> – Multiple customers share resources securely.</a:t>
            </a:r>
          </a:p>
          <a:p>
            <a:r>
              <a:rPr lang="en-US" b="1" dirty="0">
                <a:solidFill>
                  <a:srgbClr val="FFC000"/>
                </a:solidFill>
              </a:rPr>
              <a:t>Automation</a:t>
            </a:r>
            <a:r>
              <a:rPr lang="en-US" dirty="0"/>
              <a:t> – Reduced manual intervention.</a:t>
            </a:r>
          </a:p>
          <a:p>
            <a:r>
              <a:rPr lang="en-US" b="1" dirty="0">
                <a:solidFill>
                  <a:srgbClr val="7030A0"/>
                </a:solidFill>
              </a:rPr>
              <a:t>Resilience and redundancy </a:t>
            </a:r>
            <a:r>
              <a:rPr lang="en-US" dirty="0"/>
              <a:t>– Built-in fault tolerance.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BB853F-905A-8C03-BA68-7361EB3C0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7C3977F-BA78-5DD7-8341-CAF48201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092144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14CF53-8586-604B-09F0-A830EB0F4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B02C6-1E2E-D376-CE1F-FB83E44A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Computing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38AEA-9933-AFBB-E91F-3FC634221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Cost Savings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– No upfront investment in infrastructure.</a:t>
            </a:r>
          </a:p>
          <a:p>
            <a:r>
              <a:rPr lang="en-US" b="1" dirty="0">
                <a:solidFill>
                  <a:srgbClr val="00B050"/>
                </a:solidFill>
              </a:rPr>
              <a:t>Scalability and Flexibility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– Adjust resources easily as demand changes.</a:t>
            </a:r>
          </a:p>
          <a:p>
            <a:r>
              <a:rPr lang="en-US" b="1" dirty="0">
                <a:solidFill>
                  <a:srgbClr val="00B0F0"/>
                </a:solidFill>
              </a:rPr>
              <a:t>Accessibility</a:t>
            </a:r>
            <a:r>
              <a:rPr lang="en-US" dirty="0"/>
              <a:t> – Access services globally with an internet connection.</a:t>
            </a:r>
          </a:p>
          <a:p>
            <a:r>
              <a:rPr lang="en-US" b="1" dirty="0">
                <a:solidFill>
                  <a:srgbClr val="FFC000"/>
                </a:solidFill>
              </a:rPr>
              <a:t>Automatic Updates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/>
              <a:t>– Cloud providers manage updates and patches.</a:t>
            </a:r>
          </a:p>
          <a:p>
            <a:r>
              <a:rPr lang="en-US" b="1" dirty="0">
                <a:solidFill>
                  <a:srgbClr val="7030A0"/>
                </a:solidFill>
              </a:rPr>
              <a:t>Disaster Recovery and Backup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– Easy data backup and recovery options.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Collaboration</a:t>
            </a:r>
            <a:r>
              <a:rPr lang="en-US" dirty="0"/>
              <a:t> – Multiple users can work on shared resources.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84FC9E-E40F-39E0-03BD-9CAEF9863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AB4DA4D-AC16-14FD-1291-56C1A8ED3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152614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F74588-CA80-2A4D-078B-F027B95F8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8A120-9A77-6EED-8708-14E774BB4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Computing Application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90C6F3-832C-16E5-025E-73BB25F6E5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2819728"/>
              </p:ext>
            </p:extLst>
          </p:nvPr>
        </p:nvGraphicFramePr>
        <p:xfrm>
          <a:off x="838200" y="1704130"/>
          <a:ext cx="10515600" cy="36576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3188110">
                  <a:extLst>
                    <a:ext uri="{9D8B030D-6E8A-4147-A177-3AD203B41FA5}">
                      <a16:colId xmlns:a16="http://schemas.microsoft.com/office/drawing/2014/main" val="3779729676"/>
                    </a:ext>
                  </a:extLst>
                </a:gridCol>
                <a:gridCol w="7327490">
                  <a:extLst>
                    <a:ext uri="{9D8B030D-6E8A-4147-A177-3AD203B41FA5}">
                      <a16:colId xmlns:a16="http://schemas.microsoft.com/office/drawing/2014/main" val="6763978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Domain</a:t>
                      </a:r>
                      <a:endParaRPr lang="en-US" sz="2400" dirty="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Cloud Application Example</a:t>
                      </a:r>
                      <a:endParaRPr lang="en-US" sz="240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973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Business</a:t>
                      </a:r>
                      <a:endParaRPr lang="en-US" sz="2400" dirty="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Salesforce CRM, Zoho, Office 365</a:t>
                      </a:r>
                      <a:endParaRPr lang="en-US" sz="2400" dirty="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606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Education</a:t>
                      </a:r>
                      <a:endParaRPr lang="en-US" sz="240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Google Classroom, Coursera</a:t>
                      </a:r>
                      <a:endParaRPr lang="en-US" sz="240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2199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Healthcare</a:t>
                      </a:r>
                      <a:endParaRPr lang="en-US" sz="2400" dirty="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Electronic Health Records (EHR) hosted on AWS or Azure</a:t>
                      </a:r>
                      <a:endParaRPr lang="en-US" sz="240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017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Entertainment</a:t>
                      </a:r>
                      <a:endParaRPr lang="en-US" sz="240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Netflix, YouTube streaming</a:t>
                      </a:r>
                      <a:endParaRPr lang="en-US" sz="240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964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Software Development</a:t>
                      </a:r>
                      <a:endParaRPr lang="en-US" sz="240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GitHub, Jenkins, AWS CodePipeline</a:t>
                      </a:r>
                      <a:endParaRPr lang="en-US" sz="240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994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Data Storage &amp; Backup</a:t>
                      </a:r>
                      <a:endParaRPr lang="en-US" sz="240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Google Drive, Dropbox</a:t>
                      </a:r>
                      <a:endParaRPr lang="en-US" sz="240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63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Artificial Intelligence</a:t>
                      </a:r>
                      <a:endParaRPr lang="en-US" sz="240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IBM Watson, Google Cloud AI</a:t>
                      </a:r>
                      <a:endParaRPr lang="en-US" sz="2400" dirty="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89285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EB4388-6C80-3503-C02A-5CAEF919C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082E2C73-C8E4-288D-9B30-7AB45F8F1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041566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698854-7E22-90EC-765E-54F09A8B3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33C6A-3C7B-3A81-EE32-ED0771B43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Reference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2F936-0283-2CA2-E799-64E579D35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Cloud Reference Model</a:t>
            </a:r>
            <a:r>
              <a:rPr lang="en-US" dirty="0"/>
              <a:t> provides a </a:t>
            </a:r>
            <a:r>
              <a:rPr lang="en-US" b="1" dirty="0"/>
              <a:t>conceptual framework</a:t>
            </a:r>
            <a:r>
              <a:rPr lang="en-US" dirty="0"/>
              <a:t> that defines the key components, relationships, and interactions in a cloud computing environment. It helps in </a:t>
            </a:r>
            <a:r>
              <a:rPr lang="en-US" b="1" dirty="0"/>
              <a:t>understanding, designing, and implementing</a:t>
            </a:r>
            <a:r>
              <a:rPr lang="en-US" dirty="0"/>
              <a:t> cloud services consistently across different providers.</a:t>
            </a:r>
          </a:p>
          <a:p>
            <a:r>
              <a:rPr lang="en-US" dirty="0"/>
              <a:t>A reference model defines:</a:t>
            </a:r>
          </a:p>
          <a:p>
            <a:pPr lvl="1"/>
            <a:r>
              <a:rPr lang="en-US" b="1" dirty="0"/>
              <a:t>Roles</a:t>
            </a:r>
            <a:r>
              <a:rPr lang="en-US" dirty="0"/>
              <a:t> (provider, consumer, auditor, broker, carrier)</a:t>
            </a:r>
          </a:p>
          <a:p>
            <a:pPr lvl="1"/>
            <a:r>
              <a:rPr lang="en-US" b="1" dirty="0"/>
              <a:t>Service and deployment models</a:t>
            </a:r>
            <a:endParaRPr lang="en-US" dirty="0"/>
          </a:p>
          <a:p>
            <a:pPr lvl="1"/>
            <a:r>
              <a:rPr lang="en-US" b="1" dirty="0"/>
              <a:t>Functional layers</a:t>
            </a:r>
            <a:r>
              <a:rPr lang="en-US" dirty="0"/>
              <a:t> (applications, platforms, infrastructure)</a:t>
            </a:r>
          </a:p>
          <a:p>
            <a:pPr lvl="1"/>
            <a:r>
              <a:rPr lang="en-US" b="1" dirty="0"/>
              <a:t>Management and security components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0F4785-68BB-989F-EA6C-42562DBCB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366F9ADD-30FA-A501-7946-5F2307128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83699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2E232F-37BC-5B12-B2BB-762D18429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7298E-00EB-20CC-50DE-0B528F841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NIST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A275-8072-E5B3-75CC-AE7F6CF64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029"/>
            <a:ext cx="3837039" cy="4623934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NIST Reference Architecture</a:t>
            </a:r>
            <a:r>
              <a:rPr lang="en-US" dirty="0"/>
              <a:t> (published by the </a:t>
            </a:r>
            <a:r>
              <a:rPr lang="en-US" i="1" dirty="0"/>
              <a:t>National Institute of Standards and Technology</a:t>
            </a:r>
            <a:r>
              <a:rPr lang="en-US" dirty="0"/>
              <a:t>) defines the </a:t>
            </a:r>
            <a:r>
              <a:rPr lang="en-US" b="1" dirty="0"/>
              <a:t>main actors</a:t>
            </a:r>
            <a:r>
              <a:rPr lang="en-US" dirty="0"/>
              <a:t> and their </a:t>
            </a:r>
            <a:r>
              <a:rPr lang="en-US" b="1" dirty="0"/>
              <a:t>interactions</a:t>
            </a:r>
            <a:r>
              <a:rPr lang="en-US" dirty="0"/>
              <a:t> within a cloud ecosystem.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85D0C-27A2-13E2-3F9F-C9BC77C14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8E22EAF6-A6FB-9814-70E8-2310523D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BE8565-24AF-EF0A-5B46-2A7BB2189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667521"/>
              </p:ext>
            </p:extLst>
          </p:nvPr>
        </p:nvGraphicFramePr>
        <p:xfrm>
          <a:off x="4675239" y="1553029"/>
          <a:ext cx="7200900" cy="4663440"/>
        </p:xfrm>
        <a:graphic>
          <a:graphicData uri="http://schemas.openxmlformats.org/drawingml/2006/table">
            <a:tbl>
              <a:tblPr/>
              <a:tblGrid>
                <a:gridCol w="2101031">
                  <a:extLst>
                    <a:ext uri="{9D8B030D-6E8A-4147-A177-3AD203B41FA5}">
                      <a16:colId xmlns:a16="http://schemas.microsoft.com/office/drawing/2014/main" val="4001792980"/>
                    </a:ext>
                  </a:extLst>
                </a:gridCol>
                <a:gridCol w="5099869">
                  <a:extLst>
                    <a:ext uri="{9D8B030D-6E8A-4147-A177-3AD203B41FA5}">
                      <a16:colId xmlns:a16="http://schemas.microsoft.com/office/drawing/2014/main" val="3513095415"/>
                    </a:ext>
                  </a:extLst>
                </a:gridCol>
              </a:tblGrid>
              <a:tr h="270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"/>
                        </a:rPr>
                        <a:t>Role</a:t>
                      </a:r>
                      <a:endParaRPr lang="en-US">
                        <a:latin typeface="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"/>
                        </a:rPr>
                        <a:t>Description</a:t>
                      </a:r>
                      <a:endParaRPr lang="en-US">
                        <a:latin typeface="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979578"/>
                  </a:ext>
                </a:extLst>
              </a:tr>
              <a:tr h="473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"/>
                        </a:rPr>
                        <a:t>Cloud Consumer</a:t>
                      </a:r>
                      <a:endParaRPr lang="en-US" dirty="0">
                        <a:latin typeface="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"/>
                        </a:rPr>
                        <a:t>The person or organization that uses cloud services (e.g., runs applications or stores data).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7687267"/>
                  </a:ext>
                </a:extLst>
              </a:tr>
              <a:tr h="473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"/>
                        </a:rPr>
                        <a:t>Cloud Provider</a:t>
                      </a:r>
                      <a:endParaRPr lang="en-US" dirty="0">
                        <a:latin typeface="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"/>
                        </a:rPr>
                        <a:t>The entity responsible for making cloud services available to consumers (e.g., AWS, Azure, GCP).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862614"/>
                  </a:ext>
                </a:extLst>
              </a:tr>
              <a:tr h="676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"/>
                        </a:rPr>
                        <a:t>Cloud Broker</a:t>
                      </a:r>
                      <a:endParaRPr lang="en-US">
                        <a:latin typeface="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"/>
                        </a:rPr>
                        <a:t>Manages the use, performance, and delivery of cloud services, and negotiates relationships between providers and consumers.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492846"/>
                  </a:ext>
                </a:extLst>
              </a:tr>
              <a:tr h="676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"/>
                        </a:rPr>
                        <a:t>Cloud Carrier</a:t>
                      </a:r>
                      <a:endParaRPr lang="en-US">
                        <a:latin typeface="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"/>
                        </a:rPr>
                        <a:t>Provides the connectivity and transport of cloud services from provider to consumer (e.g., ISPs, telecoms).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120753"/>
                  </a:ext>
                </a:extLst>
              </a:tr>
              <a:tr h="473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"/>
                        </a:rPr>
                        <a:t>Cloud Auditor</a:t>
                      </a:r>
                      <a:endParaRPr lang="en-US" dirty="0">
                        <a:latin typeface="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"/>
                        </a:rPr>
                        <a:t>Conducts independent assessments of cloud services, including security, performance, and compliance.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831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9655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16C76-FD15-1375-0FCD-D5E40E670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0333-8637-A23F-B18D-9CB7EFF14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Principles of Cloud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4B8DC-7E29-ACE5-DF78-3788631D6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Designing a robust cloud architecture involves following key </a:t>
            </a:r>
            <a:r>
              <a:rPr lang="en-US" b="1" dirty="0"/>
              <a:t>principles</a:t>
            </a:r>
            <a:r>
              <a:rPr lang="en-US" dirty="0"/>
              <a:t> to ensure scalability, security, performance, and cost-efficiency.</a:t>
            </a:r>
          </a:p>
          <a:p>
            <a:r>
              <a:rPr lang="en-US" b="1" dirty="0"/>
              <a:t>1. Scalability and Elasticity</a:t>
            </a:r>
          </a:p>
          <a:p>
            <a:pPr lvl="1"/>
            <a:r>
              <a:rPr lang="en-US" dirty="0"/>
              <a:t>System should scale horizontally or vertically to handle varying workloads.</a:t>
            </a:r>
          </a:p>
          <a:p>
            <a:pPr lvl="1"/>
            <a:r>
              <a:rPr lang="en-US" dirty="0"/>
              <a:t>Example: Auto-scaling in AWS adjusts instances based on demand.</a:t>
            </a:r>
          </a:p>
          <a:p>
            <a:r>
              <a:rPr lang="en-US" b="1" dirty="0"/>
              <a:t>2. Fault Tolerance and Resilience</a:t>
            </a:r>
          </a:p>
          <a:p>
            <a:pPr lvl="1"/>
            <a:r>
              <a:rPr lang="en-US" dirty="0"/>
              <a:t>The architecture should continue functioning even when components fail.</a:t>
            </a:r>
          </a:p>
          <a:p>
            <a:pPr lvl="1"/>
            <a:r>
              <a:rPr lang="en-US" dirty="0"/>
              <a:t>Use redundancy, failover systems, and multiple availability zones.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79EC30-1CFB-B174-1F1E-E073D1735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8028850C-2F3E-A1EB-8082-510B99E4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133753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824D61-3F71-8905-76C3-DCDA6ABF4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0AA6D-D2E7-23F6-A60B-91519D52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Principles of Cloud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6A95B-89BC-9C54-A197-485BE4E5E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Security by Design</a:t>
            </a:r>
          </a:p>
          <a:p>
            <a:pPr lvl="1"/>
            <a:r>
              <a:rPr lang="en-US" dirty="0"/>
              <a:t>Implement Identity and Access Management (IAM), encryption, and network isolation from the start.</a:t>
            </a:r>
          </a:p>
          <a:p>
            <a:pPr lvl="1"/>
            <a:r>
              <a:rPr lang="en-US" dirty="0"/>
              <a:t>Use Zero Trust principles for enhanced security.</a:t>
            </a:r>
          </a:p>
          <a:p>
            <a:r>
              <a:rPr lang="en-US" b="1" dirty="0"/>
              <a:t>4. Loose Coupling</a:t>
            </a:r>
          </a:p>
          <a:p>
            <a:pPr lvl="1"/>
            <a:r>
              <a:rPr lang="en-US" dirty="0"/>
              <a:t>Components should be independent so that a failure in one doesn’t affect others.</a:t>
            </a:r>
          </a:p>
          <a:p>
            <a:pPr lvl="1"/>
            <a:r>
              <a:rPr lang="en-US" dirty="0"/>
              <a:t>Enables microservices-based design.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5C7966-B638-70E3-64F3-D26910431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45430052-3D3E-AA80-7824-8E30C20F5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01839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CC7DB-E8FA-D70F-5B8A-51C23528C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A10F-88AE-7E1A-1435-E549260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Principles of Cloud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BC6A6-D9B6-903E-BBF8-10D3151E7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5. Automation</a:t>
            </a:r>
          </a:p>
          <a:p>
            <a:pPr lvl="1"/>
            <a:r>
              <a:rPr lang="en-US" dirty="0"/>
              <a:t>Automate deployment, scaling, and recovery using Infrastructure as Code (</a:t>
            </a:r>
            <a:r>
              <a:rPr lang="en-US" dirty="0" err="1"/>
              <a:t>IaC</a:t>
            </a:r>
            <a:r>
              <a:rPr lang="en-US" dirty="0"/>
              <a:t>) tools (e.g., Terraform, CloudFormation).</a:t>
            </a:r>
          </a:p>
          <a:p>
            <a:r>
              <a:rPr lang="en-US" b="1" dirty="0"/>
              <a:t>6. Cost Optimization</a:t>
            </a:r>
          </a:p>
          <a:p>
            <a:pPr lvl="1"/>
            <a:r>
              <a:rPr lang="en-US" dirty="0"/>
              <a:t>Use pay-per-use and auto-shutdown policies for unused resources.</a:t>
            </a:r>
          </a:p>
          <a:p>
            <a:pPr lvl="1"/>
            <a:r>
              <a:rPr lang="en-US" dirty="0"/>
              <a:t>Choose storage and compute tiers wisely.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47E6DA-3B99-727E-78EF-03FBD87B4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E35CCE5-C320-EFDC-B2DF-4D76AD880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424153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5A88D4-0023-0A86-E9D5-379C5C3C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8ECB1-AE3C-CB8E-90E7-77EC46B40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Principles of Cloud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A0C6A-1E27-D82D-F1D4-D800C3DA3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7. Performance Efficiency</a:t>
            </a:r>
          </a:p>
          <a:p>
            <a:pPr lvl="1"/>
            <a:r>
              <a:rPr lang="en-US" dirty="0"/>
              <a:t>Monitor workloads, use caching, and optimize compute instance types.</a:t>
            </a:r>
          </a:p>
          <a:p>
            <a:r>
              <a:rPr lang="en-US" b="1" dirty="0"/>
              <a:t>8. Service Availability and Redundancy</a:t>
            </a:r>
          </a:p>
          <a:p>
            <a:pPr lvl="1"/>
            <a:r>
              <a:rPr lang="en-US" dirty="0"/>
              <a:t>Use load balancers and replication to ensure uptime.</a:t>
            </a:r>
          </a:p>
          <a:p>
            <a:r>
              <a:rPr lang="en-US" b="1" dirty="0"/>
              <a:t>Example: </a:t>
            </a:r>
            <a:r>
              <a:rPr lang="en-US" dirty="0"/>
              <a:t>Netflix follows a </a:t>
            </a:r>
            <a:r>
              <a:rPr lang="en-US" b="1" dirty="0"/>
              <a:t>cloud-native design</a:t>
            </a:r>
            <a:r>
              <a:rPr lang="en-US" dirty="0"/>
              <a:t> with microservices, auto-scaling, redundancy across multiple AWS regions, and automated recovery to ensure continuous availability.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74188-8979-DBAF-7ECF-A0A919F7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48501A44-4F72-23FE-F50F-871C5E2DC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752111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4093EF-59E0-8216-7DB2-1EF72B417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CC458-F1F8-B516-80D7-51F93D175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Infrastructural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E8298-0DE8-71D2-9834-CA5A0320C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designing cloud architecture, </a:t>
            </a:r>
            <a:r>
              <a:rPr lang="en-US" b="1" dirty="0"/>
              <a:t>infrastructural constraints</a:t>
            </a:r>
            <a:r>
              <a:rPr lang="en-US" dirty="0"/>
              <a:t> must be considered to ensure smooth operation, cost control, and performance optimization.</a:t>
            </a:r>
          </a:p>
          <a:p>
            <a:r>
              <a:rPr lang="en-US" b="1" dirty="0"/>
              <a:t>1. Network Constraints</a:t>
            </a:r>
          </a:p>
          <a:p>
            <a:pPr lvl="1"/>
            <a:r>
              <a:rPr lang="en-US" b="1" dirty="0"/>
              <a:t>Bandwidth limitations</a:t>
            </a:r>
            <a:r>
              <a:rPr lang="en-US" dirty="0"/>
              <a:t> can affect latency and data transfer.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Content Delivery Networks (CDNs)</a:t>
            </a:r>
            <a:r>
              <a:rPr lang="en-US" dirty="0"/>
              <a:t> and </a:t>
            </a:r>
            <a:r>
              <a:rPr lang="en-US" b="1" dirty="0"/>
              <a:t>edge computing</a:t>
            </a:r>
            <a:r>
              <a:rPr lang="en-US" dirty="0"/>
              <a:t> to reduce delays.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9C988-3AF4-CCF6-1D7B-FC943F4B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DAB5CF2B-2E8D-F077-243B-8D9F47DF0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684733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9B6FB9-2BFF-B9FE-F507-F760CDF49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9B9ED-0188-D523-42BD-BDABE1A58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Infrastructural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51997-5232-46E1-95DF-C87C30B5C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2. Storage Constraints</a:t>
            </a:r>
          </a:p>
          <a:p>
            <a:pPr lvl="1"/>
            <a:r>
              <a:rPr lang="en-US" dirty="0"/>
              <a:t>Data storage capacity, speed, and durability can affect performance.</a:t>
            </a:r>
          </a:p>
          <a:p>
            <a:pPr lvl="1"/>
            <a:r>
              <a:rPr lang="en-US" dirty="0"/>
              <a:t>Choosing between </a:t>
            </a:r>
            <a:r>
              <a:rPr lang="en-US" b="1" dirty="0"/>
              <a:t>object, block, or file storage</a:t>
            </a:r>
            <a:r>
              <a:rPr lang="en-US" dirty="0"/>
              <a:t> depends on use case.</a:t>
            </a:r>
          </a:p>
          <a:p>
            <a:r>
              <a:rPr lang="en-US" b="1" dirty="0"/>
              <a:t>3. Compute Constraints</a:t>
            </a:r>
          </a:p>
          <a:p>
            <a:pPr lvl="1"/>
            <a:r>
              <a:rPr lang="en-US" dirty="0"/>
              <a:t>CPU, memory, and GPU limits affect application performance.</a:t>
            </a:r>
          </a:p>
          <a:p>
            <a:pPr lvl="1"/>
            <a:r>
              <a:rPr lang="en-US" dirty="0"/>
              <a:t>Use elastic scaling and container orchestration (like Kubernetes) to balance load.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CB0351-5CE4-A8D3-F005-F0F6FF886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55E2E5B5-0365-DC9F-BC9E-FEA254571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900832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4A0C0-603E-2B44-8648-D3D27F7FD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0D3DC-C5AD-DD7F-6E34-46C1A8E15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Infrastructural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012CB-022D-5B4C-946F-393C21074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Geographic Constraints</a:t>
            </a:r>
          </a:p>
          <a:p>
            <a:pPr lvl="1"/>
            <a:r>
              <a:rPr lang="en-US" dirty="0"/>
              <a:t>Data sovereignty laws may require data to be stored in specific regions.</a:t>
            </a:r>
          </a:p>
          <a:p>
            <a:pPr lvl="1"/>
            <a:r>
              <a:rPr lang="en-US" dirty="0"/>
              <a:t>Providers must comply with </a:t>
            </a:r>
            <a:r>
              <a:rPr lang="en-US" b="1" dirty="0"/>
              <a:t>local regulations</a:t>
            </a:r>
            <a:r>
              <a:rPr lang="en-US" dirty="0"/>
              <a:t> like GDPR.</a:t>
            </a:r>
          </a:p>
          <a:p>
            <a:r>
              <a:rPr lang="en-US" b="1" dirty="0"/>
              <a:t>5. Security Constraints</a:t>
            </a:r>
          </a:p>
          <a:p>
            <a:pPr lvl="1"/>
            <a:r>
              <a:rPr lang="en-US" dirty="0"/>
              <a:t>Compliance with security standards (ISO 27001, SOC 2, etc.).</a:t>
            </a:r>
          </a:p>
          <a:p>
            <a:pPr lvl="1"/>
            <a:r>
              <a:rPr lang="en-US" dirty="0"/>
              <a:t>Network isolation, IAM, encryption, and monitoring must be enforced.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B549D9-6E46-2E68-5914-D5B33A90D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5AA30503-FBF9-2E1B-612B-D4DE4A432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021942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1839D-A94C-A823-FC11-B596E360E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F010-CA9F-7E48-77E5-E1A95235C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Infrastructural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319BC-49CE-3669-AB3F-A04EF3909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6. Cost Constraints</a:t>
            </a:r>
          </a:p>
          <a:p>
            <a:pPr lvl="1"/>
            <a:r>
              <a:rPr lang="en-US" dirty="0"/>
              <a:t>High costs for continuous scaling and storage.</a:t>
            </a:r>
          </a:p>
          <a:p>
            <a:pPr lvl="1"/>
            <a:r>
              <a:rPr lang="en-US" dirty="0"/>
              <a:t>Optimize through reserved instances, right-sizing, and serverless architectures.</a:t>
            </a:r>
          </a:p>
          <a:p>
            <a:r>
              <a:rPr lang="en-US" b="1" dirty="0"/>
              <a:t>7. Integration Constraints</a:t>
            </a:r>
          </a:p>
          <a:p>
            <a:pPr lvl="1"/>
            <a:r>
              <a:rPr lang="en-US" dirty="0"/>
              <a:t>Legacy systems may not easily integrate with cloud services.</a:t>
            </a:r>
          </a:p>
          <a:p>
            <a:pPr lvl="1"/>
            <a:r>
              <a:rPr lang="en-US" dirty="0"/>
              <a:t>Use APIs, middleware, or hybrid cloud setups for smoother transitions.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C31AC-E631-7CC1-B9D4-8E7B25858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94C4031C-4F0B-AC52-ECC6-74CE3B75D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842990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60234B-B5E7-354C-8ED7-ADE3E7B08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0138-3F3C-20FC-348E-71467DBD4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Evolution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C5050-A638-A3D9-365D-4145A71BC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concept of </a:t>
            </a:r>
            <a:r>
              <a:rPr lang="en-US" b="1" dirty="0"/>
              <a:t>Cloud Computing</a:t>
            </a:r>
            <a:r>
              <a:rPr lang="en-US" dirty="0"/>
              <a:t> did not appear overnight — it evolved through decades of advancements in </a:t>
            </a:r>
            <a:r>
              <a:rPr lang="en-US" b="1" dirty="0"/>
              <a:t>networking, distributed systems, virtualization, and the internet</a:t>
            </a:r>
            <a:r>
              <a:rPr lang="en-US" dirty="0"/>
              <a:t>.</a:t>
            </a:r>
          </a:p>
          <a:p>
            <a:r>
              <a:rPr lang="en-US" dirty="0"/>
              <a:t>This evolution reflects humanity’s shift from </a:t>
            </a:r>
            <a:r>
              <a:rPr lang="en-US" b="1" dirty="0"/>
              <a:t>owning computing resources</a:t>
            </a:r>
            <a:r>
              <a:rPr lang="en-US" dirty="0"/>
              <a:t> to </a:t>
            </a:r>
            <a:r>
              <a:rPr lang="en-US" b="1" dirty="0"/>
              <a:t>renting them as services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6A8A7-4BAF-EE89-19DE-B9BDF2F5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F91866AC-E6A3-C15D-B8B9-1FF62CD2B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319030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9862EC-5E2F-426F-054D-72FCB4124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485C-C3E1-75CE-7B53-11F6D66BC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Evolution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2BB7C-A5A0-8712-82A2-A4BDBD9F6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1. 1950s–1960s: The Foundation — Mainframe and Time-Sharing</a:t>
            </a:r>
          </a:p>
          <a:p>
            <a:r>
              <a:rPr lang="en-US" b="1" dirty="0"/>
              <a:t>Mainframes</a:t>
            </a:r>
            <a:r>
              <a:rPr lang="en-US" dirty="0"/>
              <a:t> were large, powerful computers used by organizations.</a:t>
            </a:r>
          </a:p>
          <a:p>
            <a:r>
              <a:rPr lang="en-US" dirty="0"/>
              <a:t>Users accessed them through </a:t>
            </a:r>
            <a:r>
              <a:rPr lang="en-US" b="1" dirty="0"/>
              <a:t>dumb terminals</a:t>
            </a:r>
            <a:r>
              <a:rPr lang="en-US" dirty="0"/>
              <a:t> (no processing power of their own).</a:t>
            </a:r>
          </a:p>
          <a:p>
            <a:r>
              <a:rPr lang="en-US" b="1" dirty="0"/>
              <a:t>Time-sharing</a:t>
            </a:r>
            <a:r>
              <a:rPr lang="en-US" dirty="0"/>
              <a:t> was introduced — allowing multiple users to share computing resources simultaneously.</a:t>
            </a:r>
          </a:p>
          <a:p>
            <a:r>
              <a:rPr lang="en-US" i="1" dirty="0"/>
              <a:t>Example:</a:t>
            </a:r>
            <a:r>
              <a:rPr lang="en-US" dirty="0"/>
              <a:t> IBM developed </a:t>
            </a:r>
            <a:r>
              <a:rPr lang="en-US" b="1" dirty="0"/>
              <a:t>mainframes</a:t>
            </a:r>
            <a:r>
              <a:rPr lang="en-US" dirty="0"/>
              <a:t> that multiple users could access remotely.</a:t>
            </a:r>
          </a:p>
          <a:p>
            <a:r>
              <a:rPr lang="en-US" b="1" dirty="0"/>
              <a:t>Concept introduced:</a:t>
            </a:r>
            <a:r>
              <a:rPr lang="en-US" dirty="0"/>
              <a:t> Shared computing resources → early form of “cloud thinking”.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AC296-6FF3-AC22-1AB3-F6DC8217F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A3FD4EF2-A749-2784-99F7-77C596311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8904071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4A401A-E687-CFD9-350A-B258D713F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B9A09-4D2A-099E-CEBD-D454AC3FA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Evolution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15D2B-4490-D563-5B4D-495654BE3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2. 1970s–1980s: Virtualization and Networking</a:t>
            </a:r>
          </a:p>
          <a:p>
            <a:r>
              <a:rPr lang="en-US" dirty="0"/>
              <a:t>The concept of </a:t>
            </a:r>
            <a:r>
              <a:rPr lang="en-US" b="1" dirty="0"/>
              <a:t>virtual machines (VMs)</a:t>
            </a:r>
            <a:r>
              <a:rPr lang="en-US" dirty="0"/>
              <a:t> emerged — enabling multiple operating systems to run on one physical machine.</a:t>
            </a:r>
          </a:p>
          <a:p>
            <a:r>
              <a:rPr lang="en-US" dirty="0"/>
              <a:t>IBM introduced </a:t>
            </a:r>
            <a:r>
              <a:rPr lang="en-US" b="1" dirty="0"/>
              <a:t>VM Operating System (VM/370)</a:t>
            </a:r>
            <a:r>
              <a:rPr lang="en-US" dirty="0"/>
              <a:t>.</a:t>
            </a:r>
          </a:p>
          <a:p>
            <a:r>
              <a:rPr lang="en-US" b="1" dirty="0"/>
              <a:t>ARPANET</a:t>
            </a:r>
            <a:r>
              <a:rPr lang="en-US" dirty="0"/>
              <a:t>, the precursor to the internet, was developed.</a:t>
            </a:r>
          </a:p>
          <a:p>
            <a:r>
              <a:rPr lang="en-US" i="1" dirty="0"/>
              <a:t>Impact:</a:t>
            </a:r>
            <a:r>
              <a:rPr lang="en-US" dirty="0"/>
              <a:t> Provided the </a:t>
            </a:r>
            <a:r>
              <a:rPr lang="en-US" b="1" dirty="0"/>
              <a:t>technical foundation</a:t>
            </a:r>
            <a:r>
              <a:rPr lang="en-US" dirty="0"/>
              <a:t> for cloud — virtualization and network connectivity.</a:t>
            </a:r>
          </a:p>
          <a:p>
            <a:r>
              <a:rPr lang="en-US" b="1" dirty="0"/>
              <a:t>Key Idea:</a:t>
            </a:r>
            <a:r>
              <a:rPr lang="en-US" dirty="0"/>
              <a:t> Compute power became </a:t>
            </a:r>
            <a:r>
              <a:rPr lang="en-US" b="1" dirty="0"/>
              <a:t>abstracted and shareable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26BCD3-E872-B402-C35A-6ABF15FBA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4133043F-98F5-A768-0B67-9735B2E73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480148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CA6CE2-47C6-FD86-FC72-BAB0B2DEF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19359-49BE-967A-8C16-6346CE003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Evolution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0036D-50BB-70E7-4BAD-3DA611D2C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3. 1990s: Rise of Internet and Web Services</a:t>
            </a:r>
          </a:p>
          <a:p>
            <a:r>
              <a:rPr lang="en-US" dirty="0"/>
              <a:t>The </a:t>
            </a:r>
            <a:r>
              <a:rPr lang="en-US" b="1" dirty="0"/>
              <a:t>World Wide Web (WWW)</a:t>
            </a:r>
            <a:r>
              <a:rPr lang="en-US" dirty="0"/>
              <a:t> became public (Tim Berners-Lee, 1991).</a:t>
            </a:r>
          </a:p>
          <a:p>
            <a:r>
              <a:rPr lang="en-US" b="1" dirty="0"/>
              <a:t>Application Service Providers (ASPs)</a:t>
            </a:r>
            <a:r>
              <a:rPr lang="en-US" dirty="0"/>
              <a:t> started offering hosted business applications (like email or CRM).</a:t>
            </a:r>
          </a:p>
          <a:p>
            <a:r>
              <a:rPr lang="en-US" b="1" dirty="0" err="1"/>
              <a:t>Salesforce.com</a:t>
            </a:r>
            <a:r>
              <a:rPr lang="en-US" b="1" dirty="0"/>
              <a:t> (1999)</a:t>
            </a:r>
            <a:r>
              <a:rPr lang="en-US" dirty="0"/>
              <a:t> offered business applications via a simple website — one of the first </a:t>
            </a:r>
            <a:r>
              <a:rPr lang="en-US" b="1" dirty="0"/>
              <a:t>SaaS</a:t>
            </a:r>
            <a:r>
              <a:rPr lang="en-US" dirty="0"/>
              <a:t> (Software as a Service) examples.</a:t>
            </a:r>
          </a:p>
          <a:p>
            <a:r>
              <a:rPr lang="en-US" i="1" dirty="0"/>
              <a:t>Impact:</a:t>
            </a:r>
            <a:r>
              <a:rPr lang="en-US" dirty="0"/>
              <a:t> Demonstrated how </a:t>
            </a:r>
            <a:r>
              <a:rPr lang="en-US" b="1" dirty="0"/>
              <a:t>software could be delivered over the internet</a:t>
            </a:r>
            <a:r>
              <a:rPr lang="en-US" dirty="0"/>
              <a:t> instead of physical installation.</a:t>
            </a:r>
          </a:p>
          <a:p>
            <a:r>
              <a:rPr lang="en-US" b="1" dirty="0"/>
              <a:t>Concept introduced:</a:t>
            </a:r>
            <a:r>
              <a:rPr lang="en-US" dirty="0"/>
              <a:t> Software as a Service (SaaS)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E35B5-C795-BA64-02E1-ED8C23CC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06F1C770-4364-4D89-A059-5EE80F3C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383526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51EF90-C9EB-74FC-F4BC-9A91895FB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33EEA-ED35-3738-2EFD-6517EC20F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Evolution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4B5C9-659F-AFAE-E10A-C2E5FBFF9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4. 2000s: Birth of Modern Cloud Computing</a:t>
            </a:r>
          </a:p>
          <a:p>
            <a:r>
              <a:rPr lang="en-US" b="1" dirty="0"/>
              <a:t>Amazon Web Services (AWS)</a:t>
            </a:r>
            <a:r>
              <a:rPr lang="en-US" dirty="0"/>
              <a:t> launched in </a:t>
            </a:r>
            <a:r>
              <a:rPr lang="en-US" b="1" dirty="0"/>
              <a:t>2006</a:t>
            </a:r>
            <a:r>
              <a:rPr lang="en-US" dirty="0"/>
              <a:t>, introducing </a:t>
            </a:r>
            <a:r>
              <a:rPr lang="en-US" b="1" dirty="0"/>
              <a:t>Elastic Compute Cloud (EC2)</a:t>
            </a:r>
            <a:r>
              <a:rPr lang="en-US" dirty="0"/>
              <a:t> and </a:t>
            </a:r>
            <a:r>
              <a:rPr lang="en-US" b="1" dirty="0"/>
              <a:t>S3 storage</a:t>
            </a:r>
            <a:r>
              <a:rPr lang="en-US" dirty="0"/>
              <a:t>.</a:t>
            </a:r>
          </a:p>
          <a:p>
            <a:r>
              <a:rPr lang="en-US" b="1" dirty="0"/>
              <a:t>Google</a:t>
            </a:r>
            <a:r>
              <a:rPr lang="en-US" dirty="0"/>
              <a:t> and </a:t>
            </a:r>
            <a:r>
              <a:rPr lang="en-US" b="1" dirty="0"/>
              <a:t>Microsoft</a:t>
            </a:r>
            <a:r>
              <a:rPr lang="en-US" dirty="0"/>
              <a:t> followed with </a:t>
            </a:r>
            <a:r>
              <a:rPr lang="en-US" b="1" dirty="0"/>
              <a:t>Google App Engine (2008)</a:t>
            </a:r>
            <a:r>
              <a:rPr lang="en-US" dirty="0"/>
              <a:t> and </a:t>
            </a:r>
            <a:r>
              <a:rPr lang="en-US" b="1" dirty="0"/>
              <a:t>Azure (2010)</a:t>
            </a:r>
            <a:r>
              <a:rPr lang="en-US" dirty="0"/>
              <a:t>.</a:t>
            </a:r>
          </a:p>
          <a:p>
            <a:r>
              <a:rPr lang="en-US" dirty="0"/>
              <a:t>Virtualization, automation, and distributed systems matured rapidly.</a:t>
            </a:r>
          </a:p>
          <a:p>
            <a:r>
              <a:rPr lang="en-US" i="1" dirty="0"/>
              <a:t>Impact:</a:t>
            </a:r>
            <a:r>
              <a:rPr lang="en-US" dirty="0"/>
              <a:t> Organizations began </a:t>
            </a:r>
            <a:r>
              <a:rPr lang="en-US" b="1" dirty="0"/>
              <a:t>outsourcing infrastructure and platforms</a:t>
            </a:r>
            <a:r>
              <a:rPr lang="en-US" dirty="0"/>
              <a:t> to cloud providers.</a:t>
            </a:r>
          </a:p>
          <a:p>
            <a:r>
              <a:rPr lang="en-US" b="1" dirty="0"/>
              <a:t>Concepts introduced:</a:t>
            </a:r>
            <a:r>
              <a:rPr lang="en-US" dirty="0"/>
              <a:t> IaaS (Infrastructure as a Service), PaaS (Platform as a Service)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8264A7-ABD8-D70F-8DF9-75033DA3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5EA4A2B1-3C1A-2873-9C3D-4D5680E7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409919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B70A9-B88F-31F5-C544-46C0137E7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CD25-B14E-FB80-44CE-9E37E3834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Evolution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2926B-BFB5-E7BE-9D59-4C5D0063E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5. 2010s: Cloud Maturity — Hybrid, Multi-Cloud, and Containerization</a:t>
            </a:r>
          </a:p>
          <a:p>
            <a:r>
              <a:rPr lang="en-US" dirty="0"/>
              <a:t>Cloud adoption accelerated across industries.</a:t>
            </a:r>
          </a:p>
          <a:p>
            <a:r>
              <a:rPr lang="en-US" b="1" dirty="0"/>
              <a:t>Hybrid clouds</a:t>
            </a:r>
            <a:r>
              <a:rPr lang="en-US" dirty="0"/>
              <a:t> combined on-premises and public cloud infrastructure.</a:t>
            </a:r>
          </a:p>
          <a:p>
            <a:r>
              <a:rPr lang="en-US" b="1" dirty="0"/>
              <a:t>Docker (2013)</a:t>
            </a:r>
            <a:r>
              <a:rPr lang="en-US" dirty="0"/>
              <a:t> and </a:t>
            </a:r>
            <a:r>
              <a:rPr lang="en-US" b="1" dirty="0"/>
              <a:t>Kubernetes (2014)</a:t>
            </a:r>
            <a:r>
              <a:rPr lang="en-US" dirty="0"/>
              <a:t> revolutionized </a:t>
            </a:r>
            <a:r>
              <a:rPr lang="en-US" b="1" dirty="0"/>
              <a:t>containerization and orchestration</a:t>
            </a:r>
            <a:r>
              <a:rPr lang="en-US" dirty="0"/>
              <a:t>, making applications portable and scalable.</a:t>
            </a:r>
          </a:p>
          <a:p>
            <a:r>
              <a:rPr lang="en-US" b="1" dirty="0"/>
              <a:t>Serverless computing</a:t>
            </a:r>
            <a:r>
              <a:rPr lang="en-US" dirty="0"/>
              <a:t> (e.g., AWS Lambda, 2014) simplified app deployment without managing servers.</a:t>
            </a:r>
          </a:p>
          <a:p>
            <a:r>
              <a:rPr lang="en-US" i="1" dirty="0"/>
              <a:t>Impact:</a:t>
            </a:r>
            <a:r>
              <a:rPr lang="en-US" dirty="0"/>
              <a:t> Cloud became </a:t>
            </a:r>
            <a:r>
              <a:rPr lang="en-US" b="1" dirty="0"/>
              <a:t>flexible, automated, and developer-friendly</a:t>
            </a:r>
            <a:r>
              <a:rPr lang="en-US" dirty="0"/>
              <a:t>.</a:t>
            </a:r>
          </a:p>
          <a:p>
            <a:r>
              <a:rPr lang="en-US" b="1" dirty="0"/>
              <a:t>Concepts introduced:</a:t>
            </a:r>
            <a:r>
              <a:rPr lang="en-US" dirty="0"/>
              <a:t> Hybrid Cloud, Containers, Serverless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8723A-EF2E-4381-149C-1ED91D30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4D8F5CC6-CE30-88A5-5ED9-849E2FF2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33846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033A31-E692-AE62-F92E-91D6A771E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922E9-A7E2-2D4B-ED17-03B95E199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Evolution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D3D11-5373-B6A9-0A59-62A9869EA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6. 2020s–Present: Cloud-Native and Edge Computing Era</a:t>
            </a:r>
          </a:p>
          <a:p>
            <a:r>
              <a:rPr lang="en-US" dirty="0"/>
              <a:t>Focus shifted to </a:t>
            </a:r>
            <a:r>
              <a:rPr lang="en-US" b="1" dirty="0"/>
              <a:t>cloud-native development</a:t>
            </a:r>
            <a:r>
              <a:rPr lang="en-US" dirty="0"/>
              <a:t>, </a:t>
            </a:r>
            <a:r>
              <a:rPr lang="en-US" b="1" dirty="0"/>
              <a:t>DevOps</a:t>
            </a:r>
            <a:r>
              <a:rPr lang="en-US" dirty="0"/>
              <a:t>, and </a:t>
            </a:r>
            <a:r>
              <a:rPr lang="en-US" b="1" dirty="0"/>
              <a:t>microservices</a:t>
            </a:r>
            <a:r>
              <a:rPr lang="en-US" dirty="0"/>
              <a:t>.</a:t>
            </a:r>
          </a:p>
          <a:p>
            <a:r>
              <a:rPr lang="en-US" dirty="0"/>
              <a:t>Rise of </a:t>
            </a:r>
            <a:r>
              <a:rPr lang="en-US" b="1" dirty="0"/>
              <a:t>AI and ML as a Service</a:t>
            </a:r>
            <a:r>
              <a:rPr lang="en-US" dirty="0"/>
              <a:t> (e.g., Azure AI, Google Vertex AI).</a:t>
            </a:r>
          </a:p>
          <a:p>
            <a:r>
              <a:rPr lang="en-US" b="1" dirty="0"/>
              <a:t>Edge and Fog Computing</a:t>
            </a:r>
            <a:r>
              <a:rPr lang="en-US" dirty="0"/>
              <a:t> emerged to process data closer to users for faster response.</a:t>
            </a:r>
          </a:p>
          <a:p>
            <a:r>
              <a:rPr lang="en-US" b="1" dirty="0"/>
              <a:t>Multi-cloud strategies</a:t>
            </a:r>
            <a:r>
              <a:rPr lang="en-US" dirty="0"/>
              <a:t> are common — using AWS, Azure, and GCP together for resilience.</a:t>
            </a:r>
          </a:p>
          <a:p>
            <a:r>
              <a:rPr lang="en-US" i="1" dirty="0"/>
              <a:t>Impact:</a:t>
            </a:r>
            <a:r>
              <a:rPr lang="en-US" dirty="0"/>
              <a:t> Cloud became the </a:t>
            </a:r>
            <a:r>
              <a:rPr lang="en-US" b="1" dirty="0"/>
              <a:t>backbone of modern IT ecosystems</a:t>
            </a:r>
            <a:r>
              <a:rPr lang="en-US" dirty="0"/>
              <a:t>, integrating IoT, AI, and big data.</a:t>
            </a:r>
          </a:p>
          <a:p>
            <a:r>
              <a:rPr lang="en-US" b="1" dirty="0"/>
              <a:t>Concepts introduced:</a:t>
            </a:r>
            <a:r>
              <a:rPr lang="en-US" dirty="0"/>
              <a:t> Cloud-native, Edge computing, Multi-cloud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11F71-E86C-655C-8801-16FD37228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E8CCF8F1-52DE-AE99-474E-44B8BCFDF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1225380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B7271C-2C2A-527C-4B31-E1FEA0C8E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B3C58-1E31-1E7F-827D-6F6B61C3F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Evolution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47F1D-F328-A063-A2F3-90C68035A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computing evolved from </a:t>
            </a:r>
            <a:r>
              <a:rPr lang="en-US" b="1" dirty="0"/>
              <a:t>centralized computing</a:t>
            </a:r>
            <a:r>
              <a:rPr lang="en-US" dirty="0"/>
              <a:t> → </a:t>
            </a:r>
            <a:r>
              <a:rPr lang="en-US" b="1" dirty="0"/>
              <a:t>virtualized distributed systems</a:t>
            </a:r>
            <a:r>
              <a:rPr lang="en-US" dirty="0"/>
              <a:t> → </a:t>
            </a:r>
            <a:r>
              <a:rPr lang="en-US" b="1" dirty="0"/>
              <a:t>on-demand internet-based services</a:t>
            </a:r>
            <a:r>
              <a:rPr lang="en-US" dirty="0"/>
              <a:t> → </a:t>
            </a:r>
            <a:r>
              <a:rPr lang="en-US" b="1" dirty="0"/>
              <a:t>intelligent, scalable, multi-cloud ecosystems</a:t>
            </a:r>
            <a:r>
              <a:rPr lang="en-US" dirty="0"/>
              <a:t>.</a:t>
            </a:r>
          </a:p>
          <a:p>
            <a:r>
              <a:rPr lang="en-US" dirty="0"/>
              <a:t>It continues to evolve, enabling innovations in </a:t>
            </a:r>
            <a:r>
              <a:rPr lang="en-US" b="1" dirty="0"/>
              <a:t>AI, IoT, and data analytics</a:t>
            </a:r>
            <a:r>
              <a:rPr lang="en-US" dirty="0"/>
              <a:t>, shaping the future of digital infrastructure.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50D928-8485-33B4-BC4A-61F0EF26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99EAA999-F929-55BF-1F94-F87AC6C9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9442451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7E97A-84A7-63A3-4E35-26E3C1B4A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104FC-E73B-433F-8E9C-063DC9B33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Service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89C3F-E4A8-6A6D-8C9B-66C686F0F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Software as a Service (IaaS):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Delivers software applications over the internet.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Google Workspace, Salesforce.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Platform as a Service (PaaS):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Provides a platform for developers to build, deploy, and manage applications.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Google App Engine, Microsoft Azure App Services.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Infrastructure as a Service (SaaS):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Provides virtualized computing resources like servers, storage, and networking.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AWS EC2, Google Compute Engine.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1AAB5-2D09-53B0-0DB5-2F687EBB7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049A928-F9F6-F792-7B01-97B8AF04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463355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E04B2-0CDC-CFEE-659F-ACD82F9DC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05D6D-3041-3953-8A1C-9FCC76A67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3B100-700C-589A-5418-BDA9CAD4C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SaaS delivers </a:t>
            </a:r>
            <a:r>
              <a:rPr lang="en-US" b="1" dirty="0"/>
              <a:t>fully functional software applications </a:t>
            </a:r>
            <a:r>
              <a:rPr lang="en-US" dirty="0"/>
              <a:t>over the internet, accessible via web browsers or APIs.</a:t>
            </a:r>
          </a:p>
          <a:p>
            <a:r>
              <a:rPr lang="en-US" dirty="0"/>
              <a:t>Users do not need to manage hardware, software updates, or infrastructure.</a:t>
            </a:r>
          </a:p>
          <a:p>
            <a:r>
              <a:rPr lang="en-US" b="1" dirty="0"/>
              <a:t>Subscription-based pricing </a:t>
            </a:r>
            <a:r>
              <a:rPr lang="en-US" dirty="0"/>
              <a:t>(monthly or yearly).</a:t>
            </a:r>
          </a:p>
          <a:p>
            <a:r>
              <a:rPr lang="en-US" b="1" dirty="0"/>
              <a:t>Easy accessibility </a:t>
            </a:r>
            <a:r>
              <a:rPr lang="en-US" dirty="0"/>
              <a:t>across devices with an internet connection.</a:t>
            </a:r>
          </a:p>
          <a:p>
            <a:r>
              <a:rPr lang="en-US" b="1" dirty="0"/>
              <a:t>Managed security, updates</a:t>
            </a:r>
            <a:r>
              <a:rPr lang="en-US" dirty="0"/>
              <a:t>, and backups by the service provider.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CC0909-4C51-B223-AE78-AC7112F7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18DC185-0622-BA19-02B8-B8BE4228C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3281436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2D388-906C-336C-5F4D-253F4CB78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E0943-135D-B314-DEAD-C84BDBB00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C1D26-DD4F-8F8F-92A6-1FE104383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Google Workspace (formerly G Suite): </a:t>
            </a:r>
            <a:r>
              <a:rPr lang="en-US" dirty="0"/>
              <a:t>Includes Gmail, Google Drive, Docs, and more.</a:t>
            </a:r>
          </a:p>
          <a:p>
            <a:pPr lvl="1"/>
            <a:r>
              <a:rPr lang="en-US" b="1" dirty="0"/>
              <a:t>Salesforce</a:t>
            </a:r>
            <a:r>
              <a:rPr lang="en-US" dirty="0"/>
              <a:t>: A CRM platform for managing customer relationships and sales.</a:t>
            </a:r>
          </a:p>
          <a:p>
            <a:r>
              <a:rPr lang="en-US" b="1" dirty="0"/>
              <a:t>Common Use Cases:</a:t>
            </a:r>
          </a:p>
          <a:p>
            <a:pPr lvl="1"/>
            <a:r>
              <a:rPr lang="en-US" dirty="0"/>
              <a:t>Productivity tools for businesses.</a:t>
            </a:r>
          </a:p>
          <a:p>
            <a:pPr lvl="1"/>
            <a:r>
              <a:rPr lang="en-US" dirty="0"/>
              <a:t>Collaboration and communication platforms.</a:t>
            </a:r>
          </a:p>
          <a:p>
            <a:pPr lvl="1"/>
            <a:r>
              <a:rPr lang="en-US" dirty="0"/>
              <a:t>CRM and ERP software.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300B3-0B16-ED71-8D43-4535E38FB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BFD95172-51DA-DFFC-3C49-E2DFC196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9644328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A8A8F-A3A2-66CA-9699-91DDEA38C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0F708-ED9D-83EA-3C24-4D3BDFAF3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CD24E-AA0A-6BFD-35A1-7C94D7647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User Manages:</a:t>
            </a:r>
          </a:p>
          <a:p>
            <a:pPr lvl="1"/>
            <a:r>
              <a:rPr lang="en-US" dirty="0"/>
              <a:t>Only </a:t>
            </a:r>
            <a:r>
              <a:rPr lang="en-US" i="1" dirty="0"/>
              <a:t>data</a:t>
            </a:r>
            <a:r>
              <a:rPr lang="en-US" dirty="0"/>
              <a:t> and </a:t>
            </a:r>
            <a:r>
              <a:rPr lang="en-US" i="1" dirty="0"/>
              <a:t>minor configurations</a:t>
            </a:r>
            <a:r>
              <a:rPr lang="en-US" dirty="0"/>
              <a:t> inside the app</a:t>
            </a:r>
          </a:p>
          <a:p>
            <a:r>
              <a:rPr lang="en-US" b="1" dirty="0"/>
              <a:t>Provider Manages:</a:t>
            </a:r>
          </a:p>
          <a:p>
            <a:pPr lvl="1"/>
            <a:r>
              <a:rPr lang="en-US" dirty="0"/>
              <a:t>Application</a:t>
            </a:r>
          </a:p>
          <a:p>
            <a:pPr lvl="1"/>
            <a:r>
              <a:rPr lang="en-US" dirty="0"/>
              <a:t>Runtime</a:t>
            </a:r>
          </a:p>
          <a:p>
            <a:pPr lvl="1"/>
            <a:r>
              <a:rPr lang="en-US" dirty="0"/>
              <a:t>Middleware</a:t>
            </a:r>
          </a:p>
          <a:p>
            <a:pPr lvl="1"/>
            <a:r>
              <a:rPr lang="en-US" dirty="0"/>
              <a:t>Operating System</a:t>
            </a:r>
          </a:p>
          <a:p>
            <a:pPr lvl="1"/>
            <a:r>
              <a:rPr lang="en-US" dirty="0"/>
              <a:t>Virtualization</a:t>
            </a:r>
          </a:p>
          <a:p>
            <a:pPr lvl="1"/>
            <a:r>
              <a:rPr lang="en-US" dirty="0"/>
              <a:t>Servers, Storage, Networks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279576-EB25-D4B0-B223-C61C18BEE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D364AFC5-A986-3557-930C-42471882C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9151966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E3E30-B9F6-956D-FC6E-7A3FC85D9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DCD17-7AEE-0514-B391-3AA08459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A51B3-EE61-8CD8-6484-71B86FC30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PaaS provides a </a:t>
            </a:r>
            <a:r>
              <a:rPr lang="en-US" b="1" dirty="0"/>
              <a:t>development platform and tools</a:t>
            </a:r>
            <a:r>
              <a:rPr lang="en-US" dirty="0"/>
              <a:t> that allow developers to build, deploy, and manage applications without managing underlying infrastructure.</a:t>
            </a:r>
          </a:p>
          <a:p>
            <a:r>
              <a:rPr lang="en-US" dirty="0"/>
              <a:t>It abstracts infrastructure management, enabling faster development cycles.</a:t>
            </a:r>
          </a:p>
          <a:p>
            <a:r>
              <a:rPr lang="en-US" b="1" dirty="0"/>
              <a:t>Pre-configured environments </a:t>
            </a:r>
            <a:r>
              <a:rPr lang="en-US" dirty="0"/>
              <a:t>for app development.</a:t>
            </a:r>
          </a:p>
          <a:p>
            <a:r>
              <a:rPr lang="en-US" b="1" dirty="0"/>
              <a:t>Built-in</a:t>
            </a:r>
            <a:r>
              <a:rPr lang="en-US" dirty="0"/>
              <a:t> middleware, databases, and runtime environments.</a:t>
            </a:r>
          </a:p>
          <a:p>
            <a:r>
              <a:rPr lang="en-US" dirty="0"/>
              <a:t>Simplified deployment and scalability for apps.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C0554-6487-FC0B-E030-1C601C5C4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91F596A9-86BB-88D1-A076-A107F3C6D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5030584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97FB5-C523-A5E2-6AE8-265B6674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C999B-5E61-64F6-AF35-D10A772C2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0C818-A040-A6E8-88F2-7FA9EA96B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Google App Engine</a:t>
            </a:r>
            <a:r>
              <a:rPr lang="en-US" dirty="0"/>
              <a:t>: A fully managed platform for building and deploying apps.</a:t>
            </a:r>
          </a:p>
          <a:p>
            <a:pPr lvl="1"/>
            <a:r>
              <a:rPr lang="en-US" b="1" dirty="0"/>
              <a:t>Microsoft Azure App Services</a:t>
            </a:r>
            <a:r>
              <a:rPr lang="en-US" dirty="0"/>
              <a:t>: Enables the creation of web, mobile, and API applications.</a:t>
            </a:r>
          </a:p>
          <a:p>
            <a:r>
              <a:rPr lang="en-US" b="1" dirty="0"/>
              <a:t>Common Use Cases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Rapid application development.</a:t>
            </a:r>
          </a:p>
          <a:p>
            <a:pPr lvl="1"/>
            <a:r>
              <a:rPr lang="en-US" dirty="0"/>
              <a:t>Integration of services like databases and messaging systems.</a:t>
            </a:r>
          </a:p>
          <a:p>
            <a:pPr lvl="1"/>
            <a:r>
              <a:rPr lang="en-US" dirty="0"/>
              <a:t>Continuous integration and delivery (CI/CD) pipelines.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C48356-94C5-7316-8589-C2B4ADA80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D46D10DD-B53F-AD46-14A0-9659B6040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5354572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2377F-D55E-A79D-E2F3-17813ADDD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78FD-B4D0-6943-9AD2-B3AD8E977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D07C0-3181-947A-B5F4-2DF821B04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User Manages:</a:t>
            </a:r>
          </a:p>
          <a:p>
            <a:pPr lvl="1"/>
            <a:r>
              <a:rPr lang="en-US" dirty="0"/>
              <a:t>Applications</a:t>
            </a:r>
          </a:p>
          <a:p>
            <a:pPr lvl="1"/>
            <a:r>
              <a:rPr lang="en-US" dirty="0"/>
              <a:t>Data</a:t>
            </a:r>
          </a:p>
          <a:p>
            <a:r>
              <a:rPr lang="en-US" b="1" dirty="0"/>
              <a:t>Provider Manages:</a:t>
            </a:r>
          </a:p>
          <a:p>
            <a:pPr lvl="1"/>
            <a:r>
              <a:rPr lang="en-US" dirty="0"/>
              <a:t>Runtime</a:t>
            </a:r>
          </a:p>
          <a:p>
            <a:pPr lvl="1"/>
            <a:r>
              <a:rPr lang="en-US" dirty="0"/>
              <a:t>Middleware</a:t>
            </a:r>
          </a:p>
          <a:p>
            <a:pPr lvl="1"/>
            <a:r>
              <a:rPr lang="en-US" dirty="0"/>
              <a:t>Operating System</a:t>
            </a:r>
          </a:p>
          <a:p>
            <a:pPr lvl="1"/>
            <a:r>
              <a:rPr lang="en-US" dirty="0"/>
              <a:t>Virtualization</a:t>
            </a:r>
          </a:p>
          <a:p>
            <a:pPr lvl="1"/>
            <a:r>
              <a:rPr lang="en-US" dirty="0"/>
              <a:t>Servers, Storage, Networks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CE249-D1FB-C0B6-1B3E-BD86AE2B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7CC18C03-0858-76E7-D3CD-28E9C7327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6622666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2280B-A862-085B-193F-47F034D76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5DB4F-CD6F-4970-A79E-D1C78355A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IaaS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D2423-0E45-6D25-4CB8-C08384A2B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IaaS provides </a:t>
            </a:r>
            <a:r>
              <a:rPr lang="en-US" b="1" dirty="0"/>
              <a:t>virtualized computing resources </a:t>
            </a:r>
            <a:r>
              <a:rPr lang="en-US" dirty="0"/>
              <a:t>such as servers, storage, and networking infrastructure over the Internet.</a:t>
            </a:r>
          </a:p>
          <a:p>
            <a:r>
              <a:rPr lang="en-US" dirty="0"/>
              <a:t>It is the most fundamental cloud service layer.</a:t>
            </a:r>
          </a:p>
          <a:p>
            <a:r>
              <a:rPr lang="en-US" dirty="0"/>
              <a:t>Offers users to rent and manage infrastructure without owning physical hardware.</a:t>
            </a:r>
          </a:p>
          <a:p>
            <a:r>
              <a:rPr lang="en-US" b="1" dirty="0"/>
              <a:t>Virtual machines (VMs)</a:t>
            </a:r>
            <a:r>
              <a:rPr lang="en-US" dirty="0"/>
              <a:t> with customizable configurations.</a:t>
            </a:r>
          </a:p>
          <a:p>
            <a:r>
              <a:rPr lang="en-US" b="1" dirty="0"/>
              <a:t>Scalability to increase or decrease </a:t>
            </a:r>
            <a:r>
              <a:rPr lang="en-US" dirty="0"/>
              <a:t>resources as needed.</a:t>
            </a:r>
          </a:p>
          <a:p>
            <a:r>
              <a:rPr lang="en-US" dirty="0"/>
              <a:t>On-demand availability with </a:t>
            </a:r>
            <a:r>
              <a:rPr lang="en-US" b="1" dirty="0"/>
              <a:t>pay-as-you-go</a:t>
            </a:r>
            <a:r>
              <a:rPr lang="en-US" dirty="0"/>
              <a:t> pricing models.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BB853F-905A-8C03-BA68-7361EB3C0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7C3977F-BA78-5DD7-8341-CAF48201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9877627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6D605-0243-9499-BA55-42FCB8DC4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17C72-C504-86D3-D525-7D4B02E82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IaaS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D01D5-609F-9D79-831C-0B907457F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Examples:</a:t>
            </a:r>
          </a:p>
          <a:p>
            <a:pPr lvl="1"/>
            <a:r>
              <a:rPr lang="en-US" b="1" dirty="0"/>
              <a:t>AWS EC2:</a:t>
            </a:r>
            <a:r>
              <a:rPr lang="en-US" dirty="0"/>
              <a:t> Elastic Compute Cloud offers scalable virtual servers for computing.</a:t>
            </a:r>
          </a:p>
          <a:p>
            <a:pPr lvl="1"/>
            <a:r>
              <a:rPr lang="en-US" b="1" dirty="0"/>
              <a:t>Google Compute Engine</a:t>
            </a:r>
            <a:r>
              <a:rPr lang="en-US" dirty="0"/>
              <a:t>: Provides virtual machines on Google Cloud Platform.</a:t>
            </a:r>
          </a:p>
          <a:p>
            <a:r>
              <a:rPr lang="en-US" b="1" dirty="0"/>
              <a:t>Common Use Cases:</a:t>
            </a:r>
          </a:p>
          <a:p>
            <a:pPr lvl="1"/>
            <a:r>
              <a:rPr lang="en-US" dirty="0"/>
              <a:t>Hosting websites and applications.</a:t>
            </a:r>
          </a:p>
          <a:p>
            <a:pPr lvl="1"/>
            <a:r>
              <a:rPr lang="en-US" dirty="0"/>
              <a:t>Development and testing environments.</a:t>
            </a:r>
          </a:p>
          <a:p>
            <a:pPr lvl="1"/>
            <a:r>
              <a:rPr lang="en-US" dirty="0"/>
              <a:t>Disaster recovery and data storage.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0CDEA-F5D4-DD41-72D1-A8753A87C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7210B80D-C968-B76F-FEB5-A9F4F2E53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3175307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00F6B-AD8A-C5DC-4ADF-3CC2EDF9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00C4F-4DED-D6A8-0A77-34932C74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IaaS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83FE8-751E-6EAB-A5BF-5B9F52379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User Manages:</a:t>
            </a:r>
          </a:p>
          <a:p>
            <a:pPr lvl="1"/>
            <a:r>
              <a:rPr lang="en-US" dirty="0"/>
              <a:t>OS</a:t>
            </a:r>
          </a:p>
          <a:p>
            <a:pPr lvl="1"/>
            <a:r>
              <a:rPr lang="en-US" dirty="0"/>
              <a:t>Applications</a:t>
            </a:r>
          </a:p>
          <a:p>
            <a:pPr lvl="1"/>
            <a:r>
              <a:rPr lang="en-US" dirty="0"/>
              <a:t>Data</a:t>
            </a:r>
          </a:p>
          <a:p>
            <a:pPr lvl="1"/>
            <a:r>
              <a:rPr lang="en-US" dirty="0"/>
              <a:t>Runtime &amp; Middleware</a:t>
            </a:r>
          </a:p>
          <a:p>
            <a:r>
              <a:rPr lang="en-US" b="1" dirty="0"/>
              <a:t>Provider Manages:</a:t>
            </a:r>
          </a:p>
          <a:p>
            <a:pPr lvl="1"/>
            <a:r>
              <a:rPr lang="en-US" dirty="0"/>
              <a:t>Virtualization</a:t>
            </a:r>
          </a:p>
          <a:p>
            <a:pPr lvl="1"/>
            <a:r>
              <a:rPr lang="en-US" dirty="0"/>
              <a:t>Servers</a:t>
            </a:r>
          </a:p>
          <a:p>
            <a:pPr lvl="1"/>
            <a:r>
              <a:rPr lang="en-US" dirty="0"/>
              <a:t>Storage</a:t>
            </a:r>
          </a:p>
          <a:p>
            <a:pPr lvl="1"/>
            <a:r>
              <a:rPr lang="en-US" dirty="0"/>
              <a:t>Networking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7DE6F-2535-A7CE-7E5A-1FC57728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D7B48B7F-DE7A-1989-0410-4A81358B8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3473569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98854-7E22-90EC-765E-54F09A8B3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33C6A-3C7B-3A81-EE32-ED0771B43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Deployment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2F936-0283-2CA2-E799-64E579D35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deployment models describe </a:t>
            </a:r>
            <a:r>
              <a:rPr lang="en-US" b="1" dirty="0"/>
              <a:t>how</a:t>
            </a:r>
            <a:r>
              <a:rPr lang="en-US" dirty="0"/>
              <a:t> cloud resources are made available to users—who owns them, who can access them, and where they are hosted.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0F4785-68BB-989F-EA6C-42562DBCB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366F9ADD-30FA-A501-7946-5F2307128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5067697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E232F-37BC-5B12-B2BB-762D18429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7298E-00EB-20CC-50DE-0B528F841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Public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A275-8072-E5B3-75CC-AE7F6CF64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b="1" dirty="0"/>
              <a:t>Owned and managed by third-party providers </a:t>
            </a:r>
            <a:r>
              <a:rPr lang="en-US" dirty="0"/>
              <a:t>like AWS, Google Cloud, or Azure.</a:t>
            </a:r>
          </a:p>
          <a:p>
            <a:pPr marL="342900" indent="-342900"/>
            <a:r>
              <a:rPr lang="en-US" dirty="0"/>
              <a:t>Resources are shared among organizations or users.</a:t>
            </a:r>
          </a:p>
          <a:p>
            <a:pPr marL="342900" indent="-342900"/>
            <a:r>
              <a:rPr lang="en-US" dirty="0"/>
              <a:t>Accessible to multiple users over the internet.</a:t>
            </a:r>
          </a:p>
          <a:p>
            <a:pPr marL="342900" indent="-342900"/>
            <a:r>
              <a:rPr lang="en-US" dirty="0"/>
              <a:t>Example: Google Drive, AWS, Microsoft Azure.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85D0C-27A2-13E2-3F9F-C9BC77C14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8E22EAF6-A6FB-9814-70E8-2310523D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1322747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811E3-86BC-68C9-F5CE-9323F6EC3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79019-130E-C7DC-F9B1-7E06A8E54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Public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E64DC-D738-41D1-F89B-9D043F9ECD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Features:</a:t>
            </a:r>
            <a:endParaRPr lang="en-US" dirty="0"/>
          </a:p>
          <a:p>
            <a:pPr lvl="1"/>
            <a:r>
              <a:rPr lang="en-US" dirty="0"/>
              <a:t>Multi-tenant (shared infrastructure)</a:t>
            </a:r>
          </a:p>
          <a:p>
            <a:pPr lvl="1"/>
            <a:r>
              <a:rPr lang="en-US" dirty="0"/>
              <a:t>Pay-as-you-go pricing</a:t>
            </a:r>
          </a:p>
          <a:p>
            <a:pPr lvl="1"/>
            <a:r>
              <a:rPr lang="en-US" dirty="0"/>
              <a:t>No hardware ownership</a:t>
            </a:r>
          </a:p>
          <a:p>
            <a:pPr lvl="1"/>
            <a:r>
              <a:rPr lang="en-US" dirty="0"/>
              <a:t>Global reach &amp; rapid scalability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BD7072-1BD2-46F7-054E-2AF8051EF1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Benefits:</a:t>
            </a:r>
            <a:endParaRPr lang="en-US" dirty="0"/>
          </a:p>
          <a:p>
            <a:pPr lvl="1"/>
            <a:r>
              <a:rPr lang="en-US" dirty="0"/>
              <a:t>Low cost</a:t>
            </a:r>
          </a:p>
          <a:p>
            <a:pPr lvl="1"/>
            <a:r>
              <a:rPr lang="en-US" dirty="0"/>
              <a:t>High scalability</a:t>
            </a:r>
          </a:p>
          <a:p>
            <a:pPr lvl="1"/>
            <a:r>
              <a:rPr lang="en-US" dirty="0"/>
              <a:t>No maintenance burden</a:t>
            </a:r>
          </a:p>
          <a:p>
            <a:r>
              <a:rPr lang="en-US" b="1" dirty="0"/>
              <a:t>Limitations:</a:t>
            </a:r>
            <a:endParaRPr lang="en-US" dirty="0"/>
          </a:p>
          <a:p>
            <a:pPr lvl="1"/>
            <a:r>
              <a:rPr lang="en-US" dirty="0"/>
              <a:t>Less control over infrastructure</a:t>
            </a:r>
          </a:p>
          <a:p>
            <a:pPr lvl="1"/>
            <a:r>
              <a:rPr lang="en-US" dirty="0"/>
              <a:t>Security concerns for sensitive data</a:t>
            </a:r>
          </a:p>
          <a:p>
            <a:endParaRPr lang="en-NP" dirty="0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4BE7449-524A-1BD2-6A6F-2C811A286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1 | Introduction of Cloud Computing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E7163-B843-4E5A-3C5D-7066DBF17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606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16C76-FD15-1375-0FCD-D5E40E670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0333-8637-A23F-B18D-9CB7EFF14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Private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4B8DC-7E29-ACE5-DF78-3788631D6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b="1" dirty="0"/>
              <a:t>Exclusively used by a single organization</a:t>
            </a:r>
            <a:r>
              <a:rPr lang="en-US" dirty="0"/>
              <a:t>.</a:t>
            </a:r>
          </a:p>
          <a:p>
            <a:pPr marL="342900" indent="-342900"/>
            <a:r>
              <a:rPr lang="en-US" dirty="0"/>
              <a:t>Can be hosted on-premises or by a third party, but not shared with others.</a:t>
            </a:r>
          </a:p>
          <a:p>
            <a:pPr marL="342900" indent="-342900"/>
            <a:r>
              <a:rPr lang="en-US" dirty="0"/>
              <a:t>Enhanced Security and Customization.</a:t>
            </a:r>
          </a:p>
          <a:p>
            <a:pPr marL="342900" indent="-342900"/>
            <a:r>
              <a:rPr lang="en-US" dirty="0"/>
              <a:t>Example: Internal company data centers, VMware </a:t>
            </a:r>
            <a:r>
              <a:rPr lang="en-US" dirty="0" err="1"/>
              <a:t>vCloud</a:t>
            </a:r>
            <a:r>
              <a:rPr lang="en-US" dirty="0"/>
              <a:t>, OpenStack Private Cloud, IBM Cloud Private, Banks, Finances, Government Organizations,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79EC30-1CFB-B174-1F1E-E073D1735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8028850C-2F3E-A1EB-8082-510B99E4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2637445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30A62-9476-3EB3-54C0-78954DA64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F8E02-4341-05AD-0AEA-11D4CC7FA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Private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14DB5-6D52-C37F-9372-7805C691BC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Features:</a:t>
            </a:r>
            <a:endParaRPr lang="en-US" dirty="0"/>
          </a:p>
          <a:p>
            <a:pPr lvl="1"/>
            <a:r>
              <a:rPr lang="en-US" dirty="0"/>
              <a:t>Single-tenant</a:t>
            </a:r>
          </a:p>
          <a:p>
            <a:pPr lvl="1"/>
            <a:r>
              <a:rPr lang="en-US" dirty="0"/>
              <a:t>Controlled environment</a:t>
            </a:r>
          </a:p>
          <a:p>
            <a:pPr lvl="1"/>
            <a:r>
              <a:rPr lang="en-US" dirty="0"/>
              <a:t>Customized configurations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B7A8F-011B-FCF9-7D63-7422B2BFD3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Benefits:</a:t>
            </a:r>
            <a:endParaRPr lang="en-US" dirty="0"/>
          </a:p>
          <a:p>
            <a:pPr lvl="1"/>
            <a:r>
              <a:rPr lang="en-US" dirty="0"/>
              <a:t>High security &amp; privacy</a:t>
            </a:r>
          </a:p>
          <a:p>
            <a:pPr lvl="1"/>
            <a:r>
              <a:rPr lang="en-US" dirty="0"/>
              <a:t>Greater control</a:t>
            </a:r>
          </a:p>
          <a:p>
            <a:pPr lvl="1"/>
            <a:r>
              <a:rPr lang="en-US" dirty="0"/>
              <a:t>Better for regulatory compliance</a:t>
            </a:r>
          </a:p>
          <a:p>
            <a:r>
              <a:rPr lang="en-US" b="1" dirty="0"/>
              <a:t>Limitations:</a:t>
            </a:r>
            <a:endParaRPr lang="en-US" dirty="0"/>
          </a:p>
          <a:p>
            <a:pPr lvl="1"/>
            <a:r>
              <a:rPr lang="en-US" dirty="0"/>
              <a:t>Expensive</a:t>
            </a:r>
          </a:p>
          <a:p>
            <a:pPr lvl="1"/>
            <a:r>
              <a:rPr lang="en-US" dirty="0"/>
              <a:t>Requires in-house expertise</a:t>
            </a:r>
          </a:p>
          <a:p>
            <a:pPr lvl="1"/>
            <a:r>
              <a:rPr lang="en-US" dirty="0"/>
              <a:t>Less scalable compared to public cloud</a:t>
            </a:r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7ED0220-7EF0-137C-D44F-61797A1EE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1 | Introduction of Cloud Computing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B03A5-25E5-3F60-25F3-190B4935B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3549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93EF-59E0-8216-7DB2-1EF72B417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CC458-F1F8-B516-80D7-51F93D175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Hybrid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E8298-0DE8-71D2-9834-CA5A0320C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Combines public and private clouds to allow data and applications to move between them.</a:t>
            </a:r>
          </a:p>
          <a:p>
            <a:r>
              <a:rPr lang="en-US" dirty="0"/>
              <a:t>Offers flexibility and scalability while maintaining security.</a:t>
            </a:r>
          </a:p>
          <a:p>
            <a:r>
              <a:rPr lang="en-US" dirty="0"/>
              <a:t>Example: </a:t>
            </a:r>
            <a:r>
              <a:rPr lang="en-US" b="1" dirty="0"/>
              <a:t>Using a private cloud for sensitive data and a public cloud for less critical workloads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9C988-3AF4-CCF6-1D7B-FC943F4B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DAB5CF2B-2E8D-F077-243B-8D9F47DF0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4305499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42308-D2C3-880F-B5F9-787A0ED4D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9D2D8-71C7-0B5E-FFE1-C704A5CAB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Hybrid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CFB2E-91D0-E137-F521-29334559B6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Features:</a:t>
            </a:r>
            <a:endParaRPr lang="en-US" dirty="0"/>
          </a:p>
          <a:p>
            <a:pPr lvl="1"/>
            <a:r>
              <a:rPr lang="en-US" dirty="0"/>
              <a:t>Workload portability</a:t>
            </a:r>
          </a:p>
          <a:p>
            <a:pPr lvl="1"/>
            <a:r>
              <a:rPr lang="en-US" dirty="0"/>
              <a:t>Flexible deployment</a:t>
            </a:r>
          </a:p>
          <a:p>
            <a:pPr lvl="1"/>
            <a:r>
              <a:rPr lang="en-US" dirty="0"/>
              <a:t>Burst capacity into public cloud when needed (cloud bursting)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220FA-3052-E5EE-9274-5B2282E33E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Benefits:</a:t>
            </a:r>
            <a:endParaRPr lang="en-US" dirty="0"/>
          </a:p>
          <a:p>
            <a:pPr lvl="1"/>
            <a:r>
              <a:rPr lang="en-US" dirty="0"/>
              <a:t>Optimized cost</a:t>
            </a:r>
          </a:p>
          <a:p>
            <a:pPr lvl="1"/>
            <a:r>
              <a:rPr lang="en-US" dirty="0"/>
              <a:t>Balanced security</a:t>
            </a:r>
          </a:p>
          <a:p>
            <a:pPr lvl="1"/>
            <a:r>
              <a:rPr lang="en-US" dirty="0"/>
              <a:t>High flexibility &amp; scalability</a:t>
            </a:r>
          </a:p>
          <a:p>
            <a:r>
              <a:rPr lang="en-US" b="1" dirty="0"/>
              <a:t>Limitations:</a:t>
            </a:r>
            <a:endParaRPr lang="en-US" dirty="0"/>
          </a:p>
          <a:p>
            <a:pPr lvl="1"/>
            <a:r>
              <a:rPr lang="en-US" dirty="0"/>
              <a:t>Complex integration</a:t>
            </a:r>
          </a:p>
          <a:p>
            <a:pPr lvl="1"/>
            <a:r>
              <a:rPr lang="en-US" dirty="0"/>
              <a:t>Requires strong architecture &amp; network setup</a:t>
            </a:r>
          </a:p>
          <a:p>
            <a:pPr lvl="1"/>
            <a:r>
              <a:rPr lang="en-US" dirty="0"/>
              <a:t>Security must be coordinated across platforms</a:t>
            </a:r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C605D79-E1E4-564D-A1E7-CDD8DF1ED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1 | Introduction of Cloud Computing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9BFBCE-475C-12BB-C2E7-4F4F36A5F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1231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0234B-B5E7-354C-8ED7-ADE3E7B08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0138-3F3C-20FC-348E-71467DBD4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Community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C5050-A638-A3D9-365D-4145A71BC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cloud environment shared by </a:t>
            </a:r>
            <a:r>
              <a:rPr lang="en-US" b="1" dirty="0"/>
              <a:t>multiple organizations</a:t>
            </a:r>
            <a:r>
              <a:rPr lang="en-US" dirty="0"/>
              <a:t> with </a:t>
            </a:r>
            <a:r>
              <a:rPr lang="en-US" b="1" dirty="0"/>
              <a:t>similar missions, security requirements, or compliance needs</a:t>
            </a:r>
            <a:r>
              <a:rPr lang="en-US" dirty="0"/>
              <a:t>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Universities sharing research cloud</a:t>
            </a:r>
          </a:p>
          <a:p>
            <a:r>
              <a:rPr lang="en-US" dirty="0"/>
              <a:t>Hospitals sharing a healthcare cloud</a:t>
            </a:r>
          </a:p>
          <a:p>
            <a:r>
              <a:rPr lang="en-US" dirty="0"/>
              <a:t>Government agencies sharing infrastructure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6A8A7-4BAF-EE89-19DE-B9BDF2F5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F91866AC-E6A3-C15D-B8B9-1FF62CD2B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7030636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1409D-6EBE-0606-6884-B641B6EDD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C9FA2-4D92-15AF-FA1B-31DEBE54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Community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78C3E-04E9-8361-8D78-3992C64AB0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Features:</a:t>
            </a:r>
            <a:endParaRPr lang="en-US" dirty="0"/>
          </a:p>
          <a:p>
            <a:r>
              <a:rPr lang="en-US" dirty="0"/>
              <a:t>Multi-tenant but restricted</a:t>
            </a:r>
          </a:p>
          <a:p>
            <a:r>
              <a:rPr lang="en-US" dirty="0"/>
              <a:t>Shared governance</a:t>
            </a:r>
          </a:p>
          <a:p>
            <a:r>
              <a:rPr lang="en-US" dirty="0"/>
              <a:t>Designed for a specific community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579F4-BA74-F29C-E7E7-F85847F949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Benefits:</a:t>
            </a:r>
            <a:endParaRPr lang="en-US" dirty="0"/>
          </a:p>
          <a:p>
            <a:pPr lvl="1"/>
            <a:r>
              <a:rPr lang="en-US" dirty="0"/>
              <a:t>Cost shared among members</a:t>
            </a:r>
          </a:p>
          <a:p>
            <a:pPr lvl="1"/>
            <a:r>
              <a:rPr lang="en-US" dirty="0"/>
              <a:t>Common compliance requirements</a:t>
            </a:r>
          </a:p>
          <a:p>
            <a:pPr lvl="1"/>
            <a:r>
              <a:rPr lang="en-US" dirty="0"/>
              <a:t>Enhanced collaboration</a:t>
            </a:r>
          </a:p>
          <a:p>
            <a:r>
              <a:rPr lang="en-US" b="1" dirty="0"/>
              <a:t>Limitations:</a:t>
            </a:r>
            <a:endParaRPr lang="en-US" dirty="0"/>
          </a:p>
          <a:p>
            <a:pPr lvl="1"/>
            <a:r>
              <a:rPr lang="en-US" dirty="0"/>
              <a:t>Higher cost than public cloud</a:t>
            </a:r>
          </a:p>
          <a:p>
            <a:pPr lvl="1"/>
            <a:r>
              <a:rPr lang="en-US" dirty="0"/>
              <a:t>Hard to manage across multiple organizations</a:t>
            </a:r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5314AE3F-6DCB-CC7B-5DAD-D5C1AFD0D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1 | Introduction of Cloud Computing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1F2698-6AEA-8D74-F8DC-353313785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817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B107F19-540E-5FDB-3F6A-6079E6F2C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Comparison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777B830-773A-81B0-30F6-1279DCEA45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87751"/>
          <a:ext cx="10140600" cy="2194560"/>
        </p:xfrm>
        <a:graphic>
          <a:graphicData uri="http://schemas.openxmlformats.org/drawingml/2006/table">
            <a:tbl>
              <a:tblPr/>
              <a:tblGrid>
                <a:gridCol w="1512000">
                  <a:extLst>
                    <a:ext uri="{9D8B030D-6E8A-4147-A177-3AD203B41FA5}">
                      <a16:colId xmlns:a16="http://schemas.microsoft.com/office/drawing/2014/main" val="3241410890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3966792048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2997311739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294466678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148017667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648747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Ownership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009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"/>
                        </a:rPr>
                        <a:t>Public</a:t>
                      </a:r>
                      <a:endParaRPr lang="en-US" dirty="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"/>
                        </a:rPr>
                        <a:t>Cloud provider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"/>
                        </a:rPr>
                        <a:t>Public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"/>
                        </a:rPr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"/>
                        </a:rPr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844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"/>
                        </a:rPr>
                        <a:t>Private</a:t>
                      </a:r>
                      <a:endParaRPr lang="en-US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"/>
                        </a:rPr>
                        <a:t>Single organization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"/>
                        </a:rPr>
                        <a:t>Restricted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"/>
                        </a:rPr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"/>
                        </a:rPr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601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"/>
                        </a:rPr>
                        <a:t>Hybrid</a:t>
                      </a:r>
                      <a:endParaRPr lang="en-US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"/>
                        </a:rPr>
                        <a:t>Mixed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"/>
                        </a:rPr>
                        <a:t>Controlled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502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"/>
                        </a:rPr>
                        <a:t>Community</a:t>
                      </a:r>
                      <a:endParaRPr lang="en-US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"/>
                        </a:rPr>
                        <a:t>Shared by orgs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"/>
                        </a:rPr>
                        <a:t>Restricted to group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"/>
                        </a:rPr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747145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09F6A-5B36-EE63-486B-673FE0E73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1 | Introduction of Cloud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39FAC-37F8-1A6C-5784-EAA4E9FDD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4590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20C2E-29D7-1DC6-468C-86ED703E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7695F-DB00-179D-0846-A0DDE5FC9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Jericho Cloud Cube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94DAB-4ADB-264C-110A-9B92CC502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Jericho Cloud Cube Model</a:t>
            </a:r>
            <a:r>
              <a:rPr lang="en-US" dirty="0"/>
              <a:t> (developed by the Jericho Forum) is a framework used to </a:t>
            </a:r>
            <a:r>
              <a:rPr lang="en-US" b="1" dirty="0"/>
              <a:t>classify cloud computing environments</a:t>
            </a:r>
            <a:r>
              <a:rPr lang="en-US" dirty="0"/>
              <a:t> based on four key dimensions.</a:t>
            </a:r>
            <a:br>
              <a:rPr lang="en-US" dirty="0"/>
            </a:br>
            <a:r>
              <a:rPr lang="en-US" dirty="0"/>
              <a:t>It helps organizations understand </a:t>
            </a:r>
            <a:r>
              <a:rPr lang="en-US" b="1" dirty="0"/>
              <a:t>security implications</a:t>
            </a:r>
            <a:r>
              <a:rPr lang="en-US" dirty="0"/>
              <a:t>, </a:t>
            </a:r>
            <a:r>
              <a:rPr lang="en-US" b="1" dirty="0"/>
              <a:t>data location</a:t>
            </a:r>
            <a:r>
              <a:rPr lang="en-US" dirty="0"/>
              <a:t>, and </a:t>
            </a:r>
            <a:r>
              <a:rPr lang="en-US" b="1" dirty="0"/>
              <a:t>control</a:t>
            </a:r>
            <a:r>
              <a:rPr lang="en-US" dirty="0"/>
              <a:t> when choosing a cloud setup.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DAF61-5AB1-262A-0C76-E05462A39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11401E80-1D82-49E5-5873-B1B4AFAD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5660252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9BCE5-AB2E-3007-75A3-AC1E3609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5F52A-3B00-B4A6-2DCF-E409C5C4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Jericho Cloud Cube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62B856-6D3F-03BD-900C-18BC43EE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E21D60E6-22D1-23AD-8A5F-CA7165AFC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9FD9C8-2117-534F-E28A-ED3BBDE6EF2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2800" y="2016919"/>
            <a:ext cx="548640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8694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5BC05-F119-0905-1E59-F1E6AE3D9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F245-09E6-81BD-13D3-C897DE0F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Four Dimensions of the Cloud Cube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25F77-C6E6-AC1D-05F5-01DAF7C91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57200" indent="-457200" fontAlgn="base">
              <a:buFont typeface="+mj-lt"/>
              <a:buAutoNum type="arabicPeriod"/>
            </a:pPr>
            <a:r>
              <a:rPr lang="en-US" b="1" dirty="0"/>
              <a:t>Physical location of the data</a:t>
            </a:r>
            <a:r>
              <a:rPr lang="en-US" dirty="0"/>
              <a:t>: Internal (I) / External (E) determines your organization’s boundaries.</a:t>
            </a:r>
            <a:r>
              <a:rPr lang="en-US" b="1" dirty="0"/>
              <a:t> </a:t>
            </a:r>
            <a:endParaRPr lang="en-NP" dirty="0"/>
          </a:p>
          <a:p>
            <a:pPr marL="457200" indent="-457200" fontAlgn="base">
              <a:buFont typeface="+mj-lt"/>
              <a:buAutoNum type="arabicPeriod"/>
            </a:pPr>
            <a:r>
              <a:rPr lang="en-US" b="1" dirty="0"/>
              <a:t>Ownership</a:t>
            </a:r>
            <a:r>
              <a:rPr lang="en-US" dirty="0"/>
              <a:t>: Proprietary (P) / Open (O) is a measure of not only the technology ownership, but of interoperability, ease of data transfer, and degree of vendor application lock-in.</a:t>
            </a:r>
            <a:r>
              <a:rPr lang="en-US" b="1" dirty="0"/>
              <a:t> </a:t>
            </a:r>
            <a:endParaRPr lang="en-NP" dirty="0"/>
          </a:p>
          <a:p>
            <a:pPr marL="457200" indent="-457200" fontAlgn="base">
              <a:buFont typeface="+mj-lt"/>
              <a:buAutoNum type="arabicPeriod"/>
            </a:pPr>
            <a:r>
              <a:rPr lang="en-US" b="1" dirty="0"/>
              <a:t>Security boundary</a:t>
            </a:r>
            <a:r>
              <a:rPr lang="en-US" dirty="0"/>
              <a:t>: </a:t>
            </a:r>
            <a:r>
              <a:rPr lang="en-US" dirty="0" err="1"/>
              <a:t>Perimeterised</a:t>
            </a:r>
            <a:r>
              <a:rPr lang="en-US" dirty="0"/>
              <a:t> (Per) / De-</a:t>
            </a:r>
            <a:r>
              <a:rPr lang="en-US" dirty="0" err="1"/>
              <a:t>perimiterised</a:t>
            </a:r>
            <a:r>
              <a:rPr lang="en-US" dirty="0"/>
              <a:t> (D-p) is a measure of whether the operation is inside or outside the security boundary or network firewall.</a:t>
            </a:r>
            <a:r>
              <a:rPr lang="en-US" b="1" dirty="0"/>
              <a:t> </a:t>
            </a:r>
            <a:endParaRPr lang="en-NP" dirty="0"/>
          </a:p>
          <a:p>
            <a:pPr marL="457200" indent="-457200" fontAlgn="base">
              <a:buFont typeface="+mj-lt"/>
              <a:buAutoNum type="arabicPeriod"/>
            </a:pPr>
            <a:r>
              <a:rPr lang="en-US" b="1" dirty="0"/>
              <a:t>Sourcing</a:t>
            </a:r>
            <a:r>
              <a:rPr lang="en-US" dirty="0"/>
              <a:t>: Insourced or Outsourced means whether the service is provided by the customer or the service provider.</a:t>
            </a:r>
            <a:r>
              <a:rPr lang="en-US" b="1" dirty="0"/>
              <a:t> </a:t>
            </a:r>
            <a:endParaRPr lang="en-NP" dirty="0"/>
          </a:p>
          <a:p>
            <a:r>
              <a:rPr lang="en-US" dirty="0"/>
              <a:t>These four axes form a “cube,” allowing 16 possible cloud combinations.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30D4D5-C4BA-AE5A-DF50-6C33A45AE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E069D744-9847-EDCE-7C83-599436D43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787323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5A258-8D73-02E4-ED94-03AFB697E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C53EF-6DAA-CD25-0D8C-A8C5D67FC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Internal vs. External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1E699-8B90-BC3C-186D-D60F6535F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Internal (I)</a:t>
            </a:r>
          </a:p>
          <a:p>
            <a:pPr lvl="1"/>
            <a:r>
              <a:rPr lang="en-US" dirty="0"/>
              <a:t>Cloud resources are deployed </a:t>
            </a:r>
            <a:r>
              <a:rPr lang="en-US" b="1" dirty="0"/>
              <a:t>inside the organization’s premises</a:t>
            </a:r>
            <a:r>
              <a:rPr lang="en-US" dirty="0"/>
              <a:t> and infrastructure.</a:t>
            </a:r>
          </a:p>
          <a:p>
            <a:r>
              <a:rPr lang="en-US" b="1" dirty="0"/>
              <a:t>External (E)</a:t>
            </a:r>
          </a:p>
          <a:p>
            <a:pPr lvl="1"/>
            <a:r>
              <a:rPr lang="en-US" dirty="0"/>
              <a:t>Cloud resources are located </a:t>
            </a:r>
            <a:r>
              <a:rPr lang="en-US" b="1" dirty="0"/>
              <a:t>outside the organization</a:t>
            </a:r>
            <a:r>
              <a:rPr lang="en-US" dirty="0"/>
              <a:t>, typically in a public cloud.</a:t>
            </a:r>
          </a:p>
          <a:p>
            <a:r>
              <a:rPr lang="en-US" b="1" dirty="0"/>
              <a:t>Security Impact:</a:t>
            </a:r>
          </a:p>
          <a:p>
            <a:pPr lvl="1"/>
            <a:r>
              <a:rPr lang="en-US" dirty="0"/>
              <a:t>Internal clouds offer more control; external clouds require trust in the provider.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59F0C3-B8C9-AA43-A0F3-73D85BCD9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920975EE-1090-0F81-671B-E436C0DD4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7687618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29B87-1B0D-CA81-471F-E80851D36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4E88C-4FFF-680A-3FB5-BD62A7F58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Proprietary vs. Open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229AB-2CB5-97D4-F8C6-9F49BB52A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Proprietary (P)</a:t>
            </a:r>
          </a:p>
          <a:p>
            <a:pPr lvl="1"/>
            <a:r>
              <a:rPr lang="en-US" dirty="0"/>
              <a:t>Cloud technologies or APIs are </a:t>
            </a:r>
            <a:r>
              <a:rPr lang="en-US" b="1" dirty="0"/>
              <a:t>vendor-specific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Example: AWS EC2, Azure Functions.</a:t>
            </a:r>
          </a:p>
          <a:p>
            <a:r>
              <a:rPr lang="en-US" b="1" dirty="0"/>
              <a:t>Open (O)</a:t>
            </a:r>
          </a:p>
          <a:p>
            <a:pPr lvl="1"/>
            <a:r>
              <a:rPr lang="en-US" dirty="0"/>
              <a:t>Based on </a:t>
            </a:r>
            <a:r>
              <a:rPr lang="en-US" b="1" dirty="0"/>
              <a:t>open standards</a:t>
            </a:r>
            <a:r>
              <a:rPr lang="en-US" dirty="0"/>
              <a:t>, open-source tools, with no vendor lock-in.</a:t>
            </a:r>
          </a:p>
          <a:p>
            <a:pPr lvl="1"/>
            <a:r>
              <a:rPr lang="en-US" dirty="0"/>
              <a:t>Example: OpenStack, Kubernetes.</a:t>
            </a:r>
          </a:p>
          <a:p>
            <a:r>
              <a:rPr lang="en-US" b="1" dirty="0"/>
              <a:t>Security Impact:</a:t>
            </a:r>
          </a:p>
          <a:p>
            <a:pPr lvl="1"/>
            <a:r>
              <a:rPr lang="en-US" dirty="0"/>
              <a:t>Open platforms improve portability and reduce lock-in.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05BBCE-756D-4D59-2BEB-4F2FE8A6C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589AF46C-7839-0C05-89AD-9DA70C048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5387922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8FD9C-C4EF-FDD0-BC24-9B6DA903B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6555-F97F-48AB-E0DC-929A012BA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Perimeterised</a:t>
            </a:r>
            <a:r>
              <a:rPr lang="en-US" dirty="0"/>
              <a:t> vs. De-</a:t>
            </a:r>
            <a:r>
              <a:rPr lang="en-US" dirty="0" err="1"/>
              <a:t>perimeterised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BEF06-DD2F-61DB-51E5-C308F772C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Perimeterised</a:t>
            </a:r>
            <a:r>
              <a:rPr lang="en-US" b="1" dirty="0"/>
              <a:t> (P)</a:t>
            </a:r>
          </a:p>
          <a:p>
            <a:pPr lvl="1"/>
            <a:r>
              <a:rPr lang="en-US" dirty="0"/>
              <a:t>Security depends on </a:t>
            </a:r>
            <a:r>
              <a:rPr lang="en-US" b="1" dirty="0"/>
              <a:t>network boundaries</a:t>
            </a:r>
            <a:r>
              <a:rPr lang="en-US" dirty="0"/>
              <a:t>, firewalls, and controlled access points.</a:t>
            </a:r>
          </a:p>
          <a:p>
            <a:r>
              <a:rPr lang="en-US" b="1" dirty="0"/>
              <a:t>De-</a:t>
            </a:r>
            <a:r>
              <a:rPr lang="en-US" b="1" dirty="0" err="1"/>
              <a:t>perimeterised</a:t>
            </a:r>
            <a:r>
              <a:rPr lang="en-US" b="1" dirty="0"/>
              <a:t> (D)</a:t>
            </a:r>
          </a:p>
          <a:p>
            <a:pPr lvl="1"/>
            <a:r>
              <a:rPr lang="en-US" dirty="0"/>
              <a:t>Assumes </a:t>
            </a:r>
            <a:r>
              <a:rPr lang="en-US" b="1" dirty="0"/>
              <a:t>no physical boundary</a:t>
            </a:r>
            <a:r>
              <a:rPr lang="en-US" dirty="0"/>
              <a:t> — security relies on:</a:t>
            </a:r>
          </a:p>
          <a:p>
            <a:pPr lvl="1"/>
            <a:r>
              <a:rPr lang="en-US" dirty="0"/>
              <a:t>Identity, Encryption, Zero-trust principles, Strong authentication.</a:t>
            </a:r>
          </a:p>
          <a:p>
            <a:r>
              <a:rPr lang="en-US" b="1" dirty="0"/>
              <a:t>Security Impact:</a:t>
            </a:r>
          </a:p>
          <a:p>
            <a:pPr lvl="1"/>
            <a:r>
              <a:rPr lang="en-US" dirty="0"/>
              <a:t>De-</a:t>
            </a:r>
            <a:r>
              <a:rPr lang="en-US" dirty="0" err="1"/>
              <a:t>perimeterised</a:t>
            </a:r>
            <a:r>
              <a:rPr lang="en-US" dirty="0"/>
              <a:t> is more modern and aligns with cloud-native designs.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30B19-52E8-0804-E229-2CEE12B68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D6C9549D-F8C2-17E7-1742-C4E20A791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0117410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858BD-2F70-E944-C841-991B988F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6F60B-4969-CFE2-3907-6A5D6F522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Insourced vs. Outsourced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04CBB-80D5-6357-0E10-EE30AC71B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Insourced (I)</a:t>
            </a:r>
          </a:p>
          <a:p>
            <a:pPr lvl="1"/>
            <a:r>
              <a:rPr lang="en-US" dirty="0"/>
              <a:t>Managed </a:t>
            </a:r>
            <a:r>
              <a:rPr lang="en-US" b="1" dirty="0"/>
              <a:t>internally</a:t>
            </a:r>
            <a:r>
              <a:rPr lang="en-US" dirty="0"/>
              <a:t> by the organization’s own team.</a:t>
            </a:r>
          </a:p>
          <a:p>
            <a:r>
              <a:rPr lang="en-US" b="1" dirty="0"/>
              <a:t>Outsourced (O)</a:t>
            </a:r>
          </a:p>
          <a:p>
            <a:pPr lvl="1"/>
            <a:r>
              <a:rPr lang="en-US" dirty="0"/>
              <a:t>Managed by an </a:t>
            </a:r>
            <a:r>
              <a:rPr lang="en-US" b="1" dirty="0"/>
              <a:t>external/vendor</a:t>
            </a:r>
            <a:r>
              <a:rPr lang="en-US" dirty="0"/>
              <a:t> cloud service provider.</a:t>
            </a:r>
          </a:p>
          <a:p>
            <a:r>
              <a:rPr lang="en-US" b="1" dirty="0"/>
              <a:t>Security Impact:</a:t>
            </a:r>
          </a:p>
          <a:p>
            <a:pPr lvl="1"/>
            <a:r>
              <a:rPr lang="en-US" dirty="0"/>
              <a:t>Insourced = more control; outsourced = provider-managed security.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21EEE-FEFB-170D-70F8-2E5332ED7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D5753A16-2F34-6FEE-679C-72CBBFFB5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3645206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9B3F9-5DB7-27B4-AD19-99AD4A617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9D06B-449E-6320-3835-3F1C6A39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Putting it Together: The Cloud Cube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59509-12B1-9F6D-4012-1B5D8F7007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Private Cloud Example</a:t>
            </a:r>
          </a:p>
          <a:p>
            <a:pPr lvl="1"/>
            <a:r>
              <a:rPr lang="en-US" dirty="0"/>
              <a:t>Internal</a:t>
            </a:r>
          </a:p>
          <a:p>
            <a:pPr lvl="1"/>
            <a:r>
              <a:rPr lang="en-US" dirty="0"/>
              <a:t>Proprietary</a:t>
            </a:r>
          </a:p>
          <a:p>
            <a:pPr lvl="1"/>
            <a:r>
              <a:rPr lang="en-US" dirty="0" err="1"/>
              <a:t>Perimeterised</a:t>
            </a:r>
            <a:endParaRPr lang="en-US" dirty="0"/>
          </a:p>
          <a:p>
            <a:pPr lvl="1"/>
            <a:r>
              <a:rPr lang="en-US" dirty="0"/>
              <a:t>Insourced</a:t>
            </a:r>
            <a:br>
              <a:rPr lang="en-US" dirty="0"/>
            </a:br>
            <a:r>
              <a:rPr lang="en-US" dirty="0"/>
              <a:t>→ </a:t>
            </a:r>
            <a:r>
              <a:rPr lang="en-US" b="1" dirty="0"/>
              <a:t>I-P-P-I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2F7CC-FDA6-A320-C105-F46E5B7450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Public Cloud Example</a:t>
            </a:r>
          </a:p>
          <a:p>
            <a:pPr lvl="1"/>
            <a:r>
              <a:rPr lang="en-US" dirty="0"/>
              <a:t>External</a:t>
            </a:r>
          </a:p>
          <a:p>
            <a:pPr lvl="1"/>
            <a:r>
              <a:rPr lang="en-US" dirty="0"/>
              <a:t>Proprietary</a:t>
            </a:r>
          </a:p>
          <a:p>
            <a:pPr lvl="1"/>
            <a:r>
              <a:rPr lang="en-US" dirty="0"/>
              <a:t>De-</a:t>
            </a:r>
            <a:r>
              <a:rPr lang="en-US" dirty="0" err="1"/>
              <a:t>perimeterised</a:t>
            </a:r>
            <a:endParaRPr lang="en-US" dirty="0"/>
          </a:p>
          <a:p>
            <a:pPr lvl="1"/>
            <a:r>
              <a:rPr lang="en-US" dirty="0"/>
              <a:t>Outsourced</a:t>
            </a:r>
            <a:br>
              <a:rPr lang="en-US" dirty="0"/>
            </a:br>
            <a:r>
              <a:rPr lang="en-US" dirty="0"/>
              <a:t>→ </a:t>
            </a:r>
            <a:r>
              <a:rPr lang="en-US" b="1" dirty="0"/>
              <a:t>E-P-D-O</a:t>
            </a:r>
            <a:endParaRPr lang="en-US" dirty="0"/>
          </a:p>
          <a:p>
            <a:endParaRPr lang="en-NP" dirty="0"/>
          </a:p>
          <a:p>
            <a:endParaRPr lang="en-NP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A2819A-3D60-E0F7-9A10-B31C9AE80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6" name="Footer Placeholder 78">
            <a:extLst>
              <a:ext uri="{FF2B5EF4-FFF2-40B4-BE49-F238E27FC236}">
                <a16:creationId xmlns:a16="http://schemas.microsoft.com/office/drawing/2014/main" id="{C6BDA682-99FE-9C52-A567-D11592AB4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 dirty="0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2274232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80B52-1AD7-EA47-D99E-20CB90708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B319F-5791-C98F-F436-AB6D3CD26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Putting it Together: The Cloud Cube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06EFB-9215-59DA-ED76-80DF8E25F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Open Community Cloud Example</a:t>
            </a:r>
          </a:p>
          <a:p>
            <a:pPr lvl="1"/>
            <a:r>
              <a:rPr lang="en-US" dirty="0"/>
              <a:t>External</a:t>
            </a:r>
          </a:p>
          <a:p>
            <a:pPr lvl="1"/>
            <a:r>
              <a:rPr lang="en-US" dirty="0"/>
              <a:t>Open</a:t>
            </a:r>
          </a:p>
          <a:p>
            <a:pPr lvl="1"/>
            <a:r>
              <a:rPr lang="en-US" dirty="0"/>
              <a:t>De-</a:t>
            </a:r>
            <a:r>
              <a:rPr lang="en-US" dirty="0" err="1"/>
              <a:t>perimeterised</a:t>
            </a:r>
            <a:endParaRPr lang="en-US" dirty="0"/>
          </a:p>
          <a:p>
            <a:pPr lvl="1"/>
            <a:r>
              <a:rPr lang="en-US" dirty="0"/>
              <a:t>Outsourced</a:t>
            </a:r>
            <a:br>
              <a:rPr lang="en-US" dirty="0"/>
            </a:br>
            <a:r>
              <a:rPr lang="en-US" dirty="0"/>
              <a:t>→ </a:t>
            </a:r>
            <a:r>
              <a:rPr lang="en-US" b="1" dirty="0"/>
              <a:t>E-O-D-O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48CC5D-7E39-DDC6-DA01-9486C8819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0BFE7148-AA1A-5F8F-3448-698E5ACC3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7532471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B98EC-B0BA-D417-0F4A-80CD81379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E7337-5F78-004B-93B5-7A76BD562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Jericho Cloud Cube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14639-0F79-DC83-DFAE-142820226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Helps evaluate </a:t>
            </a:r>
            <a:r>
              <a:rPr lang="en-US" b="1" dirty="0"/>
              <a:t>security posture</a:t>
            </a:r>
            <a:r>
              <a:rPr lang="en-US" dirty="0"/>
              <a:t> for different cloud models</a:t>
            </a:r>
          </a:p>
          <a:p>
            <a:r>
              <a:rPr lang="en-US" dirty="0"/>
              <a:t>Useful in selecting deployment models based on </a:t>
            </a:r>
            <a:r>
              <a:rPr lang="en-US" b="1" dirty="0"/>
              <a:t>trust, governance, and compliance</a:t>
            </a:r>
            <a:endParaRPr lang="en-US" dirty="0"/>
          </a:p>
          <a:p>
            <a:r>
              <a:rPr lang="en-US" dirty="0"/>
              <a:t>Encourages organizations to think beyond “public vs private”</a:t>
            </a:r>
          </a:p>
          <a:p>
            <a:r>
              <a:rPr lang="en-US" dirty="0"/>
              <a:t>Supports risk assessment during cloud migration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7BFAFD-CCE6-329A-8BD8-068D3773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D8D23A3A-1BA4-18E1-1096-5359621B1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 dirty="0"/>
              <a:t>Unit 1 | Introduction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7301877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1EB86E-92CA-8425-23CB-1C912DD51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988" y="641377"/>
            <a:ext cx="5487841" cy="2540969"/>
          </a:xfrm>
        </p:spPr>
        <p:txBody>
          <a:bodyPr/>
          <a:lstStyle/>
          <a:p>
            <a:r>
              <a:rPr lang="en-US" dirty="0"/>
              <a:t>End of </a:t>
            </a:r>
            <a:br>
              <a:rPr lang="en-US" dirty="0"/>
            </a:br>
            <a:r>
              <a:rPr lang="en-US" dirty="0"/>
              <a:t>Unit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598789-ED0E-CA9B-FF87-C82F58631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/>
          <a:lstStyle/>
          <a:p>
            <a:fld id="{36AD3355-1A39-4F95-8D2D-9BA34F1D5DE9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5032F37-907E-9C2E-C22C-C745CEE55F2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9434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FBA0-27E2-F622-221D-B1B9F6C3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8AA0D-2DA5-FCAB-B808-83012ED0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3355-1A39-4F95-8D2D-9BA34F1D5DE9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548889-52EA-6797-57CD-59AEF91798C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1 | Introduction of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15262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</TotalTime>
  <Words>3779</Words>
  <Application>Microsoft Macintosh PowerPoint</Application>
  <PresentationFormat>Widescreen</PresentationFormat>
  <Paragraphs>567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Arial</vt:lpstr>
      <vt:lpstr>Calibri</vt:lpstr>
      <vt:lpstr>Nunito</vt:lpstr>
      <vt:lpstr>Roboto</vt:lpstr>
      <vt:lpstr>2_Office Theme</vt:lpstr>
      <vt:lpstr>PowerPoint Presentation</vt:lpstr>
      <vt:lpstr>Unit 1: Introduction (8hrs)</vt:lpstr>
      <vt:lpstr>Cloud Computing</vt:lpstr>
      <vt:lpstr>Need of Cloud Computing</vt:lpstr>
      <vt:lpstr>Need of Cloud Computing</vt:lpstr>
      <vt:lpstr>NIST Definition</vt:lpstr>
      <vt:lpstr>NIST Definition</vt:lpstr>
      <vt:lpstr>Cloud Computing Characteristics</vt:lpstr>
      <vt:lpstr>Cloud Computing Benefits</vt:lpstr>
      <vt:lpstr>Cloud Computing Application</vt:lpstr>
      <vt:lpstr>Cloud Reference Model</vt:lpstr>
      <vt:lpstr> NIST Architecture</vt:lpstr>
      <vt:lpstr>Design Principles of Cloud Architecture</vt:lpstr>
      <vt:lpstr>Design Principles of Cloud Architecture</vt:lpstr>
      <vt:lpstr>Design Principles of Cloud Architecture</vt:lpstr>
      <vt:lpstr>Design Principles of Cloud Architecture</vt:lpstr>
      <vt:lpstr>Infrastructural Constraints</vt:lpstr>
      <vt:lpstr>Infrastructural Constraints</vt:lpstr>
      <vt:lpstr>Infrastructural Constraints</vt:lpstr>
      <vt:lpstr>Infrastructural Constraints</vt:lpstr>
      <vt:lpstr>Evolution of Cloud Computing</vt:lpstr>
      <vt:lpstr>Evolution of Cloud Computing</vt:lpstr>
      <vt:lpstr>Evolution of Cloud Computing</vt:lpstr>
      <vt:lpstr>Evolution of Cloud Computing</vt:lpstr>
      <vt:lpstr>Evolution of Cloud Computing</vt:lpstr>
      <vt:lpstr>Evolution of Cloud Computing</vt:lpstr>
      <vt:lpstr>Evolution of Cloud Computing</vt:lpstr>
      <vt:lpstr>Evolution of Cloud Computing</vt:lpstr>
      <vt:lpstr>Cloud Service Model</vt:lpstr>
      <vt:lpstr>SaaS</vt:lpstr>
      <vt:lpstr>SaaS</vt:lpstr>
      <vt:lpstr>SaaS</vt:lpstr>
      <vt:lpstr>PaaS</vt:lpstr>
      <vt:lpstr>PaaS</vt:lpstr>
      <vt:lpstr>PaaS</vt:lpstr>
      <vt:lpstr>IaaS</vt:lpstr>
      <vt:lpstr>IaaS</vt:lpstr>
      <vt:lpstr>IaaS</vt:lpstr>
      <vt:lpstr>Cloud Deployment Model</vt:lpstr>
      <vt:lpstr>Public Cloud</vt:lpstr>
      <vt:lpstr>Public Cloud</vt:lpstr>
      <vt:lpstr>Private Cloud</vt:lpstr>
      <vt:lpstr>Private Cloud</vt:lpstr>
      <vt:lpstr>Hybrid Cloud</vt:lpstr>
      <vt:lpstr>Hybrid Cloud</vt:lpstr>
      <vt:lpstr>Community Cloud</vt:lpstr>
      <vt:lpstr>Community Cloud</vt:lpstr>
      <vt:lpstr>Comparison</vt:lpstr>
      <vt:lpstr>Jericho Cloud Cube Model</vt:lpstr>
      <vt:lpstr>Jericho Cloud Cube Model</vt:lpstr>
      <vt:lpstr>Four Dimensions of the Cloud Cube</vt:lpstr>
      <vt:lpstr>Internal vs. External</vt:lpstr>
      <vt:lpstr>Proprietary vs. Open</vt:lpstr>
      <vt:lpstr>Perimeterised vs. De-perimeterised</vt:lpstr>
      <vt:lpstr>Insourced vs. Outsourced</vt:lpstr>
      <vt:lpstr>Putting it Together: The Cloud Cube</vt:lpstr>
      <vt:lpstr>Putting it Together: The Cloud Cube</vt:lpstr>
      <vt:lpstr>Why Jericho Cloud Cube Model</vt:lpstr>
      <vt:lpstr>End of  Unit 1</vt:lpstr>
      <vt:lpstr>Virtualization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C</dc:title>
  <dc:creator>Shiva Kunwar</dc:creator>
  <cp:lastModifiedBy>Shiva Kunwar</cp:lastModifiedBy>
  <cp:revision>38</cp:revision>
  <dcterms:created xsi:type="dcterms:W3CDTF">2024-09-21T07:18:01Z</dcterms:created>
  <dcterms:modified xsi:type="dcterms:W3CDTF">2025-11-20T12:12:39Z</dcterms:modified>
</cp:coreProperties>
</file>