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38"/>
  </p:notesMasterIdLst>
  <p:handoutMasterIdLst>
    <p:handoutMasterId r:id="rId39"/>
  </p:handoutMasterIdLst>
  <p:sldIdLst>
    <p:sldId id="262" r:id="rId2"/>
    <p:sldId id="275" r:id="rId3"/>
    <p:sldId id="294" r:id="rId4"/>
    <p:sldId id="295" r:id="rId5"/>
    <p:sldId id="296" r:id="rId6"/>
    <p:sldId id="308" r:id="rId7"/>
    <p:sldId id="305" r:id="rId8"/>
    <p:sldId id="306" r:id="rId9"/>
    <p:sldId id="307" r:id="rId10"/>
    <p:sldId id="297" r:id="rId11"/>
    <p:sldId id="298" r:id="rId12"/>
    <p:sldId id="321" r:id="rId13"/>
    <p:sldId id="323" r:id="rId14"/>
    <p:sldId id="322" r:id="rId15"/>
    <p:sldId id="299" r:id="rId16"/>
    <p:sldId id="318" r:id="rId17"/>
    <p:sldId id="319" r:id="rId18"/>
    <p:sldId id="320" r:id="rId19"/>
    <p:sldId id="300" r:id="rId20"/>
    <p:sldId id="324" r:id="rId21"/>
    <p:sldId id="301" r:id="rId22"/>
    <p:sldId id="315" r:id="rId23"/>
    <p:sldId id="303" r:id="rId24"/>
    <p:sldId id="316" r:id="rId25"/>
    <p:sldId id="302" r:id="rId26"/>
    <p:sldId id="317" r:id="rId27"/>
    <p:sldId id="304" r:id="rId28"/>
    <p:sldId id="309" r:id="rId29"/>
    <p:sldId id="310" r:id="rId30"/>
    <p:sldId id="311" r:id="rId31"/>
    <p:sldId id="312" r:id="rId32"/>
    <p:sldId id="313" r:id="rId33"/>
    <p:sldId id="325" r:id="rId34"/>
    <p:sldId id="314" r:id="rId35"/>
    <p:sldId id="263" r:id="rId36"/>
    <p:sldId id="26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373" autoAdjust="0"/>
    <p:restoredTop sz="94660"/>
  </p:normalViewPr>
  <p:slideViewPr>
    <p:cSldViewPr snapToGrid="0">
      <p:cViewPr varScale="1">
        <p:scale>
          <a:sx n="87" d="100"/>
          <a:sy n="87" d="100"/>
        </p:scale>
        <p:origin x="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F4AAF4-B8F3-33EC-52A9-9556E57E63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DEACF-F8D5-65D6-65E3-338B2B0A60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72621-8294-46A0-AF65-3F36575F2326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97C6E-AD10-9E33-EB85-2BFA5B3262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2DCF5-DD40-B594-C366-ED0E57DC2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D7F74-8BB9-4E0E-BFB9-27139482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9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75D34-0415-4310-B568-590084F5D713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10430-A6ED-49DA-875F-FAA9313FE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2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3E4401-654B-3331-0E2C-7406236D3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" y="1"/>
            <a:ext cx="12191996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129550-DA5D-C130-73B9-F36251FB393F}"/>
              </a:ext>
            </a:extLst>
          </p:cNvPr>
          <p:cNvSpPr/>
          <p:nvPr userDrawn="1"/>
        </p:nvSpPr>
        <p:spPr>
          <a:xfrm>
            <a:off x="-2" y="0"/>
            <a:ext cx="12191999" cy="6857999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4939-1092-154C-F943-8221DCF2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F54E-D767-D343-A162-7AE6E8F0E15B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8189D-CC24-D084-077F-1EC0EA31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  <p:pic>
        <p:nvPicPr>
          <p:cNvPr id="8" name="Picture 7" descr="A logo with a star and a candle&#10;&#10;Description automatically generated">
            <a:extLst>
              <a:ext uri="{FF2B5EF4-FFF2-40B4-BE49-F238E27FC236}">
                <a16:creationId xmlns:a16="http://schemas.microsoft.com/office/drawing/2014/main" id="{5EE76DC0-94B7-A3AA-712F-BE98D17F08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7425" y="116127"/>
            <a:ext cx="2143125" cy="2143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584078-0138-E900-23EB-074EF062EF67}"/>
              </a:ext>
            </a:extLst>
          </p:cNvPr>
          <p:cNvSpPr txBox="1">
            <a:spLocks/>
          </p:cNvSpPr>
          <p:nvPr userDrawn="1"/>
        </p:nvSpPr>
        <p:spPr>
          <a:xfrm>
            <a:off x="1524000" y="2103324"/>
            <a:ext cx="9144000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Cloud Computing and Virtualization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25D32-6EF2-FAFE-2C36-BDD0330F818C}"/>
              </a:ext>
            </a:extLst>
          </p:cNvPr>
          <p:cNvSpPr txBox="1"/>
          <p:nvPr userDrawn="1"/>
        </p:nvSpPr>
        <p:spPr>
          <a:xfrm>
            <a:off x="1523999" y="4845050"/>
            <a:ext cx="9143999" cy="130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Prepared by:  Er. Shiva Kunwar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Lecturer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Pokhara Engineering College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081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BBFC-EF9A-C646-B5B5-F5C0DD47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F1A4-33E3-F613-3519-62CEA6B22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A0EDD6-81A7-F4B8-D011-4DE865AD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44314-22D6-5546-8077-06FA071A3D2F}" type="datetime1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532A0-B8D7-45DA-5FA5-39BC559D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0CCC4-845F-FD1B-9585-3F3F4F72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8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D533-58C8-E224-906F-5F88AEC5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8861-2083-0FF8-F733-4312C604A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B8EE7-49CE-F177-9BD3-AEC2ED7CF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D13A55-B8F2-1FFF-B254-28F4F7CE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117F1-8AD2-A14E-896B-C07E41218B04}" type="datetime1">
              <a:rPr lang="en-US" smtClean="0"/>
              <a:t>12/17/25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5F814C-8F5B-5ECF-D212-9E924DAD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327A59-CF12-D21D-6359-9C7B731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11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3D9C7D-7608-7B1C-1BBB-E09F972BE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D532F5-16FE-613A-417D-557E002A8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C6C6A9-0D82-2733-1B67-53F2A3D6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7D2052-25BC-843C-8ABA-792233D9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DEE7CD1-BC72-3908-B52C-69C7274B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A488A3C-7FB9-1EFA-C60D-233DBBFE4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2167FE-1698-734C-2D0C-C2B40CC4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83735"/>
            <a:ext cx="10515600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9F9C-5A91-403E-36CE-69E3C9969308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57C64D1-0999-ECC9-556E-E526C78A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EAAE7709-C365-F582-CF49-7517BDEB8387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838198" y="1663021"/>
            <a:ext cx="10515602" cy="455680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1E667B7-7545-60E3-30C1-CE3C2A48949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FC5856D-8247-1E4A-863B-8832324DF0F9}" type="datetime1">
              <a:rPr lang="en-US" smtClean="0"/>
              <a:t>12/17/25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2305699-A282-E12E-AE1C-1CFB25E238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F6E645F8-F682-8D2D-268F-E5B7D5BF3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50187D5-3A16-AE1B-36DA-41D3FBE6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1264F6-BD23-F293-72FB-E32352573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855AD-ABAC-8C19-8178-6EB8E5E72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39B6C-6741-2C5E-B819-B3A425454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8738339-0671-5630-FEB8-CC9C67032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484E4-73DD-0919-B58E-866F90700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DF8B04-BA4D-3137-EEFB-2C9F9614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09" y="615909"/>
            <a:ext cx="3204415" cy="3387497"/>
          </a:xfrm>
        </p:spPr>
        <p:txBody>
          <a:bodyPr anchor="b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B5711-9A41-EEE3-ECA8-3DF77654697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8655D1-315F-7D95-3B9A-EC74A727E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E923455B-4E0B-F709-CAC5-455517FBE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9488" y="615950"/>
            <a:ext cx="6530975" cy="5603875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E41F7B6-FA1C-08CE-1473-5AEEBCEE76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FD0AE57-001C-D144-826A-C4142CAC37C2}" type="datetime1">
              <a:rPr lang="en-US" smtClean="0"/>
              <a:t>12/17/25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7009528-D44A-660D-5354-4CF2C225E6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3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1818950-1BC0-79F8-F3A1-C793DF91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4A06A-DC97-5499-2273-8019226EA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9634D-9BDD-B374-6DD7-03C03290F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769AA-85CF-4F16-36ED-08E81B006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837CB0-FBB5-1349-DFB4-563DF02B5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CAB6FC-BE02-6F5E-8E9C-340FAC42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35E3B-ADC3-447C-17D8-2227F75D45AC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7808083-BCD1-7C29-51D7-C9EF69DBD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367B66-BFAA-3DE9-8BD2-E64B46FC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557"/>
            <a:ext cx="10515600" cy="4214406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E4831-D86C-E223-8E7F-61ACDC2C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BA21B-C1CC-E94D-B1B5-22D1C7F121FB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E3D7-7A3D-FA0B-3F88-D5B5911E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4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94531-650E-5195-CBA1-5B3978F0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1B429-E033-2D46-9E18-A8ED6CEC5E65}" type="datetime1">
              <a:rPr lang="en-US" smtClean="0"/>
              <a:t>12/17/25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B60013-C917-A93A-C451-8E8B6203F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48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0D3A4C7-B5F0-8B63-1ECA-C1481598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 anchor="ctr">
            <a:noAutofit/>
          </a:bodyPr>
          <a:lstStyle>
            <a:lvl1pPr algn="l">
              <a:defRPr sz="6000" b="0" cap="none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FD99D63D-0492-7C66-0370-0040336A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AutoShape 2" descr="A peaceful illustration for C programming set in a serene environment. The setting is a quiet lakeside scene during sunrise or sunset, with soft golden lighting reflecting on calm waters. A laptop or book displaying C programming code is open on a wooden bench near the water, surrounded by nature with gentle trees and soft grass. The sky is a gradient of warm colors, and there are small details like a steaming coffee mug and a few scattered notes or pens nearby, adding a cozy atmosphere. The dimensions are 7.5 inches in height and 4.9 inches in width.">
            <a:extLst>
              <a:ext uri="{FF2B5EF4-FFF2-40B4-BE49-F238E27FC236}">
                <a16:creationId xmlns:a16="http://schemas.microsoft.com/office/drawing/2014/main" id="{6A97A55F-F05A-431D-3CF6-E049935C399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9B0B8-54EB-02A5-06D4-A123119246F4}"/>
              </a:ext>
            </a:extLst>
          </p:cNvPr>
          <p:cNvSpPr txBox="1"/>
          <p:nvPr userDrawn="1"/>
        </p:nvSpPr>
        <p:spPr>
          <a:xfrm>
            <a:off x="5020988" y="4019550"/>
            <a:ext cx="6028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16E68-0017-74AE-E686-7960FA20C45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review Card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DA83DF1-A84E-B163-956C-25D3B807BE99}"/>
              </a:ext>
            </a:extLst>
          </p:cNvPr>
          <p:cNvSpPr txBox="1">
            <a:spLocks/>
          </p:cNvSpPr>
          <p:nvPr userDrawn="1"/>
        </p:nvSpPr>
        <p:spPr>
          <a:xfrm>
            <a:off x="838200" y="417727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PREVIEW FOR NEXT UNIT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62B2-F92E-BBBB-879D-EAA2FC43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3315"/>
            <a:ext cx="10515600" cy="381725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4F7403-710E-51F3-7202-7EBA53ED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2A69-1C6C-A8E7-081B-CD412014A82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D28BCB0-04A9-1B43-9DA4-E7665A96E471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FFE2-1F4D-9C49-4E2F-006619EA8C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7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B644-5741-8467-C89E-7A43CCB7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AA4B1-9CE0-549C-7B06-728134B28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3029"/>
            <a:ext cx="10515600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655E-F829-BD76-B10A-3B85DA5FD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FCA08-ED44-3846-8DC2-167602DEBB3A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4BA3D-AF77-0CD3-E6C2-CDFE9BF54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914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Unit 3 | Storage in Cloud Computing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EA662-E61B-0C38-8A92-8D9EA225042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FC56-D6E1-E077-A067-C2CA064D4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9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9" r:id="rId3"/>
    <p:sldLayoutId id="2147483670" r:id="rId4"/>
    <p:sldLayoutId id="2147483672" r:id="rId5"/>
    <p:sldLayoutId id="2147483673" r:id="rId6"/>
    <p:sldLayoutId id="2147483664" r:id="rId7"/>
    <p:sldLayoutId id="214748366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62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15B3-1011-3094-C557-EE18153C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3: Storage in Cloud Computing (5hrs)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D919-B700-7537-7FA6-AA98852B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1. Database as a Service</a:t>
            </a:r>
          </a:p>
          <a:p>
            <a:pPr marL="0" indent="0">
              <a:buNone/>
            </a:pPr>
            <a:r>
              <a:rPr lang="en-US" dirty="0"/>
              <a:t>2. Storage model and file system</a:t>
            </a:r>
          </a:p>
          <a:p>
            <a:pPr lvl="1"/>
            <a:r>
              <a:rPr lang="en-US" dirty="0"/>
              <a:t>2.1 Parallel File System and Distributed File System</a:t>
            </a:r>
          </a:p>
          <a:p>
            <a:pPr marL="0" indent="0">
              <a:buNone/>
            </a:pPr>
            <a:r>
              <a:rPr lang="en-US" dirty="0"/>
              <a:t>3. Cloud Storage Services</a:t>
            </a:r>
          </a:p>
          <a:p>
            <a:pPr lvl="1"/>
            <a:r>
              <a:rPr lang="en-US" dirty="0"/>
              <a:t>3.1 Object Storage, File Storage, Block Storage, and Archive Storage</a:t>
            </a:r>
          </a:p>
          <a:p>
            <a:pPr lvl="1"/>
            <a:r>
              <a:rPr lang="en-US" dirty="0"/>
              <a:t>3.2 Elastic Storage, Data Redundancy</a:t>
            </a:r>
          </a:p>
          <a:p>
            <a:pPr marL="0" indent="0">
              <a:buNone/>
            </a:pPr>
            <a:r>
              <a:rPr lang="en-US" dirty="0"/>
              <a:t>4. Databases</a:t>
            </a:r>
          </a:p>
          <a:p>
            <a:pPr lvl="1"/>
            <a:r>
              <a:rPr lang="en-US" dirty="0"/>
              <a:t>4.1 Relational: SQL, Non-relational: NoSQL, and Graph Database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CAC79-7491-A7F8-44FB-8E0B6CF6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34" name="Footer Placeholder 133">
            <a:extLst>
              <a:ext uri="{FF2B5EF4-FFF2-40B4-BE49-F238E27FC236}">
                <a16:creationId xmlns:a16="http://schemas.microsoft.com/office/drawing/2014/main" id="{197BE062-2D72-B41A-5227-B412DFAF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2502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E04B2-0CDC-CFEE-659F-ACD82F9D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5D6D-3041-3953-8A1C-9FCC76A6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B100-700C-589A-5418-BDA9CAD4C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storage refers to </a:t>
            </a:r>
            <a:r>
              <a:rPr lang="en-US" b="1" dirty="0"/>
              <a:t>storing data on remote servers</a:t>
            </a:r>
            <a:r>
              <a:rPr lang="en-US" dirty="0"/>
              <a:t> that can be accessed over the internet.</a:t>
            </a:r>
          </a:p>
          <a:p>
            <a:r>
              <a:rPr lang="en-US" dirty="0"/>
              <a:t>These servers are maintained and managed by cloud providers (AWS, Azure, GCP), providing scalable, durable, and highly available storage.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C0909-4C51-B223-AE78-AC7112F7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18DC185-0622-BA19-02B8-B8BE4228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65149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B3ADB-F9FD-CD51-45EE-20F5B121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1467-053D-FBFB-3B48-3EF9617BA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Cloud Storage?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1C8C0-D57A-AF08-4748-38519B664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need to buy physical storage hardware</a:t>
            </a:r>
          </a:p>
          <a:p>
            <a:r>
              <a:rPr lang="en-US" dirty="0"/>
              <a:t>Infinite scalability</a:t>
            </a:r>
          </a:p>
          <a:p>
            <a:r>
              <a:rPr lang="en-US" dirty="0"/>
              <a:t>Pay-as-you-go</a:t>
            </a:r>
          </a:p>
          <a:p>
            <a:r>
              <a:rPr lang="en-US" dirty="0"/>
              <a:t>Accessible from anywhere</a:t>
            </a:r>
          </a:p>
          <a:p>
            <a:r>
              <a:rPr lang="en-US" dirty="0"/>
              <a:t>Built-in redundancy &amp; backups</a:t>
            </a:r>
          </a:p>
          <a:p>
            <a:r>
              <a:rPr lang="en-US" dirty="0"/>
              <a:t>High durability (often 99.999999999%)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81B4C-563B-8198-3748-75FE1538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306A63D-947F-E560-4CAB-F1D075A9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1457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97F6B-8476-9F69-DAD5-05983A22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1038-F43F-7011-ED8A-81E89173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2D811-A535-9FF2-911D-B899CC98E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DBaaS is a </a:t>
            </a:r>
            <a:r>
              <a:rPr lang="en-US" b="1" dirty="0"/>
              <a:t>cloud service model where the cloud provider manages the entire database system</a:t>
            </a:r>
            <a:r>
              <a:rPr lang="en-US" dirty="0"/>
              <a:t> for us.</a:t>
            </a:r>
          </a:p>
          <a:p>
            <a:r>
              <a:rPr lang="en-US" dirty="0"/>
              <a:t>We simply use the database without worrying about installation, backups, scaling, patching, or hardware.</a:t>
            </a:r>
          </a:p>
          <a:p>
            <a:r>
              <a:rPr lang="en-US" dirty="0"/>
              <a:t>It is a key part of </a:t>
            </a:r>
            <a:r>
              <a:rPr lang="en-US" b="1" dirty="0"/>
              <a:t>PaaS (Platform as a Service).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8E270-AE36-874F-EEB7-9E100707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7503D17-9901-AE99-A667-DAE1C389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80669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18079-B043-DCB4-5728-1E001BAA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FA71-4E8A-99C3-7646-2056D6D3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Features of Database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4B6F6-8265-FCB5-CB57-1ADF2967D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Automated Backups</a:t>
            </a:r>
            <a:r>
              <a:rPr lang="en-US" dirty="0"/>
              <a:t>: Daily/continuous backups without admin work</a:t>
            </a:r>
          </a:p>
          <a:p>
            <a:r>
              <a:rPr lang="en-US" b="1" dirty="0"/>
              <a:t>Monitoring</a:t>
            </a:r>
            <a:r>
              <a:rPr lang="en-US" dirty="0"/>
              <a:t>: CPU, RAM, slow queries, errors</a:t>
            </a:r>
          </a:p>
          <a:p>
            <a:r>
              <a:rPr lang="en-US" b="1" dirty="0"/>
              <a:t>Failover</a:t>
            </a:r>
            <a:r>
              <a:rPr lang="en-US" dirty="0"/>
              <a:t>: Automatic switch to replica if primary fails</a:t>
            </a:r>
          </a:p>
          <a:p>
            <a:r>
              <a:rPr lang="en-US" b="1" dirty="0"/>
              <a:t>Scaling</a:t>
            </a:r>
            <a:r>
              <a:rPr lang="en-US" dirty="0"/>
              <a:t>: Vertical/horizontal scaling</a:t>
            </a:r>
          </a:p>
          <a:p>
            <a:r>
              <a:rPr lang="en-US" b="1" dirty="0"/>
              <a:t>Multi-Region Replication</a:t>
            </a:r>
            <a:r>
              <a:rPr lang="en-US" dirty="0"/>
              <a:t>: For global apps</a:t>
            </a:r>
          </a:p>
          <a:p>
            <a:r>
              <a:rPr lang="en-US" b="1" dirty="0"/>
              <a:t>Patching &amp; Updates</a:t>
            </a:r>
            <a:r>
              <a:rPr lang="en-US" dirty="0"/>
              <a:t>: Done by provider</a:t>
            </a:r>
          </a:p>
          <a:p>
            <a:r>
              <a:rPr lang="en-US" b="1" dirty="0"/>
              <a:t>Security Controls</a:t>
            </a:r>
            <a:r>
              <a:rPr lang="en-US" dirty="0"/>
              <a:t>: IAM, firewall rules, encryption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2B44D-0A05-219A-4690-F6BC08CB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922BFF3-0A41-E102-E0B2-146F0682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4036390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40F74-29E9-82C4-E82E-B8E178AE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0BBD-E96D-2F62-64BD-4B4CBEB5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as a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F1652-B09E-7A69-7CF9-255DBE80C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5257800" cy="4623934"/>
          </a:xfrm>
        </p:spPr>
        <p:txBody>
          <a:bodyPr>
            <a:normAutofit/>
          </a:bodyPr>
          <a:lstStyle/>
          <a:p>
            <a:r>
              <a:rPr lang="en-US" dirty="0"/>
              <a:t>The provider handles:</a:t>
            </a:r>
          </a:p>
          <a:p>
            <a:pPr lvl="1"/>
            <a:r>
              <a:rPr lang="en-US" dirty="0"/>
              <a:t>Server provisioning</a:t>
            </a:r>
          </a:p>
          <a:p>
            <a:pPr lvl="1"/>
            <a:r>
              <a:rPr lang="en-US" dirty="0"/>
              <a:t>Installation &amp; configuration</a:t>
            </a:r>
          </a:p>
          <a:p>
            <a:pPr lvl="1"/>
            <a:r>
              <a:rPr lang="en-US" dirty="0"/>
              <a:t>Automatic backups</a:t>
            </a:r>
          </a:p>
          <a:p>
            <a:pPr lvl="1"/>
            <a:r>
              <a:rPr lang="en-US" dirty="0"/>
              <a:t>Patching &amp; updates</a:t>
            </a:r>
          </a:p>
          <a:p>
            <a:pPr lvl="1"/>
            <a:r>
              <a:rPr lang="en-US" dirty="0"/>
              <a:t>High availability</a:t>
            </a:r>
          </a:p>
          <a:p>
            <a:pPr lvl="1"/>
            <a:r>
              <a:rPr lang="en-US" dirty="0"/>
              <a:t>Failover</a:t>
            </a:r>
          </a:p>
          <a:p>
            <a:pPr lvl="1"/>
            <a:r>
              <a:rPr lang="en-US" dirty="0"/>
              <a:t>Monitoring &amp;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BF931-53E4-C6DF-403B-7C93319C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506C6BE-9AD4-FFF6-28C0-3D3EE8C2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81A03C-042D-5F8A-E8C2-1AC7A9D60BB8}"/>
              </a:ext>
            </a:extLst>
          </p:cNvPr>
          <p:cNvSpPr txBox="1">
            <a:spLocks/>
          </p:cNvSpPr>
          <p:nvPr/>
        </p:nvSpPr>
        <p:spPr>
          <a:xfrm>
            <a:off x="6096000" y="1532695"/>
            <a:ext cx="5257800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Developers focus only on:</a:t>
            </a:r>
          </a:p>
          <a:p>
            <a:pPr lvl="1"/>
            <a:r>
              <a:rPr lang="en-US" dirty="0"/>
              <a:t>Writing queries</a:t>
            </a:r>
          </a:p>
          <a:p>
            <a:pPr lvl="1"/>
            <a:r>
              <a:rPr lang="en-US" dirty="0"/>
              <a:t>Designing schema</a:t>
            </a:r>
          </a:p>
          <a:p>
            <a:pPr lvl="1"/>
            <a:r>
              <a:rPr lang="en-US" dirty="0"/>
              <a:t>Running your application</a:t>
            </a:r>
          </a:p>
        </p:txBody>
      </p:sp>
    </p:spTree>
    <p:extLst>
      <p:ext uri="{BB962C8B-B14F-4D97-AF65-F5344CB8AC3E}">
        <p14:creationId xmlns:p14="http://schemas.microsoft.com/office/powerpoint/2010/main" val="3265892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F9AA3-CE08-1EF2-C089-B361E2D3D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A64F-44CC-F631-260D-08B9577CE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Popular DBaaS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2F237-44F4-C33B-4B0E-332268B8D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53029"/>
            <a:ext cx="10326330" cy="462393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Relational Databases</a:t>
            </a:r>
          </a:p>
          <a:p>
            <a:pPr lvl="1"/>
            <a:r>
              <a:rPr lang="en-US" dirty="0"/>
              <a:t>AWS RDS (MySQL, PostgreSQL, Oracle, SQL Server, MariaDB, Amazon Aurora)</a:t>
            </a:r>
          </a:p>
          <a:p>
            <a:pPr lvl="1"/>
            <a:r>
              <a:rPr lang="en-US" dirty="0"/>
              <a:t>Azure SQL Database</a:t>
            </a:r>
          </a:p>
          <a:p>
            <a:pPr lvl="1"/>
            <a:r>
              <a:rPr lang="en-US" dirty="0"/>
              <a:t>Google Cloud SQL</a:t>
            </a:r>
          </a:p>
          <a:p>
            <a:r>
              <a:rPr lang="en-US" b="1" dirty="0"/>
              <a:t>NoSQL Databases</a:t>
            </a:r>
          </a:p>
          <a:p>
            <a:pPr lvl="1"/>
            <a:r>
              <a:rPr lang="en-US" dirty="0"/>
              <a:t>AWS DynamoDB</a:t>
            </a:r>
          </a:p>
          <a:p>
            <a:pPr lvl="1"/>
            <a:r>
              <a:rPr lang="en-US" dirty="0"/>
              <a:t>Azure Cosmos DB</a:t>
            </a:r>
          </a:p>
          <a:p>
            <a:pPr lvl="1"/>
            <a:r>
              <a:rPr lang="en-US" dirty="0"/>
              <a:t>MongoDB Atlas</a:t>
            </a:r>
          </a:p>
          <a:p>
            <a:pPr lvl="1"/>
            <a:r>
              <a:rPr lang="en-US" dirty="0"/>
              <a:t>Firebase </a:t>
            </a:r>
            <a:r>
              <a:rPr lang="en-US" dirty="0" err="1"/>
              <a:t>Firestore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E226B-0346-AA53-C882-97EC851F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79BC22F-E425-F451-A6DB-A173CE128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05644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D332B-DD5F-4DD2-978F-E9CB0C73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548AF-0FD6-FAF7-AB83-956A92B0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DBaaS?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585C0-7D57-7580-5086-AEA7CCF43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53029"/>
            <a:ext cx="10326330" cy="4623934"/>
          </a:xfrm>
        </p:spPr>
        <p:txBody>
          <a:bodyPr>
            <a:normAutofit/>
          </a:bodyPr>
          <a:lstStyle/>
          <a:p>
            <a:r>
              <a:rPr lang="en-US" dirty="0"/>
              <a:t>Reduced Operational Burden</a:t>
            </a:r>
          </a:p>
          <a:p>
            <a:r>
              <a:rPr lang="en-US" dirty="0"/>
              <a:t>No need for DBA-level tasks. Cloud does everything.</a:t>
            </a:r>
          </a:p>
          <a:p>
            <a:r>
              <a:rPr lang="en-US" dirty="0"/>
              <a:t>Automatic Scalability</a:t>
            </a:r>
          </a:p>
          <a:p>
            <a:r>
              <a:rPr lang="en-US" dirty="0"/>
              <a:t>High Availability</a:t>
            </a:r>
          </a:p>
          <a:p>
            <a:r>
              <a:rPr lang="en-US" dirty="0"/>
              <a:t>Backups &amp; DR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Pay-as-you-go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0AEBD-E8DD-C31D-8EB5-19BA3004E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E153126-AA61-294F-0783-9890ADDF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47569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C1247-D9DC-9B23-EAF3-CF7BB39B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1FDD-61EA-56BF-C7F5-B6D1FF5B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512F-E5A2-D48C-F933-3623BC5F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file system</a:t>
            </a:r>
            <a:r>
              <a:rPr lang="en-US" dirty="0"/>
              <a:t> defines how data is stored, structured, named, and accessed on storage devices.</a:t>
            </a:r>
          </a:p>
          <a:p>
            <a:r>
              <a:rPr lang="en-US" dirty="0"/>
              <a:t>In cloud computing, file systems are designed for </a:t>
            </a:r>
            <a:r>
              <a:rPr lang="en-US" b="1" dirty="0"/>
              <a:t>distributed, scalable, fault-tolerant storage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4A02E-7BB5-2498-0A5A-0D774F72A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3966153-6778-F3E8-EDB5-BCA48DC9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4266656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14C2F-A22C-54D2-C2AD-BB3507F2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ED5D-A6C5-A0C6-AEB6-C3A8C47D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91997-D3E6-6052-CCD6-4655357E8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Parallel File System</a:t>
            </a:r>
            <a:r>
              <a:rPr lang="en-US" dirty="0"/>
              <a:t> allows multiple clients to </a:t>
            </a:r>
            <a:r>
              <a:rPr lang="en-US" b="1" dirty="0"/>
              <a:t>read/write data simultaneously</a:t>
            </a:r>
            <a:r>
              <a:rPr lang="en-US" dirty="0"/>
              <a:t> from many storage servers in parallel.</a:t>
            </a:r>
          </a:p>
          <a:p>
            <a:r>
              <a:rPr lang="en-US" b="1" dirty="0"/>
              <a:t>High bandwidth </a:t>
            </a:r>
            <a:r>
              <a:rPr lang="en-US" dirty="0"/>
              <a:t>and </a:t>
            </a:r>
            <a:r>
              <a:rPr lang="en-US" b="1" dirty="0"/>
              <a:t>High throughput</a:t>
            </a:r>
            <a:r>
              <a:rPr lang="en-US" dirty="0"/>
              <a:t> by distributing file I/O across multiple servers at the same time.</a:t>
            </a:r>
          </a:p>
          <a:p>
            <a:r>
              <a:rPr lang="en-US" dirty="0"/>
              <a:t>Used in </a:t>
            </a:r>
            <a:r>
              <a:rPr lang="en-US" b="1" dirty="0"/>
              <a:t>HPC (High Performance Computing)</a:t>
            </a:r>
            <a:r>
              <a:rPr lang="en-US" dirty="0"/>
              <a:t>, AI, machine learning, weather forecasting, scientific simulations.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D9B25-ABE3-1272-E2FA-4FB7A137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882B251-8334-B3C8-0743-94F809C4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24263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7C84EA-8F5A-EAF8-58FB-D25CD5FC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EAA27-CF9F-C770-AEB6-4570CBD1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Parallel Filesystem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9C18-85B2-63F7-6A69-336E0FD28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     Clients perform parallel I/O</a:t>
            </a:r>
          </a:p>
          <a:p>
            <a:r>
              <a:rPr lang="en-US" dirty="0"/>
              <a:t>           |                |                 |  </a:t>
            </a:r>
          </a:p>
          <a:p>
            <a:r>
              <a:rPr lang="en-US" dirty="0"/>
              <a:t>          v                v                v</a:t>
            </a:r>
          </a:p>
          <a:p>
            <a:r>
              <a:rPr lang="en-US" dirty="0"/>
              <a:t> +---------+---------+---------+</a:t>
            </a:r>
          </a:p>
          <a:p>
            <a:r>
              <a:rPr lang="en-US" dirty="0"/>
              <a:t> |Storage1 |Storage2 |Storage3 |</a:t>
            </a:r>
          </a:p>
          <a:p>
            <a:r>
              <a:rPr lang="en-US" dirty="0"/>
              <a:t> +---------+---------+---------+</a:t>
            </a:r>
          </a:p>
          <a:p>
            <a:r>
              <a:rPr lang="en-US" dirty="0"/>
              <a:t>        \                  |                /</a:t>
            </a:r>
          </a:p>
          <a:p>
            <a:r>
              <a:rPr lang="en-US" dirty="0"/>
              <a:t>         \                 |              /</a:t>
            </a:r>
          </a:p>
          <a:p>
            <a:r>
              <a:rPr lang="en-US" dirty="0"/>
              <a:t>     +-------------------------+</a:t>
            </a:r>
          </a:p>
          <a:p>
            <a:r>
              <a:rPr lang="en-US" dirty="0"/>
              <a:t>     | Parallel FS Metadata    |</a:t>
            </a:r>
          </a:p>
          <a:p>
            <a:r>
              <a:rPr lang="en-US" dirty="0"/>
              <a:t>     +-------------------------+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87940-DE86-5278-F6DA-53A2E13E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365203B-942A-FF56-977F-98CEF5EA8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387936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9AB09-523B-F156-ADDF-EA585B50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1101-AEEE-4D83-138C-D162B6D9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Parallel Filesystem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43A66-EE40-3D13-B382-5984DDBFE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is </a:t>
            </a:r>
            <a:r>
              <a:rPr lang="en-US" b="1" dirty="0"/>
              <a:t>striped</a:t>
            </a:r>
            <a:r>
              <a:rPr lang="en-US" dirty="0"/>
              <a:t> across multiple storage servers.</a:t>
            </a:r>
          </a:p>
          <a:p>
            <a:r>
              <a:rPr lang="en-US" dirty="0"/>
              <a:t>Clients connect to </a:t>
            </a:r>
            <a:r>
              <a:rPr lang="en-US" b="1" dirty="0"/>
              <a:t>many storage nodes at once</a:t>
            </a:r>
            <a:r>
              <a:rPr lang="en-US" dirty="0"/>
              <a:t> → huge speed.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209FF-1DFB-EF3F-0627-51DD909C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08D31D5-050C-65B3-3E58-F8CD8F369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767820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7484D-434D-83E5-F65B-DE4FD457D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AC22-4371-6D4B-532E-1BC7974C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97B4B-4506-1DDC-1542-F8B878DF2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5057633" cy="4623934"/>
          </a:xfrm>
        </p:spPr>
        <p:txBody>
          <a:bodyPr>
            <a:normAutofit/>
          </a:bodyPr>
          <a:lstStyle/>
          <a:p>
            <a:r>
              <a:rPr lang="en-US" b="1" dirty="0"/>
              <a:t>Examples of PFS</a:t>
            </a:r>
          </a:p>
          <a:p>
            <a:pPr lvl="1"/>
            <a:r>
              <a:rPr lang="en-US" dirty="0" err="1"/>
              <a:t>Lustre</a:t>
            </a:r>
            <a:endParaRPr lang="en-US" dirty="0"/>
          </a:p>
          <a:p>
            <a:pPr lvl="1"/>
            <a:r>
              <a:rPr lang="en-US" dirty="0"/>
              <a:t>IBM Spectrum Scale (GPFS)</a:t>
            </a:r>
          </a:p>
          <a:p>
            <a:pPr lvl="1"/>
            <a:r>
              <a:rPr lang="en-US" dirty="0" err="1"/>
              <a:t>BeeGFS</a:t>
            </a:r>
            <a:endParaRPr lang="en-US" dirty="0"/>
          </a:p>
          <a:p>
            <a:pPr lvl="1"/>
            <a:r>
              <a:rPr lang="en-US" dirty="0" err="1"/>
              <a:t>PanFS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75A26-4300-56F5-1949-C4EABE03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13855B3-6DB0-419E-E147-E9471DF2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CFBB70-5FD0-15C6-C1CF-DF375A1F07F6}"/>
              </a:ext>
            </a:extLst>
          </p:cNvPr>
          <p:cNvSpPr txBox="1">
            <a:spLocks/>
          </p:cNvSpPr>
          <p:nvPr/>
        </p:nvSpPr>
        <p:spPr>
          <a:xfrm>
            <a:off x="6296169" y="1553029"/>
            <a:ext cx="5057633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When PFS is Used?</a:t>
            </a:r>
          </a:p>
          <a:p>
            <a:pPr lvl="1"/>
            <a:r>
              <a:rPr lang="en-US" dirty="0"/>
              <a:t>Supercomputers</a:t>
            </a:r>
          </a:p>
          <a:p>
            <a:pPr lvl="1"/>
            <a:r>
              <a:rPr lang="en-US" dirty="0"/>
              <a:t>Scientific research</a:t>
            </a:r>
          </a:p>
          <a:p>
            <a:pPr lvl="1"/>
            <a:r>
              <a:rPr lang="en-US" dirty="0"/>
              <a:t>3D rendering</a:t>
            </a:r>
          </a:p>
          <a:p>
            <a:pPr lvl="1"/>
            <a:r>
              <a:rPr lang="en-US" dirty="0"/>
              <a:t>Big ML model training</a:t>
            </a:r>
          </a:p>
          <a:p>
            <a:pPr lvl="1"/>
            <a:r>
              <a:rPr lang="en-US" dirty="0"/>
              <a:t>Weather prediction simulations</a:t>
            </a:r>
          </a:p>
        </p:txBody>
      </p:sp>
    </p:spTree>
    <p:extLst>
      <p:ext uri="{BB962C8B-B14F-4D97-AF65-F5344CB8AC3E}">
        <p14:creationId xmlns:p14="http://schemas.microsoft.com/office/powerpoint/2010/main" val="149231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8BF31-7A16-87BA-989A-930CEE0B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D988-2196-7E29-D7F8-9E5AD60A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Filesystem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E3879-0A7F-FD35-CE3E-3AA3899AF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Distributed File System</a:t>
            </a:r>
            <a:r>
              <a:rPr lang="en-US" dirty="0"/>
              <a:t> stores files across </a:t>
            </a:r>
            <a:r>
              <a:rPr lang="en-US" b="1" dirty="0"/>
              <a:t>multiple servers</a:t>
            </a:r>
            <a:r>
              <a:rPr lang="en-US" dirty="0"/>
              <a:t>, but users see it as </a:t>
            </a:r>
            <a:r>
              <a:rPr lang="en-US" b="1" dirty="0"/>
              <a:t>one unified file system</a:t>
            </a:r>
            <a:r>
              <a:rPr lang="en-US" dirty="0"/>
              <a:t>.</a:t>
            </a:r>
          </a:p>
          <a:p>
            <a:r>
              <a:rPr lang="en-US" dirty="0"/>
              <a:t>Files are </a:t>
            </a:r>
            <a:r>
              <a:rPr lang="en-US" b="1" dirty="0"/>
              <a:t>distributed</a:t>
            </a:r>
            <a:r>
              <a:rPr lang="en-US" dirty="0"/>
              <a:t> across machines(multiple servers/nodes) to provide:</a:t>
            </a:r>
          </a:p>
          <a:p>
            <a:r>
              <a:rPr lang="en-US" dirty="0"/>
              <a:t>Fault tolerance, Durability</a:t>
            </a:r>
          </a:p>
          <a:p>
            <a:r>
              <a:rPr lang="en-US" dirty="0"/>
              <a:t>High availability, Redundancy</a:t>
            </a:r>
          </a:p>
          <a:p>
            <a:r>
              <a:rPr lang="en-US" dirty="0"/>
              <a:t>Scalability</a:t>
            </a:r>
          </a:p>
          <a:p>
            <a:r>
              <a:rPr lang="en-US" dirty="0"/>
              <a:t>Transparency (looks like a single system)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0CB5B-65DB-5F42-AFC9-8AF5BBD5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7DBEC43-3190-6CB6-DFB8-3ABB31CE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454726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F8E97-4E7B-6FBC-2DFC-F350D494A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1F36-1598-FF0A-01A7-596D70B7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Distributed Filesystem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151A-43E7-961F-9606-35942000C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		+------------------------------+</a:t>
            </a:r>
          </a:p>
          <a:p>
            <a:r>
              <a:rPr lang="en-US" dirty="0"/>
              <a:t>   		  |         DFS Namespace        |</a:t>
            </a:r>
          </a:p>
          <a:p>
            <a:r>
              <a:rPr lang="en-US" dirty="0"/>
              <a:t>         	             +------------------------------+</a:t>
            </a:r>
          </a:p>
          <a:p>
            <a:r>
              <a:rPr lang="en-US" dirty="0"/>
              <a:t>                  	    /                 |                  \</a:t>
            </a:r>
          </a:p>
          <a:p>
            <a:r>
              <a:rPr lang="en-US" dirty="0"/>
              <a:t>                         /                   |                    \</a:t>
            </a:r>
          </a:p>
          <a:p>
            <a:r>
              <a:rPr lang="en-US" dirty="0"/>
              <a:t>          +---------+    +------+-----+   +--------+</a:t>
            </a:r>
          </a:p>
          <a:p>
            <a:r>
              <a:rPr lang="en-US" dirty="0"/>
              <a:t>          | Server1 |.      | Server2    |        | Server3|</a:t>
            </a:r>
          </a:p>
          <a:p>
            <a:r>
              <a:rPr lang="en-US" dirty="0"/>
              <a:t>          +---------+    +------------+   +--------+</a:t>
            </a:r>
          </a:p>
          <a:p>
            <a:r>
              <a:rPr lang="en-US" dirty="0"/>
              <a:t>                |                         |                           |</a:t>
            </a:r>
          </a:p>
          <a:p>
            <a:r>
              <a:rPr lang="en-US" dirty="0"/>
              <a:t>          File chunks        File chunks          File chunks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A9AD0-47FE-184C-5461-081ED43E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5FD6073-0652-D6DA-C745-10259BF3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87392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0DB70-9166-CE0C-3767-9C55BBB9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AA3E-E0CF-08BC-43F2-FF8A97FC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Distributed Filesystem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926E-6273-6A27-EB6A-EA3E4D60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metadata server</a:t>
            </a:r>
            <a:r>
              <a:rPr lang="en-US" dirty="0"/>
              <a:t> manages directory structure and file locations.</a:t>
            </a:r>
          </a:p>
          <a:p>
            <a:r>
              <a:rPr lang="en-US" b="1" dirty="0"/>
              <a:t>Data servers</a:t>
            </a:r>
            <a:r>
              <a:rPr lang="en-US" dirty="0"/>
              <a:t> store the actual file pieces (chunks).</a:t>
            </a:r>
          </a:p>
          <a:p>
            <a:r>
              <a:rPr lang="en-US" dirty="0"/>
              <a:t>Client accesses file like normal, DFS figures out where chunks are.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F4D34-4180-583C-CA20-73D94B1F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888A0FC-C9F4-0E15-7986-77E8AE18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148662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D7048-3955-8717-46DC-2D8A1FEA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069D-E167-9D8C-C19F-CADFC811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Filesystems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B7F9-D2C2-B8AC-008B-6BC9241C2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5003042" cy="4623934"/>
          </a:xfrm>
        </p:spPr>
        <p:txBody>
          <a:bodyPr>
            <a:normAutofit/>
          </a:bodyPr>
          <a:lstStyle/>
          <a:p>
            <a:r>
              <a:rPr lang="en-US" b="1" dirty="0"/>
              <a:t>Examples of DFS</a:t>
            </a:r>
          </a:p>
          <a:p>
            <a:pPr lvl="1"/>
            <a:r>
              <a:rPr lang="en-US" dirty="0"/>
              <a:t>HDFS (Hadoop Distributed File System)</a:t>
            </a:r>
          </a:p>
          <a:p>
            <a:pPr lvl="1"/>
            <a:r>
              <a:rPr lang="en-US" dirty="0"/>
              <a:t>Google File System (GFS)</a:t>
            </a:r>
          </a:p>
          <a:p>
            <a:pPr lvl="1"/>
            <a:r>
              <a:rPr lang="en-US" dirty="0"/>
              <a:t>Amazon EFS</a:t>
            </a:r>
          </a:p>
          <a:p>
            <a:pPr lvl="1"/>
            <a:r>
              <a:rPr lang="en-US" dirty="0" err="1"/>
              <a:t>CephFS</a:t>
            </a:r>
            <a:endParaRPr lang="en-US" dirty="0"/>
          </a:p>
          <a:p>
            <a:pPr lvl="1"/>
            <a:r>
              <a:rPr lang="en-US" dirty="0" err="1"/>
              <a:t>Lustre</a:t>
            </a:r>
            <a:r>
              <a:rPr lang="en-US" dirty="0"/>
              <a:t> (also parallel)</a:t>
            </a:r>
          </a:p>
          <a:p>
            <a:pPr lvl="1"/>
            <a:r>
              <a:rPr lang="en-US" dirty="0" err="1"/>
              <a:t>GlusterFS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70687-F1BE-872A-35D2-28EE6402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FF4D6D7-46A2-3A8C-E677-D2022985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670FB9-C503-1B02-BF5B-1F763595A1F5}"/>
              </a:ext>
            </a:extLst>
          </p:cNvPr>
          <p:cNvSpPr txBox="1">
            <a:spLocks/>
          </p:cNvSpPr>
          <p:nvPr/>
        </p:nvSpPr>
        <p:spPr>
          <a:xfrm>
            <a:off x="6350758" y="1570151"/>
            <a:ext cx="5003042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When DFS is Used?</a:t>
            </a:r>
          </a:p>
          <a:p>
            <a:pPr lvl="1"/>
            <a:r>
              <a:rPr lang="en-US" dirty="0"/>
              <a:t>Big data processing</a:t>
            </a:r>
          </a:p>
          <a:p>
            <a:pPr lvl="1"/>
            <a:r>
              <a:rPr lang="en-US" dirty="0"/>
              <a:t>Cloud storage</a:t>
            </a:r>
          </a:p>
          <a:p>
            <a:pPr lvl="1"/>
            <a:r>
              <a:rPr lang="en-US" dirty="0"/>
              <a:t>Application servers sharing files</a:t>
            </a:r>
          </a:p>
          <a:p>
            <a:pPr lvl="1"/>
            <a:r>
              <a:rPr lang="en-US" dirty="0"/>
              <a:t>Large-scale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2663825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DC0E1-1BAF-A0D9-2272-40012201C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2C8F-7A84-25B9-DFC3-4A712BEB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4ABE17-E15B-41E1-1233-A58014348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331824"/>
              </p:ext>
            </p:extLst>
          </p:nvPr>
        </p:nvGraphicFramePr>
        <p:xfrm>
          <a:off x="838200" y="1463675"/>
          <a:ext cx="10116000" cy="5029200"/>
        </p:xfrm>
        <a:graphic>
          <a:graphicData uri="http://schemas.openxmlformats.org/drawingml/2006/table">
            <a:tbl>
              <a:tblPr/>
              <a:tblGrid>
                <a:gridCol w="1764000">
                  <a:extLst>
                    <a:ext uri="{9D8B030D-6E8A-4147-A177-3AD203B41FA5}">
                      <a16:colId xmlns:a16="http://schemas.microsoft.com/office/drawing/2014/main" val="2972450734"/>
                    </a:ext>
                  </a:extLst>
                </a:gridCol>
                <a:gridCol w="4176000">
                  <a:extLst>
                    <a:ext uri="{9D8B030D-6E8A-4147-A177-3AD203B41FA5}">
                      <a16:colId xmlns:a16="http://schemas.microsoft.com/office/drawing/2014/main" val="4238604860"/>
                    </a:ext>
                  </a:extLst>
                </a:gridCol>
                <a:gridCol w="4176000">
                  <a:extLst>
                    <a:ext uri="{9D8B030D-6E8A-4147-A177-3AD203B41FA5}">
                      <a16:colId xmlns:a16="http://schemas.microsoft.com/office/drawing/2014/main" val="4170249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Distributed File System (DFS)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Parallel File System (PFS)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68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Goal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Fault tolerance &amp; 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High throughput &amp;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6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I/O Pattern</a:t>
                      </a:r>
                      <a:endParaRPr lang="en-US" sz="2400" dirty="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Sequential &amp; simple 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Multiple simultaneous I/O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552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Data Access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Single server at a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Multiple servers at 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103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Metadata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Single metadata master or replicated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May use separate metadata servers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53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Use Cases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Cloud storage, web apps, shared file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HPC, AI, scientific simulations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5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Examples</a:t>
                      </a:r>
                      <a:endParaRPr lang="en-US" sz="240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HDFS, GFS, EFS, CephFS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>
                          <a:latin typeface=""/>
                        </a:rPr>
                        <a:t>Lustre</a:t>
                      </a:r>
                      <a:r>
                        <a:rPr lang="en-US" sz="2400" dirty="0">
                          <a:latin typeface=""/>
                        </a:rPr>
                        <a:t>, GPFS, </a:t>
                      </a:r>
                      <a:r>
                        <a:rPr lang="en-US" sz="2400" dirty="0" err="1">
                          <a:latin typeface=""/>
                        </a:rPr>
                        <a:t>BeeGFS</a:t>
                      </a:r>
                      <a:endParaRPr lang="en-US" sz="2400" dirty="0">
                        <a:latin typeface="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8672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879F6-B85B-659F-DA9D-4D1C8C117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BBDE2AC-AE83-5B4D-62BE-46266321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334470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3E8F0-48F0-0BA3-1325-8E16738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C0EA-599B-ECE7-CEB5-1EF1A1B5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Storage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18A36-196C-84F9-FF2A-743B0E50A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Cloud storage services allow users and organizations to store, manage, and access data over the internet instead of maintaining local storage </a:t>
            </a:r>
            <a:r>
              <a:rPr lang="en-US" dirty="0" err="1"/>
              <a:t>hardware.These</a:t>
            </a:r>
            <a:r>
              <a:rPr lang="en-US" dirty="0"/>
              <a:t> services provide scalability, durability, high availability, and pay-as-you-go pricing.</a:t>
            </a:r>
          </a:p>
          <a:p>
            <a:r>
              <a:rPr lang="en-US" dirty="0"/>
              <a:t>Cloud storage typically falls into four major types: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Object Storage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Block Storage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File Storage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Archive Storage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9C2C4-580E-C2A4-8F3D-6B34C9658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6297E6E-D0F2-9EA1-44CB-1CDDF62F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62782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2C428-6A82-999A-9C8B-E6EA3DF2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AB65-D18A-D88A-39DC-96E0D7D6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FED9-33B8-8ACD-249D-E86860AFB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Characteristics:</a:t>
            </a:r>
            <a:endParaRPr lang="en-US" dirty="0"/>
          </a:p>
          <a:p>
            <a:pPr lvl="1"/>
            <a:r>
              <a:rPr lang="en-US" dirty="0"/>
              <a:t>Stores data as objects (file + metadata + </a:t>
            </a:r>
            <a:r>
              <a:rPr lang="en-US" dirty="0" err="1"/>
              <a:t>uniqueID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Highly scalable, durable and global access</a:t>
            </a:r>
          </a:p>
          <a:p>
            <a:pPr lvl="1"/>
            <a:r>
              <a:rPr lang="en-US" dirty="0"/>
              <a:t>Cheap &amp; durable</a:t>
            </a:r>
          </a:p>
          <a:p>
            <a:pPr lvl="1"/>
            <a:r>
              <a:rPr lang="en-US" dirty="0"/>
              <a:t>No hierarchy like folders or drives (flat structure simulated)</a:t>
            </a:r>
            <a:endParaRPr lang="en-US" b="1" dirty="0"/>
          </a:p>
          <a:p>
            <a:r>
              <a:rPr lang="en-US" b="1" dirty="0"/>
              <a:t>Best for:</a:t>
            </a:r>
            <a:r>
              <a:rPr lang="en-US" dirty="0"/>
              <a:t> Images, videos, backups, logs, big data, static content</a:t>
            </a:r>
          </a:p>
          <a:p>
            <a:r>
              <a:rPr lang="en-US" b="1" dirty="0"/>
              <a:t>Examples: </a:t>
            </a:r>
            <a:r>
              <a:rPr lang="en-US" dirty="0"/>
              <a:t>Backups, archives, static website assets, and large data lakes. (e.g., AWS S3, Azure Blob Storage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1C92A-FBD3-5E57-BAE7-A675A1A5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24E4EC4-9C36-C711-BBE7-3C572BF8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204361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DB4A2-890F-1012-AFA8-6A127840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78B2-691E-080A-2E37-375CEEC7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E7BF5-8456-B140-8F9B-3DC66E38D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Bucket: photos-bucket</a:t>
            </a:r>
          </a:p>
          <a:p>
            <a:r>
              <a:rPr lang="en-US" b="1" dirty="0"/>
              <a:t>|</a:t>
            </a:r>
          </a:p>
          <a:p>
            <a:r>
              <a:rPr lang="en-US" b="1" dirty="0"/>
              <a:t>|-- Object: IMG_001.jpg</a:t>
            </a:r>
          </a:p>
          <a:p>
            <a:r>
              <a:rPr lang="en-US" b="1" dirty="0"/>
              <a:t>|       Metadata: {owner: user1, size: 2MB, type: jpeg}</a:t>
            </a:r>
          </a:p>
          <a:p>
            <a:r>
              <a:rPr lang="en-US" b="1" dirty="0"/>
              <a:t>|</a:t>
            </a:r>
          </a:p>
          <a:p>
            <a:r>
              <a:rPr lang="en-US" b="1" dirty="0"/>
              <a:t>|-- Object: </a:t>
            </a:r>
            <a:r>
              <a:rPr lang="en-US" b="1" dirty="0" err="1"/>
              <a:t>invoice.pdf</a:t>
            </a:r>
            <a:endParaRPr lang="en-US" b="1" dirty="0"/>
          </a:p>
          <a:p>
            <a:r>
              <a:rPr lang="en-US" b="1" dirty="0"/>
              <a:t>|       Metadata: {owner: user2, type: pdf}</a:t>
            </a:r>
          </a:p>
          <a:p>
            <a:r>
              <a:rPr lang="en-US" b="1" dirty="0"/>
              <a:t>|</a:t>
            </a:r>
          </a:p>
          <a:p>
            <a:r>
              <a:rPr lang="en-US" b="1" dirty="0"/>
              <a:t>|-- Object: video.mp4</a:t>
            </a:r>
          </a:p>
          <a:p>
            <a:r>
              <a:rPr lang="en-US" b="1" dirty="0"/>
              <a:t>|       Metadata: {duration: 10min}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F88CF-FA0F-36FB-AB32-4710F89D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71D8E00-6655-7C8D-817C-505E7AB1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350792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BDF99-E016-AE76-E7E6-D5E49F93D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B7FA-95FE-2424-3485-68A94EE7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5D92-480F-2AE1-E04E-26556EF8F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Characteristics:</a:t>
            </a:r>
            <a:endParaRPr lang="en-US" dirty="0"/>
          </a:p>
          <a:p>
            <a:pPr lvl="1"/>
            <a:r>
              <a:rPr lang="en-US" dirty="0"/>
              <a:t>Uses file/folder/subfolder structure (directories/subdirectories)</a:t>
            </a:r>
          </a:p>
          <a:p>
            <a:pPr lvl="1"/>
            <a:r>
              <a:rPr lang="en-US" dirty="0"/>
              <a:t>Accessible via network (NFS, SMB, CIFS) protocols</a:t>
            </a:r>
          </a:p>
          <a:p>
            <a:pPr lvl="1"/>
            <a:r>
              <a:rPr lang="en-US" dirty="0"/>
              <a:t>Shared across multiple servers</a:t>
            </a:r>
          </a:p>
          <a:p>
            <a:r>
              <a:rPr lang="en-US" b="1" dirty="0"/>
              <a:t>Best for:</a:t>
            </a:r>
            <a:r>
              <a:rPr lang="en-US" dirty="0"/>
              <a:t> Shared storage, legacy apps, enterprise workloads</a:t>
            </a:r>
          </a:p>
          <a:p>
            <a:r>
              <a:rPr lang="en-US" b="1" dirty="0"/>
              <a:t>Examples:</a:t>
            </a:r>
            <a:r>
              <a:rPr lang="en-US" dirty="0"/>
              <a:t> Content management systems, shared application configuration. (e.g., AWS EFS, Azure Files)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60C8B-511A-9B3B-0F62-89F91FD8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B6882EA-F101-89A9-8C3F-3F392081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829934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9D400-F460-8CAE-5679-484DAF0F4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1C60-60D5-3155-17DB-FA9B770B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29AD2-3D42-A8B6-A972-F09D4E9F3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/project-data</a:t>
            </a:r>
          </a:p>
          <a:p>
            <a:r>
              <a:rPr lang="en-US" b="1" dirty="0"/>
              <a:t>|</a:t>
            </a:r>
          </a:p>
          <a:p>
            <a:r>
              <a:rPr lang="en-US" b="1" dirty="0"/>
              <a:t>|-- /images</a:t>
            </a:r>
          </a:p>
          <a:p>
            <a:r>
              <a:rPr lang="en-US" b="1" dirty="0"/>
              <a:t>|      |-- pic1.png</a:t>
            </a:r>
          </a:p>
          <a:p>
            <a:r>
              <a:rPr lang="en-US" b="1" dirty="0"/>
              <a:t>|      |-- pic2.png</a:t>
            </a:r>
          </a:p>
          <a:p>
            <a:r>
              <a:rPr lang="en-US" b="1" dirty="0"/>
              <a:t>|</a:t>
            </a:r>
          </a:p>
          <a:p>
            <a:r>
              <a:rPr lang="en-US" b="1" dirty="0"/>
              <a:t>|-- /docs</a:t>
            </a:r>
          </a:p>
          <a:p>
            <a:r>
              <a:rPr lang="en-US" b="1" dirty="0"/>
              <a:t>|      |-- </a:t>
            </a:r>
            <a:r>
              <a:rPr lang="en-US" b="1" dirty="0" err="1"/>
              <a:t>report.docx</a:t>
            </a:r>
            <a:endParaRPr lang="en-US" b="1" dirty="0"/>
          </a:p>
          <a:p>
            <a:r>
              <a:rPr lang="en-US" b="1" dirty="0"/>
              <a:t>|      |-- </a:t>
            </a:r>
            <a:r>
              <a:rPr lang="en-US" b="1" dirty="0" err="1"/>
              <a:t>design.pdf</a:t>
            </a:r>
            <a:endParaRPr lang="en-US" b="1" dirty="0"/>
          </a:p>
          <a:p>
            <a:r>
              <a:rPr lang="en-US" b="1" dirty="0"/>
              <a:t>|</a:t>
            </a:r>
          </a:p>
          <a:p>
            <a:r>
              <a:rPr lang="en-US" b="1" dirty="0"/>
              <a:t>|-- /logs</a:t>
            </a:r>
          </a:p>
          <a:p>
            <a:r>
              <a:rPr lang="en-US" b="1" dirty="0"/>
              <a:t>       |-- </a:t>
            </a:r>
            <a:r>
              <a:rPr lang="en-US" b="1" dirty="0" err="1"/>
              <a:t>app.log</a:t>
            </a:r>
            <a:endParaRPr lang="en-US" b="1" dirty="0"/>
          </a:p>
          <a:p>
            <a:r>
              <a:rPr lang="en-US" b="1" dirty="0"/>
              <a:t>       |-- </a:t>
            </a:r>
            <a:r>
              <a:rPr lang="en-US" b="1" dirty="0" err="1"/>
              <a:t>error.log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B92F9-2F3C-FAAA-AF13-B097BF73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05BC94F-E51A-2840-95EF-6EA8BC06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189370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0686E-E2D2-D8E1-042F-367EDD6F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E7DD-CD9F-BC2F-043D-1D5B23F7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Block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13FD8-0C71-BB81-8181-BCD46A36D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Characteristics:</a:t>
            </a:r>
            <a:endParaRPr lang="en-US" dirty="0"/>
          </a:p>
          <a:p>
            <a:pPr lvl="1"/>
            <a:r>
              <a:rPr lang="en-US" dirty="0"/>
              <a:t>Data stored in fixed-size volumes called blocks</a:t>
            </a:r>
          </a:p>
          <a:p>
            <a:pPr lvl="1"/>
            <a:r>
              <a:rPr lang="en-US" dirty="0"/>
              <a:t>High performance and low latency</a:t>
            </a:r>
          </a:p>
          <a:p>
            <a:pPr lvl="1"/>
            <a:r>
              <a:rPr lang="en-US" dirty="0"/>
              <a:t>Works like a hard disk attached to a VM</a:t>
            </a:r>
          </a:p>
          <a:p>
            <a:pPr lvl="1"/>
            <a:r>
              <a:rPr lang="en-US" dirty="0"/>
              <a:t>Good for transactional workloads</a:t>
            </a:r>
          </a:p>
          <a:p>
            <a:r>
              <a:rPr lang="en-US" b="1" dirty="0"/>
              <a:t>Best for:</a:t>
            </a:r>
            <a:r>
              <a:rPr lang="en-US" dirty="0"/>
              <a:t> Databases, virtual machines, applications needing fast read/write</a:t>
            </a:r>
          </a:p>
          <a:p>
            <a:r>
              <a:rPr lang="en-US" b="1" dirty="0"/>
              <a:t>Examples: </a:t>
            </a:r>
            <a:r>
              <a:rPr lang="en-US" dirty="0"/>
              <a:t>Regulatory compliance, deep backups. (e.g., AWS Glacier, Azure Disk Storage, GCP Persistent Disk)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8B39D-CD2B-C6D1-2178-64EF5EE9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7778FA0-9E6D-6D83-80E6-A31F825C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152079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C1D25-DDED-CBCE-78E8-3D41F766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CCBD-06F7-B092-A8DB-5749D26A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Block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FFAB3-F33B-D5E7-5D51-E19CB4EE7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+----------------------------------------+</a:t>
            </a:r>
          </a:p>
          <a:p>
            <a:r>
              <a:rPr lang="en-US" b="1" dirty="0"/>
              <a:t>|  Block 0 | Block 1 | Block 2 | Block 3 |</a:t>
            </a:r>
          </a:p>
          <a:p>
            <a:r>
              <a:rPr lang="en-US" b="1" dirty="0"/>
              <a:t>+----------------------------------------+</a:t>
            </a:r>
          </a:p>
          <a:p>
            <a:r>
              <a:rPr lang="en-US" b="1" dirty="0"/>
              <a:t>|  Block 4 | Block 5 | Block 6 | Block 7 |</a:t>
            </a:r>
          </a:p>
          <a:p>
            <a:r>
              <a:rPr lang="en-US" b="1" dirty="0"/>
              <a:t>+----------------------------------------+</a:t>
            </a:r>
          </a:p>
          <a:p>
            <a:endParaRPr lang="en-US" b="1" dirty="0"/>
          </a:p>
          <a:p>
            <a:r>
              <a:rPr lang="en-US" b="1" dirty="0"/>
              <a:t>/dev/</a:t>
            </a:r>
            <a:r>
              <a:rPr lang="en-US" b="1" dirty="0" err="1"/>
              <a:t>xvdf</a:t>
            </a:r>
            <a:r>
              <a:rPr lang="en-US" b="1" dirty="0"/>
              <a:t>  (Block storage volume)</a:t>
            </a:r>
          </a:p>
          <a:p>
            <a:r>
              <a:rPr lang="en-US" b="1" dirty="0"/>
              <a:t>|</a:t>
            </a:r>
          </a:p>
          <a:p>
            <a:r>
              <a:rPr lang="en-US" b="1" dirty="0"/>
              <a:t>|-- /</a:t>
            </a:r>
            <a:r>
              <a:rPr lang="en-US" b="1" dirty="0" err="1"/>
              <a:t>mydisk</a:t>
            </a:r>
            <a:endParaRPr lang="en-US" b="1" dirty="0"/>
          </a:p>
          <a:p>
            <a:r>
              <a:rPr lang="en-US" b="1" dirty="0"/>
              <a:t>      |-- file1.txt</a:t>
            </a:r>
          </a:p>
          <a:p>
            <a:r>
              <a:rPr lang="en-US" b="1" dirty="0"/>
              <a:t>      |-- </a:t>
            </a:r>
            <a:r>
              <a:rPr lang="en-US" b="1" dirty="0" err="1"/>
              <a:t>database.db</a:t>
            </a:r>
            <a:endParaRPr lang="en-US" b="1" dirty="0"/>
          </a:p>
          <a:p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BE00F-D94B-C826-5736-FB72FDA1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AEFC59B-C41E-015C-BD05-70ECBB2F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282874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A4C718-5FA5-4B0B-28D8-8000526F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5E6D-27F4-DEC9-2DEA-D68E5274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Archive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83D08-963E-6CAE-41F8-8D102A899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Characteristics</a:t>
            </a:r>
          </a:p>
          <a:p>
            <a:pPr lvl="1"/>
            <a:r>
              <a:rPr lang="en-US" dirty="0"/>
              <a:t>Low-cost storage for rarely accessed data.</a:t>
            </a:r>
          </a:p>
          <a:p>
            <a:pPr lvl="1"/>
            <a:r>
              <a:rPr lang="en-US" dirty="0"/>
              <a:t>Very high durability, but slow retrieval time.</a:t>
            </a:r>
          </a:p>
          <a:p>
            <a:pPr lvl="1"/>
            <a:r>
              <a:rPr lang="en-US" dirty="0"/>
              <a:t>Stored as objects, but optimized.</a:t>
            </a:r>
          </a:p>
          <a:p>
            <a:r>
              <a:rPr lang="en-US" b="1" dirty="0"/>
              <a:t>Best for: </a:t>
            </a:r>
            <a:r>
              <a:rPr lang="en-US" dirty="0"/>
              <a:t>Compliance data, Old backups, Long-term retention</a:t>
            </a:r>
          </a:p>
          <a:p>
            <a:r>
              <a:rPr lang="en-US" b="1" dirty="0"/>
              <a:t>Examples: </a:t>
            </a:r>
            <a:r>
              <a:rPr lang="en-US" dirty="0"/>
              <a:t>Amazon Glacier, Azure Archive Storage, Google Archive Storage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990C6-9258-A5D3-8BED-9CDD17AA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454B918-B2BC-286F-60F7-7FA5288CB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4224255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CAC6B6-DC91-2EA7-3FDC-792962116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14B36-DEC6-8122-9A8A-B81B141FB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Elastic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8EF76-BB5B-6E7C-1FDF-F1C1EC940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ability of cloud storage to instantly scale capacity up or down to meet demand without requiring manual intervention or downtime.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0D451-5131-19D3-CB30-03EFFF0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7E9BA22-75AE-A5D5-ADF4-9956046E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802385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4D33B-53DB-DFD6-5B21-F9066E78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B226-84AD-B4BB-D5AB-4D92F5DB4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Redundancy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FF281-A59D-F5DA-B2A7-470B31196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Storing multiple copies of data across different physical locations or devices to ensure </a:t>
            </a:r>
            <a:r>
              <a:rPr lang="en-US" b="1" dirty="0"/>
              <a:t>data durability</a:t>
            </a:r>
            <a:r>
              <a:rPr lang="en-US" dirty="0"/>
              <a:t> (protection against loss) and </a:t>
            </a:r>
            <a:r>
              <a:rPr lang="en-US" b="1" dirty="0"/>
              <a:t>high availability</a:t>
            </a:r>
            <a:r>
              <a:rPr lang="en-US" dirty="0"/>
              <a:t> (always accessible).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9498C-821A-1A21-25FD-FCDBFC8E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EA75549-BD81-AEF4-9254-8A9C7D18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657476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B3DCE-5AC4-75E7-562B-ADBDC1F4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FECE-FDF7-9EC7-E5D5-EA8BF8C3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FB9CD-CF76-098F-87CE-8F0D89549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C352E-9828-8304-E506-0A880124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EBD8B43-1BB7-A5AB-CC3A-08CDDA2C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797632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C786A-7A77-D09B-C978-74D4D765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D27E-4388-382A-810F-FDB46C5D4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D21AF-24EC-4A97-C71D-41170F4E5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Relational (SQL) Databases:</a:t>
            </a:r>
            <a:endParaRPr lang="en-US" dirty="0"/>
          </a:p>
          <a:p>
            <a:r>
              <a:rPr lang="en-US" b="1" dirty="0"/>
              <a:t>Description:</a:t>
            </a:r>
            <a:r>
              <a:rPr lang="en-US" dirty="0"/>
              <a:t> Stores data in a structured tabular format with predefined schemas, maintaining relationships between tables using keys. They enforce </a:t>
            </a:r>
            <a:r>
              <a:rPr lang="en-US" b="1" dirty="0"/>
              <a:t>ACID</a:t>
            </a:r>
            <a:r>
              <a:rPr lang="en-US" dirty="0"/>
              <a:t> (Atomicity, Consistency, Isolation, Durability) properties, making them ideal for complex transactions.</a:t>
            </a:r>
          </a:p>
          <a:p>
            <a:r>
              <a:rPr lang="en-US" b="1" dirty="0"/>
              <a:t>Use Cases:</a:t>
            </a:r>
            <a:r>
              <a:rPr lang="en-US" dirty="0"/>
              <a:t> Financial systems, e-commerce transactions, inventory management. (e.g., MySQL, PostgreSQL, MSSQL, Oracle).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A91BE-9A62-EAB2-B7D6-9A4DAE64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EF928A5-B652-A445-402C-1446DDF9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495824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9272D-E6B5-ED3E-E17E-A8F23027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4121-4E03-4B5E-ADC9-2E90C283B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23ACA-E7E2-4149-8950-4B2A5268A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Non-relational (NoSQL) Databases:</a:t>
            </a:r>
            <a:endParaRPr lang="en-US" dirty="0"/>
          </a:p>
          <a:p>
            <a:r>
              <a:rPr lang="en-US" b="1" dirty="0"/>
              <a:t>Description:</a:t>
            </a:r>
            <a:r>
              <a:rPr lang="en-US" dirty="0"/>
              <a:t> Designed to handle massive volumes of data and high velocity/variety of data. They typically prioritize availability and partition tolerance over strong consistency (</a:t>
            </a:r>
            <a:r>
              <a:rPr lang="en-US" b="1" dirty="0"/>
              <a:t>BASE</a:t>
            </a:r>
            <a:r>
              <a:rPr lang="en-US" dirty="0"/>
              <a:t> Basically Available, Soft State, and Eventual Consistency properties).</a:t>
            </a:r>
          </a:p>
          <a:p>
            <a:r>
              <a:rPr lang="en-US" b="1" dirty="0"/>
              <a:t>Types:</a:t>
            </a:r>
            <a:endParaRPr lang="en-US" dirty="0"/>
          </a:p>
          <a:p>
            <a:pPr lvl="1"/>
            <a:r>
              <a:rPr lang="en-US" b="1" dirty="0"/>
              <a:t>Key-Value:</a:t>
            </a:r>
            <a:r>
              <a:rPr lang="en-US" dirty="0"/>
              <a:t> Simple lookup (e.g., Redis).</a:t>
            </a:r>
          </a:p>
          <a:p>
            <a:pPr lvl="1"/>
            <a:r>
              <a:rPr lang="en-US" b="1" dirty="0"/>
              <a:t>Document:</a:t>
            </a:r>
            <a:r>
              <a:rPr lang="en-US" dirty="0"/>
              <a:t> Stores data in flexible, JSON-like documents (e.g., MongoDB).</a:t>
            </a:r>
          </a:p>
          <a:p>
            <a:pPr lvl="1"/>
            <a:r>
              <a:rPr lang="en-US" b="1" dirty="0"/>
              <a:t>Wide-Column:</a:t>
            </a:r>
            <a:r>
              <a:rPr lang="en-US" dirty="0"/>
              <a:t> Data stored in columns rather than rows (e.g., Cassandra).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83163-2DF3-D6DF-3D1F-E5A6C4DC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F9CAE50-252D-960B-99EA-DD6A2EED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4167658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3AF82-38FA-3870-EE2E-FAE26D48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DD57-FA45-9CD9-FBDB-EAD25276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862153-9C4A-6A11-41C3-478FA5E03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154826"/>
              </p:ext>
            </p:extLst>
          </p:nvPr>
        </p:nvGraphicFramePr>
        <p:xfrm>
          <a:off x="838200" y="1645920"/>
          <a:ext cx="10515600" cy="3200400"/>
        </p:xfrm>
        <a:graphic>
          <a:graphicData uri="http://schemas.openxmlformats.org/drawingml/2006/table">
            <a:tbl>
              <a:tblPr/>
              <a:tblGrid>
                <a:gridCol w="2273710">
                  <a:extLst>
                    <a:ext uri="{9D8B030D-6E8A-4147-A177-3AD203B41FA5}">
                      <a16:colId xmlns:a16="http://schemas.microsoft.com/office/drawing/2014/main" val="2632142206"/>
                    </a:ext>
                  </a:extLst>
                </a:gridCol>
                <a:gridCol w="3274142">
                  <a:extLst>
                    <a:ext uri="{9D8B030D-6E8A-4147-A177-3AD203B41FA5}">
                      <a16:colId xmlns:a16="http://schemas.microsoft.com/office/drawing/2014/main" val="3915634633"/>
                    </a:ext>
                  </a:extLst>
                </a:gridCol>
                <a:gridCol w="4967748">
                  <a:extLst>
                    <a:ext uri="{9D8B030D-6E8A-4147-A177-3AD203B41FA5}">
                      <a16:colId xmlns:a16="http://schemas.microsoft.com/office/drawing/2014/main" val="129345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Relational (RDBMS)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NoSQL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009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Key-value, Document, Graph,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81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Flexible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957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No 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672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Consistency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Strong (ACID)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Eventual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766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Vertical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Horizontal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72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Use-Case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Big data,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90275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FC2A-7297-BA32-2D68-AA99E8C6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25A0EC36-A98C-CED3-9BFF-C72D43A6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726177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7600D-D8AD-B714-92C9-6AE0E1C89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42BCE-A11B-C6A7-52D6-A16BFD1B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AB933-0166-60C7-6B5A-EB50C2456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Graph Database:</a:t>
            </a:r>
            <a:endParaRPr lang="en-US" dirty="0"/>
          </a:p>
          <a:p>
            <a:r>
              <a:rPr lang="en-US" b="1" dirty="0"/>
              <a:t>Description:</a:t>
            </a:r>
            <a:r>
              <a:rPr lang="en-US" dirty="0"/>
              <a:t> Specialized NoSQL database that uses nodes (entities) and edges (relationships) to store data, optimizing for relationships-intensive queries (complex, interconnected data).</a:t>
            </a:r>
          </a:p>
          <a:p>
            <a:r>
              <a:rPr lang="en-US" b="1" dirty="0"/>
              <a:t>Use Cases:</a:t>
            </a:r>
            <a:r>
              <a:rPr lang="en-US" dirty="0"/>
              <a:t> Social networks, recommendation engines, fraud detection.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C3267-B45B-2AC2-B423-82F01C78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4D77C04-077D-F8A8-DD55-CAAD080A4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668466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1EB86E-92CA-8425-23CB-1C912DD51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/>
          <a:lstStyle/>
          <a:p>
            <a:r>
              <a:rPr lang="en-US" dirty="0"/>
              <a:t>End of </a:t>
            </a:r>
            <a:br>
              <a:rPr lang="en-US" dirty="0"/>
            </a:br>
            <a:r>
              <a:rPr lang="en-US" dirty="0"/>
              <a:t>Unit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598789-ED0E-CA9B-FF87-C82F5863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36AD3355-1A39-4F95-8D2D-9BA34F1D5DE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032F37-907E-9C2E-C22C-C745CEE55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43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BA0-27E2-F622-221D-B1B9F6C3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Management in Cloud Computing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8AA0D-2DA5-FCAB-B808-83012ED0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3355-1A39-4F95-8D2D-9BA34F1D5DE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48889-52EA-6797-57CD-59AEF91798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3 | Storage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526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1419</TotalTime>
  <Words>1921</Words>
  <Application>Microsoft Macintosh PowerPoint</Application>
  <PresentationFormat>Widescreen</PresentationFormat>
  <Paragraphs>341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Nunito</vt:lpstr>
      <vt:lpstr>Roboto</vt:lpstr>
      <vt:lpstr>2_Office Theme</vt:lpstr>
      <vt:lpstr>PowerPoint Presentation</vt:lpstr>
      <vt:lpstr>Unit 3: Storage in Cloud Computing (5hrs)</vt:lpstr>
      <vt:lpstr>Cloud Storage</vt:lpstr>
      <vt:lpstr>Why Cloud Storage?</vt:lpstr>
      <vt:lpstr>Database as a Service</vt:lpstr>
      <vt:lpstr>Features of Database as a Service</vt:lpstr>
      <vt:lpstr>Database as a Service</vt:lpstr>
      <vt:lpstr>Popular DBaaS Examples</vt:lpstr>
      <vt:lpstr>Why DBaaS?</vt:lpstr>
      <vt:lpstr>File system</vt:lpstr>
      <vt:lpstr>Parallel Filesystem</vt:lpstr>
      <vt:lpstr>How Parallel Filesystem Works?</vt:lpstr>
      <vt:lpstr>How Parallel Filesystem Works?</vt:lpstr>
      <vt:lpstr>Parallel Filesystem</vt:lpstr>
      <vt:lpstr>Distributed Filesystem</vt:lpstr>
      <vt:lpstr>How Distributed Filesystem Works?</vt:lpstr>
      <vt:lpstr>How Distributed Filesystem Works?</vt:lpstr>
      <vt:lpstr>Distributed Filesystems</vt:lpstr>
      <vt:lpstr>Comparison</vt:lpstr>
      <vt:lpstr>Cloud Storage Services</vt:lpstr>
      <vt:lpstr>Object Storage</vt:lpstr>
      <vt:lpstr>Object Storage</vt:lpstr>
      <vt:lpstr>File Storage</vt:lpstr>
      <vt:lpstr>File Storage</vt:lpstr>
      <vt:lpstr>Block Storage</vt:lpstr>
      <vt:lpstr>Block Storage</vt:lpstr>
      <vt:lpstr>Archive Storage</vt:lpstr>
      <vt:lpstr>Elastic Storage</vt:lpstr>
      <vt:lpstr>Data Redundancy</vt:lpstr>
      <vt:lpstr>Databases</vt:lpstr>
      <vt:lpstr>Databases</vt:lpstr>
      <vt:lpstr>Databases</vt:lpstr>
      <vt:lpstr>Databases</vt:lpstr>
      <vt:lpstr>Databases</vt:lpstr>
      <vt:lpstr>End of  Unit 3</vt:lpstr>
      <vt:lpstr>Resource Management in Cloud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C</dc:title>
  <dc:creator>Shiva Kunwar</dc:creator>
  <cp:lastModifiedBy>Shiva Kunwar</cp:lastModifiedBy>
  <cp:revision>44</cp:revision>
  <dcterms:created xsi:type="dcterms:W3CDTF">2024-09-21T07:18:01Z</dcterms:created>
  <dcterms:modified xsi:type="dcterms:W3CDTF">2025-12-17T01:45:48Z</dcterms:modified>
</cp:coreProperties>
</file>