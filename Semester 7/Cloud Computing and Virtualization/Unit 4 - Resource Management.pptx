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</p:sldMasterIdLst>
  <p:notesMasterIdLst>
    <p:notesMasterId r:id="rId39"/>
  </p:notesMasterIdLst>
  <p:handoutMasterIdLst>
    <p:handoutMasterId r:id="rId40"/>
  </p:handoutMasterIdLst>
  <p:sldIdLst>
    <p:sldId id="262" r:id="rId2"/>
    <p:sldId id="276" r:id="rId3"/>
    <p:sldId id="294" r:id="rId4"/>
    <p:sldId id="317" r:id="rId5"/>
    <p:sldId id="295" r:id="rId6"/>
    <p:sldId id="316" r:id="rId7"/>
    <p:sldId id="326" r:id="rId8"/>
    <p:sldId id="327" r:id="rId9"/>
    <p:sldId id="296" r:id="rId10"/>
    <p:sldId id="297" r:id="rId11"/>
    <p:sldId id="323" r:id="rId12"/>
    <p:sldId id="310" r:id="rId13"/>
    <p:sldId id="324" r:id="rId14"/>
    <p:sldId id="325" r:id="rId15"/>
    <p:sldId id="298" r:id="rId16"/>
    <p:sldId id="318" r:id="rId17"/>
    <p:sldId id="319" r:id="rId18"/>
    <p:sldId id="299" r:id="rId19"/>
    <p:sldId id="320" r:id="rId20"/>
    <p:sldId id="311" r:id="rId21"/>
    <p:sldId id="312" r:id="rId22"/>
    <p:sldId id="300" r:id="rId23"/>
    <p:sldId id="322" r:id="rId24"/>
    <p:sldId id="321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13" r:id="rId33"/>
    <p:sldId id="308" r:id="rId34"/>
    <p:sldId id="314" r:id="rId35"/>
    <p:sldId id="315" r:id="rId36"/>
    <p:sldId id="263" r:id="rId37"/>
    <p:sldId id="26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373" autoAdjust="0"/>
    <p:restoredTop sz="94660"/>
  </p:normalViewPr>
  <p:slideViewPr>
    <p:cSldViewPr snapToGrid="0">
      <p:cViewPr varScale="1">
        <p:scale>
          <a:sx n="87" d="100"/>
          <a:sy n="87" d="100"/>
        </p:scale>
        <p:origin x="20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F4AAF4-B8F3-33EC-52A9-9556E57E63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8DEACF-F8D5-65D6-65E3-338B2B0A60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72621-8294-46A0-AF65-3F36575F2326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97C6E-AD10-9E33-EB85-2BFA5B3262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2DCF5-DD40-B594-C366-ED0E57DC23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D7F74-8BB9-4E0E-BFB9-27139482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9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75D34-0415-4310-B568-590084F5D713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10430-A6ED-49DA-875F-FAA9313FE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2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D3E4401-654B-3331-0E2C-7406236D3B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" y="1"/>
            <a:ext cx="12191996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129550-DA5D-C130-73B9-F36251FB393F}"/>
              </a:ext>
            </a:extLst>
          </p:cNvPr>
          <p:cNvSpPr/>
          <p:nvPr userDrawn="1"/>
        </p:nvSpPr>
        <p:spPr>
          <a:xfrm>
            <a:off x="-2" y="0"/>
            <a:ext cx="12191999" cy="6857999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54939-1092-154C-F943-8221DCF2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9916-3852-CD44-B465-B905B36EF3ED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8189D-CC24-D084-077F-1EC0EA310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4 | Resource Management in Cloud Computing</a:t>
            </a:r>
            <a:endParaRPr lang="en-US" dirty="0"/>
          </a:p>
        </p:txBody>
      </p:sp>
      <p:pic>
        <p:nvPicPr>
          <p:cNvPr id="8" name="Picture 7" descr="A logo with a star and a candle&#10;&#10;Description automatically generated">
            <a:extLst>
              <a:ext uri="{FF2B5EF4-FFF2-40B4-BE49-F238E27FC236}">
                <a16:creationId xmlns:a16="http://schemas.microsoft.com/office/drawing/2014/main" id="{5EE76DC0-94B7-A3AA-712F-BE98D17F08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7425" y="116127"/>
            <a:ext cx="2143125" cy="2143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584078-0138-E900-23EB-074EF062EF67}"/>
              </a:ext>
            </a:extLst>
          </p:cNvPr>
          <p:cNvSpPr txBox="1">
            <a:spLocks/>
          </p:cNvSpPr>
          <p:nvPr userDrawn="1"/>
        </p:nvSpPr>
        <p:spPr>
          <a:xfrm>
            <a:off x="1524000" y="2103324"/>
            <a:ext cx="9144000" cy="25545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</a:rPr>
              <a:t>Cloud Computing and Virtualization</a:t>
            </a:r>
            <a:endParaRPr lang="en-US" sz="8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D25D32-6EF2-FAFE-2C36-BDD0330F818C}"/>
              </a:ext>
            </a:extLst>
          </p:cNvPr>
          <p:cNvSpPr txBox="1"/>
          <p:nvPr userDrawn="1"/>
        </p:nvSpPr>
        <p:spPr>
          <a:xfrm>
            <a:off x="1523999" y="4845050"/>
            <a:ext cx="9143999" cy="130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Nunito" pitchFamily="2" charset="0"/>
                <a:cs typeface="Aparajita" panose="02020603050405020304" pitchFamily="18" charset="0"/>
              </a:rPr>
              <a:t>Prepared by:  Er. Shiva Kunwar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Nunito" pitchFamily="2" charset="0"/>
                <a:cs typeface="Aparajita" panose="02020603050405020304" pitchFamily="18" charset="0"/>
              </a:rPr>
              <a:t>Lecturer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Nunito" pitchFamily="2" charset="0"/>
                <a:cs typeface="Aparajita" panose="02020603050405020304" pitchFamily="18" charset="0"/>
              </a:rPr>
              <a:t>Pokhara Engineering College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081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6BBFC-EF9A-C646-B5B5-F5C0DD47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4F1A4-33E3-F613-3519-62CEA6B22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A0EDD6-81A7-F4B8-D011-4DE865AD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89A5F-5A19-384D-804C-665E4EB1DBB7}" type="datetime1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532A0-B8D7-45DA-5FA5-39BC559D7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4 | Resource Management in Cloud Computing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0CCC4-845F-FD1B-9585-3F3F4F72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82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D533-58C8-E224-906F-5F88AEC5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F8861-2083-0FF8-F733-4312C604A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67543"/>
            <a:ext cx="5181600" cy="46094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B8EE7-49CE-F177-9BD3-AEC2ED7CF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7543"/>
            <a:ext cx="5181600" cy="46094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9D13A55-B8F2-1FFF-B254-28F4F7CE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2106-2F5F-084B-8828-DE3960756F12}" type="datetime1">
              <a:rPr lang="en-US" smtClean="0"/>
              <a:t>12/16/25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C5F814C-8F5B-5ECF-D212-9E924DAD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4 | Resource Management in Cloud Computing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B327A59-CF12-D21D-6359-9C7B7310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11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3D9C7D-7608-7B1C-1BBB-E09F972BE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ED532F5-16FE-613A-417D-557E002A8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BC6C6A9-0D82-2733-1B67-53F2A3D68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7D2052-25BC-843C-8ABA-792233D9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DEE7CD1-BC72-3908-B52C-69C7274B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A488A3C-7FB9-1EFA-C60D-233DBBFE4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2167FE-1698-734C-2D0C-C2B40CC45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483735"/>
            <a:ext cx="10515600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A9F9C-5A91-403E-36CE-69E3C9969308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57C64D1-0999-ECC9-556E-E526C78A7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able Placeholder 4">
            <a:extLst>
              <a:ext uri="{FF2B5EF4-FFF2-40B4-BE49-F238E27FC236}">
                <a16:creationId xmlns:a16="http://schemas.microsoft.com/office/drawing/2014/main" id="{EAAE7709-C365-F582-CF49-7517BDEB8387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838198" y="1663021"/>
            <a:ext cx="10515602" cy="455680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1E667B7-7545-60E3-30C1-CE3C2A48949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4285E11-FF9F-A646-952E-11099D19DEC2}" type="datetime1">
              <a:rPr lang="en-US" smtClean="0"/>
              <a:t>12/16/25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2305699-A282-E12E-AE1C-1CFB25E238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Unit 4 | Resource Management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7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F6E645F8-F682-8D2D-268F-E5B7D5BF3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250187D5-3A16-AE1B-36DA-41D3FBE6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1264F6-BD23-F293-72FB-E32352573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6855AD-ABAC-8C19-8178-6EB8E5E72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B39B6C-6741-2C5E-B819-B3A425454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8738339-0671-5630-FEB8-CC9C67032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484E4-73DD-0919-B58E-866F90700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DF8B04-BA4D-3137-EEFB-2C9F96145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09" y="615909"/>
            <a:ext cx="3204415" cy="3387497"/>
          </a:xfrm>
        </p:spPr>
        <p:txBody>
          <a:bodyPr anchor="b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CB5711-9A41-EEE3-ECA8-3DF776546971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98655D1-315F-7D95-3B9A-EC74A727E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E923455B-4E0B-F709-CAC5-455517FBE6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9488" y="615950"/>
            <a:ext cx="6530975" cy="5603875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E41F7B6-FA1C-08CE-1473-5AEEBCEE76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CBE51DE-A272-B843-853A-03275FC43426}" type="datetime1">
              <a:rPr lang="en-US" smtClean="0"/>
              <a:t>12/16/25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7009528-D44A-660D-5354-4CF2C225E6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Unit 4 | Resource Management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037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1818950-1BC0-79F8-F3A1-C793DF91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C4A06A-DC97-5499-2273-8019226EA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A9634D-9BDD-B374-6DD7-03C03290F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8769AA-85CF-4F16-36ED-08E81B006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837CB0-FBB5-1349-DFB4-563DF02B5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CCAB6FC-BE02-6F5E-8E9C-340FAC42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035E3B-ADC3-447C-17D8-2227F75D45AC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7808083-BCD1-7C29-51D7-C9EF69DBD3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367B66-BFAA-3DE9-8BD2-E64B46FC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557"/>
            <a:ext cx="10515600" cy="4214406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BE4831-D86C-E223-8E7F-61ACDC2C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24AE4-3B37-B64C-9B90-7A505F7B6778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FE3D7-7A3D-FA0B-3F88-D5B5911E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4 | Resource Management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545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94531-650E-5195-CBA1-5B3978F0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536B-AC5D-C94F-AE71-023C57A7DA2D}" type="datetime1">
              <a:rPr lang="en-US" smtClean="0"/>
              <a:t>12/16/25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B60013-C917-A93A-C451-8E8B6203F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48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0D3A4C7-B5F0-8B63-1ECA-C14815983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88" y="641377"/>
            <a:ext cx="5487841" cy="2540969"/>
          </a:xfrm>
        </p:spPr>
        <p:txBody>
          <a:bodyPr anchor="ctr">
            <a:noAutofit/>
          </a:bodyPr>
          <a:lstStyle>
            <a:lvl1pPr algn="l">
              <a:defRPr sz="6000" b="0" cap="none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FD99D63D-0492-7C66-0370-0040336A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AutoShape 2" descr="A peaceful illustration for C programming set in a serene environment. The setting is a quiet lakeside scene during sunrise or sunset, with soft golden lighting reflecting on calm waters. A laptop or book displaying C programming code is open on a wooden bench near the water, surrounded by nature with gentle trees and soft grass. The sky is a gradient of warm colors, and there are small details like a steaming coffee mug and a few scattered notes or pens nearby, adding a cozy atmosphere. The dimensions are 7.5 inches in height and 4.9 inches in width.">
            <a:extLst>
              <a:ext uri="{FF2B5EF4-FFF2-40B4-BE49-F238E27FC236}">
                <a16:creationId xmlns:a16="http://schemas.microsoft.com/office/drawing/2014/main" id="{6A97A55F-F05A-431D-3CF6-E049935C399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9B0B8-54EB-02A5-06D4-A123119246F4}"/>
              </a:ext>
            </a:extLst>
          </p:cNvPr>
          <p:cNvSpPr txBox="1"/>
          <p:nvPr userDrawn="1"/>
        </p:nvSpPr>
        <p:spPr>
          <a:xfrm>
            <a:off x="5020988" y="4019550"/>
            <a:ext cx="60280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16E68-0017-74AE-E686-7960FA20C45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r"/>
            <a:r>
              <a:rPr lang="en-US"/>
              <a:t>Unit 4 | Resource Management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review Card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DA83DF1-A84E-B163-956C-25D3B807BE99}"/>
              </a:ext>
            </a:extLst>
          </p:cNvPr>
          <p:cNvSpPr txBox="1">
            <a:spLocks/>
          </p:cNvSpPr>
          <p:nvPr userDrawn="1"/>
        </p:nvSpPr>
        <p:spPr>
          <a:xfrm>
            <a:off x="838200" y="417727"/>
            <a:ext cx="10515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PREVIEW FOR NEXT UNIT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F62B2-F92E-BBBB-879D-EAA2FC432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3315"/>
            <a:ext cx="10515600" cy="381725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E4F7403-710E-51F3-7202-7EBA53ED6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22A69-1C6C-A8E7-081B-CD412014A82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ADF9A3C-4484-F74B-97CE-7629EC99B7BD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FFE2-1F4D-9C49-4E2F-006619EA8C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Unit 4 | Resource Management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57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B644-5741-8467-C89E-7A43CCB7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AA4B1-9CE0-549C-7B06-728134B28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53029"/>
            <a:ext cx="10515600" cy="462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E655E-F829-BD76-B10A-3B85DA5FD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5AEA1-B4BF-CF45-BE37-49B386468E56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4BA3D-AF77-0CD3-E6C2-CDFE9BF54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91401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Unit 4 | Resource Management in Cloud Computing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EA662-E61B-0C38-8A92-8D9EA2250421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CFC56-D6E1-E077-A067-C2CA064D4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69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9" r:id="rId3"/>
    <p:sldLayoutId id="2147483670" r:id="rId4"/>
    <p:sldLayoutId id="2147483672" r:id="rId5"/>
    <p:sldLayoutId id="2147483673" r:id="rId6"/>
    <p:sldLayoutId id="2147483664" r:id="rId7"/>
    <p:sldLayoutId id="214748366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Nunito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Nunito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Nunito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unito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62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C15B3-1011-3094-C557-EE18153CB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Unit 4: Resource Management in Cloud Computing (5hrs)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FD919-B700-7537-7FA6-AA98852B7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Scaling</a:t>
            </a:r>
          </a:p>
          <a:p>
            <a:pPr lvl="1"/>
            <a:r>
              <a:rPr lang="en-US" dirty="0"/>
              <a:t>1.1 Scaling Strategies</a:t>
            </a:r>
          </a:p>
          <a:p>
            <a:pPr lvl="1"/>
            <a:r>
              <a:rPr lang="en-US" dirty="0"/>
              <a:t>1.2 Types</a:t>
            </a:r>
          </a:p>
          <a:p>
            <a:pPr lvl="1"/>
            <a:r>
              <a:rPr lang="en-US" dirty="0"/>
              <a:t>1.3 Load Balancing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Redundancy and High Availability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Cloud Monitor Mechanisms</a:t>
            </a:r>
          </a:p>
          <a:p>
            <a:pPr lvl="1"/>
            <a:r>
              <a:rPr lang="en-US" dirty="0"/>
              <a:t>3.1 Cloud Usage Monitor, Automated Scaling Listener, Load Balancing, Audit Monitor</a:t>
            </a:r>
            <a:r>
              <a:rPr lang="en-US"/>
              <a:t>, Pay-Per-Use </a:t>
            </a:r>
            <a:r>
              <a:rPr lang="en-US" dirty="0"/>
              <a:t>Monitor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Service Level Agreement and its Types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Billing Management System in Cloud Computing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CAC79-7491-A7F8-44FB-8E0B6CF6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9" name="Footer Placeholder 68">
            <a:extLst>
              <a:ext uri="{FF2B5EF4-FFF2-40B4-BE49-F238E27FC236}">
                <a16:creationId xmlns:a16="http://schemas.microsoft.com/office/drawing/2014/main" id="{8BD19A0A-9C1C-CE72-4AB1-9E2AAA5E5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654635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E04B2-0CDC-CFEE-659F-ACD82F9DC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5D6D-3041-3953-8A1C-9FCC76A67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Resource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3B100-700C-589A-5418-BDA9CAD4C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Resource management refers to the </a:t>
            </a:r>
            <a:r>
              <a:rPr lang="en-US" b="1" dirty="0"/>
              <a:t>efficient allocation, scheduling, monitoring, and optimization of cloud resources</a:t>
            </a:r>
            <a:r>
              <a:rPr lang="en-US" dirty="0"/>
              <a:t> such as compute, storage, network, and memory dynamically to meet application performance requirements while minimizing cost and wastage.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C0909-4C51-B223-AE78-AC7112F7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18DC185-0622-BA19-02B8-B8BE4228C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651491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B66D7-CEB0-B264-E62C-F31E3527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8D623-AADD-ED84-88A8-50ECF3F8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Resource Management is Needed?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9BEDA-797B-105F-F6C0-CF52D247D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029"/>
            <a:ext cx="4934803" cy="3332870"/>
          </a:xfrm>
        </p:spPr>
        <p:txBody>
          <a:bodyPr>
            <a:normAutofit/>
          </a:bodyPr>
          <a:lstStyle/>
          <a:p>
            <a:r>
              <a:rPr lang="en-US" b="1" dirty="0"/>
              <a:t>Traditional IT (On-Premise)</a:t>
            </a:r>
          </a:p>
          <a:p>
            <a:pPr lvl="1"/>
            <a:r>
              <a:rPr lang="en-US" dirty="0"/>
              <a:t>Fixed servers</a:t>
            </a:r>
          </a:p>
          <a:p>
            <a:pPr lvl="1"/>
            <a:r>
              <a:rPr lang="en-US" dirty="0"/>
              <a:t>Over-provisioning (waste)</a:t>
            </a:r>
          </a:p>
          <a:p>
            <a:pPr lvl="1"/>
            <a:r>
              <a:rPr lang="en-US" dirty="0"/>
              <a:t>Under-provisioning (performance loss)</a:t>
            </a:r>
          </a:p>
          <a:p>
            <a:pPr lvl="1"/>
            <a:r>
              <a:rPr lang="en-US" dirty="0"/>
              <a:t>Manual scaling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5ABD3-1CD9-07CE-9652-BDBD8D93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27494E85-89CD-9D92-DF77-E89D9EEE6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B7FCAA-A44D-6A3F-DA3B-B6AD063FC270}"/>
              </a:ext>
            </a:extLst>
          </p:cNvPr>
          <p:cNvSpPr txBox="1">
            <a:spLocks/>
          </p:cNvSpPr>
          <p:nvPr/>
        </p:nvSpPr>
        <p:spPr>
          <a:xfrm>
            <a:off x="6418997" y="1553029"/>
            <a:ext cx="4934803" cy="462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Cloud Environment</a:t>
            </a:r>
          </a:p>
          <a:p>
            <a:pPr lvl="1"/>
            <a:r>
              <a:rPr lang="en-US" dirty="0"/>
              <a:t>Elastic resources</a:t>
            </a:r>
          </a:p>
          <a:p>
            <a:pPr lvl="1"/>
            <a:r>
              <a:rPr lang="en-US" dirty="0"/>
              <a:t>Shared infrastructure (multi-tenancy)</a:t>
            </a:r>
          </a:p>
          <a:p>
            <a:pPr lvl="1"/>
            <a:r>
              <a:rPr lang="en-US" dirty="0"/>
              <a:t>Pay-per-use</a:t>
            </a:r>
          </a:p>
          <a:p>
            <a:pPr lvl="1"/>
            <a:r>
              <a:rPr lang="en-US" dirty="0"/>
              <a:t>Dynamic workload patterns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4AF03A-AC18-C284-D8D8-67AE9D7801F9}"/>
              </a:ext>
            </a:extLst>
          </p:cNvPr>
          <p:cNvSpPr txBox="1">
            <a:spLocks/>
          </p:cNvSpPr>
          <p:nvPr/>
        </p:nvSpPr>
        <p:spPr>
          <a:xfrm>
            <a:off x="838200" y="5065286"/>
            <a:ext cx="10515600" cy="9402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Resource management is what </a:t>
            </a:r>
            <a:r>
              <a:rPr lang="en-US" b="1" dirty="0"/>
              <a:t>makes cloud “smart”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4787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97ACC-6E45-703F-7EA8-9C734291B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2CE1-0618-CF3E-507C-F9E2165CD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Objectives of Resource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93A57-79F3-6E78-1A97-7F7893A55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Optimal utilization of resources</a:t>
            </a:r>
          </a:p>
          <a:p>
            <a:r>
              <a:rPr lang="en-US" dirty="0"/>
              <a:t>Scalability and elasticity</a:t>
            </a:r>
          </a:p>
          <a:p>
            <a:r>
              <a:rPr lang="en-US" dirty="0"/>
              <a:t>High availability and reliability</a:t>
            </a:r>
          </a:p>
          <a:p>
            <a:r>
              <a:rPr lang="en-US" dirty="0"/>
              <a:t>Cost efficiency</a:t>
            </a:r>
          </a:p>
          <a:p>
            <a:r>
              <a:rPr lang="en-US" dirty="0"/>
              <a:t>Performance optimization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587133-852F-3FEC-F469-7E7570E3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4731C8F4-19C5-B388-F1E2-FF9CE21D9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194379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16BA6-884B-AE95-F18D-20CFB6AF9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0E670-ECDE-8867-EB9E-F3EBA9E1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Importance of Resource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8A408-C68C-113C-D549-99F8A3532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Prevents over-provisioning</a:t>
            </a:r>
          </a:p>
          <a:p>
            <a:r>
              <a:rPr lang="en-US" dirty="0"/>
              <a:t>Reduces operational cost</a:t>
            </a:r>
          </a:p>
          <a:p>
            <a:r>
              <a:rPr lang="en-US" dirty="0"/>
              <a:t>Ensures application performance</a:t>
            </a:r>
          </a:p>
          <a:p>
            <a:r>
              <a:rPr lang="en-US" dirty="0"/>
              <a:t>Supports elasticity</a:t>
            </a:r>
          </a:p>
          <a:p>
            <a:r>
              <a:rPr lang="en-US" dirty="0"/>
              <a:t>Enables efficient cloud operations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CFD28-1107-D709-F03C-94432B4A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3D5DE753-48B1-D8CD-BCC7-620044FFD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548753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E5100-13B4-33A6-81D9-8D53CBEF2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63660-568C-13DB-E4E1-11C486BC1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Resource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7A800-FCA6-B7E2-2014-0C2F3C69D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Resource Provisioning</a:t>
            </a:r>
            <a:r>
              <a:rPr lang="en-US" dirty="0"/>
              <a:t>: The process of dynamically allocating computing resources based on demand.</a:t>
            </a:r>
          </a:p>
          <a:p>
            <a:r>
              <a:rPr lang="en-US" b="1" dirty="0"/>
              <a:t>Resource Allocation</a:t>
            </a:r>
            <a:r>
              <a:rPr lang="en-US" dirty="0"/>
              <a:t>: Determining the appropriate amount of resources to allocate to specific applications or services.</a:t>
            </a:r>
          </a:p>
          <a:p>
            <a:r>
              <a:rPr lang="en-US" b="1" dirty="0"/>
              <a:t>Resource Capacity Management</a:t>
            </a:r>
            <a:r>
              <a:rPr lang="en-US" dirty="0"/>
              <a:t>: Ensuring that resources are used efficiently and that there are no over-provisioning or under-provisioning issues.</a:t>
            </a:r>
          </a:p>
          <a:p>
            <a:r>
              <a:rPr lang="en-US" b="1" dirty="0"/>
              <a:t>Resource Monitoring</a:t>
            </a:r>
            <a:r>
              <a:rPr lang="en-US" dirty="0"/>
              <a:t>: Continuously tracking resource usage to ensure they are being used effectively and efficiently.</a:t>
            </a:r>
          </a:p>
          <a:p>
            <a:r>
              <a:rPr lang="en-US" b="1" dirty="0"/>
              <a:t>Resource Optimization</a:t>
            </a:r>
            <a:r>
              <a:rPr lang="en-US" dirty="0"/>
              <a:t>: Identifying and eliminating inefficiencies in resource usage to improve performance and reduce costs.</a:t>
            </a:r>
          </a:p>
          <a:p>
            <a:r>
              <a:rPr lang="en-US" b="1" dirty="0"/>
              <a:t>Resource Management Metrics</a:t>
            </a:r>
            <a:r>
              <a:rPr lang="en-US" dirty="0"/>
              <a:t>: Establishing key performance indicators (KPIs) to measure the effectiveness of resource management strategies.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A3198-0A2B-9CFD-17D5-13686D89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5A80CDCB-ACFE-3118-DCA1-8C5DD8943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394432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779BD-95AA-11D0-0DEB-89ACA425B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20CE-75B2-1F75-6160-30FCBE22D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Resource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55561-55A3-03C0-FC2A-311F72927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Resource Estimation</a:t>
            </a:r>
            <a:r>
              <a:rPr lang="en-US" dirty="0"/>
              <a:t>: A close guess of the actual resources required for an application, usually with some thought or calculation involved.</a:t>
            </a:r>
          </a:p>
          <a:p>
            <a:r>
              <a:rPr lang="en-US" b="1" dirty="0"/>
              <a:t>Resource Discovery and Selection</a:t>
            </a:r>
            <a:r>
              <a:rPr lang="en-US" dirty="0"/>
              <a:t>: Identification of list of authenticated resources that are available for job submission and to choose the best among them.</a:t>
            </a:r>
          </a:p>
          <a:p>
            <a:r>
              <a:rPr lang="en-US" b="1" dirty="0"/>
              <a:t>Resource Brokering</a:t>
            </a:r>
            <a:r>
              <a:rPr lang="en-US" dirty="0"/>
              <a:t>: Negotiation of the resources through an agent to ensure that the necessary resources are available at the right time to complete the objectives.</a:t>
            </a:r>
          </a:p>
          <a:p>
            <a:r>
              <a:rPr lang="en-US" b="1" dirty="0"/>
              <a:t>Resource Scheduling</a:t>
            </a:r>
            <a:r>
              <a:rPr lang="en-US" dirty="0"/>
              <a:t>: When when an activity should start or end and what resources are to be made available or free.</a:t>
            </a:r>
          </a:p>
          <a:p>
            <a:r>
              <a:rPr lang="en-US" b="1" dirty="0"/>
              <a:t>Resource Mapping</a:t>
            </a:r>
            <a:r>
              <a:rPr lang="en-US" dirty="0"/>
              <a:t>: Correspondence between the resources required by the users and resources available with the provider.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795116-B2F3-F5F4-F2FA-AAE9BC9A8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37BDC245-5A41-41C7-29A1-EFF40590E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447627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B02ACD-CCAF-E47B-BA35-A331D0F9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3DF15-B48D-F0A0-0C62-786BD67B3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BBB51-D765-EA40-69D8-E2CE50543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Scaling refers to the ability of cloud systems to </a:t>
            </a:r>
            <a:r>
              <a:rPr lang="en-US" b="1" dirty="0"/>
              <a:t>increase or decrease resources</a:t>
            </a:r>
            <a:r>
              <a:rPr lang="en-US" dirty="0"/>
              <a:t> according to workload demand.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D21E0-B2C8-8618-FBFA-8BDC8669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4C4755E-325A-C6FA-426B-27D5E102F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053797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3DCA9B-5E1F-0320-7E68-01C3C49D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75D83-5754-3B50-FE96-FD7F22582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87727-F311-4D78-C535-2B953321A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a. Vertical Scaling (Scale Up / Scale Down)</a:t>
            </a:r>
          </a:p>
          <a:p>
            <a:pPr lvl="1"/>
            <a:r>
              <a:rPr lang="en-US" dirty="0"/>
              <a:t>Increase/decrease CPU, RAM of a single VM</a:t>
            </a:r>
          </a:p>
          <a:p>
            <a:pPr lvl="1"/>
            <a:r>
              <a:rPr lang="en-US" dirty="0"/>
              <a:t>Requires VM restart in most cases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Upgrading a VM from 4 GB RAM to 16 GB RAM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Simple to implement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No application redesign required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Limited by hardware capacity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Often needs downtime/reboot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D48CE5-0737-05E4-19E0-7E930907D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E658AE9D-D8E4-D6B4-71EB-74407CF3E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812334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0EED7-EEF5-D24E-4A14-F4D1A19D2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615C4-BA5C-4BEF-98C2-F114B3F8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2A343-1D3D-17BC-25BC-5367CD0B4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a. Vertical Scaling (Scale Up / Scale Down)</a:t>
            </a:r>
          </a:p>
          <a:p>
            <a:pPr lvl="1"/>
            <a:r>
              <a:rPr lang="en-US" dirty="0"/>
              <a:t>Before Scaling: VM → 2 vCPU, 4 GB RAM</a:t>
            </a:r>
          </a:p>
          <a:p>
            <a:pPr lvl="1"/>
            <a:r>
              <a:rPr lang="en-US" dirty="0"/>
              <a:t>After Scaling: VM → 8 vCPU, 16 GB RAM</a:t>
            </a:r>
          </a:p>
          <a:p>
            <a:pPr lvl="1"/>
            <a:r>
              <a:rPr lang="en-US" b="1" dirty="0"/>
              <a:t>Example Scenario: University ERP System</a:t>
            </a:r>
          </a:p>
          <a:p>
            <a:pPr lvl="2"/>
            <a:r>
              <a:rPr lang="en-US" dirty="0"/>
              <a:t>Initially: 100 users → small VM</a:t>
            </a:r>
          </a:p>
          <a:p>
            <a:pPr lvl="2"/>
            <a:r>
              <a:rPr lang="en-US" dirty="0"/>
              <a:t>During admission → scale VM to higher RAM</a:t>
            </a:r>
          </a:p>
          <a:p>
            <a:r>
              <a:rPr lang="en-US" dirty="0"/>
              <a:t>Vertical scaling is </a:t>
            </a:r>
            <a:r>
              <a:rPr lang="en-US" b="1" dirty="0"/>
              <a:t>hardware-limited</a:t>
            </a:r>
            <a:r>
              <a:rPr lang="en-US" dirty="0"/>
              <a:t> and best for </a:t>
            </a:r>
            <a:r>
              <a:rPr lang="en-US" b="1" dirty="0"/>
              <a:t>legacy applications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08728A-7354-3D7D-4A0E-C8B23E57E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4DD40E80-E9B4-27A1-927E-D4EEF4B49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203394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CE755-41DF-9891-A7BA-92999EA0F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E2CAD-7627-6ABF-30A7-B17D85A30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2F0DA-0DD5-C424-8A77-4C461C2FD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b. Horizontal Scaling (Scale Out / Scale In)</a:t>
            </a:r>
          </a:p>
          <a:p>
            <a:pPr lvl="1"/>
            <a:r>
              <a:rPr lang="en-US" dirty="0"/>
              <a:t>Add/remove multiple VM instances</a:t>
            </a:r>
          </a:p>
          <a:p>
            <a:pPr lvl="1"/>
            <a:r>
              <a:rPr lang="en-US" dirty="0"/>
              <a:t>Uses load balancer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Adding more web servers during high traffic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Highly scalable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Fault tolerant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Requires application design support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Needs load balancer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D008B-A050-969A-9665-E5BD42C3F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E60131D2-D857-674D-FB21-6C0C53B2D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399528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D154F-EF77-1047-20FE-FCC5901A8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9FB33-FDCD-1296-3702-13397745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511AF-237B-D82F-32B7-025DC630A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b. Horizontal Scaling (Scale Out / Scale In)</a:t>
            </a:r>
            <a:endParaRPr lang="en-US" dirty="0"/>
          </a:p>
          <a:p>
            <a:pPr lvl="1"/>
            <a:r>
              <a:rPr lang="en-US" dirty="0"/>
              <a:t>Load Balancer → VM1, VM2, VM3</a:t>
            </a:r>
          </a:p>
          <a:p>
            <a:pPr lvl="1"/>
            <a:r>
              <a:rPr lang="en-US" b="1" dirty="0"/>
              <a:t>Example Scenario: E-commerce Website</a:t>
            </a:r>
            <a:endParaRPr lang="en-US" dirty="0"/>
          </a:p>
          <a:p>
            <a:pPr lvl="2"/>
            <a:r>
              <a:rPr lang="en-US" dirty="0"/>
              <a:t>Sale day → add 10 servers</a:t>
            </a:r>
          </a:p>
          <a:p>
            <a:pPr lvl="2"/>
            <a:r>
              <a:rPr lang="en-US" dirty="0"/>
              <a:t>After sale → remove servers</a:t>
            </a:r>
          </a:p>
          <a:p>
            <a:r>
              <a:rPr lang="en-US" dirty="0"/>
              <a:t>Horizontal scaling is preferred in </a:t>
            </a:r>
            <a:r>
              <a:rPr lang="en-US" b="1" dirty="0"/>
              <a:t>cloud-native &amp; microservices architectures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78CFB1-8659-CE20-B0B0-473241961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1FC0D15E-25EA-84B6-32AA-1436DD63C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743044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8DD42-10FD-746A-28A1-5FAA3B6EB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B784-D289-30D6-F17C-0A7E5EE6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Scaling Strategies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F429CB-A139-1248-1F88-F1301DFAE6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4820430"/>
              </p:ext>
            </p:extLst>
          </p:nvPr>
        </p:nvGraphicFramePr>
        <p:xfrm>
          <a:off x="990601" y="1785024"/>
          <a:ext cx="10515600" cy="2286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8027546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741902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26322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Vertical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Horizontal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88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"/>
                        </a:rPr>
                        <a:t>Scaling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"/>
                        </a:rPr>
                        <a:t>Increase machine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Add machines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382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Downtime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"/>
                        </a:rPr>
                        <a:t>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390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"/>
                        </a:rPr>
                        <a:t>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"/>
                        </a:rPr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393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Fault tolerance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03509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26B2B-9F7B-E58C-0671-6BA5C93E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5B47157C-35DC-06F8-D8B0-9F8944577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061957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07E351-D8EA-DF78-D4CA-16F58FF2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F2E9-EACC-89C5-EF51-29E53CD64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Scaling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01F9-875E-EE96-AE45-C5B0A95FD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a. Manual Scaling</a:t>
            </a:r>
          </a:p>
          <a:p>
            <a:pPr lvl="1"/>
            <a:r>
              <a:rPr lang="en-US" dirty="0"/>
              <a:t>Admin manually adds/removes resources</a:t>
            </a:r>
          </a:p>
          <a:p>
            <a:pPr lvl="1"/>
            <a:r>
              <a:rPr lang="en-US" dirty="0"/>
              <a:t>Example: Admin launches extra VM during exam result day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Slow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Error-prone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AF79D-7FED-1A99-97E5-527168E74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DF81D11-C712-30C6-05CA-750D0FDF7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875119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A1DB02-6ABB-FB67-D6CC-2D0A85F0B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4C85F-A684-B549-27C6-3E6FC4F7F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Scaling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BA8D2-B131-E2A3-2CD7-78155E724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b. Auto Scaling</a:t>
            </a:r>
          </a:p>
          <a:p>
            <a:pPr lvl="1"/>
            <a:r>
              <a:rPr lang="en-US" dirty="0"/>
              <a:t>System automatically scales based on metrics like: </a:t>
            </a:r>
            <a:r>
              <a:rPr lang="en-US" b="1" dirty="0"/>
              <a:t>CPU usage</a:t>
            </a:r>
            <a:r>
              <a:rPr lang="en-US" dirty="0"/>
              <a:t>, </a:t>
            </a:r>
            <a:r>
              <a:rPr lang="en-US" b="1" dirty="0"/>
              <a:t>Memory usage</a:t>
            </a:r>
            <a:r>
              <a:rPr lang="en-US" dirty="0"/>
              <a:t>, </a:t>
            </a:r>
            <a:r>
              <a:rPr lang="en-US" b="1" dirty="0"/>
              <a:t>Network traffic </a:t>
            </a:r>
            <a:r>
              <a:rPr lang="en-US" dirty="0"/>
              <a:t>and </a:t>
            </a:r>
            <a:r>
              <a:rPr lang="en-US" b="1" dirty="0"/>
              <a:t>Request count.</a:t>
            </a:r>
          </a:p>
          <a:p>
            <a:pPr lvl="1"/>
            <a:r>
              <a:rPr lang="en-US" b="1" dirty="0"/>
              <a:t>Example Scenario: Online Exam System</a:t>
            </a:r>
          </a:p>
          <a:p>
            <a:pPr lvl="1"/>
            <a:r>
              <a:rPr lang="en-US" dirty="0"/>
              <a:t>CPU &gt; 70% → add 2 VMs</a:t>
            </a:r>
          </a:p>
          <a:p>
            <a:pPr lvl="1"/>
            <a:r>
              <a:rPr lang="en-US" dirty="0"/>
              <a:t>CPU &lt; 30% → remove 1 VM</a:t>
            </a:r>
          </a:p>
          <a:p>
            <a:pPr lvl="1"/>
            <a:r>
              <a:rPr lang="en-US" dirty="0"/>
              <a:t>Result: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No crash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Cost optimized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SLA maintained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099B8-7F10-5274-BAEA-335DC8D7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B19A9746-54F4-3D8B-627F-53F78E92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382918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84F71-0E11-A8F5-39BB-89C68CF6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01A5-0502-9BB6-6951-DB4F9B60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Scaling vs Elasticity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91D970-10E8-DB22-F232-E612B02E5B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8227340"/>
              </p:ext>
            </p:extLst>
          </p:nvPr>
        </p:nvGraphicFramePr>
        <p:xfrm>
          <a:off x="2748000" y="2053318"/>
          <a:ext cx="6696000" cy="1828800"/>
        </p:xfrm>
        <a:graphic>
          <a:graphicData uri="http://schemas.openxmlformats.org/drawingml/2006/table">
            <a:tbl>
              <a:tblPr/>
              <a:tblGrid>
                <a:gridCol w="3348000">
                  <a:extLst>
                    <a:ext uri="{9D8B030D-6E8A-4147-A177-3AD203B41FA5}">
                      <a16:colId xmlns:a16="http://schemas.microsoft.com/office/drawing/2014/main" val="1117451678"/>
                    </a:ext>
                  </a:extLst>
                </a:gridCol>
                <a:gridCol w="3348000">
                  <a:extLst>
                    <a:ext uri="{9D8B030D-6E8A-4147-A177-3AD203B41FA5}">
                      <a16:colId xmlns:a16="http://schemas.microsoft.com/office/drawing/2014/main" val="239802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Scaling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Elasticity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971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Manual or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Automatic &amp; real-time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900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Slower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Instant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052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Human decision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"/>
                        </a:rPr>
                        <a:t>System decision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95324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AF432-1BF7-2B99-0ACD-E1D59A0E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4094F2B6-3DB9-3F0F-C256-71638684E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558407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34C8C-7D37-8DAE-BA5F-8EF37409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D6EA-D9F9-554D-94E0-ACE79576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Balancing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849AF-801F-E5C7-0293-85E47E313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balancing is the process of </a:t>
            </a:r>
            <a:r>
              <a:rPr lang="en-US" b="1" dirty="0"/>
              <a:t>distributing incoming network traffic across multiple computing resources</a:t>
            </a:r>
            <a:r>
              <a:rPr lang="en-US" dirty="0"/>
              <a:t> to ensure:</a:t>
            </a:r>
          </a:p>
          <a:p>
            <a:pPr lvl="1"/>
            <a:r>
              <a:rPr lang="en-US" dirty="0"/>
              <a:t>No single server is overloaded</a:t>
            </a:r>
          </a:p>
          <a:p>
            <a:pPr lvl="1"/>
            <a:r>
              <a:rPr lang="en-US" dirty="0"/>
              <a:t>High availability</a:t>
            </a:r>
          </a:p>
          <a:p>
            <a:pPr lvl="1"/>
            <a:r>
              <a:rPr lang="en-US" dirty="0"/>
              <a:t>Fault tolerance</a:t>
            </a:r>
          </a:p>
          <a:p>
            <a:pPr lvl="1"/>
            <a:r>
              <a:rPr lang="en-US" dirty="0"/>
              <a:t>Better performance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8E331E-1B24-E749-FCD2-0BC8F076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DD72F4E-CC90-5A10-1DD6-C5590462C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4127553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9234D-72CA-B349-A148-F015D4C72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2CA8E-69DB-2923-47F6-930AA9281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Load Balancing?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61246-AD33-693D-5AE1-4F2CA5AD6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Without load balancing: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One server crashes → entire system down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Poor performance during traffic spikes</a:t>
            </a:r>
          </a:p>
          <a:p>
            <a:r>
              <a:rPr lang="en-US" dirty="0"/>
              <a:t>With load balancing: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Traffic is evenly distributed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Failed servers are automatically removed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System remains available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79EB1-D080-3CE0-1AE4-0D78A26D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A3A9FEA-9E4D-B98F-9318-4AED50221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659330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306FA-424C-AB89-B63F-E3D6AD2D2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EEF12-BCEB-C195-F170-A7102550A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Load Balancing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4D570-1674-14C8-004E-60265284A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029"/>
            <a:ext cx="4989394" cy="4623934"/>
          </a:xfrm>
        </p:spPr>
        <p:txBody>
          <a:bodyPr>
            <a:normAutofit/>
          </a:bodyPr>
          <a:lstStyle/>
          <a:p>
            <a:r>
              <a:rPr lang="en-US" b="1" dirty="0"/>
              <a:t>Layer 4 Load Balancing</a:t>
            </a:r>
          </a:p>
          <a:p>
            <a:pPr lvl="1"/>
            <a:r>
              <a:rPr lang="en-US" dirty="0"/>
              <a:t>Operates at </a:t>
            </a:r>
            <a:r>
              <a:rPr lang="en-US" b="1" dirty="0"/>
              <a:t>Transport Layer</a:t>
            </a:r>
            <a:endParaRPr lang="en-US" dirty="0"/>
          </a:p>
          <a:p>
            <a:pPr lvl="1"/>
            <a:r>
              <a:rPr lang="en-US" dirty="0"/>
              <a:t>Uses IP address and port</a:t>
            </a:r>
          </a:p>
          <a:p>
            <a:r>
              <a:rPr lang="en-US" dirty="0">
                <a:solidFill>
                  <a:srgbClr val="00B050"/>
                </a:solidFill>
              </a:rPr>
              <a:t>Faster</a:t>
            </a:r>
          </a:p>
          <a:p>
            <a:r>
              <a:rPr lang="en-US" dirty="0">
                <a:solidFill>
                  <a:srgbClr val="FF0000"/>
                </a:solidFill>
              </a:rPr>
              <a:t>Less intelligent routing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E64C70-B2CE-35E4-C9F7-05349C3E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E04F070-F095-9792-4BE9-3E95CD96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9F7F67B-C721-F34E-1DA3-CE39FD6D125C}"/>
              </a:ext>
            </a:extLst>
          </p:cNvPr>
          <p:cNvSpPr txBox="1">
            <a:spLocks/>
          </p:cNvSpPr>
          <p:nvPr/>
        </p:nvSpPr>
        <p:spPr>
          <a:xfrm>
            <a:off x="6364406" y="1553029"/>
            <a:ext cx="4989394" cy="462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Layer 7 Load Balancing</a:t>
            </a:r>
          </a:p>
          <a:p>
            <a:pPr lvl="1"/>
            <a:r>
              <a:rPr lang="en-US" dirty="0"/>
              <a:t>Operates at </a:t>
            </a:r>
            <a:r>
              <a:rPr lang="en-US" b="1" dirty="0"/>
              <a:t>Application Layer</a:t>
            </a:r>
            <a:endParaRPr lang="en-US" dirty="0"/>
          </a:p>
          <a:p>
            <a:pPr lvl="1"/>
            <a:r>
              <a:rPr lang="en-US" dirty="0"/>
              <a:t>Routes based on URL, cookies, headers</a:t>
            </a:r>
          </a:p>
          <a:p>
            <a:r>
              <a:rPr lang="en-US" dirty="0">
                <a:solidFill>
                  <a:srgbClr val="00B050"/>
                </a:solidFill>
              </a:rPr>
              <a:t>Smart routing</a:t>
            </a:r>
          </a:p>
          <a:p>
            <a:r>
              <a:rPr lang="en-US" dirty="0">
                <a:solidFill>
                  <a:srgbClr val="00B050"/>
                </a:solidFill>
              </a:rPr>
              <a:t>Used in microservices</a:t>
            </a:r>
          </a:p>
        </p:txBody>
      </p:sp>
    </p:spTree>
    <p:extLst>
      <p:ext uri="{BB962C8B-B14F-4D97-AF65-F5344CB8AC3E}">
        <p14:creationId xmlns:p14="http://schemas.microsoft.com/office/powerpoint/2010/main" val="812044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E8466-6033-B402-20B4-70CA2648A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7F119-F806-2633-5151-620FEEA6A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Balancing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6C2BA-276A-CE50-1F01-F68736C08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Load Balancing Algorithms</a:t>
            </a:r>
          </a:p>
          <a:p>
            <a:pPr lvl="1"/>
            <a:r>
              <a:rPr lang="en-US" b="1" dirty="0"/>
              <a:t>Round Robin</a:t>
            </a:r>
            <a:r>
              <a:rPr lang="en-US" dirty="0"/>
              <a:t>: Requests distributed sequentially, </a:t>
            </a:r>
            <a:r>
              <a:rPr lang="en-US" dirty="0">
                <a:solidFill>
                  <a:srgbClr val="FF0000"/>
                </a:solidFill>
              </a:rPr>
              <a:t>ignores server load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Least Connections</a:t>
            </a:r>
            <a:r>
              <a:rPr lang="en-US" dirty="0"/>
              <a:t>: Server with least active users, </a:t>
            </a:r>
            <a:r>
              <a:rPr lang="en-US" dirty="0">
                <a:solidFill>
                  <a:srgbClr val="00B050"/>
                </a:solidFill>
              </a:rPr>
              <a:t>ideal for variable workload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Weighted Round Robin</a:t>
            </a:r>
            <a:r>
              <a:rPr lang="en-US" dirty="0"/>
              <a:t>: More traffic to powerful servers</a:t>
            </a:r>
          </a:p>
          <a:p>
            <a:pPr lvl="1"/>
            <a:r>
              <a:rPr lang="en-US" b="1" dirty="0"/>
              <a:t>IP Hash</a:t>
            </a:r>
            <a:r>
              <a:rPr lang="en-US" dirty="0"/>
              <a:t>: Same user(client IP) → same server, </a:t>
            </a:r>
            <a:r>
              <a:rPr lang="en-US" dirty="0">
                <a:solidFill>
                  <a:srgbClr val="00B050"/>
                </a:solidFill>
              </a:rPr>
              <a:t>Session Persistence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45B54-C56F-1177-3C2A-D58D1A30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F94DC57C-1CAA-0DC7-5DCB-B28698C9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747136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25F287-59CB-DF33-E58C-A8579A66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1DEE-5DE8-DACD-E1F8-4F31DBB5A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Redundancy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E0484-9D95-1FE4-9B70-A65265ACD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Redundancy</a:t>
            </a:r>
          </a:p>
          <a:p>
            <a:pPr lvl="1"/>
            <a:r>
              <a:rPr lang="en-US" dirty="0"/>
              <a:t>Redundancy means </a:t>
            </a:r>
            <a:r>
              <a:rPr lang="en-US" b="1" dirty="0"/>
              <a:t>having duplicate resources</a:t>
            </a:r>
            <a:r>
              <a:rPr lang="en-US" dirty="0"/>
              <a:t> to prevent failure.</a:t>
            </a:r>
            <a:endParaRPr lang="en-US" b="1" dirty="0"/>
          </a:p>
          <a:p>
            <a:pPr lvl="1"/>
            <a:r>
              <a:rPr lang="en-US" dirty="0"/>
              <a:t>Example: multiple VMs, multi-zone deployment</a:t>
            </a:r>
          </a:p>
          <a:p>
            <a:r>
              <a:rPr lang="en-US" dirty="0"/>
              <a:t>Primary Server → Backup Server.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4BEEA-53DC-E375-36F1-EA4BF940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876CA70-5047-7DF0-9FC8-D0BE978E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4016415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1EE969-30B1-0772-BC41-7485F21EF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E9CC-BE86-5D48-823D-E388F5DB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Redundancy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F2CA6-1FBD-6522-0403-58DC0F486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Server Redundancy</a:t>
            </a:r>
            <a:endParaRPr lang="en-US" dirty="0"/>
          </a:p>
          <a:p>
            <a:pPr lvl="1"/>
            <a:r>
              <a:rPr lang="en-US" dirty="0"/>
              <a:t>Multiple servers running same service. </a:t>
            </a:r>
          </a:p>
          <a:p>
            <a:r>
              <a:rPr lang="en-US" b="1" dirty="0"/>
              <a:t>Network Redundancy</a:t>
            </a:r>
            <a:endParaRPr lang="en-US" dirty="0"/>
          </a:p>
          <a:p>
            <a:pPr lvl="1"/>
            <a:r>
              <a:rPr lang="en-US" dirty="0"/>
              <a:t>Multiple network paths or ISPs.</a:t>
            </a:r>
          </a:p>
          <a:p>
            <a:r>
              <a:rPr lang="en-US" b="1" dirty="0"/>
              <a:t>Data Redundancy</a:t>
            </a:r>
            <a:endParaRPr lang="en-US" dirty="0"/>
          </a:p>
          <a:p>
            <a:pPr lvl="1"/>
            <a:r>
              <a:rPr lang="en-US" dirty="0"/>
              <a:t>Replication across zones</a:t>
            </a:r>
          </a:p>
          <a:p>
            <a:r>
              <a:rPr lang="en-US" b="1" dirty="0"/>
              <a:t>Geographic Redundancy</a:t>
            </a:r>
          </a:p>
          <a:p>
            <a:pPr lvl="1"/>
            <a:r>
              <a:rPr lang="en-US" dirty="0"/>
              <a:t>Resources deployed in multiple regions.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43728-6CBD-D40C-4F0A-F8822C23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ADD732B7-FFCF-B7DB-2BF3-9F0531DF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826125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7EFF6D-6D44-6D6E-857E-7DE3DE7E0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F154-0470-288C-9199-74CBE0C3F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 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87F46-0721-E892-6F8F-7F365977B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High Availability (HA)</a:t>
            </a:r>
          </a:p>
          <a:p>
            <a:pPr lvl="1"/>
            <a:r>
              <a:rPr lang="en-US" dirty="0"/>
              <a:t>High Availability ensures the system </a:t>
            </a:r>
            <a:r>
              <a:rPr lang="en-US" b="1" dirty="0"/>
              <a:t>remains operational even if components fail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Achieved using:</a:t>
            </a:r>
          </a:p>
          <a:p>
            <a:pPr lvl="2"/>
            <a:r>
              <a:rPr lang="en-US" dirty="0"/>
              <a:t>Redundant servers</a:t>
            </a:r>
          </a:p>
          <a:p>
            <a:pPr lvl="2"/>
            <a:r>
              <a:rPr lang="en-US" dirty="0"/>
              <a:t>Load balancers</a:t>
            </a:r>
          </a:p>
          <a:p>
            <a:pPr lvl="2"/>
            <a:r>
              <a:rPr lang="en-US" dirty="0"/>
              <a:t>Multi-region deployment</a:t>
            </a:r>
          </a:p>
          <a:p>
            <a:pPr lvl="2"/>
            <a:r>
              <a:rPr lang="en-US" dirty="0"/>
              <a:t>Failover mechanisms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70F7E-9A10-B40C-0C51-149CCECA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280B4B0E-C0CD-C27C-69A8-B480406AF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043601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579C3-F6C0-C2E6-846D-973C2BA4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9814-332B-9265-A59D-DC3772C94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Monitor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8E1FC-4A0D-BD7D-2A90-295CC261B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Monitoring is the process of </a:t>
            </a:r>
            <a:r>
              <a:rPr lang="en-US" b="1" dirty="0"/>
              <a:t>observing cloud resources, performance, availability, and security</a:t>
            </a:r>
            <a:r>
              <a:rPr lang="en-US" dirty="0"/>
              <a:t> in real time.</a:t>
            </a:r>
          </a:p>
          <a:p>
            <a:r>
              <a:rPr lang="en-US" dirty="0">
                <a:solidFill>
                  <a:srgbClr val="00B050"/>
                </a:solidFill>
              </a:rPr>
              <a:t>Detect failures early</a:t>
            </a:r>
          </a:p>
          <a:p>
            <a:r>
              <a:rPr lang="en-US" dirty="0">
                <a:solidFill>
                  <a:srgbClr val="00B050"/>
                </a:solidFill>
              </a:rPr>
              <a:t>Trigger auto-scaling</a:t>
            </a:r>
          </a:p>
          <a:p>
            <a:r>
              <a:rPr lang="en-US" dirty="0">
                <a:solidFill>
                  <a:srgbClr val="00B050"/>
                </a:solidFill>
              </a:rPr>
              <a:t>Ensure SLA compliance</a:t>
            </a:r>
          </a:p>
          <a:p>
            <a:r>
              <a:rPr lang="en-US" dirty="0">
                <a:solidFill>
                  <a:srgbClr val="00B050"/>
                </a:solidFill>
              </a:rPr>
              <a:t>Support billing accuracy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A3A44-1782-2494-6BB3-40C908133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8461816B-C791-A233-AC0B-BA03990E6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178051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443EE-27D8-731C-703F-4B8BE8AC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20334-B757-FA30-0F57-8485AB0D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Usage Monitor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DFFB-8883-5BED-96C7-E358A6757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Tracks resource consumption:</a:t>
            </a:r>
          </a:p>
          <a:p>
            <a:pPr lvl="1"/>
            <a:r>
              <a:rPr lang="en-US" dirty="0"/>
              <a:t>CPU</a:t>
            </a:r>
          </a:p>
          <a:p>
            <a:pPr lvl="1"/>
            <a:r>
              <a:rPr lang="en-US" dirty="0"/>
              <a:t>Memory</a:t>
            </a:r>
          </a:p>
          <a:p>
            <a:pPr lvl="1"/>
            <a:r>
              <a:rPr lang="en-US" dirty="0"/>
              <a:t>Disk</a:t>
            </a:r>
          </a:p>
          <a:p>
            <a:pPr lvl="1"/>
            <a:r>
              <a:rPr lang="en-US" dirty="0"/>
              <a:t>Network</a:t>
            </a:r>
          </a:p>
          <a:p>
            <a:r>
              <a:rPr lang="en-US" b="1" dirty="0"/>
              <a:t>Example</a:t>
            </a:r>
            <a:r>
              <a:rPr lang="en-US" dirty="0"/>
              <a:t>: CPU &gt; 80% → alert admin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7E1E1-996A-F859-D91C-4BEEEBBC0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8390803-AD6D-5863-EC9E-D552FF9FE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55786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18B6A9-EEBB-54E4-DD9A-3B5390528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30D4D-2116-BC94-BED6-9913A3FC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Automated Scaling Listener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7DE01-C8C1-5C5A-45ED-6BE186624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Continuously checks metrics</a:t>
            </a:r>
          </a:p>
          <a:p>
            <a:r>
              <a:rPr lang="en-US" dirty="0"/>
              <a:t>Triggers scaling actions automatically</a:t>
            </a:r>
          </a:p>
          <a:p>
            <a:r>
              <a:rPr lang="en-US" b="1" dirty="0"/>
              <a:t>Example</a:t>
            </a:r>
            <a:r>
              <a:rPr lang="en-US" dirty="0"/>
              <a:t>: Requests &gt; 10,000/sec → add servers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8F2208-91F7-2C93-3847-565439BE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FAD2FF91-3FF8-B177-6966-440EC546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0972448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DE103-2F22-FCC7-095E-080F4666D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F01F3-CF25-7504-73A2-050748E94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Balancing Monitor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D22BD-ECD5-D86E-C849-9DEF4BE4E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Checks health of backend servers</a:t>
            </a:r>
          </a:p>
          <a:p>
            <a:r>
              <a:rPr lang="en-US" dirty="0"/>
              <a:t>Removes unhealthy instances automatically</a:t>
            </a:r>
          </a:p>
          <a:p>
            <a:r>
              <a:rPr lang="en-US" b="1" dirty="0"/>
              <a:t>Example</a:t>
            </a:r>
            <a:r>
              <a:rPr lang="en-US" dirty="0"/>
              <a:t>: VM not responding → traffic redirected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7ACFB-A50A-2EF0-5738-DE91C51E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337BA672-DA5A-980F-F452-0DA8C13C1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453242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60BBB-B3E8-CF81-7F25-AD5A9E0BF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2ED13-B2E7-B68F-C40D-E24DE3E0A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Audit Monitor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1EDAD-3467-092B-B993-8C85C7A0D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Tracks:</a:t>
            </a:r>
          </a:p>
          <a:p>
            <a:pPr lvl="1"/>
            <a:r>
              <a:rPr lang="en-US" dirty="0"/>
              <a:t>User activities</a:t>
            </a:r>
          </a:p>
          <a:p>
            <a:pPr lvl="1"/>
            <a:r>
              <a:rPr lang="en-US" dirty="0"/>
              <a:t>Configuration changes</a:t>
            </a:r>
          </a:p>
          <a:p>
            <a:pPr lvl="1"/>
            <a:r>
              <a:rPr lang="en-US" dirty="0"/>
              <a:t>Security events</a:t>
            </a:r>
          </a:p>
          <a:p>
            <a:r>
              <a:rPr lang="en-US" dirty="0"/>
              <a:t>Used for:</a:t>
            </a:r>
          </a:p>
          <a:p>
            <a:pPr lvl="1"/>
            <a:r>
              <a:rPr lang="en-US" dirty="0"/>
              <a:t>Compliance</a:t>
            </a:r>
          </a:p>
          <a:p>
            <a:pPr lvl="1"/>
            <a:r>
              <a:rPr lang="en-US" dirty="0"/>
              <a:t>Security investigation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BFA98F-11CB-573C-57D7-C7BE2F33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00608E6-E794-61AA-CD40-BFA7E06D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6690070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EF555-7F23-922F-6DB5-A6991D96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B83D-443C-627B-A1F6-5FBF75292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Pay-Per-Use Monitor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ACF8F-FC06-169A-8278-CE97C0AAC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Tracks resource usage (VM hours, Storage GB, Network traffic)</a:t>
            </a:r>
          </a:p>
          <a:p>
            <a:r>
              <a:rPr lang="en-US" dirty="0"/>
              <a:t>Sends data to billing system</a:t>
            </a:r>
          </a:p>
          <a:p>
            <a:r>
              <a:rPr lang="en-US" dirty="0"/>
              <a:t>Ensures accurate cost calculation</a:t>
            </a:r>
          </a:p>
          <a:p>
            <a:r>
              <a:rPr lang="en-US" b="1" dirty="0"/>
              <a:t>Example</a:t>
            </a:r>
            <a:r>
              <a:rPr lang="en-US" dirty="0"/>
              <a:t>: VM used for 10 hours → charged for 10 hours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629ED-1C88-EE3D-CBAD-2BC4B442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0F1750E-4F5F-ABCE-4E0F-3DCA665E9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168976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0BF02-58B5-3445-8DBE-4FF0AC938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83A3A-946F-6205-313F-5D2F2129A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Service Level Agreement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FB279-8C0F-8007-1DED-C3605512D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dirty="0"/>
              <a:t>SLA</a:t>
            </a:r>
            <a:r>
              <a:rPr lang="en-US" dirty="0"/>
              <a:t> is a formal agreement between cloud provider and customer that defines service quality guarantees like:</a:t>
            </a:r>
          </a:p>
          <a:p>
            <a:pPr lvl="1"/>
            <a:r>
              <a:rPr lang="en-US" dirty="0"/>
              <a:t>Service expectations</a:t>
            </a:r>
          </a:p>
          <a:p>
            <a:pPr lvl="1"/>
            <a:r>
              <a:rPr lang="en-US" dirty="0"/>
              <a:t>Performance guarantees</a:t>
            </a:r>
          </a:p>
          <a:p>
            <a:pPr lvl="1"/>
            <a:r>
              <a:rPr lang="en-US" dirty="0"/>
              <a:t>Responsibilities</a:t>
            </a:r>
          </a:p>
          <a:p>
            <a:pPr lvl="1"/>
            <a:r>
              <a:rPr lang="en-US" dirty="0"/>
              <a:t>Penalties for failure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99E42-FE10-D3C7-21DD-0A7F9181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FC5251F-7DAC-63FD-0BE1-84AC376FB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80193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9B6E3-B7F1-2325-91BA-9AE27A848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327F-25D1-1EDE-74A5-9BB9951D9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SLA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9140C-41C0-7DD9-1756-F6421EE72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Availability (e.g., 99.99%)</a:t>
            </a:r>
          </a:p>
          <a:p>
            <a:r>
              <a:rPr lang="en-US" dirty="0"/>
              <a:t>Response time</a:t>
            </a:r>
          </a:p>
          <a:p>
            <a:r>
              <a:rPr lang="en-US" dirty="0"/>
              <a:t>Data durability</a:t>
            </a:r>
          </a:p>
          <a:p>
            <a:r>
              <a:rPr lang="en-US" dirty="0"/>
              <a:t>Support response time</a:t>
            </a:r>
          </a:p>
          <a:p>
            <a:r>
              <a:rPr lang="en-US" dirty="0"/>
              <a:t>Security commitments</a:t>
            </a:r>
          </a:p>
          <a:p>
            <a:r>
              <a:rPr lang="en-US" dirty="0"/>
              <a:t>Penalties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BDA4D-C92D-481A-EB38-13B3B56E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DF427D5-B56B-872E-D4E0-B0DF92016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3792164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E1969-689B-3D00-E1A9-B1AD1ACB2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E2103-F44F-AE7E-F86D-BA90C431F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743F4-8665-7251-11DF-A3BB7BB36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Service-based SLA</a:t>
            </a:r>
            <a:r>
              <a:rPr lang="en-US" dirty="0"/>
              <a:t>: One service, all users</a:t>
            </a:r>
          </a:p>
          <a:p>
            <a:endParaRPr lang="en-US" dirty="0"/>
          </a:p>
          <a:p>
            <a:r>
              <a:rPr lang="en-US" b="1" dirty="0"/>
              <a:t>Customer-based SLA</a:t>
            </a:r>
            <a:r>
              <a:rPr lang="en-US" dirty="0"/>
              <a:t>: One customer, multiple services</a:t>
            </a:r>
          </a:p>
          <a:p>
            <a:endParaRPr lang="en-US" dirty="0"/>
          </a:p>
          <a:p>
            <a:r>
              <a:rPr lang="en-US" b="1" dirty="0"/>
              <a:t>Multi-level SLA</a:t>
            </a:r>
            <a:r>
              <a:rPr lang="en-US" dirty="0"/>
              <a:t>: Corporate + service + customer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3CB5B-EE7F-C279-6AEE-61139233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377C1689-CD54-A42B-EB26-213B71E7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588362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4F3E8-1724-57CB-2048-17F78FDE2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2D5F-1CAF-7052-3167-A30DC59A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Billing Management System in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8F17E-BF59-2092-B12B-BB829DFBC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Billing management calculates cost based on </a:t>
            </a:r>
            <a:r>
              <a:rPr lang="en-US" b="1" dirty="0"/>
              <a:t>actual resource usage</a:t>
            </a:r>
            <a:r>
              <a:rPr lang="en-US" dirty="0"/>
              <a:t>.</a:t>
            </a:r>
          </a:p>
          <a:p>
            <a:r>
              <a:rPr lang="en-US" b="1" dirty="0"/>
              <a:t>Key Components</a:t>
            </a:r>
          </a:p>
          <a:p>
            <a:pPr lvl="1"/>
            <a:r>
              <a:rPr lang="en-US" dirty="0"/>
              <a:t>Metering (measure usage)</a:t>
            </a:r>
          </a:p>
          <a:p>
            <a:pPr lvl="1"/>
            <a:r>
              <a:rPr lang="en-US" dirty="0"/>
              <a:t>Pricing model</a:t>
            </a:r>
          </a:p>
          <a:p>
            <a:pPr lvl="1"/>
            <a:r>
              <a:rPr lang="en-US" dirty="0"/>
              <a:t>Invoice generation</a:t>
            </a:r>
          </a:p>
          <a:p>
            <a:pPr lvl="1"/>
            <a:r>
              <a:rPr lang="en-US" dirty="0"/>
              <a:t>Budget alerts</a:t>
            </a:r>
          </a:p>
          <a:p>
            <a:pPr lvl="1"/>
            <a:r>
              <a:rPr lang="en-US" dirty="0"/>
              <a:t>Cost optimization recommendations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D3A0D-FA18-1EBC-BF24-26EA33DD5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51F5360-C3DC-4BFD-3A3E-B8A9C6FAC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6584804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C52A6-4D88-B3B4-8DEA-9C0AF2DF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BC756-2AFD-307B-58D9-35F371CB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Billing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17321-A141-168C-C66C-A391E7DB6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Pay-as-you-go</a:t>
            </a:r>
            <a:r>
              <a:rPr lang="en-US" dirty="0"/>
              <a:t>: Pay only for what you use. </a:t>
            </a:r>
            <a:r>
              <a:rPr lang="en-US" dirty="0">
                <a:solidFill>
                  <a:srgbClr val="00B050"/>
                </a:solidFill>
              </a:rPr>
              <a:t>Flexible, Cost-efficient</a:t>
            </a:r>
            <a:r>
              <a:rPr lang="en-US" dirty="0"/>
              <a:t>.</a:t>
            </a:r>
          </a:p>
          <a:p>
            <a:r>
              <a:rPr lang="en-US" b="1" dirty="0"/>
              <a:t>Reserved instances</a:t>
            </a:r>
            <a:r>
              <a:rPr lang="en-US" dirty="0"/>
              <a:t>: Pay upfront for discount. </a:t>
            </a:r>
            <a:r>
              <a:rPr lang="en-US" dirty="0">
                <a:solidFill>
                  <a:srgbClr val="00B050"/>
                </a:solidFill>
              </a:rPr>
              <a:t>Long-term usage, Cheaper</a:t>
            </a:r>
            <a:r>
              <a:rPr lang="en-US" dirty="0"/>
              <a:t>.</a:t>
            </a:r>
          </a:p>
          <a:p>
            <a:r>
              <a:rPr lang="en-US" b="1" dirty="0"/>
              <a:t>Spot pricing</a:t>
            </a:r>
            <a:r>
              <a:rPr lang="en-US" dirty="0"/>
              <a:t>: Unused capacity at lower price. </a:t>
            </a:r>
            <a:r>
              <a:rPr lang="en-US" dirty="0">
                <a:solidFill>
                  <a:srgbClr val="00B050"/>
                </a:solidFill>
              </a:rPr>
              <a:t>Cheapest</a:t>
            </a:r>
            <a:r>
              <a:rPr lang="en-US" dirty="0"/>
              <a:t>, but </a:t>
            </a:r>
            <a:r>
              <a:rPr lang="en-US" dirty="0">
                <a:solidFill>
                  <a:srgbClr val="FF0000"/>
                </a:solidFill>
              </a:rPr>
              <a:t>Can be terminated anytime</a:t>
            </a:r>
            <a:r>
              <a:rPr lang="en-US" dirty="0"/>
              <a:t>.</a:t>
            </a:r>
          </a:p>
          <a:p>
            <a:r>
              <a:rPr lang="en-US" b="1" dirty="0"/>
              <a:t>Subscription-based billing</a:t>
            </a:r>
            <a:r>
              <a:rPr lang="en-US" dirty="0"/>
              <a:t>: Fixed monthly fee.</a:t>
            </a:r>
          </a:p>
          <a:p>
            <a:r>
              <a:rPr lang="en-US" b="1" dirty="0"/>
              <a:t>Tiered Pricing: </a:t>
            </a:r>
            <a:r>
              <a:rPr lang="en-US" dirty="0"/>
              <a:t>Cost reduces as usage increases.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D9D0E-DA00-44F8-6B9A-1EDBA713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143F42D-5F54-32BB-E67D-797CAE3C6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937367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1EB86E-92CA-8425-23CB-1C912DD51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88" y="641377"/>
            <a:ext cx="5487841" cy="2540969"/>
          </a:xfrm>
        </p:spPr>
        <p:txBody>
          <a:bodyPr/>
          <a:lstStyle/>
          <a:p>
            <a:r>
              <a:rPr lang="en-US" dirty="0"/>
              <a:t>End of </a:t>
            </a:r>
            <a:br>
              <a:rPr lang="en-US" dirty="0"/>
            </a:br>
            <a:r>
              <a:rPr lang="en-US" dirty="0"/>
              <a:t>Unit 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598789-ED0E-CA9B-FF87-C82F5863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/>
          <a:lstStyle/>
          <a:p>
            <a:fld id="{36AD3355-1A39-4F95-8D2D-9BA34F1D5DE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032F37-907E-9C2E-C22C-C745CEE55F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434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FBA0-27E2-F622-221D-B1B9F6C3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in Cloud Computing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8AA0D-2DA5-FCAB-B808-83012ED0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3355-1A39-4F95-8D2D-9BA34F1D5DE9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48889-52EA-6797-57CD-59AEF91798C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4 | Resource Management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15262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756</TotalTime>
  <Words>1653</Words>
  <Application>Microsoft Macintosh PowerPoint</Application>
  <PresentationFormat>Widescreen</PresentationFormat>
  <Paragraphs>320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Nunito</vt:lpstr>
      <vt:lpstr>Roboto</vt:lpstr>
      <vt:lpstr>2_Office Theme</vt:lpstr>
      <vt:lpstr>PowerPoint Presentation</vt:lpstr>
      <vt:lpstr>Unit 4: Resource Management in Cloud Computing (5hrs)</vt:lpstr>
      <vt:lpstr>Resource Management</vt:lpstr>
      <vt:lpstr>Why Resource Management is Needed?</vt:lpstr>
      <vt:lpstr>Objectives of Resource Management</vt:lpstr>
      <vt:lpstr>Importance of Resource Management</vt:lpstr>
      <vt:lpstr>Types of Resource Management</vt:lpstr>
      <vt:lpstr>Types of Resource Management</vt:lpstr>
      <vt:lpstr>Scaling</vt:lpstr>
      <vt:lpstr>Scaling Strategies</vt:lpstr>
      <vt:lpstr>Scaling Strategies</vt:lpstr>
      <vt:lpstr>Scaling Strategies</vt:lpstr>
      <vt:lpstr>Scaling Strategies</vt:lpstr>
      <vt:lpstr>Scaling Strategies</vt:lpstr>
      <vt:lpstr>Scaling Types</vt:lpstr>
      <vt:lpstr>Scaling Types</vt:lpstr>
      <vt:lpstr>Scaling vs Elasticity</vt:lpstr>
      <vt:lpstr>Load Balancing</vt:lpstr>
      <vt:lpstr>Why Load Balancing?</vt:lpstr>
      <vt:lpstr>Types of Load Balancing</vt:lpstr>
      <vt:lpstr>Load Balancing</vt:lpstr>
      <vt:lpstr>Redundancy</vt:lpstr>
      <vt:lpstr>Types of Redundancy</vt:lpstr>
      <vt:lpstr>High Availability</vt:lpstr>
      <vt:lpstr>Cloud Monitor Mechanisms</vt:lpstr>
      <vt:lpstr>Cloud Usage Monitor</vt:lpstr>
      <vt:lpstr>Automated Scaling Listener</vt:lpstr>
      <vt:lpstr>Load Balancing Monitor</vt:lpstr>
      <vt:lpstr>Audit Monitor</vt:lpstr>
      <vt:lpstr>Pay-Per-Use Monitor</vt:lpstr>
      <vt:lpstr>Service Level Agreement</vt:lpstr>
      <vt:lpstr>SLA Parameters</vt:lpstr>
      <vt:lpstr>SLA Types</vt:lpstr>
      <vt:lpstr>Billing Management System in Cloud</vt:lpstr>
      <vt:lpstr>Billing Models</vt:lpstr>
      <vt:lpstr>End of  Unit 4</vt:lpstr>
      <vt:lpstr>Security in Cloud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C</dc:title>
  <dc:creator>Shiva Kunwar</dc:creator>
  <cp:lastModifiedBy>Shiva Kunwar</cp:lastModifiedBy>
  <cp:revision>42</cp:revision>
  <dcterms:created xsi:type="dcterms:W3CDTF">2024-09-21T07:18:01Z</dcterms:created>
  <dcterms:modified xsi:type="dcterms:W3CDTF">2025-12-16T14:57:16Z</dcterms:modified>
</cp:coreProperties>
</file>