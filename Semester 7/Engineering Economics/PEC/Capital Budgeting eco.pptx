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530" r:id="rId3"/>
    <p:sldId id="531" r:id="rId4"/>
    <p:sldId id="532" r:id="rId5"/>
    <p:sldId id="533" r:id="rId6"/>
    <p:sldId id="534" r:id="rId7"/>
    <p:sldId id="535" r:id="rId8"/>
    <p:sldId id="536" r:id="rId9"/>
    <p:sldId id="537" r:id="rId10"/>
    <p:sldId id="545" r:id="rId11"/>
    <p:sldId id="546" r:id="rId12"/>
    <p:sldId id="547" r:id="rId13"/>
    <p:sldId id="548" r:id="rId14"/>
    <p:sldId id="549" r:id="rId15"/>
    <p:sldId id="550"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7FF7-5F1B-691E-F2C6-0DCBAA6BA9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3EADB97-FC56-668B-E8D7-721500B766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843A2AC-C8B7-3D13-64B7-AC1610827C8B}"/>
              </a:ext>
            </a:extLst>
          </p:cNvPr>
          <p:cNvSpPr>
            <a:spLocks noGrp="1"/>
          </p:cNvSpPr>
          <p:nvPr>
            <p:ph type="dt" sz="half" idx="10"/>
          </p:nvPr>
        </p:nvSpPr>
        <p:spPr/>
        <p:txBody>
          <a:bodyPr/>
          <a:lstStyle/>
          <a:p>
            <a:fld id="{4319023F-1571-43C3-8FBC-843BCA0667AE}" type="datetimeFigureOut">
              <a:rPr lang="en-CA" smtClean="0"/>
              <a:t>2026-02-04</a:t>
            </a:fld>
            <a:endParaRPr lang="en-CA"/>
          </a:p>
        </p:txBody>
      </p:sp>
      <p:sp>
        <p:nvSpPr>
          <p:cNvPr id="5" name="Footer Placeholder 4">
            <a:extLst>
              <a:ext uri="{FF2B5EF4-FFF2-40B4-BE49-F238E27FC236}">
                <a16:creationId xmlns:a16="http://schemas.microsoft.com/office/drawing/2014/main" id="{3257CC59-335C-7909-D7BD-578E7702AA1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48F9F5F-A68D-7BC9-4996-8F9B2499B880}"/>
              </a:ext>
            </a:extLst>
          </p:cNvPr>
          <p:cNvSpPr>
            <a:spLocks noGrp="1"/>
          </p:cNvSpPr>
          <p:nvPr>
            <p:ph type="sldNum" sz="quarter" idx="12"/>
          </p:nvPr>
        </p:nvSpPr>
        <p:spPr/>
        <p:txBody>
          <a:bodyPr/>
          <a:lstStyle/>
          <a:p>
            <a:fld id="{6A933444-925E-4A54-AE3C-1C7899E13614}" type="slidenum">
              <a:rPr lang="en-CA" smtClean="0"/>
              <a:t>‹#›</a:t>
            </a:fld>
            <a:endParaRPr lang="en-CA"/>
          </a:p>
        </p:txBody>
      </p:sp>
    </p:spTree>
    <p:extLst>
      <p:ext uri="{BB962C8B-B14F-4D97-AF65-F5344CB8AC3E}">
        <p14:creationId xmlns:p14="http://schemas.microsoft.com/office/powerpoint/2010/main" val="2668640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270A7-D793-6665-1719-D08002F5C4B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F2FF255-1332-F9FC-65FD-A9AEC4D26C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74F9C9A-0544-4C22-7273-829F760359C2}"/>
              </a:ext>
            </a:extLst>
          </p:cNvPr>
          <p:cNvSpPr>
            <a:spLocks noGrp="1"/>
          </p:cNvSpPr>
          <p:nvPr>
            <p:ph type="dt" sz="half" idx="10"/>
          </p:nvPr>
        </p:nvSpPr>
        <p:spPr/>
        <p:txBody>
          <a:bodyPr/>
          <a:lstStyle/>
          <a:p>
            <a:fld id="{4319023F-1571-43C3-8FBC-843BCA0667AE}" type="datetimeFigureOut">
              <a:rPr lang="en-CA" smtClean="0"/>
              <a:t>2026-02-04</a:t>
            </a:fld>
            <a:endParaRPr lang="en-CA"/>
          </a:p>
        </p:txBody>
      </p:sp>
      <p:sp>
        <p:nvSpPr>
          <p:cNvPr id="5" name="Footer Placeholder 4">
            <a:extLst>
              <a:ext uri="{FF2B5EF4-FFF2-40B4-BE49-F238E27FC236}">
                <a16:creationId xmlns:a16="http://schemas.microsoft.com/office/drawing/2014/main" id="{367BC453-0B30-08A1-3CD6-05B949424F7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30F4CBC-2C84-255D-6687-BD95B68F3B5F}"/>
              </a:ext>
            </a:extLst>
          </p:cNvPr>
          <p:cNvSpPr>
            <a:spLocks noGrp="1"/>
          </p:cNvSpPr>
          <p:nvPr>
            <p:ph type="sldNum" sz="quarter" idx="12"/>
          </p:nvPr>
        </p:nvSpPr>
        <p:spPr/>
        <p:txBody>
          <a:bodyPr/>
          <a:lstStyle/>
          <a:p>
            <a:fld id="{6A933444-925E-4A54-AE3C-1C7899E13614}" type="slidenum">
              <a:rPr lang="en-CA" smtClean="0"/>
              <a:t>‹#›</a:t>
            </a:fld>
            <a:endParaRPr lang="en-CA"/>
          </a:p>
        </p:txBody>
      </p:sp>
    </p:spTree>
    <p:extLst>
      <p:ext uri="{BB962C8B-B14F-4D97-AF65-F5344CB8AC3E}">
        <p14:creationId xmlns:p14="http://schemas.microsoft.com/office/powerpoint/2010/main" val="137374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E1CFA-ED98-0C16-487D-8C973F714C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FCAFEDC-EC68-C97D-5FD6-ABB27969C0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45D5F1-8E08-FC90-CE7E-B6584EE5DAB5}"/>
              </a:ext>
            </a:extLst>
          </p:cNvPr>
          <p:cNvSpPr>
            <a:spLocks noGrp="1"/>
          </p:cNvSpPr>
          <p:nvPr>
            <p:ph type="dt" sz="half" idx="10"/>
          </p:nvPr>
        </p:nvSpPr>
        <p:spPr/>
        <p:txBody>
          <a:bodyPr/>
          <a:lstStyle/>
          <a:p>
            <a:fld id="{4319023F-1571-43C3-8FBC-843BCA0667AE}" type="datetimeFigureOut">
              <a:rPr lang="en-CA" smtClean="0"/>
              <a:t>2026-02-04</a:t>
            </a:fld>
            <a:endParaRPr lang="en-CA"/>
          </a:p>
        </p:txBody>
      </p:sp>
      <p:sp>
        <p:nvSpPr>
          <p:cNvPr id="5" name="Footer Placeholder 4">
            <a:extLst>
              <a:ext uri="{FF2B5EF4-FFF2-40B4-BE49-F238E27FC236}">
                <a16:creationId xmlns:a16="http://schemas.microsoft.com/office/drawing/2014/main" id="{A4944446-EAC5-9714-AB69-C02AA3A9F97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92F5007-E691-0E2A-4A40-317029659A6B}"/>
              </a:ext>
            </a:extLst>
          </p:cNvPr>
          <p:cNvSpPr>
            <a:spLocks noGrp="1"/>
          </p:cNvSpPr>
          <p:nvPr>
            <p:ph type="sldNum" sz="quarter" idx="12"/>
          </p:nvPr>
        </p:nvSpPr>
        <p:spPr/>
        <p:txBody>
          <a:bodyPr/>
          <a:lstStyle/>
          <a:p>
            <a:fld id="{6A933444-925E-4A54-AE3C-1C7899E13614}" type="slidenum">
              <a:rPr lang="en-CA" smtClean="0"/>
              <a:t>‹#›</a:t>
            </a:fld>
            <a:endParaRPr lang="en-CA"/>
          </a:p>
        </p:txBody>
      </p:sp>
    </p:spTree>
    <p:extLst>
      <p:ext uri="{BB962C8B-B14F-4D97-AF65-F5344CB8AC3E}">
        <p14:creationId xmlns:p14="http://schemas.microsoft.com/office/powerpoint/2010/main" val="44590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ABC77-E4D0-BA7B-EFC7-1805A630F33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551870F-3B1F-3E5F-7AA7-BF3F33D6DB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0E214AD7-2788-DB69-55AC-0734CBB2FD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2F39E49F-4D88-D381-C32F-65A7F7638961}"/>
              </a:ext>
            </a:extLst>
          </p:cNvPr>
          <p:cNvSpPr>
            <a:spLocks noGrp="1"/>
          </p:cNvSpPr>
          <p:nvPr>
            <p:ph type="dt" sz="half" idx="10"/>
          </p:nvPr>
        </p:nvSpPr>
        <p:spPr/>
        <p:txBody>
          <a:bodyPr/>
          <a:lstStyle/>
          <a:p>
            <a:fld id="{4319023F-1571-43C3-8FBC-843BCA0667AE}" type="datetimeFigureOut">
              <a:rPr lang="en-CA" smtClean="0"/>
              <a:t>2026-02-04</a:t>
            </a:fld>
            <a:endParaRPr lang="en-CA"/>
          </a:p>
        </p:txBody>
      </p:sp>
      <p:sp>
        <p:nvSpPr>
          <p:cNvPr id="6" name="Footer Placeholder 5">
            <a:extLst>
              <a:ext uri="{FF2B5EF4-FFF2-40B4-BE49-F238E27FC236}">
                <a16:creationId xmlns:a16="http://schemas.microsoft.com/office/drawing/2014/main" id="{44D6CB73-775B-0BF2-27C0-BA1C38DB4FF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61DD92E-FB06-8B63-C047-3CAD9A66B584}"/>
              </a:ext>
            </a:extLst>
          </p:cNvPr>
          <p:cNvSpPr>
            <a:spLocks noGrp="1"/>
          </p:cNvSpPr>
          <p:nvPr>
            <p:ph type="sldNum" sz="quarter" idx="12"/>
          </p:nvPr>
        </p:nvSpPr>
        <p:spPr/>
        <p:txBody>
          <a:bodyPr/>
          <a:lstStyle/>
          <a:p>
            <a:fld id="{6A933444-925E-4A54-AE3C-1C7899E13614}" type="slidenum">
              <a:rPr lang="en-CA" smtClean="0"/>
              <a:t>‹#›</a:t>
            </a:fld>
            <a:endParaRPr lang="en-CA"/>
          </a:p>
        </p:txBody>
      </p:sp>
    </p:spTree>
    <p:extLst>
      <p:ext uri="{BB962C8B-B14F-4D97-AF65-F5344CB8AC3E}">
        <p14:creationId xmlns:p14="http://schemas.microsoft.com/office/powerpoint/2010/main" val="2936946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E29A6-1AFC-E746-AF27-36F38CB8D23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8BFE2A7-5658-FFDB-23F3-EF67E169D2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F5E69E-63BD-FD22-8CDA-B39F6EC3C8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E8C4A9B-D547-BE2D-69A7-A1BE461733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29BDDF-8165-1708-1706-D05426DA35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F9239F3F-3AB8-C3E2-AFF2-4121B9BEC48A}"/>
              </a:ext>
            </a:extLst>
          </p:cNvPr>
          <p:cNvSpPr>
            <a:spLocks noGrp="1"/>
          </p:cNvSpPr>
          <p:nvPr>
            <p:ph type="dt" sz="half" idx="10"/>
          </p:nvPr>
        </p:nvSpPr>
        <p:spPr/>
        <p:txBody>
          <a:bodyPr/>
          <a:lstStyle/>
          <a:p>
            <a:fld id="{4319023F-1571-43C3-8FBC-843BCA0667AE}" type="datetimeFigureOut">
              <a:rPr lang="en-CA" smtClean="0"/>
              <a:t>2026-02-04</a:t>
            </a:fld>
            <a:endParaRPr lang="en-CA"/>
          </a:p>
        </p:txBody>
      </p:sp>
      <p:sp>
        <p:nvSpPr>
          <p:cNvPr id="8" name="Footer Placeholder 7">
            <a:extLst>
              <a:ext uri="{FF2B5EF4-FFF2-40B4-BE49-F238E27FC236}">
                <a16:creationId xmlns:a16="http://schemas.microsoft.com/office/drawing/2014/main" id="{18579FB4-4C7F-6741-224D-4E5F868B7DF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78AA1946-67FE-8DEB-CDEE-138784B421D9}"/>
              </a:ext>
            </a:extLst>
          </p:cNvPr>
          <p:cNvSpPr>
            <a:spLocks noGrp="1"/>
          </p:cNvSpPr>
          <p:nvPr>
            <p:ph type="sldNum" sz="quarter" idx="12"/>
          </p:nvPr>
        </p:nvSpPr>
        <p:spPr/>
        <p:txBody>
          <a:bodyPr/>
          <a:lstStyle/>
          <a:p>
            <a:fld id="{6A933444-925E-4A54-AE3C-1C7899E13614}" type="slidenum">
              <a:rPr lang="en-CA" smtClean="0"/>
              <a:t>‹#›</a:t>
            </a:fld>
            <a:endParaRPr lang="en-CA"/>
          </a:p>
        </p:txBody>
      </p:sp>
    </p:spTree>
    <p:extLst>
      <p:ext uri="{BB962C8B-B14F-4D97-AF65-F5344CB8AC3E}">
        <p14:creationId xmlns:p14="http://schemas.microsoft.com/office/powerpoint/2010/main" val="1800537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B545-C082-F0D7-129A-29473BC962A7}"/>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94FC6CCA-85CD-B8F2-F170-A692F5201091}"/>
              </a:ext>
            </a:extLst>
          </p:cNvPr>
          <p:cNvSpPr>
            <a:spLocks noGrp="1"/>
          </p:cNvSpPr>
          <p:nvPr>
            <p:ph type="dt" sz="half" idx="10"/>
          </p:nvPr>
        </p:nvSpPr>
        <p:spPr/>
        <p:txBody>
          <a:bodyPr/>
          <a:lstStyle/>
          <a:p>
            <a:fld id="{4319023F-1571-43C3-8FBC-843BCA0667AE}" type="datetimeFigureOut">
              <a:rPr lang="en-CA" smtClean="0"/>
              <a:t>2026-02-04</a:t>
            </a:fld>
            <a:endParaRPr lang="en-CA"/>
          </a:p>
        </p:txBody>
      </p:sp>
      <p:sp>
        <p:nvSpPr>
          <p:cNvPr id="4" name="Footer Placeholder 3">
            <a:extLst>
              <a:ext uri="{FF2B5EF4-FFF2-40B4-BE49-F238E27FC236}">
                <a16:creationId xmlns:a16="http://schemas.microsoft.com/office/drawing/2014/main" id="{B474D978-A808-ADC2-88BB-EEE340A3CF8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C8E5329-08A3-A284-D276-E05DC7E73923}"/>
              </a:ext>
            </a:extLst>
          </p:cNvPr>
          <p:cNvSpPr>
            <a:spLocks noGrp="1"/>
          </p:cNvSpPr>
          <p:nvPr>
            <p:ph type="sldNum" sz="quarter" idx="12"/>
          </p:nvPr>
        </p:nvSpPr>
        <p:spPr/>
        <p:txBody>
          <a:bodyPr/>
          <a:lstStyle/>
          <a:p>
            <a:fld id="{6A933444-925E-4A54-AE3C-1C7899E13614}" type="slidenum">
              <a:rPr lang="en-CA" smtClean="0"/>
              <a:t>‹#›</a:t>
            </a:fld>
            <a:endParaRPr lang="en-CA"/>
          </a:p>
        </p:txBody>
      </p:sp>
    </p:spTree>
    <p:extLst>
      <p:ext uri="{BB962C8B-B14F-4D97-AF65-F5344CB8AC3E}">
        <p14:creationId xmlns:p14="http://schemas.microsoft.com/office/powerpoint/2010/main" val="2171690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770BE1-9429-F3D9-0591-8DED37E2DAD1}"/>
              </a:ext>
            </a:extLst>
          </p:cNvPr>
          <p:cNvSpPr>
            <a:spLocks noGrp="1"/>
          </p:cNvSpPr>
          <p:nvPr>
            <p:ph type="dt" sz="half" idx="10"/>
          </p:nvPr>
        </p:nvSpPr>
        <p:spPr/>
        <p:txBody>
          <a:bodyPr/>
          <a:lstStyle/>
          <a:p>
            <a:fld id="{4319023F-1571-43C3-8FBC-843BCA0667AE}" type="datetimeFigureOut">
              <a:rPr lang="en-CA" smtClean="0"/>
              <a:t>2026-02-04</a:t>
            </a:fld>
            <a:endParaRPr lang="en-CA"/>
          </a:p>
        </p:txBody>
      </p:sp>
      <p:sp>
        <p:nvSpPr>
          <p:cNvPr id="3" name="Footer Placeholder 2">
            <a:extLst>
              <a:ext uri="{FF2B5EF4-FFF2-40B4-BE49-F238E27FC236}">
                <a16:creationId xmlns:a16="http://schemas.microsoft.com/office/drawing/2014/main" id="{767381F4-5925-E80C-89B7-2C1DDE2B4E99}"/>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2F37AD0E-0A03-CB40-829D-75DCFE41B072}"/>
              </a:ext>
            </a:extLst>
          </p:cNvPr>
          <p:cNvSpPr>
            <a:spLocks noGrp="1"/>
          </p:cNvSpPr>
          <p:nvPr>
            <p:ph type="sldNum" sz="quarter" idx="12"/>
          </p:nvPr>
        </p:nvSpPr>
        <p:spPr/>
        <p:txBody>
          <a:bodyPr/>
          <a:lstStyle/>
          <a:p>
            <a:fld id="{6A933444-925E-4A54-AE3C-1C7899E13614}" type="slidenum">
              <a:rPr lang="en-CA" smtClean="0"/>
              <a:t>‹#›</a:t>
            </a:fld>
            <a:endParaRPr lang="en-CA"/>
          </a:p>
        </p:txBody>
      </p:sp>
    </p:spTree>
    <p:extLst>
      <p:ext uri="{BB962C8B-B14F-4D97-AF65-F5344CB8AC3E}">
        <p14:creationId xmlns:p14="http://schemas.microsoft.com/office/powerpoint/2010/main" val="2978416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F7B11-EEB5-5E60-DF4B-F51C55ECD4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26A8C9A-BDEB-964A-9ADB-0880795D8C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AA0E466-8192-9313-134C-ECF942378D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6E02CA-C152-9DC3-2494-96069732FA0B}"/>
              </a:ext>
            </a:extLst>
          </p:cNvPr>
          <p:cNvSpPr>
            <a:spLocks noGrp="1"/>
          </p:cNvSpPr>
          <p:nvPr>
            <p:ph type="dt" sz="half" idx="10"/>
          </p:nvPr>
        </p:nvSpPr>
        <p:spPr/>
        <p:txBody>
          <a:bodyPr/>
          <a:lstStyle/>
          <a:p>
            <a:fld id="{4319023F-1571-43C3-8FBC-843BCA0667AE}" type="datetimeFigureOut">
              <a:rPr lang="en-CA" smtClean="0"/>
              <a:t>2026-02-04</a:t>
            </a:fld>
            <a:endParaRPr lang="en-CA"/>
          </a:p>
        </p:txBody>
      </p:sp>
      <p:sp>
        <p:nvSpPr>
          <p:cNvPr id="6" name="Footer Placeholder 5">
            <a:extLst>
              <a:ext uri="{FF2B5EF4-FFF2-40B4-BE49-F238E27FC236}">
                <a16:creationId xmlns:a16="http://schemas.microsoft.com/office/drawing/2014/main" id="{3471A2C7-0166-255C-31EE-89AFC59877F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7592A30-DBE8-E653-B008-D235EBC754EC}"/>
              </a:ext>
            </a:extLst>
          </p:cNvPr>
          <p:cNvSpPr>
            <a:spLocks noGrp="1"/>
          </p:cNvSpPr>
          <p:nvPr>
            <p:ph type="sldNum" sz="quarter" idx="12"/>
          </p:nvPr>
        </p:nvSpPr>
        <p:spPr/>
        <p:txBody>
          <a:bodyPr/>
          <a:lstStyle/>
          <a:p>
            <a:fld id="{6A933444-925E-4A54-AE3C-1C7899E13614}" type="slidenum">
              <a:rPr lang="en-CA" smtClean="0"/>
              <a:t>‹#›</a:t>
            </a:fld>
            <a:endParaRPr lang="en-CA"/>
          </a:p>
        </p:txBody>
      </p:sp>
    </p:spTree>
    <p:extLst>
      <p:ext uri="{BB962C8B-B14F-4D97-AF65-F5344CB8AC3E}">
        <p14:creationId xmlns:p14="http://schemas.microsoft.com/office/powerpoint/2010/main" val="1387531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C65B8-320E-F53A-5078-C7B35F6EBF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CF97F469-6CFD-B46A-CE1E-3E93807662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75E4E3D-ED29-FEDE-333E-4B4F0F5B43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C1A41A-4598-0ED0-84A7-8DF730DED853}"/>
              </a:ext>
            </a:extLst>
          </p:cNvPr>
          <p:cNvSpPr>
            <a:spLocks noGrp="1"/>
          </p:cNvSpPr>
          <p:nvPr>
            <p:ph type="dt" sz="half" idx="10"/>
          </p:nvPr>
        </p:nvSpPr>
        <p:spPr/>
        <p:txBody>
          <a:bodyPr/>
          <a:lstStyle/>
          <a:p>
            <a:fld id="{4319023F-1571-43C3-8FBC-843BCA0667AE}" type="datetimeFigureOut">
              <a:rPr lang="en-CA" smtClean="0"/>
              <a:t>2026-02-04</a:t>
            </a:fld>
            <a:endParaRPr lang="en-CA"/>
          </a:p>
        </p:txBody>
      </p:sp>
      <p:sp>
        <p:nvSpPr>
          <p:cNvPr id="6" name="Footer Placeholder 5">
            <a:extLst>
              <a:ext uri="{FF2B5EF4-FFF2-40B4-BE49-F238E27FC236}">
                <a16:creationId xmlns:a16="http://schemas.microsoft.com/office/drawing/2014/main" id="{F053C615-5DAA-3F31-018F-EA927489EE3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EC1025A-7072-3692-4539-9F36148D6968}"/>
              </a:ext>
            </a:extLst>
          </p:cNvPr>
          <p:cNvSpPr>
            <a:spLocks noGrp="1"/>
          </p:cNvSpPr>
          <p:nvPr>
            <p:ph type="sldNum" sz="quarter" idx="12"/>
          </p:nvPr>
        </p:nvSpPr>
        <p:spPr/>
        <p:txBody>
          <a:bodyPr/>
          <a:lstStyle/>
          <a:p>
            <a:fld id="{6A933444-925E-4A54-AE3C-1C7899E13614}" type="slidenum">
              <a:rPr lang="en-CA" smtClean="0"/>
              <a:t>‹#›</a:t>
            </a:fld>
            <a:endParaRPr lang="en-CA"/>
          </a:p>
        </p:txBody>
      </p:sp>
    </p:spTree>
    <p:extLst>
      <p:ext uri="{BB962C8B-B14F-4D97-AF65-F5344CB8AC3E}">
        <p14:creationId xmlns:p14="http://schemas.microsoft.com/office/powerpoint/2010/main" val="1723166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EE040-762A-2160-88C9-EDECE6893A0E}"/>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FBCCE5B-6F9F-BA22-42C2-EF4DBED0D6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517366F-8397-4AA8-6A1B-59BD83FA4166}"/>
              </a:ext>
            </a:extLst>
          </p:cNvPr>
          <p:cNvSpPr>
            <a:spLocks noGrp="1"/>
          </p:cNvSpPr>
          <p:nvPr>
            <p:ph type="dt" sz="half" idx="10"/>
          </p:nvPr>
        </p:nvSpPr>
        <p:spPr/>
        <p:txBody>
          <a:bodyPr/>
          <a:lstStyle/>
          <a:p>
            <a:fld id="{4319023F-1571-43C3-8FBC-843BCA0667AE}" type="datetimeFigureOut">
              <a:rPr lang="en-CA" smtClean="0"/>
              <a:t>2026-02-04</a:t>
            </a:fld>
            <a:endParaRPr lang="en-CA"/>
          </a:p>
        </p:txBody>
      </p:sp>
      <p:sp>
        <p:nvSpPr>
          <p:cNvPr id="5" name="Footer Placeholder 4">
            <a:extLst>
              <a:ext uri="{FF2B5EF4-FFF2-40B4-BE49-F238E27FC236}">
                <a16:creationId xmlns:a16="http://schemas.microsoft.com/office/drawing/2014/main" id="{4BB4B0F3-0CDE-9143-119E-4602394CB19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7FAF58B-3185-30C4-E161-420F8ACD9D0F}"/>
              </a:ext>
            </a:extLst>
          </p:cNvPr>
          <p:cNvSpPr>
            <a:spLocks noGrp="1"/>
          </p:cNvSpPr>
          <p:nvPr>
            <p:ph type="sldNum" sz="quarter" idx="12"/>
          </p:nvPr>
        </p:nvSpPr>
        <p:spPr/>
        <p:txBody>
          <a:bodyPr/>
          <a:lstStyle/>
          <a:p>
            <a:fld id="{6A933444-925E-4A54-AE3C-1C7899E13614}" type="slidenum">
              <a:rPr lang="en-CA" smtClean="0"/>
              <a:t>‹#›</a:t>
            </a:fld>
            <a:endParaRPr lang="en-CA"/>
          </a:p>
        </p:txBody>
      </p:sp>
    </p:spTree>
    <p:extLst>
      <p:ext uri="{BB962C8B-B14F-4D97-AF65-F5344CB8AC3E}">
        <p14:creationId xmlns:p14="http://schemas.microsoft.com/office/powerpoint/2010/main" val="2094556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C688A9-6DD7-22B1-2214-266C22D9E5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ED69E84-8CD7-DAC2-995C-5F98E558E4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6A86FF6-1E2D-9361-B4F8-7D499BE0C6B8}"/>
              </a:ext>
            </a:extLst>
          </p:cNvPr>
          <p:cNvSpPr>
            <a:spLocks noGrp="1"/>
          </p:cNvSpPr>
          <p:nvPr>
            <p:ph type="dt" sz="half" idx="10"/>
          </p:nvPr>
        </p:nvSpPr>
        <p:spPr/>
        <p:txBody>
          <a:bodyPr/>
          <a:lstStyle/>
          <a:p>
            <a:fld id="{4319023F-1571-43C3-8FBC-843BCA0667AE}" type="datetimeFigureOut">
              <a:rPr lang="en-CA" smtClean="0"/>
              <a:t>2026-02-04</a:t>
            </a:fld>
            <a:endParaRPr lang="en-CA"/>
          </a:p>
        </p:txBody>
      </p:sp>
      <p:sp>
        <p:nvSpPr>
          <p:cNvPr id="5" name="Footer Placeholder 4">
            <a:extLst>
              <a:ext uri="{FF2B5EF4-FFF2-40B4-BE49-F238E27FC236}">
                <a16:creationId xmlns:a16="http://schemas.microsoft.com/office/drawing/2014/main" id="{CCEB1051-85FB-E1D6-54B7-7F7CDD1BF7A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7DE6FB8-035B-C52C-B1ED-9CD1270A9831}"/>
              </a:ext>
            </a:extLst>
          </p:cNvPr>
          <p:cNvSpPr>
            <a:spLocks noGrp="1"/>
          </p:cNvSpPr>
          <p:nvPr>
            <p:ph type="sldNum" sz="quarter" idx="12"/>
          </p:nvPr>
        </p:nvSpPr>
        <p:spPr/>
        <p:txBody>
          <a:bodyPr/>
          <a:lstStyle/>
          <a:p>
            <a:fld id="{6A933444-925E-4A54-AE3C-1C7899E13614}" type="slidenum">
              <a:rPr lang="en-CA" smtClean="0"/>
              <a:t>‹#›</a:t>
            </a:fld>
            <a:endParaRPr lang="en-CA"/>
          </a:p>
        </p:txBody>
      </p:sp>
    </p:spTree>
    <p:extLst>
      <p:ext uri="{BB962C8B-B14F-4D97-AF65-F5344CB8AC3E}">
        <p14:creationId xmlns:p14="http://schemas.microsoft.com/office/powerpoint/2010/main" val="2696755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344BA7-66CA-0A4B-2D32-9378D3731C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9980F68-4C3C-A888-B05E-FC62BD0824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2913E7C-EE43-C191-CFB0-7364EDB937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19023F-1571-43C3-8FBC-843BCA0667AE}" type="datetimeFigureOut">
              <a:rPr lang="en-CA" smtClean="0"/>
              <a:t>2026-02-04</a:t>
            </a:fld>
            <a:endParaRPr lang="en-CA"/>
          </a:p>
        </p:txBody>
      </p:sp>
      <p:sp>
        <p:nvSpPr>
          <p:cNvPr id="5" name="Footer Placeholder 4">
            <a:extLst>
              <a:ext uri="{FF2B5EF4-FFF2-40B4-BE49-F238E27FC236}">
                <a16:creationId xmlns:a16="http://schemas.microsoft.com/office/drawing/2014/main" id="{F749E55E-BE8F-F7B6-17FD-0311F1A066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2389ACD4-7B79-CA69-3395-B6C980B84B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933444-925E-4A54-AE3C-1C7899E13614}" type="slidenum">
              <a:rPr lang="en-CA" smtClean="0"/>
              <a:t>‹#›</a:t>
            </a:fld>
            <a:endParaRPr lang="en-CA"/>
          </a:p>
        </p:txBody>
      </p:sp>
    </p:spTree>
    <p:extLst>
      <p:ext uri="{BB962C8B-B14F-4D97-AF65-F5344CB8AC3E}">
        <p14:creationId xmlns:p14="http://schemas.microsoft.com/office/powerpoint/2010/main" val="615140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F490E-D0EC-0008-2148-255A7FD652FF}"/>
              </a:ext>
            </a:extLst>
          </p:cNvPr>
          <p:cNvSpPr>
            <a:spLocks noGrp="1"/>
          </p:cNvSpPr>
          <p:nvPr>
            <p:ph type="ctrTitle"/>
          </p:nvPr>
        </p:nvSpPr>
        <p:spPr/>
        <p:txBody>
          <a:bodyPr/>
          <a:lstStyle/>
          <a:p>
            <a:endParaRPr lang="en-CA"/>
          </a:p>
        </p:txBody>
      </p:sp>
      <p:sp>
        <p:nvSpPr>
          <p:cNvPr id="3" name="Subtitle 2">
            <a:extLst>
              <a:ext uri="{FF2B5EF4-FFF2-40B4-BE49-F238E27FC236}">
                <a16:creationId xmlns:a16="http://schemas.microsoft.com/office/drawing/2014/main" id="{195DC02E-48B8-BC78-79FB-8B501DC24FC3}"/>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2701927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334962"/>
          </a:xfrm>
        </p:spPr>
        <p:txBody>
          <a:bodyPr>
            <a:normAutofit fontScale="90000"/>
          </a:bodyPr>
          <a:lstStyle/>
          <a:p>
            <a:br>
              <a:rPr lang="en-US" dirty="0"/>
            </a:br>
            <a:r>
              <a:rPr lang="en-US" dirty="0"/>
              <a:t>Concept of capital budgeting </a:t>
            </a:r>
            <a:br>
              <a:rPr lang="en-US" dirty="0"/>
            </a:br>
            <a:endParaRPr lang="en-US" dirty="0"/>
          </a:p>
        </p:txBody>
      </p:sp>
      <p:sp>
        <p:nvSpPr>
          <p:cNvPr id="3" name="Content Placeholder 2"/>
          <p:cNvSpPr>
            <a:spLocks noGrp="1"/>
          </p:cNvSpPr>
          <p:nvPr>
            <p:ph idx="1"/>
          </p:nvPr>
        </p:nvSpPr>
        <p:spPr>
          <a:xfrm>
            <a:off x="727587" y="990600"/>
            <a:ext cx="11543071" cy="5867400"/>
          </a:xfrm>
        </p:spPr>
        <p:txBody>
          <a:bodyPr>
            <a:normAutofit/>
          </a:bodyPr>
          <a:lstStyle/>
          <a:p>
            <a:pPr marL="0" indent="0">
              <a:buNone/>
            </a:pPr>
            <a:r>
              <a:rPr lang="en-US" dirty="0"/>
              <a:t> Capital budgeting is a plan for capital expenditure on fixed assets or long-term investment. The process of preparing capital budget is called capital budgeting. The term capital budgeting describe the long-term planning for making and financing capital outlays. It is a process of planning expenditures on assets whose cash flows are expected to extend beyond one year. In other words, capital budgeting is deciding which are acceptable investments and which actually should be purchased. This concerned with the current cash outflows for expected benefits from long term assets in operation. </a:t>
            </a:r>
          </a:p>
          <a:p>
            <a:r>
              <a:rPr lang="en-US" dirty="0"/>
              <a:t>The concept of capital budgeting can be made clear with the help of following definitions. </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305465"/>
          </a:xfrm>
        </p:spPr>
        <p:txBody>
          <a:bodyPr>
            <a:normAutofit fontScale="90000"/>
          </a:bodyPr>
          <a:lstStyle/>
          <a:p>
            <a:endParaRPr lang="en-US" dirty="0"/>
          </a:p>
        </p:txBody>
      </p:sp>
      <p:sp>
        <p:nvSpPr>
          <p:cNvPr id="3" name="Content Placeholder 2"/>
          <p:cNvSpPr>
            <a:spLocks noGrp="1"/>
          </p:cNvSpPr>
          <p:nvPr>
            <p:ph idx="1"/>
          </p:nvPr>
        </p:nvSpPr>
        <p:spPr>
          <a:xfrm>
            <a:off x="167148" y="580103"/>
            <a:ext cx="11877368" cy="6607278"/>
          </a:xfrm>
        </p:spPr>
        <p:txBody>
          <a:bodyPr>
            <a:normAutofit/>
          </a:bodyPr>
          <a:lstStyle/>
          <a:p>
            <a:r>
              <a:rPr lang="en-US" dirty="0"/>
              <a:t>In the words of Jon J Hamton : capital budgeting is the decision-making process by which firms evaluate the purchase of major fixed assets including building, machinery and equipment.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endParaRPr lang="en-US" dirty="0"/>
          </a:p>
        </p:txBody>
      </p:sp>
      <p:sp>
        <p:nvSpPr>
          <p:cNvPr id="3" name="Content Placeholder 2"/>
          <p:cNvSpPr>
            <a:spLocks noGrp="1"/>
          </p:cNvSpPr>
          <p:nvPr>
            <p:ph idx="1"/>
          </p:nvPr>
        </p:nvSpPr>
        <p:spPr>
          <a:xfrm>
            <a:off x="795528" y="1143000"/>
            <a:ext cx="11164824" cy="5486400"/>
          </a:xfrm>
        </p:spPr>
        <p:txBody>
          <a:bodyPr>
            <a:normAutofit/>
          </a:bodyPr>
          <a:lstStyle/>
          <a:p>
            <a:r>
              <a:rPr lang="en-US" dirty="0"/>
              <a:t>In conclusion we can say that capital budgeting is a process of making those decisions, which involve current outlays in return for a stream of benefits in future. It is concerned with decision making in determining which specific investment projects the firm should accepts, determining the total amount of capital expenditure which the firm should undertake and determining how the projects should be financed. In other words, capital budgeting is concerned with the allocation of the firms scare financial resources among the available market opportunities. The consideration of investment opportunities involves the comparison of the expected future streams of earnings form a project, with the immediate and subsequent streams of expenditures of it. </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Features of capital budgeting</a:t>
            </a:r>
            <a:br>
              <a:rPr lang="en-US" dirty="0"/>
            </a:br>
            <a:endParaRPr lang="en-US" dirty="0"/>
          </a:p>
        </p:txBody>
      </p:sp>
      <p:sp>
        <p:nvSpPr>
          <p:cNvPr id="3" name="Content Placeholder 2"/>
          <p:cNvSpPr>
            <a:spLocks noGrp="1"/>
          </p:cNvSpPr>
          <p:nvPr>
            <p:ph idx="1"/>
          </p:nvPr>
        </p:nvSpPr>
        <p:spPr>
          <a:xfrm>
            <a:off x="609600" y="1097281"/>
            <a:ext cx="10972800" cy="5028884"/>
          </a:xfrm>
        </p:spPr>
        <p:txBody>
          <a:bodyPr>
            <a:normAutofit/>
          </a:bodyPr>
          <a:lstStyle/>
          <a:p>
            <a:r>
              <a:rPr lang="en-US" b="1" dirty="0"/>
              <a:t>Features of capital budgeting</a:t>
            </a:r>
            <a:endParaRPr lang="en-US" dirty="0"/>
          </a:p>
          <a:p>
            <a:r>
              <a:rPr lang="en-US" b="1" dirty="0"/>
              <a:t>Concerned with long term funds</a:t>
            </a:r>
            <a:r>
              <a:rPr lang="en-US" dirty="0"/>
              <a:t>: capital budgeting involves of long-term funds through issue of shares and debentures, acceptance of public deposits and loans form specialized financial institutions, banks, etc. these long-term funds are used in the acquisition and development of fixed assets. </a:t>
            </a:r>
          </a:p>
          <a:p>
            <a:r>
              <a:rPr lang="en-US" b="1" dirty="0"/>
              <a:t>Involving heavy expenditure</a:t>
            </a:r>
            <a:r>
              <a:rPr lang="en-US" dirty="0"/>
              <a:t>: the cost of acquiring and developing fixed assets is very heavy, which cannot be met by short term current resources. It requires that funds should be generated for long period. It is the capital budgeting which decides the sources and application of long-term funds.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a:t>Affecting cost structure</a:t>
            </a:r>
            <a:r>
              <a:rPr lang="en-US" dirty="0"/>
              <a:t>: the heavy expenditure incurred in the acquisition of fixed assets will definitely affect the future cost structure of the business firm. It involves the cost of acquiring funds. Here, cost means the rate of interest payable on borrowing it the fixed rate of dividend in case of preferred stock, the competitive rate of dividend in case of equity share, expenses on issue as brokerage, underwriting commission and expenses in obtaining loan. Cost structure means the cost of production of the firm. Acquisition of fixed assets will generate higher income and also reduce cost and consequently, margin of profit will increase.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Time lag between investment and return: investment in fixed assets pays dividend in the long period. The process of investment may continue for longer period, just as acquisition and development of land, construction of building and purchase of plant from abroad. The fruits of these long-term investment will be available, if these assets are properly utilized. Capital budgeting is therefore, an investment with patience.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a:t>Involving considerable risk</a:t>
            </a:r>
            <a:r>
              <a:rPr lang="en-US" dirty="0"/>
              <a:t>: capital budgeting is long term investment and as such it carries long term uncertainties with it. Wise investment decision ay rich dividends but any wrong decision such as acquisition of obsolete, out of date machines and equipment is going to affect future prospects aversely. In case, the assets acquired remain unutilized, it is complete wastage. As such capital budgeting is a risk investment this is why; long term investment decision should be made after serious consideration. It also suffers from the fact that once investment decisions are implemented, they cannot be withdrawn without inflicting considerable losses.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Determining the future course of action</a:t>
            </a:r>
            <a:r>
              <a:rPr lang="en-US" dirty="0"/>
              <a:t>: Long -term investments are made with long -term objectives of the firm. Investments are directed towards the precious goal of the firm. The trend of long-term investment of the firm indicates its future course of action. </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Importance of capital budgeting </a:t>
            </a:r>
            <a:br>
              <a:rPr lang="en-US" dirty="0"/>
            </a:br>
            <a:endParaRPr lang="en-US" dirty="0"/>
          </a:p>
        </p:txBody>
      </p:sp>
      <p:sp>
        <p:nvSpPr>
          <p:cNvPr id="3" name="Content Placeholder 2"/>
          <p:cNvSpPr>
            <a:spLocks noGrp="1"/>
          </p:cNvSpPr>
          <p:nvPr>
            <p:ph idx="1"/>
          </p:nvPr>
        </p:nvSpPr>
        <p:spPr/>
        <p:txBody>
          <a:bodyPr>
            <a:normAutofit/>
          </a:bodyPr>
          <a:lstStyle/>
          <a:p>
            <a:r>
              <a:rPr lang="en-US" dirty="0"/>
              <a:t>Capital budgeting is concerned with revenue yielding or cost reducing long term investment decision. Correct investments decisions are appropriate time will definitely accelerate the pace of growth of the firm and result in prosperity. The role played by capital budgeting in the financial health of the firm may be summarized as under.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t>Building competitive strength: capital budgeting decision extremely affect the profitability of the business. Excellent profitability builds sound financial health. Investments in the fixed assets, if made in the right direction increase the profit earning capacity of the firm. Increased profitability makes the firm strong enough to face the competition in the market.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t>Determining future destiny of the firm: correct decisions regarding acquisition and development of fixed assets generate quick and excellent return. At the same time incorrect decisions may prove fatal to the existence of the firm. As such capital budgeting determines the future destiny of the firm.</a:t>
            </a: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t>Revenue yielding and cost reducing investment: capital budgeting decisions are concerned with long term assets, so they affect the financial status of the firm over a long period of time. Investment is fixed assets. If wisely made result in the increase of income and reduction of expenditure in the long run.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dirty="0"/>
              <a:t>Best possible utilization of resources: long term funds should be wisely utilized in acquiring fixed assets. Capital budgeting provides an opportunity to formulate effective planning of their utilization. It enables the financial management to make its long-term investment decision in the right direction. Scientific approach towards investment decision results in the best utilization of resource. </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r>
              <a:rPr lang="en-US" dirty="0"/>
              <a:t>Generating and sustaining current assets: fixed assets are the real assets. These are very significant for the business, because these assets generate revenue and reduce costs. Generation of revenue is the very important source of current assets. Current assets are directly linked with revenue earned by the firm. The higher is the revenue the more will be the current assets. Fixed investment reduces cost also. Reduction in cost reduces current liabilities and consequently current asset increases. As investment in fixed assets is a long-term investment, it becomes durable and dependable sources of current assets for ever and thus sustaining current assets.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40147-BFFC-E3D7-270C-6C2AC29083E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BA805B3-8D3D-7D23-93FC-9058FD5C614D}"/>
              </a:ext>
            </a:extLst>
          </p:cNvPr>
          <p:cNvSpPr>
            <a:spLocks noGrp="1"/>
          </p:cNvSpPr>
          <p:nvPr>
            <p:ph idx="1"/>
          </p:nvPr>
        </p:nvSpPr>
        <p:spPr/>
        <p:txBody>
          <a:bodyPr>
            <a:normAutofit fontScale="92500" lnSpcReduction="20000"/>
          </a:bodyPr>
          <a:lstStyle/>
          <a:p>
            <a:r>
              <a:rPr lang="en-US" b="1" dirty="0"/>
              <a:t>Methods of financing, Sources of capital, sources of investment </a:t>
            </a:r>
            <a:endParaRPr lang="en-CA" dirty="0"/>
          </a:p>
          <a:p>
            <a:pPr lvl="0"/>
            <a:r>
              <a:rPr lang="en-US" b="1" dirty="0"/>
              <a:t>Equity financing</a:t>
            </a:r>
            <a:endParaRPr lang="en-CA" dirty="0"/>
          </a:p>
          <a:p>
            <a:pPr lvl="0"/>
            <a:r>
              <a:rPr lang="en-US" b="1" dirty="0"/>
              <a:t>Debt financing </a:t>
            </a:r>
            <a:endParaRPr lang="en-CA" dirty="0"/>
          </a:p>
          <a:p>
            <a:pPr lvl="0"/>
            <a:r>
              <a:rPr lang="en-US" dirty="0"/>
              <a:t>Equity financing is the ownership financing. Interest is not paid in equity financing. Dividend is paid and the return rate of dividend is not fixed and generally there is no maturity period in equity capital. Equity financing is </a:t>
            </a:r>
            <a:endParaRPr lang="en-CA" dirty="0"/>
          </a:p>
          <a:p>
            <a:r>
              <a:rPr lang="en-US" b="1" dirty="0"/>
              <a:t>common stock financing, </a:t>
            </a:r>
            <a:endParaRPr lang="en-CA" dirty="0"/>
          </a:p>
          <a:p>
            <a:r>
              <a:rPr lang="en-US" b="1" dirty="0"/>
              <a:t>preferred stock financing and </a:t>
            </a:r>
            <a:endParaRPr lang="en-CA" dirty="0"/>
          </a:p>
          <a:p>
            <a:r>
              <a:rPr lang="en-US" b="1" dirty="0"/>
              <a:t>retained earnings financing</a:t>
            </a:r>
            <a:r>
              <a:rPr lang="en-US" dirty="0"/>
              <a:t>. </a:t>
            </a:r>
            <a:endParaRPr lang="en-CA" dirty="0"/>
          </a:p>
          <a:p>
            <a:r>
              <a:rPr lang="en-US" dirty="0"/>
              <a:t>This type of financing is not concerned with any loan and debt so interest is not paid. Dividend is paid on equity financing. </a:t>
            </a:r>
            <a:endParaRPr lang="en-CA" dirty="0"/>
          </a:p>
          <a:p>
            <a:endParaRPr lang="en-CA" dirty="0"/>
          </a:p>
        </p:txBody>
      </p:sp>
    </p:spTree>
    <p:extLst>
      <p:ext uri="{BB962C8B-B14F-4D97-AF65-F5344CB8AC3E}">
        <p14:creationId xmlns:p14="http://schemas.microsoft.com/office/powerpoint/2010/main" val="4281513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BE97A-B96E-7714-0647-7ED8F822C9FE}"/>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D38F6DCF-DC93-CEDD-ACAD-F008287E11B1}"/>
              </a:ext>
            </a:extLst>
          </p:cNvPr>
          <p:cNvSpPr>
            <a:spLocks noGrp="1"/>
          </p:cNvSpPr>
          <p:nvPr>
            <p:ph idx="1"/>
          </p:nvPr>
        </p:nvSpPr>
        <p:spPr>
          <a:xfrm>
            <a:off x="137652" y="914400"/>
            <a:ext cx="11661058" cy="6017342"/>
          </a:xfrm>
        </p:spPr>
        <p:txBody>
          <a:bodyPr>
            <a:normAutofit fontScale="85000" lnSpcReduction="20000"/>
          </a:bodyPr>
          <a:lstStyle/>
          <a:p>
            <a:pPr lvl="0"/>
            <a:r>
              <a:rPr lang="en-US" b="1" dirty="0"/>
              <a:t>Meaning of common stock </a:t>
            </a:r>
            <a:endParaRPr lang="en-CA" dirty="0"/>
          </a:p>
          <a:p>
            <a:r>
              <a:rPr lang="en-US" dirty="0"/>
              <a:t>Common stock is one of the most important sources of long-term capital it is the ownership security, it denotes the money invested by the stockholders in a firm. Common stock is a certificate of /ownership in a firm, a residual claim against both the assets and earnings of the firm, it represents the ownership interests of the firm as distinct from debt capital obtained from creditors. The holders of common stocks are the real owner of the firm. </a:t>
            </a:r>
            <a:endParaRPr lang="en-CA" dirty="0"/>
          </a:p>
          <a:p>
            <a:r>
              <a:rPr lang="en-US" dirty="0"/>
              <a:t>In other words, as per the company act, shares, which are not preference shares, are common stocks or equity shares (sometimes called the ordinary shares). Dividends on them are paid after the fixed dividend on preference shares has been paid. The rate of dividend on them varies according to the amount of profits available and the intention of the board of directors. In the event of the winding up of the company, common stock can be paid back only after all other claims, including those of the preference shareholders have been settled. </a:t>
            </a:r>
            <a:endParaRPr lang="en-CA" dirty="0"/>
          </a:p>
          <a:p>
            <a:r>
              <a:rPr lang="en-US" dirty="0"/>
              <a:t>The common stockholders control the affairs to the company, as they are entitled to vote at the general meeting of the company. The preference shareholders can vote only if their rights and interests are affected. </a:t>
            </a:r>
            <a:endParaRPr lang="en-CA" dirty="0"/>
          </a:p>
          <a:p>
            <a:r>
              <a:rPr lang="en-US" dirty="0"/>
              <a:t>These shares earn very good dividends, but they also run the risk of earning nothings. While the preference shareholder is cautions and prefers security to return. </a:t>
            </a:r>
            <a:endParaRPr lang="en-CA" dirty="0"/>
          </a:p>
          <a:p>
            <a:r>
              <a:rPr lang="en-US" dirty="0"/>
              <a:t>The common stockholders are the real owners of a firm. </a:t>
            </a:r>
            <a:endParaRPr lang="en-CA" dirty="0"/>
          </a:p>
          <a:p>
            <a:endParaRPr lang="en-CA" dirty="0"/>
          </a:p>
        </p:txBody>
      </p:sp>
    </p:spTree>
    <p:extLst>
      <p:ext uri="{BB962C8B-B14F-4D97-AF65-F5344CB8AC3E}">
        <p14:creationId xmlns:p14="http://schemas.microsoft.com/office/powerpoint/2010/main" val="2462429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19B3A-59EB-16DB-DCC6-BB1DA79A609B}"/>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C4C31E5C-E6CF-20DD-2023-F08F66F5EEC1}"/>
              </a:ext>
            </a:extLst>
          </p:cNvPr>
          <p:cNvSpPr>
            <a:spLocks noGrp="1"/>
          </p:cNvSpPr>
          <p:nvPr>
            <p:ph idx="1"/>
          </p:nvPr>
        </p:nvSpPr>
        <p:spPr>
          <a:xfrm>
            <a:off x="838200" y="943897"/>
            <a:ext cx="10515600" cy="5233066"/>
          </a:xfrm>
        </p:spPr>
        <p:txBody>
          <a:bodyPr>
            <a:normAutofit fontScale="62500" lnSpcReduction="20000"/>
          </a:bodyPr>
          <a:lstStyle/>
          <a:p>
            <a:pPr marL="0" indent="0">
              <a:buNone/>
            </a:pPr>
            <a:endParaRPr lang="en-CA" dirty="0"/>
          </a:p>
          <a:p>
            <a:pPr lvl="0"/>
            <a:r>
              <a:rPr lang="en-US" b="1" dirty="0"/>
              <a:t>Preferred stock </a:t>
            </a:r>
            <a:endParaRPr lang="en-CA" dirty="0"/>
          </a:p>
          <a:p>
            <a:r>
              <a:rPr lang="en-US" dirty="0"/>
              <a:t>Preferred share is that share which gets a fixed rate of dividend determined before issuance. Preference share is one of the importance sources of long-term financial fund. Preference shareholders are that kind of owners of the company who have first priority to get dividend.  The preference shareholders have more responsibility towards the company than the debenture and bond holders. They get dividend after the bonds and debentures are paid off. If company goes in solvency the preference shareholders get capital return after the debenture and bond holders but before the ordinary shareholder so, it is clear that preference share by its name is the prior right holder than ordinary share. </a:t>
            </a:r>
            <a:endParaRPr lang="en-CA" dirty="0"/>
          </a:p>
          <a:p>
            <a:r>
              <a:rPr lang="en-US" dirty="0"/>
              <a:t>Preference shareholders have no right in managing and controlling the company as their investment is risk free investment. So, they don’t have voting right except some special conditions too. </a:t>
            </a:r>
            <a:endParaRPr lang="en-CA" dirty="0"/>
          </a:p>
          <a:p>
            <a:r>
              <a:rPr lang="en-US" dirty="0"/>
              <a:t>Preference shares or preferred stock is often considered to be hybrid security since it has many features of both equity share and bonds. It is similar to equity shares; it has no maturity date (in some cases) on the other hand it is similar to bond.</a:t>
            </a:r>
            <a:endParaRPr lang="en-CA" dirty="0"/>
          </a:p>
          <a:p>
            <a:pPr lvl="0"/>
            <a:r>
              <a:rPr lang="en-US" dirty="0"/>
              <a:t>Dividend rate fixed</a:t>
            </a:r>
            <a:endParaRPr lang="en-CA" dirty="0"/>
          </a:p>
          <a:p>
            <a:pPr lvl="0"/>
            <a:r>
              <a:rPr lang="en-US" dirty="0"/>
              <a:t>Preferred shareholders do not share in the residual earnings</a:t>
            </a:r>
            <a:endParaRPr lang="en-CA" dirty="0"/>
          </a:p>
          <a:p>
            <a:pPr lvl="0"/>
            <a:r>
              <a:rPr lang="en-US" dirty="0"/>
              <a:t>Preference shareholders have claims on income and assets prior to common stock holders and </a:t>
            </a:r>
            <a:endParaRPr lang="en-CA" dirty="0"/>
          </a:p>
          <a:p>
            <a:pPr lvl="0"/>
            <a:r>
              <a:rPr lang="en-US" dirty="0"/>
              <a:t>They usually do not have voting right. </a:t>
            </a:r>
            <a:endParaRPr lang="en-CA" dirty="0"/>
          </a:p>
          <a:p>
            <a:endParaRPr lang="en-CA" dirty="0"/>
          </a:p>
        </p:txBody>
      </p:sp>
    </p:spTree>
    <p:extLst>
      <p:ext uri="{BB962C8B-B14F-4D97-AF65-F5344CB8AC3E}">
        <p14:creationId xmlns:p14="http://schemas.microsoft.com/office/powerpoint/2010/main" val="2153672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256BB-004D-B9B8-3A51-0DF7E873D8D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297FB73-4D42-9FB3-F559-9CAE4D77E639}"/>
              </a:ext>
            </a:extLst>
          </p:cNvPr>
          <p:cNvSpPr>
            <a:spLocks noGrp="1"/>
          </p:cNvSpPr>
          <p:nvPr>
            <p:ph idx="1"/>
          </p:nvPr>
        </p:nvSpPr>
        <p:spPr/>
        <p:txBody>
          <a:bodyPr>
            <a:normAutofit fontScale="85000" lnSpcReduction="20000"/>
          </a:bodyPr>
          <a:lstStyle/>
          <a:p>
            <a:pPr lvl="0"/>
            <a:r>
              <a:rPr lang="en-US" b="1" dirty="0"/>
              <a:t>Retained earning </a:t>
            </a:r>
            <a:endParaRPr lang="en-CA" dirty="0"/>
          </a:p>
          <a:p>
            <a:r>
              <a:rPr lang="en-US" dirty="0"/>
              <a:t>Retained earnings are the portion of earning of the firm left in the business after distribution dividend. It is owned by the common stockholder. The board of any company decides about the amount of retain earning. This type of finance is the cheapest form of capital. </a:t>
            </a:r>
            <a:endParaRPr lang="en-CA" dirty="0"/>
          </a:p>
          <a:p>
            <a:pPr lvl="0"/>
            <a:r>
              <a:rPr lang="en-US" b="1" dirty="0"/>
              <a:t>Debt financing </a:t>
            </a:r>
            <a:endParaRPr lang="en-CA" dirty="0"/>
          </a:p>
          <a:p>
            <a:r>
              <a:rPr lang="en-US" dirty="0"/>
              <a:t>Debt financing consists of all borrowing form government, semi government, financial corporations and other agencies, term loans from banks and financial institution, debentures and bonds. Interest is paid on debt financing. The component of debt financing is described as under. Debt financing is the borrowing financing. It is borrowed from creditors. Fixed amount of interest is payable in debt financing. In general, every debt financing is obtained for certain period of time. Fixed interest is paid every year till the maturity period and the principal amount should be paid the end of maturity period. The following are the types of debt financing. </a:t>
            </a:r>
            <a:endParaRPr lang="en-CA" dirty="0"/>
          </a:p>
          <a:p>
            <a:endParaRPr lang="en-CA" dirty="0"/>
          </a:p>
        </p:txBody>
      </p:sp>
    </p:spTree>
    <p:extLst>
      <p:ext uri="{BB962C8B-B14F-4D97-AF65-F5344CB8AC3E}">
        <p14:creationId xmlns:p14="http://schemas.microsoft.com/office/powerpoint/2010/main" val="920352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B2CE5-FCEA-CBC6-6D20-7B3544D9DCE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322BBC3-2CBB-256F-A6D4-CF4E1BFDBBB3}"/>
              </a:ext>
            </a:extLst>
          </p:cNvPr>
          <p:cNvSpPr>
            <a:spLocks noGrp="1"/>
          </p:cNvSpPr>
          <p:nvPr>
            <p:ph idx="1"/>
          </p:nvPr>
        </p:nvSpPr>
        <p:spPr/>
        <p:txBody>
          <a:bodyPr>
            <a:normAutofit fontScale="70000" lnSpcReduction="20000"/>
          </a:bodyPr>
          <a:lstStyle/>
          <a:p>
            <a:pPr lvl="0"/>
            <a:r>
              <a:rPr lang="en-US" b="1" dirty="0"/>
              <a:t>A. Debenture and bond 	</a:t>
            </a:r>
            <a:endParaRPr lang="en-CA" dirty="0"/>
          </a:p>
          <a:p>
            <a:r>
              <a:rPr lang="en-US" dirty="0"/>
              <a:t>The company may require money for its expansion and development. This requirement may be met by the company by public borrowing. A debenture is one of the ways of the public borrowing. The issue of debentures helps the company in borrowing the bulk amount of debts from the general public. A debenture is a document that recognizes such public borrowing. A debenture is a certificate issued by a company acknowledging debt of a specified amount of public borrowing it is a proration of loan capital. A debenture is also known as bond. The owners of debenture are called debenture holders. They are creditors of the company and are entitled to receive an agreed and fixed rate of inter5est on their debentures regularly. Debentures carry interest periodically at a certain rate. It is common practice to prefix the rate of interest (coupon rate) before debentures lie 8% debentures. Here 8 percent indicates the interest rate on debenture. Debenture holders have priority as to the interest and refund of the principal in case of dissolution of the company. However, the debenture holders have no right over the management and control of the company. </a:t>
            </a:r>
            <a:endParaRPr lang="en-CA" dirty="0"/>
          </a:p>
          <a:p>
            <a:r>
              <a:rPr lang="en-US" b="1" dirty="0"/>
              <a:t>b. Bank loan </a:t>
            </a:r>
            <a:endParaRPr lang="en-CA" dirty="0"/>
          </a:p>
          <a:p>
            <a:r>
              <a:rPr lang="en-US" dirty="0"/>
              <a:t>Long term debt is one of the major long-term sources of financing. The big firms can raise fund by selling long term bonds or debentures in the open market. But long-term loan may be suitable for both small and big firm.</a:t>
            </a:r>
            <a:endParaRPr lang="en-CA" dirty="0"/>
          </a:p>
          <a:p>
            <a:endParaRPr lang="en-CA" dirty="0"/>
          </a:p>
        </p:txBody>
      </p:sp>
    </p:spTree>
    <p:extLst>
      <p:ext uri="{BB962C8B-B14F-4D97-AF65-F5344CB8AC3E}">
        <p14:creationId xmlns:p14="http://schemas.microsoft.com/office/powerpoint/2010/main" val="4279432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D6457-F13D-A4FE-29BE-38A277AF37D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F0A1322-A2B7-3172-C01B-DBC4C71FA5AA}"/>
              </a:ext>
            </a:extLst>
          </p:cNvPr>
          <p:cNvSpPr>
            <a:spLocks noGrp="1"/>
          </p:cNvSpPr>
          <p:nvPr>
            <p:ph idx="1"/>
          </p:nvPr>
        </p:nvSpPr>
        <p:spPr/>
        <p:txBody>
          <a:bodyPr>
            <a:normAutofit fontScale="55000" lnSpcReduction="20000"/>
          </a:bodyPr>
          <a:lstStyle/>
          <a:p>
            <a:r>
              <a:rPr lang="en-US" b="1" dirty="0"/>
              <a:t>Features of debt </a:t>
            </a:r>
            <a:endParaRPr lang="en-CA" dirty="0"/>
          </a:p>
          <a:p>
            <a:pPr lvl="0"/>
            <a:r>
              <a:rPr lang="en-US" dirty="0"/>
              <a:t>Priority to assets and earnings. In the event of bankruptcy, debt holders have a poor claim over the claims of both common and preferred stockholders to a firm's income and assets. </a:t>
            </a:r>
            <a:endParaRPr lang="en-CA" dirty="0"/>
          </a:p>
          <a:p>
            <a:pPr lvl="0"/>
            <a:r>
              <a:rPr lang="en-US" dirty="0"/>
              <a:t>Fixed interest: the interest rate on debt is fixed. The company is legally liable to pay interest whether it earns profit or suffers from loss. </a:t>
            </a:r>
            <a:endParaRPr lang="en-CA" dirty="0"/>
          </a:p>
          <a:p>
            <a:pPr lvl="0"/>
            <a:r>
              <a:rPr lang="en-US" dirty="0"/>
              <a:t>Maturity: debt usually has a fixed maturity date. The maturity of debt indicated the length of time until the company redeems the par value of debt holders and terminates debt. </a:t>
            </a:r>
            <a:endParaRPr lang="en-CA" dirty="0"/>
          </a:p>
          <a:p>
            <a:pPr lvl="0"/>
            <a:r>
              <a:rPr lang="en-US" dirty="0"/>
              <a:t>Call provisions: call provision enables the company to redeem debt at a specified price before the maturity date. The call proceed may be more than the par value of debt. The difference is called call premium. </a:t>
            </a:r>
            <a:endParaRPr lang="en-CA" dirty="0"/>
          </a:p>
          <a:p>
            <a:pPr lvl="0"/>
            <a:r>
              <a:rPr lang="en-US" dirty="0"/>
              <a:t>Security: Debts are either secured or unsecured. A secured debt is secured by lien on the company specific assets. If the company defaults, the trustee can seize on behalf of e debt holders. </a:t>
            </a:r>
            <a:endParaRPr lang="en-CA" dirty="0"/>
          </a:p>
          <a:p>
            <a:pPr lvl="0"/>
            <a:r>
              <a:rPr lang="en-US" dirty="0"/>
              <a:t>Sinking funds: in most debt issue, there is sinking fund provision. By this, here is certainty in paying debt by the firm after expiry f the date of loan. Some part of the outstanding debt is paid from time to time out of the amount deposited in this fund. </a:t>
            </a:r>
            <a:endParaRPr lang="en-CA" dirty="0"/>
          </a:p>
          <a:p>
            <a:pPr lvl="0"/>
            <a:r>
              <a:rPr lang="en-US" dirty="0"/>
              <a:t>Refunding provision: inmost debt issue has refunding provision. This provision permits the i9ssuer to repay the debt before it matures by issuing mew securities with low rate of interest. This provision helps the firms shorten the actual maturity of debt. </a:t>
            </a:r>
            <a:endParaRPr lang="en-CA" dirty="0"/>
          </a:p>
          <a:p>
            <a:pPr lvl="0"/>
            <a:r>
              <a:rPr lang="en-US" dirty="0"/>
              <a:t>Convertibility: debt also has the features of convertibility into equity shares with the option of the debt holders. </a:t>
            </a:r>
            <a:endParaRPr lang="en-CA" dirty="0"/>
          </a:p>
          <a:p>
            <a:pPr lvl="0"/>
            <a:r>
              <a:rPr lang="en-US" dirty="0"/>
              <a:t>Voting rights: there is no voting right to debt holders </a:t>
            </a:r>
            <a:endParaRPr lang="en-CA" dirty="0"/>
          </a:p>
          <a:p>
            <a:pPr lvl="0"/>
            <a:r>
              <a:rPr lang="en-US" dirty="0"/>
              <a:t>Trustee: trustee is appointed to safeguard the interest of the debenture holders or debt holders </a:t>
            </a:r>
            <a:endParaRPr lang="en-CA" dirty="0"/>
          </a:p>
          <a:p>
            <a:endParaRPr lang="en-CA" dirty="0"/>
          </a:p>
        </p:txBody>
      </p:sp>
    </p:spTree>
    <p:extLst>
      <p:ext uri="{BB962C8B-B14F-4D97-AF65-F5344CB8AC3E}">
        <p14:creationId xmlns:p14="http://schemas.microsoft.com/office/powerpoint/2010/main" val="3803713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A3F8-87E0-F32F-0546-B5CDE2BBF99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96162B8-3D36-94F9-3111-EDE8869A68BD}"/>
              </a:ext>
            </a:extLst>
          </p:cNvPr>
          <p:cNvSpPr>
            <a:spLocks noGrp="1"/>
          </p:cNvSpPr>
          <p:nvPr>
            <p:ph idx="1"/>
          </p:nvPr>
        </p:nvSpPr>
        <p:spPr/>
        <p:txBody>
          <a:bodyPr>
            <a:normAutofit fontScale="85000" lnSpcReduction="20000"/>
          </a:bodyPr>
          <a:lstStyle/>
          <a:p>
            <a:r>
              <a:rPr lang="en-US" b="1" dirty="0"/>
              <a:t>Capital Structure </a:t>
            </a:r>
            <a:endParaRPr lang="en-CA" dirty="0"/>
          </a:p>
          <a:p>
            <a:r>
              <a:rPr lang="en-US" b="1" dirty="0"/>
              <a:t>Capital Structure</a:t>
            </a:r>
            <a:r>
              <a:rPr lang="en-US" dirty="0"/>
              <a:t> refers to the mix of different sources of long-term funds (debt and equity) that a company uses to finance its operations and growth. It represents how a firm balance between borrowed money (loans, bonds) and owned money (shareholder equity) to fund its assets and investments.</a:t>
            </a:r>
            <a:endParaRPr lang="en-CA" dirty="0"/>
          </a:p>
          <a:p>
            <a:r>
              <a:rPr lang="en-US" dirty="0"/>
              <a:t>Capital structure refers to the sources of long-term funds. Capital structure represents the relationship of different kinds of long-term sources of capital and their amount. </a:t>
            </a:r>
            <a:endParaRPr lang="en-CA" dirty="0"/>
          </a:p>
          <a:p>
            <a:r>
              <a:rPr lang="en-US" dirty="0"/>
              <a:t>The percentage of debt capital and equity capital is calculated in capital structure. If debt capital is used 55 percent, then equity capital will be 45 percent. The portion of equity capital and debt capital is called capital structure. The company should always try to maintain optimal capital structure . Optimal capital structure is the best mix of debt and equity financing for a company that minimizes its overall cost of capital and maximizes its value.</a:t>
            </a:r>
            <a:endParaRPr lang="en-CA" dirty="0"/>
          </a:p>
          <a:p>
            <a:endParaRPr lang="en-CA" dirty="0"/>
          </a:p>
        </p:txBody>
      </p:sp>
    </p:spTree>
    <p:extLst>
      <p:ext uri="{BB962C8B-B14F-4D97-AF65-F5344CB8AC3E}">
        <p14:creationId xmlns:p14="http://schemas.microsoft.com/office/powerpoint/2010/main" val="2662460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13B56-1268-0908-B92B-4B900DB3ECC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176E72F-5F84-303D-33F0-56BAE73E4711}"/>
              </a:ext>
            </a:extLst>
          </p:cNvPr>
          <p:cNvSpPr>
            <a:spLocks noGrp="1"/>
          </p:cNvSpPr>
          <p:nvPr>
            <p:ph idx="1"/>
          </p:nvPr>
        </p:nvSpPr>
        <p:spPr/>
        <p:txBody>
          <a:bodyPr>
            <a:normAutofit fontScale="70000" lnSpcReduction="20000"/>
          </a:bodyPr>
          <a:lstStyle/>
          <a:p>
            <a:r>
              <a:rPr lang="en-US" b="1" dirty="0"/>
              <a:t>Cost of capital </a:t>
            </a:r>
            <a:endParaRPr lang="en-CA" dirty="0"/>
          </a:p>
          <a:p>
            <a:r>
              <a:rPr lang="en-US" dirty="0"/>
              <a:t>A firm may raise capital from different sources by issuing securities such as common stock, preferred stock, bond etc. all these sources of capital are not free of cost. For instance, a firm may pay periodic interest at stated rate to the bondholders. It should also pay predetermined rate of dividend to preferred stockholders. On the other hand, the common stockholders also expect to receive dividend and to increase investment value. These obligations like interest on bond, and dividend on preferred and common stock are collectively known as cost of capital. The firm’s overall cost of capital reflects the combined cost of all long-term sources of financing debt, preferred stock, retained earnings and common stock, used by the firm. This overall cost of capital is also known as weighted average cost of capital. The weighted average cost of capital is the weighted average of after-tax costs of each source of capital used by a firm to finance a project where the weights are the proportions of each source in total financing. </a:t>
            </a:r>
            <a:endParaRPr lang="en-CA" dirty="0"/>
          </a:p>
          <a:p>
            <a:r>
              <a:rPr lang="en-US" dirty="0"/>
              <a:t>Cost of capital is an important concept in financial management. A firm’s cost of capital serves as the linkage between two major financial decisions they are investment decision and financing decision. Cost of capital is the rate that a firm must earn on its investment to satisfy all the investors required rate of return. It is the minimum required rate of return on an investment at which price of firm’s common stock remains unchanged. </a:t>
            </a:r>
            <a:endParaRPr lang="en-CA" dirty="0"/>
          </a:p>
          <a:p>
            <a:r>
              <a:rPr lang="en-US" b="1" dirty="0"/>
              <a:t> </a:t>
            </a:r>
            <a:endParaRPr lang="en-CA" dirty="0"/>
          </a:p>
          <a:p>
            <a:endParaRPr lang="en-CA" dirty="0"/>
          </a:p>
        </p:txBody>
      </p:sp>
    </p:spTree>
    <p:extLst>
      <p:ext uri="{BB962C8B-B14F-4D97-AF65-F5344CB8AC3E}">
        <p14:creationId xmlns:p14="http://schemas.microsoft.com/office/powerpoint/2010/main" val="3659525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F087F-C0BD-C1CB-217A-E06CAA89A99E}"/>
              </a:ext>
            </a:extLst>
          </p:cNvPr>
          <p:cNvSpPr>
            <a:spLocks noGrp="1"/>
          </p:cNvSpPr>
          <p:nvPr>
            <p:ph type="title"/>
          </p:nvPr>
        </p:nvSpPr>
        <p:spPr>
          <a:xfrm>
            <a:off x="838200" y="365126"/>
            <a:ext cx="10515600" cy="45095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D0DE094B-4945-0EC8-36AC-26FE01D916FE}"/>
              </a:ext>
            </a:extLst>
          </p:cNvPr>
          <p:cNvSpPr>
            <a:spLocks noGrp="1"/>
          </p:cNvSpPr>
          <p:nvPr>
            <p:ph idx="1"/>
          </p:nvPr>
        </p:nvSpPr>
        <p:spPr>
          <a:xfrm>
            <a:off x="838200" y="953729"/>
            <a:ext cx="10515600" cy="5223234"/>
          </a:xfrm>
        </p:spPr>
        <p:txBody>
          <a:bodyPr>
            <a:normAutofit fontScale="77500" lnSpcReduction="20000"/>
          </a:bodyPr>
          <a:lstStyle/>
          <a:p>
            <a:pPr marL="0" indent="0">
              <a:buNone/>
            </a:pPr>
            <a:r>
              <a:rPr lang="en-US" b="1" dirty="0"/>
              <a:t> </a:t>
            </a:r>
            <a:endParaRPr lang="en-CA" dirty="0"/>
          </a:p>
          <a:p>
            <a:r>
              <a:rPr lang="en-US" b="1" dirty="0"/>
              <a:t>Component cost of debt </a:t>
            </a:r>
            <a:endParaRPr lang="en-CA" dirty="0"/>
          </a:p>
          <a:p>
            <a:r>
              <a:rPr lang="en-US" dirty="0"/>
              <a:t>Long term loans, debentures, bonds </a:t>
            </a:r>
            <a:r>
              <a:rPr lang="en-US" dirty="0" err="1"/>
              <a:t>etc</a:t>
            </a:r>
            <a:r>
              <a:rPr lang="en-US" dirty="0"/>
              <a:t> which carry a fixed interest rate are regarded as debt capital. The component cost of debt is the after-tax cost of borrowing funds. It is measured by the interest rate or yield paid to creditors. In other words, cost of debt is the investors required rate of return debt that creditors demand when they lend to the firm. It is computed on the after-tax basis. It is because of being interest expenses as tax deductible expenses. But for the firm, which is not paying tax either because of making losses or because of tax exemption, the cost of debt is equal to the interest rate. This is calculated as follows </a:t>
            </a:r>
            <a:endParaRPr lang="en-CA" dirty="0"/>
          </a:p>
          <a:p>
            <a:r>
              <a:rPr lang="en-US" dirty="0"/>
              <a:t>After tax cost of debt (</a:t>
            </a:r>
            <a:r>
              <a:rPr lang="en-US" dirty="0" err="1"/>
              <a:t>Kdt</a:t>
            </a:r>
            <a:r>
              <a:rPr lang="en-US" dirty="0"/>
              <a:t>) = </a:t>
            </a:r>
            <a:r>
              <a:rPr lang="en-US" dirty="0" err="1"/>
              <a:t>Kd</a:t>
            </a:r>
            <a:r>
              <a:rPr lang="en-US" dirty="0"/>
              <a:t> (1-t)</a:t>
            </a:r>
            <a:endParaRPr lang="en-CA" dirty="0"/>
          </a:p>
          <a:p>
            <a:r>
              <a:rPr lang="en-US" dirty="0"/>
              <a:t>Where </a:t>
            </a:r>
            <a:endParaRPr lang="en-CA" dirty="0"/>
          </a:p>
          <a:p>
            <a:r>
              <a:rPr lang="en-US" dirty="0" err="1"/>
              <a:t>Kd</a:t>
            </a:r>
            <a:r>
              <a:rPr lang="en-US" dirty="0"/>
              <a:t> = interest rate or cost of debt before tax or yield rate</a:t>
            </a:r>
            <a:endParaRPr lang="en-CA" dirty="0"/>
          </a:p>
          <a:p>
            <a:r>
              <a:rPr lang="en-US" dirty="0"/>
              <a:t>t= marginal tax rat</a:t>
            </a:r>
            <a:endParaRPr lang="en-CA" dirty="0"/>
          </a:p>
          <a:p>
            <a:r>
              <a:rPr lang="en-US" dirty="0"/>
              <a:t>On the basis of time period, debt can be divided into two parts, they are perpetual and redeemable. Brief discussions are given below:</a:t>
            </a:r>
            <a:endParaRPr lang="en-CA" dirty="0"/>
          </a:p>
          <a:p>
            <a:endParaRPr lang="en-CA" dirty="0"/>
          </a:p>
        </p:txBody>
      </p:sp>
    </p:spTree>
    <p:extLst>
      <p:ext uri="{BB962C8B-B14F-4D97-AF65-F5344CB8AC3E}">
        <p14:creationId xmlns:p14="http://schemas.microsoft.com/office/powerpoint/2010/main" val="960285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681C8-4675-94F9-CB93-94CB37C9A84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7AA44AE-A915-75D4-26AC-D490406A69D9}"/>
              </a:ext>
            </a:extLst>
          </p:cNvPr>
          <p:cNvSpPr>
            <a:spLocks noGrp="1"/>
          </p:cNvSpPr>
          <p:nvPr>
            <p:ph idx="1"/>
          </p:nvPr>
        </p:nvSpPr>
        <p:spPr/>
        <p:txBody>
          <a:bodyPr>
            <a:normAutofit fontScale="85000" lnSpcReduction="20000"/>
          </a:bodyPr>
          <a:lstStyle/>
          <a:p>
            <a:pPr lvl="0"/>
            <a:r>
              <a:rPr lang="en-US" b="1" dirty="0"/>
              <a:t>Perpetual debt</a:t>
            </a:r>
            <a:r>
              <a:rPr lang="en-US" dirty="0"/>
              <a:t>: perpetual debt is the debt which does not have any specific maturity period after which repayment has to make. It is a not repayable, conceptually, in life time of the firm. It means there is no time limit with in this the firm must pay back the debt money. If the firm makes a policy of maintaining a constant amount of debt forever in capital structure, perpetual debt will raise. It is irredeemable debt. The cost of debt after tax can be calculated as follow </a:t>
            </a:r>
            <a:endParaRPr lang="en-CA" dirty="0"/>
          </a:p>
          <a:p>
            <a:r>
              <a:rPr lang="en-US" dirty="0"/>
              <a:t>After tax cost of debt (</a:t>
            </a:r>
            <a:r>
              <a:rPr lang="en-US" dirty="0" err="1"/>
              <a:t>Kdt</a:t>
            </a:r>
            <a:r>
              <a:rPr lang="en-US" dirty="0"/>
              <a:t>) =</a:t>
            </a:r>
            <a:r>
              <a:rPr lang="en-US" dirty="0" err="1"/>
              <a:t>Kd</a:t>
            </a:r>
            <a:r>
              <a:rPr lang="en-US" dirty="0"/>
              <a:t>(1-t)</a:t>
            </a:r>
            <a:endParaRPr lang="en-CA" dirty="0"/>
          </a:p>
          <a:p>
            <a:r>
              <a:rPr lang="en-US" dirty="0"/>
              <a:t>Or </a:t>
            </a:r>
            <a:endParaRPr lang="en-CA" dirty="0"/>
          </a:p>
          <a:p>
            <a:r>
              <a:rPr lang="en-US" dirty="0"/>
              <a:t>=   I/</a:t>
            </a:r>
            <a:r>
              <a:rPr lang="en-US" dirty="0" err="1"/>
              <a:t>Vd</a:t>
            </a:r>
            <a:r>
              <a:rPr lang="en-US" dirty="0"/>
              <a:t> (1-t)</a:t>
            </a:r>
            <a:endParaRPr lang="en-CA" dirty="0"/>
          </a:p>
          <a:p>
            <a:r>
              <a:rPr lang="en-US" dirty="0"/>
              <a:t>Where</a:t>
            </a:r>
            <a:endParaRPr lang="en-CA" dirty="0"/>
          </a:p>
          <a:p>
            <a:r>
              <a:rPr lang="en-US" dirty="0"/>
              <a:t>I = interest amount </a:t>
            </a:r>
            <a:endParaRPr lang="en-CA" dirty="0"/>
          </a:p>
          <a:p>
            <a:r>
              <a:rPr lang="en-US" dirty="0" err="1"/>
              <a:t>Vd</a:t>
            </a:r>
            <a:r>
              <a:rPr lang="en-US" dirty="0"/>
              <a:t>= net proceeds or price of the bond or debenture. </a:t>
            </a:r>
            <a:endParaRPr lang="en-CA" dirty="0"/>
          </a:p>
          <a:p>
            <a:endParaRPr lang="en-CA" dirty="0"/>
          </a:p>
        </p:txBody>
      </p:sp>
    </p:spTree>
    <p:extLst>
      <p:ext uri="{BB962C8B-B14F-4D97-AF65-F5344CB8AC3E}">
        <p14:creationId xmlns:p14="http://schemas.microsoft.com/office/powerpoint/2010/main" val="2068212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FC20D-3455-7FB7-FEF7-47CCF2F0721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C9D260E-BE28-F09C-09E6-8E2FA857BB5B}"/>
              </a:ext>
            </a:extLst>
          </p:cNvPr>
          <p:cNvSpPr>
            <a:spLocks noGrp="1"/>
          </p:cNvSpPr>
          <p:nvPr>
            <p:ph idx="1"/>
          </p:nvPr>
        </p:nvSpPr>
        <p:spPr/>
        <p:txBody>
          <a:bodyPr/>
          <a:lstStyle/>
          <a:p>
            <a:r>
              <a:rPr lang="en-US" b="1" dirty="0"/>
              <a:t>Example </a:t>
            </a:r>
            <a:r>
              <a:rPr lang="en-US" dirty="0"/>
              <a:t> Baishali Trading Company financing plans for next year include the sales of long term bonds with a 10% coupon. The company believes it can sell the bonds at a price that will give a yield to maturity of 12 percent. If the tax rate is 35 percent, what is the company after tax cost of debt?</a:t>
            </a:r>
            <a:endParaRPr lang="en-CA" dirty="0"/>
          </a:p>
          <a:p>
            <a:r>
              <a:rPr lang="en-US" dirty="0"/>
              <a:t>Solution</a:t>
            </a:r>
            <a:endParaRPr lang="en-CA" dirty="0"/>
          </a:p>
          <a:p>
            <a:endParaRPr lang="en-CA" dirty="0"/>
          </a:p>
        </p:txBody>
      </p:sp>
    </p:spTree>
    <p:extLst>
      <p:ext uri="{BB962C8B-B14F-4D97-AF65-F5344CB8AC3E}">
        <p14:creationId xmlns:p14="http://schemas.microsoft.com/office/powerpoint/2010/main" val="283488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F512D-D21D-2AEA-FA3C-57B5D295714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6243FD9-94E3-D5DE-C917-E7D231E4443F}"/>
              </a:ext>
            </a:extLst>
          </p:cNvPr>
          <p:cNvSpPr>
            <a:spLocks noGrp="1"/>
          </p:cNvSpPr>
          <p:nvPr>
            <p:ph idx="1"/>
          </p:nvPr>
        </p:nvSpPr>
        <p:spPr/>
        <p:txBody>
          <a:bodyPr>
            <a:normAutofit/>
          </a:bodyPr>
          <a:lstStyle/>
          <a:p>
            <a:r>
              <a:rPr lang="en-US" dirty="0"/>
              <a:t>Given </a:t>
            </a:r>
            <a:endParaRPr lang="en-CA" dirty="0"/>
          </a:p>
          <a:p>
            <a:r>
              <a:rPr lang="en-US" dirty="0"/>
              <a:t>The coupon rate of the bond = 10%</a:t>
            </a:r>
            <a:endParaRPr lang="en-CA" dirty="0"/>
          </a:p>
          <a:p>
            <a:r>
              <a:rPr lang="en-US" dirty="0"/>
              <a:t>The yield to maturity of the bond (</a:t>
            </a:r>
            <a:r>
              <a:rPr lang="en-US" dirty="0" err="1"/>
              <a:t>Kd</a:t>
            </a:r>
            <a:r>
              <a:rPr lang="en-US" dirty="0"/>
              <a:t>)= 12% </a:t>
            </a:r>
            <a:endParaRPr lang="en-CA" dirty="0"/>
          </a:p>
          <a:p>
            <a:r>
              <a:rPr lang="en-US" dirty="0"/>
              <a:t>Tax rate (t) = 35% or 0.35</a:t>
            </a:r>
            <a:endParaRPr lang="en-CA" dirty="0"/>
          </a:p>
          <a:p>
            <a:r>
              <a:rPr lang="en-US" dirty="0"/>
              <a:t>We have </a:t>
            </a:r>
            <a:r>
              <a:rPr lang="en-US" dirty="0" err="1"/>
              <a:t>Kdt</a:t>
            </a:r>
            <a:r>
              <a:rPr lang="en-US" dirty="0"/>
              <a:t> = </a:t>
            </a:r>
            <a:r>
              <a:rPr lang="en-US" dirty="0" err="1"/>
              <a:t>Kd</a:t>
            </a:r>
            <a:r>
              <a:rPr lang="en-US" dirty="0"/>
              <a:t> (1-0.35) = 7.8%</a:t>
            </a:r>
            <a:endParaRPr lang="en-CA" dirty="0"/>
          </a:p>
          <a:p>
            <a:endParaRPr lang="en-CA" dirty="0"/>
          </a:p>
        </p:txBody>
      </p:sp>
    </p:spTree>
    <p:extLst>
      <p:ext uri="{BB962C8B-B14F-4D97-AF65-F5344CB8AC3E}">
        <p14:creationId xmlns:p14="http://schemas.microsoft.com/office/powerpoint/2010/main" val="2569892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F734-53CF-4CBA-FA4D-E0337200C1D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CFE87F6-82DB-EF6D-EBAA-29C99DD4E007}"/>
              </a:ext>
            </a:extLst>
          </p:cNvPr>
          <p:cNvSpPr>
            <a:spLocks noGrp="1"/>
          </p:cNvSpPr>
          <p:nvPr>
            <p:ph idx="1"/>
          </p:nvPr>
        </p:nvSpPr>
        <p:spPr/>
        <p:txBody>
          <a:bodyPr>
            <a:normAutofit fontScale="92500"/>
          </a:bodyPr>
          <a:lstStyle/>
          <a:p>
            <a:r>
              <a:rPr lang="en-US" dirty="0"/>
              <a:t>Example 2. </a:t>
            </a:r>
            <a:endParaRPr lang="en-CA" dirty="0"/>
          </a:p>
          <a:p>
            <a:r>
              <a:rPr lang="en-US" dirty="0"/>
              <a:t>Calculate the after tax cost of debt under each of the following conditions </a:t>
            </a:r>
            <a:endParaRPr lang="en-CA" dirty="0"/>
          </a:p>
          <a:p>
            <a:pPr lvl="0"/>
            <a:r>
              <a:rPr lang="en-US" dirty="0"/>
              <a:t>Interest rate, 8 %, tax rate 0%</a:t>
            </a:r>
            <a:endParaRPr lang="en-CA" dirty="0"/>
          </a:p>
          <a:p>
            <a:pPr lvl="0"/>
            <a:r>
              <a:rPr lang="en-US" dirty="0"/>
              <a:t>Interest rate 15% and tax rate 40%</a:t>
            </a:r>
            <a:endParaRPr lang="en-CA" dirty="0"/>
          </a:p>
          <a:p>
            <a:r>
              <a:rPr lang="en-US" dirty="0"/>
              <a:t>Solution </a:t>
            </a:r>
            <a:endParaRPr lang="en-CA" dirty="0"/>
          </a:p>
          <a:p>
            <a:pPr lvl="0"/>
            <a:r>
              <a:rPr lang="en-US" dirty="0"/>
              <a:t>Given interest rate (</a:t>
            </a:r>
            <a:r>
              <a:rPr lang="en-US" dirty="0" err="1"/>
              <a:t>Kd</a:t>
            </a:r>
            <a:r>
              <a:rPr lang="en-US" dirty="0"/>
              <a:t>) = 8% and </a:t>
            </a:r>
            <a:endParaRPr lang="en-CA" dirty="0"/>
          </a:p>
          <a:p>
            <a:r>
              <a:rPr lang="en-US" dirty="0"/>
              <a:t>Tax rare t = 0%</a:t>
            </a:r>
            <a:endParaRPr lang="en-CA" dirty="0"/>
          </a:p>
          <a:p>
            <a:r>
              <a:rPr lang="en-US" dirty="0"/>
              <a:t>We have </a:t>
            </a:r>
            <a:endParaRPr lang="en-CA" dirty="0"/>
          </a:p>
          <a:p>
            <a:r>
              <a:rPr lang="en-US" dirty="0" err="1"/>
              <a:t>kdt</a:t>
            </a:r>
            <a:r>
              <a:rPr lang="en-US" dirty="0"/>
              <a:t> = </a:t>
            </a:r>
            <a:r>
              <a:rPr lang="en-US" dirty="0" err="1"/>
              <a:t>Kd</a:t>
            </a:r>
            <a:r>
              <a:rPr lang="en-US" dirty="0"/>
              <a:t>(1-t) = 8%</a:t>
            </a:r>
            <a:endParaRPr lang="en-CA" dirty="0"/>
          </a:p>
          <a:p>
            <a:endParaRPr lang="en-CA" dirty="0"/>
          </a:p>
        </p:txBody>
      </p:sp>
    </p:spTree>
    <p:extLst>
      <p:ext uri="{BB962C8B-B14F-4D97-AF65-F5344CB8AC3E}">
        <p14:creationId xmlns:p14="http://schemas.microsoft.com/office/powerpoint/2010/main" val="2465127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FE9C3-E880-39A1-9C46-2B681940BD06}"/>
              </a:ext>
            </a:extLst>
          </p:cNvPr>
          <p:cNvSpPr>
            <a:spLocks noGrp="1"/>
          </p:cNvSpPr>
          <p:nvPr>
            <p:ph type="title"/>
          </p:nvPr>
        </p:nvSpPr>
        <p:spPr>
          <a:xfrm>
            <a:off x="838200" y="365126"/>
            <a:ext cx="10515600" cy="43128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22B31C8-BF0C-E924-53C7-A0164EEB0626}"/>
              </a:ext>
            </a:extLst>
          </p:cNvPr>
          <p:cNvSpPr>
            <a:spLocks noGrp="1"/>
          </p:cNvSpPr>
          <p:nvPr>
            <p:ph idx="1"/>
          </p:nvPr>
        </p:nvSpPr>
        <p:spPr>
          <a:xfrm>
            <a:off x="838200" y="796414"/>
            <a:ext cx="10515600" cy="5380549"/>
          </a:xfrm>
        </p:spPr>
        <p:txBody>
          <a:bodyPr>
            <a:normAutofit fontScale="55000" lnSpcReduction="20000"/>
          </a:bodyPr>
          <a:lstStyle/>
          <a:p>
            <a:r>
              <a:rPr lang="en-US" b="1" dirty="0"/>
              <a:t>Example</a:t>
            </a:r>
            <a:r>
              <a:rPr lang="en-US" dirty="0"/>
              <a:t>:  A company has issued Rs 1000 par value debenture with 3% flotation cost. The coupon rate of debenture is 10% and tax rate is 40%, calculate the cost of this debt. </a:t>
            </a:r>
            <a:endParaRPr lang="en-CA" dirty="0"/>
          </a:p>
          <a:p>
            <a:r>
              <a:rPr lang="en-US" dirty="0"/>
              <a:t>Solution: </a:t>
            </a:r>
            <a:endParaRPr lang="en-CA" dirty="0"/>
          </a:p>
          <a:p>
            <a:r>
              <a:rPr lang="en-US" dirty="0"/>
              <a:t>Given : par value of the debenture V0= Rs 1000</a:t>
            </a:r>
            <a:endParaRPr lang="en-CA" dirty="0"/>
          </a:p>
          <a:p>
            <a:r>
              <a:rPr lang="en-US" dirty="0"/>
              <a:t>Flotation cost Fc = 3% of Rs 1000= Rs 30</a:t>
            </a:r>
            <a:endParaRPr lang="en-CA" dirty="0"/>
          </a:p>
          <a:p>
            <a:r>
              <a:rPr lang="en-US" dirty="0"/>
              <a:t>Net proceeds </a:t>
            </a:r>
            <a:r>
              <a:rPr lang="en-US" dirty="0" err="1"/>
              <a:t>Vd</a:t>
            </a:r>
            <a:r>
              <a:rPr lang="en-US" dirty="0"/>
              <a:t>= 1000-30= 970</a:t>
            </a:r>
            <a:endParaRPr lang="en-CA" dirty="0"/>
          </a:p>
          <a:p>
            <a:r>
              <a:rPr lang="en-US" dirty="0"/>
              <a:t>Tax rare t = 40% </a:t>
            </a:r>
            <a:endParaRPr lang="en-CA" dirty="0"/>
          </a:p>
          <a:p>
            <a:r>
              <a:rPr lang="en-US" dirty="0"/>
              <a:t>Coupon rate </a:t>
            </a:r>
            <a:r>
              <a:rPr lang="en-US" dirty="0" err="1"/>
              <a:t>i</a:t>
            </a:r>
            <a:r>
              <a:rPr lang="en-US" dirty="0"/>
              <a:t> = 10%</a:t>
            </a:r>
            <a:endParaRPr lang="en-CA" dirty="0"/>
          </a:p>
          <a:p>
            <a:r>
              <a:rPr lang="en-US" dirty="0"/>
              <a:t>Interest amount I = 10% of 1000= Rs 100</a:t>
            </a:r>
            <a:endParaRPr lang="en-CA" dirty="0"/>
          </a:p>
          <a:p>
            <a:r>
              <a:rPr lang="en-US" dirty="0" err="1"/>
              <a:t>Kdt</a:t>
            </a:r>
            <a:r>
              <a:rPr lang="en-US" dirty="0"/>
              <a:t> = ?</a:t>
            </a:r>
            <a:endParaRPr lang="en-CA" dirty="0"/>
          </a:p>
          <a:p>
            <a:r>
              <a:rPr lang="en-US" dirty="0"/>
              <a:t>We have </a:t>
            </a:r>
            <a:r>
              <a:rPr lang="en-US" dirty="0" err="1"/>
              <a:t>Kdt</a:t>
            </a:r>
            <a:r>
              <a:rPr lang="en-US" dirty="0"/>
              <a:t>= I/</a:t>
            </a:r>
            <a:r>
              <a:rPr lang="en-US" dirty="0" err="1"/>
              <a:t>Vd</a:t>
            </a:r>
            <a:r>
              <a:rPr lang="en-US" dirty="0"/>
              <a:t> (1-t)</a:t>
            </a:r>
            <a:endParaRPr lang="en-CA" dirty="0"/>
          </a:p>
          <a:p>
            <a:r>
              <a:rPr lang="en-US" dirty="0" err="1"/>
              <a:t>Kdt</a:t>
            </a:r>
            <a:r>
              <a:rPr lang="en-US" dirty="0"/>
              <a:t>= 100/970  x (1-0.4)</a:t>
            </a:r>
            <a:endParaRPr lang="en-CA" dirty="0"/>
          </a:p>
          <a:p>
            <a:r>
              <a:rPr lang="en-US" dirty="0"/>
              <a:t>= 6.19%</a:t>
            </a:r>
            <a:endParaRPr lang="en-CA" dirty="0"/>
          </a:p>
          <a:p>
            <a:pPr lvl="0"/>
            <a:r>
              <a:rPr lang="en-US" dirty="0"/>
              <a:t>Redeemable debt: the debt which has specific maturity period, after which the debt is to be repaid is called redeemable debt. It has definite date of maturity and the firm is under legal obligation to pay back the debt amount when due</a:t>
            </a:r>
            <a:endParaRPr lang="en-CA" dirty="0"/>
          </a:p>
          <a:p>
            <a:r>
              <a:rPr lang="en-US" dirty="0"/>
              <a:t>In case of calculation of cost of redeemable debt, amount has to be taken in additional to interest payments, of the repayment of the maturity price. We can use the following approximation formula method to calculate cost of redeemable debt: </a:t>
            </a:r>
            <a:endParaRPr lang="en-CA" dirty="0"/>
          </a:p>
          <a:p>
            <a:endParaRPr lang="en-CA" dirty="0"/>
          </a:p>
        </p:txBody>
      </p:sp>
    </p:spTree>
    <p:extLst>
      <p:ext uri="{BB962C8B-B14F-4D97-AF65-F5344CB8AC3E}">
        <p14:creationId xmlns:p14="http://schemas.microsoft.com/office/powerpoint/2010/main" val="2111575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2E792-ED0E-27E3-76DF-92976BEEE639}"/>
              </a:ext>
            </a:extLst>
          </p:cNvPr>
          <p:cNvSpPr>
            <a:spLocks noGrp="1"/>
          </p:cNvSpPr>
          <p:nvPr>
            <p:ph type="title"/>
          </p:nvPr>
        </p:nvSpPr>
        <p:spPr/>
        <p:txBody>
          <a:bodyPr/>
          <a:lstStyle/>
          <a:p>
            <a:endParaRPr lang="en-CA"/>
          </a:p>
        </p:txBody>
      </p:sp>
      <p:pic>
        <p:nvPicPr>
          <p:cNvPr id="4" name="Content Placeholder 3">
            <a:extLst>
              <a:ext uri="{FF2B5EF4-FFF2-40B4-BE49-F238E27FC236}">
                <a16:creationId xmlns:a16="http://schemas.microsoft.com/office/drawing/2014/main" id="{BD3509CB-54AD-FF71-483D-D3DE6AD0ED1F}"/>
              </a:ext>
            </a:extLst>
          </p:cNvPr>
          <p:cNvPicPr>
            <a:picLocks noGrp="1" noChangeAspect="1"/>
          </p:cNvPicPr>
          <p:nvPr>
            <p:ph idx="1"/>
          </p:nvPr>
        </p:nvPicPr>
        <p:blipFill>
          <a:blip r:embed="rId2" cstate="print"/>
          <a:srcRect/>
          <a:stretch>
            <a:fillRect/>
          </a:stretch>
        </p:blipFill>
        <p:spPr bwMode="auto">
          <a:xfrm>
            <a:off x="3124200" y="2969342"/>
            <a:ext cx="5943600" cy="1503699"/>
          </a:xfrm>
          <a:prstGeom prst="rect">
            <a:avLst/>
          </a:prstGeom>
          <a:noFill/>
          <a:ln w="9525">
            <a:noFill/>
            <a:miter lim="800000"/>
            <a:headEnd/>
            <a:tailEnd/>
          </a:ln>
        </p:spPr>
      </p:pic>
    </p:spTree>
    <p:extLst>
      <p:ext uri="{BB962C8B-B14F-4D97-AF65-F5344CB8AC3E}">
        <p14:creationId xmlns:p14="http://schemas.microsoft.com/office/powerpoint/2010/main" val="106098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7EC8F-C9C4-46ED-986C-7DA25F290EA3}"/>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904FD59-80A6-451C-6422-D1BA92B680C4}"/>
              </a:ext>
            </a:extLst>
          </p:cNvPr>
          <p:cNvSpPr>
            <a:spLocks noGrp="1"/>
          </p:cNvSpPr>
          <p:nvPr>
            <p:ph idx="1"/>
          </p:nvPr>
        </p:nvSpPr>
        <p:spPr>
          <a:xfrm>
            <a:off x="838200" y="993058"/>
            <a:ext cx="10515600" cy="5183905"/>
          </a:xfrm>
        </p:spPr>
        <p:txBody>
          <a:bodyPr>
            <a:normAutofit fontScale="55000" lnSpcReduction="20000"/>
          </a:bodyPr>
          <a:lstStyle/>
          <a:p>
            <a:r>
              <a:rPr lang="en-US" dirty="0"/>
              <a:t>Where </a:t>
            </a:r>
            <a:endParaRPr lang="en-CA" dirty="0"/>
          </a:p>
          <a:p>
            <a:r>
              <a:rPr lang="en-US" dirty="0"/>
              <a:t>M = face value or maturity value</a:t>
            </a:r>
            <a:endParaRPr lang="en-CA" dirty="0"/>
          </a:p>
          <a:p>
            <a:r>
              <a:rPr lang="en-US" dirty="0"/>
              <a:t>V= market value </a:t>
            </a:r>
            <a:endParaRPr lang="en-CA" dirty="0"/>
          </a:p>
          <a:p>
            <a:r>
              <a:rPr lang="en-US" dirty="0"/>
              <a:t>n = years to maturity </a:t>
            </a:r>
            <a:endParaRPr lang="en-CA" dirty="0"/>
          </a:p>
          <a:p>
            <a:r>
              <a:rPr lang="en-US" dirty="0"/>
              <a:t>I = interest amount </a:t>
            </a:r>
            <a:endParaRPr lang="en-CA" dirty="0"/>
          </a:p>
          <a:p>
            <a:r>
              <a:rPr lang="en-US" dirty="0"/>
              <a:t>Example 3.</a:t>
            </a:r>
            <a:endParaRPr lang="en-CA" dirty="0"/>
          </a:p>
          <a:p>
            <a:r>
              <a:rPr lang="en-US" dirty="0"/>
              <a:t> A company's Rs 1000 bonds that pay a coupon rate of 9% annual payment and the bonds are selling at a price of Rs 1150. The applicable tax rate is 40 percent. What is the cost of these bonds if the bands have 25 years to maturity?</a:t>
            </a:r>
            <a:endParaRPr lang="en-CA" dirty="0"/>
          </a:p>
          <a:p>
            <a:r>
              <a:rPr lang="en-US" dirty="0"/>
              <a:t>Solution </a:t>
            </a:r>
            <a:endParaRPr lang="en-CA" dirty="0"/>
          </a:p>
          <a:p>
            <a:r>
              <a:rPr lang="en-US" dirty="0"/>
              <a:t>Given </a:t>
            </a:r>
            <a:endParaRPr lang="en-CA" dirty="0"/>
          </a:p>
          <a:p>
            <a:r>
              <a:rPr lang="en-US" dirty="0"/>
              <a:t>Face value M = Rs 1000</a:t>
            </a:r>
            <a:endParaRPr lang="en-CA" dirty="0"/>
          </a:p>
          <a:p>
            <a:r>
              <a:rPr lang="en-US" dirty="0"/>
              <a:t>Market price V = Rs 1150</a:t>
            </a:r>
            <a:endParaRPr lang="en-CA" dirty="0"/>
          </a:p>
          <a:p>
            <a:r>
              <a:rPr lang="en-US" dirty="0"/>
              <a:t>Years to maturity n = 25 years </a:t>
            </a:r>
            <a:endParaRPr lang="en-CA" dirty="0"/>
          </a:p>
          <a:p>
            <a:r>
              <a:rPr lang="en-US" dirty="0"/>
              <a:t>Coupon rat = 9 %</a:t>
            </a:r>
            <a:endParaRPr lang="en-CA" dirty="0"/>
          </a:p>
          <a:p>
            <a:r>
              <a:rPr lang="en-US" dirty="0"/>
              <a:t>Interest I = 9% of Rs 1000 = Rs 90</a:t>
            </a:r>
            <a:endParaRPr lang="en-CA" dirty="0"/>
          </a:p>
          <a:p>
            <a:r>
              <a:rPr lang="en-US" dirty="0"/>
              <a:t>Tax rate t = 40 % </a:t>
            </a:r>
            <a:endParaRPr lang="en-CA" dirty="0"/>
          </a:p>
          <a:p>
            <a:r>
              <a:rPr lang="en-US" dirty="0"/>
              <a:t>We have </a:t>
            </a:r>
            <a:endParaRPr lang="en-CA" dirty="0"/>
          </a:p>
          <a:p>
            <a:r>
              <a:rPr lang="en-US" dirty="0"/>
              <a:t>Cost of debt after tax (</a:t>
            </a:r>
            <a:r>
              <a:rPr lang="en-US" dirty="0" err="1"/>
              <a:t>Kdt</a:t>
            </a:r>
            <a:r>
              <a:rPr lang="en-US" dirty="0"/>
              <a:t>) = </a:t>
            </a:r>
            <a:endParaRPr lang="en-CA" dirty="0"/>
          </a:p>
          <a:p>
            <a:endParaRPr lang="en-CA" dirty="0"/>
          </a:p>
        </p:txBody>
      </p:sp>
    </p:spTree>
    <p:extLst>
      <p:ext uri="{BB962C8B-B14F-4D97-AF65-F5344CB8AC3E}">
        <p14:creationId xmlns:p14="http://schemas.microsoft.com/office/powerpoint/2010/main" val="4278786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DD57F-58ED-D84A-2A52-ADCE42F8D6ED}"/>
              </a:ext>
            </a:extLst>
          </p:cNvPr>
          <p:cNvSpPr>
            <a:spLocks noGrp="1"/>
          </p:cNvSpPr>
          <p:nvPr>
            <p:ph type="title"/>
          </p:nvPr>
        </p:nvSpPr>
        <p:spPr/>
        <p:txBody>
          <a:bodyPr/>
          <a:lstStyle/>
          <a:p>
            <a:endParaRPr lang="en-CA"/>
          </a:p>
        </p:txBody>
      </p:sp>
      <p:pic>
        <p:nvPicPr>
          <p:cNvPr id="4" name="Content Placeholder 3">
            <a:extLst>
              <a:ext uri="{FF2B5EF4-FFF2-40B4-BE49-F238E27FC236}">
                <a16:creationId xmlns:a16="http://schemas.microsoft.com/office/drawing/2014/main" id="{DFC1775F-D363-E6D9-0B71-CA7C4E49282B}"/>
              </a:ext>
            </a:extLst>
          </p:cNvPr>
          <p:cNvPicPr>
            <a:picLocks noGrp="1" noChangeAspect="1"/>
          </p:cNvPicPr>
          <p:nvPr>
            <p:ph idx="1"/>
          </p:nvPr>
        </p:nvPicPr>
        <p:blipFill>
          <a:blip r:embed="rId2" cstate="print"/>
          <a:srcRect/>
          <a:stretch>
            <a:fillRect/>
          </a:stretch>
        </p:blipFill>
        <p:spPr bwMode="auto">
          <a:xfrm>
            <a:off x="3124200" y="2743200"/>
            <a:ext cx="5943600" cy="2536723"/>
          </a:xfrm>
          <a:prstGeom prst="rect">
            <a:avLst/>
          </a:prstGeom>
          <a:noFill/>
          <a:ln w="9525">
            <a:noFill/>
            <a:miter lim="800000"/>
            <a:headEnd/>
            <a:tailEnd/>
          </a:ln>
        </p:spPr>
      </p:pic>
    </p:spTree>
    <p:extLst>
      <p:ext uri="{BB962C8B-B14F-4D97-AF65-F5344CB8AC3E}">
        <p14:creationId xmlns:p14="http://schemas.microsoft.com/office/powerpoint/2010/main" val="962841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52AEF-9DBE-DA2C-0F24-C075E313EB0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57082FA-72F4-88C6-27E0-ADF28B141308}"/>
              </a:ext>
            </a:extLst>
          </p:cNvPr>
          <p:cNvSpPr>
            <a:spLocks noGrp="1"/>
          </p:cNvSpPr>
          <p:nvPr>
            <p:ph idx="1"/>
          </p:nvPr>
        </p:nvSpPr>
        <p:spPr/>
        <p:txBody>
          <a:bodyPr>
            <a:normAutofit fontScale="85000" lnSpcReduction="20000"/>
          </a:bodyPr>
          <a:lstStyle/>
          <a:p>
            <a:r>
              <a:rPr lang="en-US" dirty="0"/>
              <a:t>Rs 90 + (Rs 1000-RS 1150)/25</a:t>
            </a:r>
            <a:endParaRPr lang="en-CA" dirty="0"/>
          </a:p>
          <a:p>
            <a:r>
              <a:rPr lang="en-US" dirty="0"/>
              <a:t>=----------------------------------------------        (1-0.4)</a:t>
            </a:r>
            <a:endParaRPr lang="en-CA" dirty="0"/>
          </a:p>
          <a:p>
            <a:r>
              <a:rPr lang="en-US" dirty="0"/>
              <a:t>(Rs 1000+2X1150)/3</a:t>
            </a:r>
            <a:endParaRPr lang="en-CA" dirty="0"/>
          </a:p>
          <a:p>
            <a:r>
              <a:rPr lang="en-US" dirty="0"/>
              <a:t>= 0.04582 = 4.582%</a:t>
            </a:r>
            <a:endParaRPr lang="en-CA" dirty="0"/>
          </a:p>
          <a:p>
            <a:r>
              <a:rPr lang="en-US" b="1" dirty="0"/>
              <a:t>Component cost of preferred stock </a:t>
            </a:r>
            <a:endParaRPr lang="en-CA" dirty="0"/>
          </a:p>
          <a:p>
            <a:r>
              <a:rPr lang="en-US" dirty="0"/>
              <a:t>Preferred stock represents a special type of ownership interest in the firm. It gives preferred stockholders the right to receive their stated dividends before any earnings can be distributed to common stockholders. As the preferred stockholders receive a fixed dividend, the cost of preferred stock (</a:t>
            </a:r>
            <a:r>
              <a:rPr lang="en-US" dirty="0" err="1"/>
              <a:t>Kps</a:t>
            </a:r>
            <a:r>
              <a:rPr lang="en-US" dirty="0"/>
              <a:t>) is a function of the dividend and the market price of preferred stock. </a:t>
            </a:r>
            <a:endParaRPr lang="en-CA" dirty="0"/>
          </a:p>
          <a:p>
            <a:r>
              <a:rPr lang="en-US" dirty="0"/>
              <a:t>On the basis of time period, preferred stock can be of two types:" perpetual and redeemable</a:t>
            </a:r>
            <a:endParaRPr lang="en-CA" dirty="0"/>
          </a:p>
          <a:p>
            <a:endParaRPr lang="en-CA" dirty="0"/>
          </a:p>
        </p:txBody>
      </p:sp>
    </p:spTree>
    <p:extLst>
      <p:ext uri="{BB962C8B-B14F-4D97-AF65-F5344CB8AC3E}">
        <p14:creationId xmlns:p14="http://schemas.microsoft.com/office/powerpoint/2010/main" val="36035732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FBBAA-5137-ABBB-15CB-005C1937467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53D0655-286C-40D9-A97D-D7C7C42ED5F9}"/>
              </a:ext>
            </a:extLst>
          </p:cNvPr>
          <p:cNvSpPr>
            <a:spLocks noGrp="1"/>
          </p:cNvSpPr>
          <p:nvPr>
            <p:ph idx="1"/>
          </p:nvPr>
        </p:nvSpPr>
        <p:spPr/>
        <p:txBody>
          <a:bodyPr>
            <a:normAutofit fontScale="92500" lnSpcReduction="10000"/>
          </a:bodyPr>
          <a:lstStyle/>
          <a:p>
            <a:pPr lvl="0"/>
            <a:r>
              <a:rPr lang="en-US" b="1" dirty="0"/>
              <a:t> Perpetual preferred stock</a:t>
            </a:r>
            <a:r>
              <a:rPr lang="en-US" dirty="0"/>
              <a:t>: The preferred stock may be treated as a perpetual security if it has no specific maturity period and it is irredeemable. It is not repayable in life time of the firm. Thus, its cost is given by the following equation </a:t>
            </a:r>
            <a:endParaRPr lang="en-CA" dirty="0"/>
          </a:p>
          <a:p>
            <a:r>
              <a:rPr lang="en-US" dirty="0"/>
              <a:t>Cost of preferred stock (</a:t>
            </a:r>
            <a:r>
              <a:rPr lang="en-US" dirty="0" err="1"/>
              <a:t>Kps</a:t>
            </a:r>
            <a:r>
              <a:rPr lang="en-US" dirty="0"/>
              <a:t>) = </a:t>
            </a:r>
            <a:r>
              <a:rPr lang="en-US" dirty="0" err="1"/>
              <a:t>Dps</a:t>
            </a:r>
            <a:r>
              <a:rPr lang="en-US" dirty="0"/>
              <a:t> /Np </a:t>
            </a:r>
            <a:endParaRPr lang="en-CA" dirty="0"/>
          </a:p>
          <a:p>
            <a:r>
              <a:rPr lang="en-US" dirty="0"/>
              <a:t>Where </a:t>
            </a:r>
            <a:endParaRPr lang="en-CA" dirty="0"/>
          </a:p>
          <a:p>
            <a:r>
              <a:rPr lang="en-US" dirty="0" err="1"/>
              <a:t>Dps</a:t>
            </a:r>
            <a:r>
              <a:rPr lang="en-US" dirty="0"/>
              <a:t> = stated dividend on preferred stock </a:t>
            </a:r>
            <a:endParaRPr lang="en-CA" dirty="0"/>
          </a:p>
          <a:p>
            <a:r>
              <a:rPr lang="en-US" dirty="0"/>
              <a:t>NP = net price or net proceeds of preferred stock = Po(1-FC)</a:t>
            </a:r>
            <a:endParaRPr lang="en-CA" dirty="0"/>
          </a:p>
          <a:p>
            <a:r>
              <a:rPr lang="en-US" dirty="0"/>
              <a:t>Po = issue price of preferred stock </a:t>
            </a:r>
            <a:endParaRPr lang="en-CA" dirty="0"/>
          </a:p>
          <a:p>
            <a:r>
              <a:rPr lang="en-US" dirty="0"/>
              <a:t>FC = flotation costs </a:t>
            </a:r>
            <a:endParaRPr lang="en-CA" dirty="0"/>
          </a:p>
          <a:p>
            <a:endParaRPr lang="en-CA" dirty="0"/>
          </a:p>
        </p:txBody>
      </p:sp>
    </p:spTree>
    <p:extLst>
      <p:ext uri="{BB962C8B-B14F-4D97-AF65-F5344CB8AC3E}">
        <p14:creationId xmlns:p14="http://schemas.microsoft.com/office/powerpoint/2010/main" val="742500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67C7-28B4-69CB-2254-35FC5595E66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F1E1F87-FE00-DBA3-54FC-364CC108F05F}"/>
              </a:ext>
            </a:extLst>
          </p:cNvPr>
          <p:cNvSpPr>
            <a:spLocks noGrp="1"/>
          </p:cNvSpPr>
          <p:nvPr>
            <p:ph idx="1"/>
          </p:nvPr>
        </p:nvSpPr>
        <p:spPr/>
        <p:txBody>
          <a:bodyPr>
            <a:normAutofit fontScale="55000" lnSpcReduction="20000"/>
          </a:bodyPr>
          <a:lstStyle/>
          <a:p>
            <a:r>
              <a:rPr lang="en-US" dirty="0"/>
              <a:t>Example </a:t>
            </a:r>
            <a:endParaRPr lang="en-CA" dirty="0"/>
          </a:p>
          <a:p>
            <a:r>
              <a:rPr lang="en-US" dirty="0"/>
              <a:t>A company issues 10 percent irredeemable preference shares. The face value per share is Rs 100, but the issue price is </a:t>
            </a:r>
            <a:br>
              <a:rPr lang="en-US" dirty="0"/>
            </a:br>
            <a:r>
              <a:rPr lang="en-US" dirty="0"/>
              <a:t>Rs 85. What is the cost of a preferred stock? What is the cost if the issue price is Rs 110? </a:t>
            </a:r>
            <a:endParaRPr lang="en-CA" dirty="0"/>
          </a:p>
          <a:p>
            <a:r>
              <a:rPr lang="en-US" b="1" dirty="0"/>
              <a:t>Solution </a:t>
            </a:r>
            <a:endParaRPr lang="en-CA" dirty="0"/>
          </a:p>
          <a:p>
            <a:r>
              <a:rPr lang="en-US" b="1" dirty="0"/>
              <a:t>Given</a:t>
            </a:r>
            <a:endParaRPr lang="en-CA" dirty="0"/>
          </a:p>
          <a:p>
            <a:r>
              <a:rPr lang="en-US" dirty="0"/>
              <a:t>Face value of preferred stock = Rs 100</a:t>
            </a:r>
            <a:endParaRPr lang="en-CA" dirty="0"/>
          </a:p>
          <a:p>
            <a:r>
              <a:rPr lang="en-US" dirty="0"/>
              <a:t>Market value of preferred stock = Rs 85</a:t>
            </a:r>
            <a:endParaRPr lang="en-CA" dirty="0"/>
          </a:p>
          <a:p>
            <a:r>
              <a:rPr lang="en-US" dirty="0"/>
              <a:t>Dividend rate = 10%</a:t>
            </a:r>
            <a:endParaRPr lang="en-CA" dirty="0"/>
          </a:p>
          <a:p>
            <a:r>
              <a:rPr lang="en-US" dirty="0"/>
              <a:t>Dividend on the preferred stock </a:t>
            </a:r>
            <a:r>
              <a:rPr lang="en-US" dirty="0" err="1"/>
              <a:t>Dps</a:t>
            </a:r>
            <a:r>
              <a:rPr lang="en-US" dirty="0"/>
              <a:t>) = 10% of Rs 100 = Rs 10</a:t>
            </a:r>
            <a:endParaRPr lang="en-CA" dirty="0"/>
          </a:p>
          <a:p>
            <a:r>
              <a:rPr lang="en-US" dirty="0"/>
              <a:t>We have </a:t>
            </a:r>
            <a:endParaRPr lang="en-CA" dirty="0"/>
          </a:p>
          <a:p>
            <a:r>
              <a:rPr lang="en-US" dirty="0" err="1"/>
              <a:t>Kp</a:t>
            </a:r>
            <a:r>
              <a:rPr lang="en-US" dirty="0"/>
              <a:t> = </a:t>
            </a:r>
            <a:r>
              <a:rPr lang="en-US" dirty="0" err="1"/>
              <a:t>Dps</a:t>
            </a:r>
            <a:r>
              <a:rPr lang="en-US" dirty="0"/>
              <a:t> /NP = RS 10/ RS85 = 0.1176 or 11.76%</a:t>
            </a:r>
            <a:endParaRPr lang="en-CA" dirty="0"/>
          </a:p>
          <a:p>
            <a:r>
              <a:rPr lang="en-US" dirty="0"/>
              <a:t>Again if the issue price is Rs 110</a:t>
            </a:r>
            <a:endParaRPr lang="en-CA" dirty="0"/>
          </a:p>
          <a:p>
            <a:r>
              <a:rPr lang="en-US" dirty="0" err="1"/>
              <a:t>Kp</a:t>
            </a:r>
            <a:r>
              <a:rPr lang="en-US" dirty="0"/>
              <a:t> = </a:t>
            </a:r>
            <a:r>
              <a:rPr lang="en-US" dirty="0" err="1"/>
              <a:t>Dps</a:t>
            </a:r>
            <a:r>
              <a:rPr lang="en-US" dirty="0"/>
              <a:t> /NP = RS 10/ RS110 = 0.10 or 10%</a:t>
            </a:r>
            <a:endParaRPr lang="en-CA" dirty="0"/>
          </a:p>
          <a:p>
            <a:r>
              <a:rPr lang="en-US" dirty="0"/>
              <a:t> </a:t>
            </a:r>
            <a:endParaRPr lang="en-CA" dirty="0"/>
          </a:p>
          <a:p>
            <a:endParaRPr lang="en-CA" dirty="0"/>
          </a:p>
        </p:txBody>
      </p:sp>
    </p:spTree>
    <p:extLst>
      <p:ext uri="{BB962C8B-B14F-4D97-AF65-F5344CB8AC3E}">
        <p14:creationId xmlns:p14="http://schemas.microsoft.com/office/powerpoint/2010/main" val="9701457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4410F-01F9-7CDB-CD59-11F88F93820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EDD3EB4-2B48-E319-7395-DD25780A3248}"/>
              </a:ext>
            </a:extLst>
          </p:cNvPr>
          <p:cNvSpPr>
            <a:spLocks noGrp="1"/>
          </p:cNvSpPr>
          <p:nvPr>
            <p:ph idx="1"/>
          </p:nvPr>
        </p:nvSpPr>
        <p:spPr/>
        <p:txBody>
          <a:bodyPr>
            <a:normAutofit fontScale="62500" lnSpcReduction="20000"/>
          </a:bodyPr>
          <a:lstStyle/>
          <a:p>
            <a:r>
              <a:rPr lang="en-US" dirty="0"/>
              <a:t> Himalayan company plans to issue some Rs 100 par preferred stocks with an 11 percent dividend. The stock is selling on the market for Rs 97, and Himalayan must pay flotation cost 5% of the market price. What is the cost of the preferred stock for Himalayan?</a:t>
            </a:r>
            <a:endParaRPr lang="en-CA" dirty="0"/>
          </a:p>
          <a:p>
            <a:r>
              <a:rPr lang="en-US" dirty="0"/>
              <a:t>Given</a:t>
            </a:r>
            <a:endParaRPr lang="en-CA" dirty="0"/>
          </a:p>
          <a:p>
            <a:r>
              <a:rPr lang="en-US" dirty="0"/>
              <a:t>Face value of preferred stock = Rs 100</a:t>
            </a:r>
            <a:endParaRPr lang="en-CA" dirty="0"/>
          </a:p>
          <a:p>
            <a:r>
              <a:rPr lang="en-US" dirty="0"/>
              <a:t>Market value of preferred stock = Rs 97</a:t>
            </a:r>
            <a:endParaRPr lang="en-CA" dirty="0"/>
          </a:p>
          <a:p>
            <a:r>
              <a:rPr lang="en-US" dirty="0"/>
              <a:t>Net proceeds of the preferred stock, NP = Rs 97 – 5% of Rs 97 = RS 92.15</a:t>
            </a:r>
            <a:endParaRPr lang="en-CA" dirty="0"/>
          </a:p>
          <a:p>
            <a:r>
              <a:rPr lang="en-US" dirty="0"/>
              <a:t>Dividend rate = 11%</a:t>
            </a:r>
            <a:endParaRPr lang="en-CA" dirty="0"/>
          </a:p>
          <a:p>
            <a:r>
              <a:rPr lang="en-US" dirty="0"/>
              <a:t>Dividend on the preferred stock </a:t>
            </a:r>
            <a:r>
              <a:rPr lang="en-US" dirty="0" err="1"/>
              <a:t>Dps</a:t>
            </a:r>
            <a:r>
              <a:rPr lang="en-US" dirty="0"/>
              <a:t> = 11% of Rs 100 = Rs 11</a:t>
            </a:r>
            <a:endParaRPr lang="en-CA" dirty="0"/>
          </a:p>
          <a:p>
            <a:r>
              <a:rPr lang="en-US" dirty="0"/>
              <a:t>We have </a:t>
            </a:r>
            <a:endParaRPr lang="en-CA" dirty="0"/>
          </a:p>
          <a:p>
            <a:r>
              <a:rPr lang="en-US" dirty="0" err="1"/>
              <a:t>Kps</a:t>
            </a:r>
            <a:r>
              <a:rPr lang="en-US" dirty="0"/>
              <a:t> = </a:t>
            </a:r>
            <a:r>
              <a:rPr lang="en-US" dirty="0" err="1"/>
              <a:t>Dps</a:t>
            </a:r>
            <a:r>
              <a:rPr lang="en-US" dirty="0"/>
              <a:t> /NP = Ts 11/Rs 92.15 = 11.94%</a:t>
            </a:r>
            <a:endParaRPr lang="en-CA" dirty="0"/>
          </a:p>
          <a:p>
            <a:pPr lvl="0"/>
            <a:r>
              <a:rPr lang="en-US" b="1" dirty="0"/>
              <a:t>Redeemable preferred stock</a:t>
            </a:r>
            <a:r>
              <a:rPr lang="en-US" dirty="0"/>
              <a:t>: redeemable preferred stock has specific maturity period after with it is to be paid. It is also issued in practice. Following approximation formula can be used to compute the cost of preferred stock.</a:t>
            </a:r>
            <a:endParaRPr lang="en-CA" dirty="0"/>
          </a:p>
          <a:p>
            <a:r>
              <a:rPr lang="en-US" dirty="0"/>
              <a:t>Cost of prefers stock </a:t>
            </a:r>
            <a:r>
              <a:rPr lang="en-US" dirty="0" err="1"/>
              <a:t>Kps</a:t>
            </a:r>
            <a:r>
              <a:rPr lang="en-US" dirty="0"/>
              <a:t> = </a:t>
            </a:r>
            <a:endParaRPr lang="en-CA" dirty="0"/>
          </a:p>
          <a:p>
            <a:endParaRPr lang="en-CA" dirty="0"/>
          </a:p>
        </p:txBody>
      </p:sp>
    </p:spTree>
    <p:extLst>
      <p:ext uri="{BB962C8B-B14F-4D97-AF65-F5344CB8AC3E}">
        <p14:creationId xmlns:p14="http://schemas.microsoft.com/office/powerpoint/2010/main" val="31107872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6BA38-24BB-7B91-1ADC-5AEEFF36F6DC}"/>
              </a:ext>
            </a:extLst>
          </p:cNvPr>
          <p:cNvSpPr>
            <a:spLocks noGrp="1"/>
          </p:cNvSpPr>
          <p:nvPr>
            <p:ph type="title"/>
          </p:nvPr>
        </p:nvSpPr>
        <p:spPr/>
        <p:txBody>
          <a:bodyPr/>
          <a:lstStyle/>
          <a:p>
            <a:endParaRPr lang="en-CA"/>
          </a:p>
        </p:txBody>
      </p:sp>
      <p:pic>
        <p:nvPicPr>
          <p:cNvPr id="4" name="Content Placeholder 3">
            <a:extLst>
              <a:ext uri="{FF2B5EF4-FFF2-40B4-BE49-F238E27FC236}">
                <a16:creationId xmlns:a16="http://schemas.microsoft.com/office/drawing/2014/main" id="{B624EE2B-A667-D86E-6CA4-79D73D3605B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96338" y="2882581"/>
            <a:ext cx="3999323" cy="2237426"/>
          </a:xfrm>
          <a:prstGeom prst="rect">
            <a:avLst/>
          </a:prstGeom>
          <a:noFill/>
        </p:spPr>
      </p:pic>
    </p:spTree>
    <p:extLst>
      <p:ext uri="{BB962C8B-B14F-4D97-AF65-F5344CB8AC3E}">
        <p14:creationId xmlns:p14="http://schemas.microsoft.com/office/powerpoint/2010/main" val="37362583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104A4-A27D-A69B-9032-32C61E5BFB6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0725E80-A685-682F-6F21-C742F07D03A9}"/>
              </a:ext>
            </a:extLst>
          </p:cNvPr>
          <p:cNvSpPr>
            <a:spLocks noGrp="1"/>
          </p:cNvSpPr>
          <p:nvPr>
            <p:ph idx="1"/>
          </p:nvPr>
        </p:nvSpPr>
        <p:spPr/>
        <p:txBody>
          <a:bodyPr>
            <a:normAutofit fontScale="62500" lnSpcReduction="20000"/>
          </a:bodyPr>
          <a:lstStyle/>
          <a:p>
            <a:r>
              <a:rPr lang="en-US" dirty="0"/>
              <a:t>The cost of preferred stock is not adjusted for taxes because preferred dividend is paid after taxes have been paid. Preferred dividend does not save any taxes. Thus, the cost of preferred stock is automatically computed on an after tax basis. </a:t>
            </a:r>
            <a:endParaRPr lang="en-CA" dirty="0"/>
          </a:p>
          <a:p>
            <a:r>
              <a:rPr lang="en-US" dirty="0"/>
              <a:t>Example </a:t>
            </a:r>
            <a:endParaRPr lang="en-CA" dirty="0"/>
          </a:p>
          <a:p>
            <a:r>
              <a:rPr lang="en-US" dirty="0"/>
              <a:t>A company issued a preferred stock that has a face value of Rs 100 with a 9 percent dividend and a current market price is Rs 90. If the years to maturity for the preferred stock are 8 years hat is the cost of this preferred stock?</a:t>
            </a:r>
            <a:endParaRPr lang="en-CA" dirty="0"/>
          </a:p>
          <a:p>
            <a:r>
              <a:rPr lang="en-US" dirty="0"/>
              <a:t>Solution </a:t>
            </a:r>
            <a:endParaRPr lang="en-CA" dirty="0"/>
          </a:p>
          <a:p>
            <a:r>
              <a:rPr lang="en-US" dirty="0"/>
              <a:t>Given </a:t>
            </a:r>
            <a:endParaRPr lang="en-CA" dirty="0"/>
          </a:p>
          <a:p>
            <a:r>
              <a:rPr lang="en-US" dirty="0"/>
              <a:t>Face value M = Rs 100</a:t>
            </a:r>
            <a:endParaRPr lang="en-CA" dirty="0"/>
          </a:p>
          <a:p>
            <a:r>
              <a:rPr lang="en-US" dirty="0"/>
              <a:t>Market price V = Rs 90</a:t>
            </a:r>
            <a:endParaRPr lang="en-CA" dirty="0"/>
          </a:p>
          <a:p>
            <a:r>
              <a:rPr lang="en-US" dirty="0"/>
              <a:t>Years to maturity n = 8years </a:t>
            </a:r>
            <a:endParaRPr lang="en-CA" dirty="0"/>
          </a:p>
          <a:p>
            <a:r>
              <a:rPr lang="en-US" dirty="0"/>
              <a:t>Dividend rate = 9 percent </a:t>
            </a:r>
            <a:endParaRPr lang="en-CA" dirty="0"/>
          </a:p>
          <a:p>
            <a:r>
              <a:rPr lang="en-US" dirty="0"/>
              <a:t>Dividend </a:t>
            </a:r>
            <a:r>
              <a:rPr lang="en-US" dirty="0" err="1"/>
              <a:t>Dps</a:t>
            </a:r>
            <a:r>
              <a:rPr lang="en-US" dirty="0"/>
              <a:t> = 9% of Rs 100 = Rs 9</a:t>
            </a:r>
            <a:endParaRPr lang="en-CA" dirty="0"/>
          </a:p>
          <a:p>
            <a:r>
              <a:rPr lang="en-US" dirty="0"/>
              <a:t>We have </a:t>
            </a:r>
            <a:endParaRPr lang="en-CA" dirty="0"/>
          </a:p>
          <a:p>
            <a:endParaRPr lang="en-CA" dirty="0"/>
          </a:p>
        </p:txBody>
      </p:sp>
    </p:spTree>
    <p:extLst>
      <p:ext uri="{BB962C8B-B14F-4D97-AF65-F5344CB8AC3E}">
        <p14:creationId xmlns:p14="http://schemas.microsoft.com/office/powerpoint/2010/main" val="11971322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115E2-4E70-0F20-1D02-63AF0F8E617F}"/>
              </a:ext>
            </a:extLst>
          </p:cNvPr>
          <p:cNvSpPr>
            <a:spLocks noGrp="1"/>
          </p:cNvSpPr>
          <p:nvPr>
            <p:ph type="title"/>
          </p:nvPr>
        </p:nvSpPr>
        <p:spPr/>
        <p:txBody>
          <a:bodyPr/>
          <a:lstStyle/>
          <a:p>
            <a:endParaRPr lang="en-CA"/>
          </a:p>
        </p:txBody>
      </p:sp>
      <p:pic>
        <p:nvPicPr>
          <p:cNvPr id="4" name="Content Placeholder 3">
            <a:extLst>
              <a:ext uri="{FF2B5EF4-FFF2-40B4-BE49-F238E27FC236}">
                <a16:creationId xmlns:a16="http://schemas.microsoft.com/office/drawing/2014/main" id="{FBC140F1-02EF-3E7B-F2CD-813F0CBDAC4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48232" y="2694039"/>
            <a:ext cx="5190189" cy="1734012"/>
          </a:xfrm>
          <a:prstGeom prst="rect">
            <a:avLst/>
          </a:prstGeom>
          <a:noFill/>
        </p:spPr>
      </p:pic>
    </p:spTree>
    <p:extLst>
      <p:ext uri="{BB962C8B-B14F-4D97-AF65-F5344CB8AC3E}">
        <p14:creationId xmlns:p14="http://schemas.microsoft.com/office/powerpoint/2010/main" val="40496217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A5E8D-3C10-DDDE-FF7F-B68CB5FA00E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F561BB0-EACB-E29C-C16E-1587C956CFB9}"/>
              </a:ext>
            </a:extLst>
          </p:cNvPr>
          <p:cNvSpPr>
            <a:spLocks noGrp="1"/>
          </p:cNvSpPr>
          <p:nvPr>
            <p:ph idx="1"/>
          </p:nvPr>
        </p:nvSpPr>
        <p:spPr/>
        <p:txBody>
          <a:bodyPr>
            <a:normAutofit fontScale="62500" lnSpcReduction="20000"/>
          </a:bodyPr>
          <a:lstStyle/>
          <a:p>
            <a:r>
              <a:rPr lang="en-US" dirty="0"/>
              <a:t>= .1098 = 10.98%</a:t>
            </a:r>
            <a:endParaRPr lang="en-CA" dirty="0"/>
          </a:p>
          <a:p>
            <a:r>
              <a:rPr lang="en-US" b="1" dirty="0"/>
              <a:t>Component cost of retained earring or internal equity </a:t>
            </a:r>
            <a:endParaRPr lang="en-CA" dirty="0"/>
          </a:p>
          <a:p>
            <a:r>
              <a:rPr lang="en-US" dirty="0"/>
              <a:t>The cost of retained earnings is the minimum rate of return that a firm must earn on equity financed position of its investment in order to leave unchanged the market price of stock. Retained earnings are the portion of earning of the firm left in the business after distribution dividend. It is owned by the common stockholder. Therefore, cost of retained earnings is the stockholders required rate of return on the portion of equity capital that the firm obtains in the form of retained earnings. Retained earnings are also known as internal equity. </a:t>
            </a:r>
            <a:endParaRPr lang="en-CA" dirty="0"/>
          </a:p>
          <a:p>
            <a:r>
              <a:rPr lang="en-US" b="1" dirty="0"/>
              <a:t>Cost of External Equity (cost of newly issued common stock) </a:t>
            </a:r>
            <a:endParaRPr lang="en-CA" dirty="0"/>
          </a:p>
          <a:p>
            <a:r>
              <a:rPr lang="en-US" dirty="0"/>
              <a:t>To some extent, the nature of retained earnings and external equity is similar. So that costs of both capital are computed in the same manner. But the costs of these two capitals do not remain same. It is because issue of new common stock involves significant flotat5ion cost, which includes possible market pressure on the price of stock, which ultimately raises the cost of equity. The selling price of newly issued common stock may be less than the current market price of existing shares. Therefore, a simple adjustment is made in the equation </a:t>
            </a:r>
            <a:r>
              <a:rPr lang="en-US" dirty="0" err="1"/>
              <a:t>os</a:t>
            </a:r>
            <a:r>
              <a:rPr lang="en-US" dirty="0"/>
              <a:t> under for computing the cost of existing shares. Therefore, a simple adjustment is made in the equation as under for computing the cost of newly issued stock. </a:t>
            </a:r>
            <a:endParaRPr lang="en-CA" dirty="0"/>
          </a:p>
          <a:p>
            <a:r>
              <a:rPr lang="en-US" dirty="0"/>
              <a:t>Ke = D1/Np + g </a:t>
            </a:r>
            <a:endParaRPr lang="en-CA" dirty="0"/>
          </a:p>
          <a:p>
            <a:r>
              <a:rPr lang="en-US" dirty="0"/>
              <a:t>= D1/(Po (1- Fc) + g</a:t>
            </a:r>
            <a:endParaRPr lang="en-CA" dirty="0"/>
          </a:p>
          <a:p>
            <a:endParaRPr lang="en-CA" dirty="0"/>
          </a:p>
        </p:txBody>
      </p:sp>
    </p:spTree>
    <p:extLst>
      <p:ext uri="{BB962C8B-B14F-4D97-AF65-F5344CB8AC3E}">
        <p14:creationId xmlns:p14="http://schemas.microsoft.com/office/powerpoint/2010/main" val="17435601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61A2F-AAB1-28E8-412E-0243AF4EC32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CE2F861-9191-EDC7-C020-19F882923DB3}"/>
              </a:ext>
            </a:extLst>
          </p:cNvPr>
          <p:cNvSpPr>
            <a:spLocks noGrp="1"/>
          </p:cNvSpPr>
          <p:nvPr>
            <p:ph idx="1"/>
          </p:nvPr>
        </p:nvSpPr>
        <p:spPr/>
        <p:txBody>
          <a:bodyPr>
            <a:normAutofit/>
          </a:bodyPr>
          <a:lstStyle/>
          <a:p>
            <a:r>
              <a:rPr lang="en-US" dirty="0"/>
              <a:t>Where </a:t>
            </a:r>
            <a:endParaRPr lang="en-CA" dirty="0"/>
          </a:p>
          <a:p>
            <a:r>
              <a:rPr lang="en-US" dirty="0"/>
              <a:t>Di = expected yearend dividend</a:t>
            </a:r>
            <a:endParaRPr lang="en-CA" dirty="0"/>
          </a:p>
          <a:p>
            <a:r>
              <a:rPr lang="en-US" dirty="0"/>
              <a:t>G = constant growth rate</a:t>
            </a:r>
            <a:endParaRPr lang="en-CA" dirty="0"/>
          </a:p>
          <a:p>
            <a:r>
              <a:rPr lang="en-US" dirty="0"/>
              <a:t>NP = net proceeds </a:t>
            </a:r>
            <a:endParaRPr lang="en-CA" dirty="0"/>
          </a:p>
          <a:p>
            <a:r>
              <a:rPr lang="en-US" dirty="0"/>
              <a:t>Po = current market price </a:t>
            </a:r>
            <a:endParaRPr lang="en-CA" dirty="0"/>
          </a:p>
          <a:p>
            <a:r>
              <a:rPr lang="en-US" dirty="0"/>
              <a:t>Fc = Flotation cost </a:t>
            </a:r>
            <a:endParaRPr lang="en-CA" dirty="0"/>
          </a:p>
          <a:p>
            <a:endParaRPr lang="en-CA" dirty="0"/>
          </a:p>
        </p:txBody>
      </p:sp>
    </p:spTree>
    <p:extLst>
      <p:ext uri="{BB962C8B-B14F-4D97-AF65-F5344CB8AC3E}">
        <p14:creationId xmlns:p14="http://schemas.microsoft.com/office/powerpoint/2010/main" val="11867813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1FE37-D5CC-46D7-3E7D-D498E7D05A4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E415517-6C17-1BEB-44A8-C827EF9E3FD4}"/>
              </a:ext>
            </a:extLst>
          </p:cNvPr>
          <p:cNvSpPr>
            <a:spLocks noGrp="1"/>
          </p:cNvSpPr>
          <p:nvPr>
            <p:ph idx="1"/>
          </p:nvPr>
        </p:nvSpPr>
        <p:spPr/>
        <p:txBody>
          <a:bodyPr>
            <a:normAutofit fontScale="70000" lnSpcReduction="20000"/>
          </a:bodyPr>
          <a:lstStyle/>
          <a:p>
            <a:r>
              <a:rPr lang="en-US" b="1" dirty="0"/>
              <a:t>Example </a:t>
            </a:r>
            <a:endParaRPr lang="en-CA" dirty="0"/>
          </a:p>
          <a:p>
            <a:r>
              <a:rPr lang="en-US" dirty="0"/>
              <a:t>A bank is making new issue of common stock of RS 100 each. Its expected dividend is Ts 12 and expected to grow at the rate of 8 percent. The issue cost is 5 percent. </a:t>
            </a:r>
            <a:endParaRPr lang="en-CA" dirty="0"/>
          </a:p>
          <a:p>
            <a:r>
              <a:rPr lang="en-US" dirty="0"/>
              <a:t>Solution Given </a:t>
            </a:r>
            <a:endParaRPr lang="en-CA" dirty="0"/>
          </a:p>
          <a:p>
            <a:r>
              <a:rPr lang="en-US" dirty="0"/>
              <a:t>Expected dividend D1 = Rs12</a:t>
            </a:r>
            <a:endParaRPr lang="en-CA" dirty="0"/>
          </a:p>
          <a:p>
            <a:r>
              <a:rPr lang="en-US" dirty="0"/>
              <a:t>Growth rate g = 8%</a:t>
            </a:r>
            <a:endParaRPr lang="en-CA" dirty="0"/>
          </a:p>
          <a:p>
            <a:r>
              <a:rPr lang="en-US" dirty="0"/>
              <a:t>Price of the stock Po = Rs 100</a:t>
            </a:r>
            <a:endParaRPr lang="en-CA" dirty="0"/>
          </a:p>
          <a:p>
            <a:r>
              <a:rPr lang="en-US" dirty="0"/>
              <a:t>Issue cost = 5%</a:t>
            </a:r>
            <a:endParaRPr lang="en-CA" dirty="0"/>
          </a:p>
          <a:p>
            <a:r>
              <a:rPr lang="en-US" dirty="0"/>
              <a:t>We have</a:t>
            </a:r>
            <a:endParaRPr lang="en-CA" dirty="0"/>
          </a:p>
          <a:p>
            <a:r>
              <a:rPr lang="en-US" dirty="0"/>
              <a:t>Cost of external equity Ke = D1/NP + g</a:t>
            </a:r>
            <a:endParaRPr lang="en-CA" dirty="0"/>
          </a:p>
          <a:p>
            <a:r>
              <a:rPr lang="en-US" dirty="0"/>
              <a:t>= 12/(100x.95) + 0.08</a:t>
            </a:r>
            <a:endParaRPr lang="en-CA" dirty="0"/>
          </a:p>
          <a:p>
            <a:r>
              <a:rPr lang="en-US" dirty="0"/>
              <a:t>= 0.2063</a:t>
            </a:r>
            <a:endParaRPr lang="en-CA" dirty="0"/>
          </a:p>
          <a:p>
            <a:r>
              <a:rPr lang="en-US" dirty="0"/>
              <a:t>20.63%</a:t>
            </a:r>
            <a:endParaRPr lang="en-CA" dirty="0"/>
          </a:p>
          <a:p>
            <a:endParaRPr lang="en-CA" dirty="0"/>
          </a:p>
        </p:txBody>
      </p:sp>
    </p:spTree>
    <p:extLst>
      <p:ext uri="{BB962C8B-B14F-4D97-AF65-F5344CB8AC3E}">
        <p14:creationId xmlns:p14="http://schemas.microsoft.com/office/powerpoint/2010/main" val="8040868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AEA4B-F006-EF4D-BC86-E91E40072B1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D99623C-D791-9DA0-A303-D59BA2B9FF8D}"/>
              </a:ext>
            </a:extLst>
          </p:cNvPr>
          <p:cNvSpPr>
            <a:spLocks noGrp="1"/>
          </p:cNvSpPr>
          <p:nvPr>
            <p:ph idx="1"/>
          </p:nvPr>
        </p:nvSpPr>
        <p:spPr/>
        <p:txBody>
          <a:bodyPr>
            <a:normAutofit fontScale="70000" lnSpcReduction="20000"/>
          </a:bodyPr>
          <a:lstStyle/>
          <a:p>
            <a:r>
              <a:rPr lang="en-US" b="1" dirty="0"/>
              <a:t>Example</a:t>
            </a:r>
            <a:r>
              <a:rPr lang="en-US" dirty="0"/>
              <a:t>: A company's next expected dividend is Rs 3.18, its growth rate is 5 percent, and the stock now sells for Rs 36. New stock can be sold to net the firm Rs 32.10 per share. </a:t>
            </a:r>
            <a:endParaRPr lang="en-CA" dirty="0"/>
          </a:p>
          <a:p>
            <a:pPr lvl="0"/>
            <a:r>
              <a:rPr lang="en-US" dirty="0"/>
              <a:t>What is the company's percentage flotation cost?</a:t>
            </a:r>
            <a:endParaRPr lang="en-CA" dirty="0"/>
          </a:p>
          <a:p>
            <a:pPr lvl="0"/>
            <a:r>
              <a:rPr lang="en-US" dirty="0"/>
              <a:t>What is the company's cost of new common stock?</a:t>
            </a:r>
            <a:endParaRPr lang="en-CA" dirty="0"/>
          </a:p>
          <a:p>
            <a:r>
              <a:rPr lang="en-US" dirty="0"/>
              <a:t>Solution: Here, The company's next expected dividend D1 = Rs 3.18</a:t>
            </a:r>
            <a:endParaRPr lang="en-CA" dirty="0"/>
          </a:p>
          <a:p>
            <a:r>
              <a:rPr lang="en-US" dirty="0"/>
              <a:t>The company's growth rate g = 5% or 0.05</a:t>
            </a:r>
            <a:endParaRPr lang="en-CA" dirty="0"/>
          </a:p>
          <a:p>
            <a:r>
              <a:rPr lang="en-US" dirty="0"/>
              <a:t>The market price of e stock Po = Rs 36</a:t>
            </a:r>
            <a:endParaRPr lang="en-CA" dirty="0"/>
          </a:p>
          <a:p>
            <a:r>
              <a:rPr lang="en-US" dirty="0"/>
              <a:t>The current market price of new stock Po = Rs 32.40</a:t>
            </a:r>
            <a:endParaRPr lang="en-CA" dirty="0"/>
          </a:p>
          <a:p>
            <a:pPr lvl="0"/>
            <a:r>
              <a:rPr lang="en-US" dirty="0"/>
              <a:t>We have flotation cost Fc = market price – new market price </a:t>
            </a:r>
            <a:endParaRPr lang="en-CA" dirty="0"/>
          </a:p>
          <a:p>
            <a:r>
              <a:rPr lang="en-US" dirty="0"/>
              <a:t>= Rs 36 – Rs 32.40 = Rs 3.6</a:t>
            </a:r>
            <a:endParaRPr lang="en-CA" dirty="0"/>
          </a:p>
          <a:p>
            <a:r>
              <a:rPr lang="en-US" dirty="0"/>
              <a:t>Now percentage flotation cost = Rs 3.60/36 x 100 = 10%</a:t>
            </a:r>
            <a:endParaRPr lang="en-CA" dirty="0"/>
          </a:p>
          <a:p>
            <a:pPr lvl="0"/>
            <a:r>
              <a:rPr lang="en-US" dirty="0"/>
              <a:t>We have </a:t>
            </a:r>
            <a:endParaRPr lang="en-CA" dirty="0"/>
          </a:p>
          <a:p>
            <a:r>
              <a:rPr lang="en-US" dirty="0"/>
              <a:t>Ke = D1/Po +g = Rs 3.18/32.40 + 0.05 = 0.1481 or 14.81%</a:t>
            </a:r>
            <a:endParaRPr lang="en-CA" dirty="0"/>
          </a:p>
          <a:p>
            <a:endParaRPr lang="en-CA" dirty="0"/>
          </a:p>
        </p:txBody>
      </p:sp>
    </p:spTree>
    <p:extLst>
      <p:ext uri="{BB962C8B-B14F-4D97-AF65-F5344CB8AC3E}">
        <p14:creationId xmlns:p14="http://schemas.microsoft.com/office/powerpoint/2010/main" val="39418212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C1A92-3DCD-EE09-E555-05237BC1384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F9945FB-32A9-4C3B-9CDF-4D266647222E}"/>
              </a:ext>
            </a:extLst>
          </p:cNvPr>
          <p:cNvSpPr>
            <a:spLocks noGrp="1"/>
          </p:cNvSpPr>
          <p:nvPr>
            <p:ph idx="1"/>
          </p:nvPr>
        </p:nvSpPr>
        <p:spPr/>
        <p:txBody>
          <a:bodyPr>
            <a:normAutofit fontScale="70000" lnSpcReduction="20000"/>
          </a:bodyPr>
          <a:lstStyle/>
          <a:p>
            <a:r>
              <a:rPr lang="en-US" b="1" dirty="0"/>
              <a:t>Weighted Average Cost of Capital WACC </a:t>
            </a:r>
            <a:endParaRPr lang="en-CA" dirty="0"/>
          </a:p>
          <a:p>
            <a:pPr lvl="0"/>
            <a:r>
              <a:rPr lang="en-US" dirty="0"/>
              <a:t>The weighted average cost of capital is the cost of all sources of capital raised by a firm. It is computed net of taxes. Weighted average cost of capital WACC is also known as : composite cost of capital, overall cost of capital, combined cost of debt and equity capital and average cost of capital. After determination of cost of individual capital components, they are combined to compute WACC.  Therefore, the WACC can be defined as the average of the costs of each source of capital employed by the firm, properly weighted by the proportion they hold in the capital structure of the firm. The WACC can be computed by using the book value or the market value weights. </a:t>
            </a:r>
            <a:endParaRPr lang="en-CA" dirty="0"/>
          </a:p>
          <a:p>
            <a:pPr lvl="0"/>
            <a:r>
              <a:rPr lang="en-US" dirty="0"/>
              <a:t>The Tanner Company was recently formed to manufacture new products. It has the following capital structure in market value terms </a:t>
            </a:r>
            <a:endParaRPr lang="en-CA" dirty="0"/>
          </a:p>
          <a:p>
            <a:pPr lvl="0"/>
            <a:r>
              <a:rPr lang="en-US" dirty="0"/>
              <a:t>Long term debt Rs 3000000</a:t>
            </a:r>
            <a:endParaRPr lang="en-CA" dirty="0"/>
          </a:p>
          <a:p>
            <a:pPr lvl="0"/>
            <a:r>
              <a:rPr lang="en-US" dirty="0"/>
              <a:t>Preferred stock 	Rs 1000000</a:t>
            </a:r>
            <a:endParaRPr lang="en-CA" dirty="0"/>
          </a:p>
          <a:p>
            <a:pPr lvl="0"/>
            <a:r>
              <a:rPr lang="en-US" dirty="0"/>
              <a:t>Common stock  	Rs 16000000</a:t>
            </a:r>
            <a:endParaRPr lang="en-CA" dirty="0"/>
          </a:p>
          <a:p>
            <a:pPr lvl="0"/>
            <a:r>
              <a:rPr lang="en-US" b="1" dirty="0"/>
              <a:t>Total capital                     Rs 20000000</a:t>
            </a:r>
            <a:r>
              <a:rPr lang="en-US" dirty="0"/>
              <a:t> </a:t>
            </a:r>
            <a:endParaRPr lang="en-CA" dirty="0"/>
          </a:p>
          <a:p>
            <a:endParaRPr lang="en-CA" dirty="0"/>
          </a:p>
        </p:txBody>
      </p:sp>
    </p:spTree>
    <p:extLst>
      <p:ext uri="{BB962C8B-B14F-4D97-AF65-F5344CB8AC3E}">
        <p14:creationId xmlns:p14="http://schemas.microsoft.com/office/powerpoint/2010/main" val="16299595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05B6-665D-ACA8-26EF-C0E958D3181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7207715-9012-3BA1-DDA1-743EB01B203F}"/>
              </a:ext>
            </a:extLst>
          </p:cNvPr>
          <p:cNvSpPr>
            <a:spLocks noGrp="1"/>
          </p:cNvSpPr>
          <p:nvPr>
            <p:ph idx="1"/>
          </p:nvPr>
        </p:nvSpPr>
        <p:spPr/>
        <p:txBody>
          <a:bodyPr>
            <a:normAutofit fontScale="92500" lnSpcReduction="10000"/>
          </a:bodyPr>
          <a:lstStyle/>
          <a:p>
            <a:r>
              <a:rPr lang="en-US" dirty="0"/>
              <a:t>The company's cost of common stock is 18 percent. Compute the firms present weighted average cost of capital if the cost of preferred stock is 13%. Tanners before tax cost of debt are 12%, and its tax rate is 40 percent. Using the above capital structure, calculate Tanner’s weighted average cost of capital</a:t>
            </a:r>
            <a:endParaRPr lang="en-CA" dirty="0"/>
          </a:p>
          <a:p>
            <a:pPr lvl="0"/>
            <a:r>
              <a:rPr lang="en-US" dirty="0"/>
              <a:t>Solution ,Given </a:t>
            </a:r>
            <a:endParaRPr lang="en-CA" dirty="0"/>
          </a:p>
          <a:p>
            <a:pPr lvl="0"/>
            <a:r>
              <a:rPr lang="en-US" dirty="0"/>
              <a:t>Tax rate t = 40%        Cost of common stock Ke = 18%</a:t>
            </a:r>
            <a:endParaRPr lang="en-CA" dirty="0"/>
          </a:p>
          <a:p>
            <a:pPr lvl="0"/>
            <a:r>
              <a:rPr lang="en-US" dirty="0"/>
              <a:t>Cost of debt before tax </a:t>
            </a:r>
            <a:r>
              <a:rPr lang="en-US" dirty="0" err="1"/>
              <a:t>Kd</a:t>
            </a:r>
            <a:r>
              <a:rPr lang="en-US" dirty="0"/>
              <a:t> = 12%</a:t>
            </a:r>
            <a:endParaRPr lang="en-CA" dirty="0"/>
          </a:p>
          <a:p>
            <a:pPr lvl="0"/>
            <a:r>
              <a:rPr lang="en-US" dirty="0"/>
              <a:t>Cost of debt after tax </a:t>
            </a:r>
            <a:r>
              <a:rPr lang="en-US" dirty="0" err="1"/>
              <a:t>Kdt</a:t>
            </a:r>
            <a:r>
              <a:rPr lang="en-US" dirty="0"/>
              <a:t> = 12-(1-0.4) = 7.2%</a:t>
            </a:r>
            <a:endParaRPr lang="en-CA" dirty="0"/>
          </a:p>
          <a:p>
            <a:pPr lvl="0"/>
            <a:r>
              <a:rPr lang="en-US" dirty="0"/>
              <a:t>Cost of preferred stock </a:t>
            </a:r>
            <a:r>
              <a:rPr lang="en-US" dirty="0" err="1"/>
              <a:t>Kp</a:t>
            </a:r>
            <a:r>
              <a:rPr lang="en-US" dirty="0"/>
              <a:t> = 13%</a:t>
            </a:r>
            <a:endParaRPr lang="en-CA" dirty="0"/>
          </a:p>
          <a:p>
            <a:pPr lvl="0"/>
            <a:r>
              <a:rPr lang="en-US" dirty="0"/>
              <a:t>Now calculation of weighted average cost of capital Ko </a:t>
            </a:r>
            <a:endParaRPr lang="en-CA" dirty="0"/>
          </a:p>
          <a:p>
            <a:endParaRPr lang="en-CA" dirty="0"/>
          </a:p>
        </p:txBody>
      </p:sp>
    </p:spTree>
    <p:extLst>
      <p:ext uri="{BB962C8B-B14F-4D97-AF65-F5344CB8AC3E}">
        <p14:creationId xmlns:p14="http://schemas.microsoft.com/office/powerpoint/2010/main" val="37069427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472EA-4B4B-95F1-9249-5D7B95A5E1A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3AF1A1E-6302-FF99-A514-6C3E037815D9}"/>
              </a:ext>
            </a:extLst>
          </p:cNvPr>
          <p:cNvSpPr>
            <a:spLocks noGrp="1"/>
          </p:cNvSpPr>
          <p:nvPr>
            <p:ph idx="1"/>
          </p:nvPr>
        </p:nvSpPr>
        <p:spPr/>
        <p:txBody>
          <a:bodyPr/>
          <a:lstStyle/>
          <a:p>
            <a:endParaRPr lang="en-CA" dirty="0"/>
          </a:p>
        </p:txBody>
      </p:sp>
      <p:graphicFrame>
        <p:nvGraphicFramePr>
          <p:cNvPr id="4" name="Object 3">
            <a:extLst>
              <a:ext uri="{FF2B5EF4-FFF2-40B4-BE49-F238E27FC236}">
                <a16:creationId xmlns:a16="http://schemas.microsoft.com/office/drawing/2014/main" id="{4A07C0FA-F9B0-1278-DAA7-194209C3C14E}"/>
              </a:ext>
            </a:extLst>
          </p:cNvPr>
          <p:cNvGraphicFramePr>
            <a:graphicFrameLocks noChangeAspect="1"/>
          </p:cNvGraphicFramePr>
          <p:nvPr>
            <p:extLst>
              <p:ext uri="{D42A27DB-BD31-4B8C-83A1-F6EECF244321}">
                <p14:modId xmlns:p14="http://schemas.microsoft.com/office/powerpoint/2010/main" val="3468157598"/>
              </p:ext>
            </p:extLst>
          </p:nvPr>
        </p:nvGraphicFramePr>
        <p:xfrm>
          <a:off x="1582994" y="2587625"/>
          <a:ext cx="8642553" cy="2534981"/>
        </p:xfrm>
        <a:graphic>
          <a:graphicData uri="http://schemas.openxmlformats.org/presentationml/2006/ole">
            <mc:AlternateContent xmlns:mc="http://schemas.openxmlformats.org/markup-compatibility/2006">
              <mc:Choice xmlns:v="urn:schemas-microsoft-com:vml" Requires="v">
                <p:oleObj name="Document" r:id="rId2" imgW="6851599" imgH="1680908" progId="Word.Document.12">
                  <p:embed/>
                </p:oleObj>
              </mc:Choice>
              <mc:Fallback>
                <p:oleObj name="Document" r:id="rId2" imgW="6851599" imgH="1680908" progId="Word.Document.12">
                  <p:embed/>
                  <p:pic>
                    <p:nvPicPr>
                      <p:cNvPr id="0" name=""/>
                      <p:cNvPicPr/>
                      <p:nvPr/>
                    </p:nvPicPr>
                    <p:blipFill>
                      <a:blip r:embed="rId3"/>
                      <a:stretch>
                        <a:fillRect/>
                      </a:stretch>
                    </p:blipFill>
                    <p:spPr>
                      <a:xfrm>
                        <a:off x="1582994" y="2587625"/>
                        <a:ext cx="8642553" cy="2534981"/>
                      </a:xfrm>
                      <a:prstGeom prst="rect">
                        <a:avLst/>
                      </a:prstGeom>
                    </p:spPr>
                  </p:pic>
                </p:oleObj>
              </mc:Fallback>
            </mc:AlternateContent>
          </a:graphicData>
        </a:graphic>
      </p:graphicFrame>
    </p:spTree>
    <p:extLst>
      <p:ext uri="{BB962C8B-B14F-4D97-AF65-F5344CB8AC3E}">
        <p14:creationId xmlns:p14="http://schemas.microsoft.com/office/powerpoint/2010/main" val="99320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C0986-8407-6D89-1787-815412D8D93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2C9B195-B1A1-4788-4167-6932BCC745A6}"/>
              </a:ext>
            </a:extLst>
          </p:cNvPr>
          <p:cNvSpPr>
            <a:spLocks noGrp="1"/>
          </p:cNvSpPr>
          <p:nvPr>
            <p:ph idx="1"/>
          </p:nvPr>
        </p:nvSpPr>
        <p:spPr/>
        <p:txBody>
          <a:bodyPr>
            <a:normAutofit fontScale="85000" lnSpcReduction="10000"/>
          </a:bodyPr>
          <a:lstStyle/>
          <a:p>
            <a:r>
              <a:rPr lang="en-US" dirty="0"/>
              <a:t>Example: Compute the component cost and weighted average cost of capital form the following information extracted from Shann International Enterprises. </a:t>
            </a:r>
            <a:endParaRPr lang="en-CA" dirty="0"/>
          </a:p>
          <a:p>
            <a:pPr lvl="0"/>
            <a:r>
              <a:rPr lang="en-US" dirty="0"/>
              <a:t>Interest rate on debenture is 16 percent and marginal income tax rate is 30%. </a:t>
            </a:r>
            <a:endParaRPr lang="en-CA" dirty="0"/>
          </a:p>
          <a:p>
            <a:pPr lvl="0"/>
            <a:r>
              <a:rPr lang="en-US" dirty="0"/>
              <a:t>Rs 100 preferred stock, dividend of 18 percent and flotation cost is 2 percent. </a:t>
            </a:r>
            <a:endParaRPr lang="en-CA" dirty="0"/>
          </a:p>
          <a:p>
            <a:pPr lvl="0"/>
            <a:r>
              <a:rPr lang="en-US" dirty="0"/>
              <a:t>Common stock of Rs 100 is netted at Rs 98, expected dividend and growth rate are Rs13 and 7 percent respectively. </a:t>
            </a:r>
            <a:endParaRPr lang="en-CA" dirty="0"/>
          </a:p>
          <a:p>
            <a:pPr lvl="0"/>
            <a:r>
              <a:rPr lang="en-US" dirty="0"/>
              <a:t>The total capital is Rs 10 million, consists of Rs 4 million common stock, Rs 4 million debentures and Rs 2 million preferred stocks</a:t>
            </a:r>
            <a:endParaRPr lang="en-CA" dirty="0"/>
          </a:p>
          <a:p>
            <a:r>
              <a:rPr lang="en-US" dirty="0"/>
              <a:t>Project funding mechanism, government budget, private investment, public private partnership, EIRR, FIRR and return on investment  </a:t>
            </a:r>
            <a:endParaRPr lang="en-CA" dirty="0"/>
          </a:p>
          <a:p>
            <a:pPr marL="0" indent="0">
              <a:buNone/>
            </a:pPr>
            <a:r>
              <a:rPr lang="en-US" dirty="0"/>
              <a:t> </a:t>
            </a:r>
            <a:endParaRPr lang="en-CA" dirty="0"/>
          </a:p>
          <a:p>
            <a:endParaRPr lang="en-CA" dirty="0"/>
          </a:p>
        </p:txBody>
      </p:sp>
    </p:spTree>
    <p:extLst>
      <p:ext uri="{BB962C8B-B14F-4D97-AF65-F5344CB8AC3E}">
        <p14:creationId xmlns:p14="http://schemas.microsoft.com/office/powerpoint/2010/main" val="9695404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D8157-E30F-668E-F5A0-2EF47427C09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448EFB8-4CA6-1EC4-9CDD-2A3DF2E408EA}"/>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1207330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5339</Words>
  <Application>Microsoft Office PowerPoint</Application>
  <PresentationFormat>Widescreen</PresentationFormat>
  <Paragraphs>239</Paragraphs>
  <Slides>48</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3" baseType="lpstr">
      <vt:lpstr>Arial</vt:lpstr>
      <vt:lpstr>Calibri</vt:lpstr>
      <vt:lpstr>Calibri Light</vt:lpstr>
      <vt:lpstr>Office Theme</vt:lpstr>
      <vt:lpstr>Document</vt:lpstr>
      <vt:lpstr>PowerPoint Presentation</vt:lpstr>
      <vt:lpstr> Concept of capital budgeting  </vt:lpstr>
      <vt:lpstr>PowerPoint Presentation</vt:lpstr>
      <vt:lpstr>PowerPoint Presentation</vt:lpstr>
      <vt:lpstr>Features of capital budgeting </vt:lpstr>
      <vt:lpstr>PowerPoint Presentation</vt:lpstr>
      <vt:lpstr>PowerPoint Presentation</vt:lpstr>
      <vt:lpstr>PowerPoint Presentation</vt:lpstr>
      <vt:lpstr>PowerPoint Presentation</vt:lpstr>
      <vt:lpstr>Importance of capital budgeting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Sulav Cooperative</dc:creator>
  <cp:lastModifiedBy>Sulav Cooperative</cp:lastModifiedBy>
  <cp:revision>4</cp:revision>
  <dcterms:created xsi:type="dcterms:W3CDTF">2026-02-03T14:32:00Z</dcterms:created>
  <dcterms:modified xsi:type="dcterms:W3CDTF">2026-02-04T02:10:58Z</dcterms:modified>
</cp:coreProperties>
</file>