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2" r:id="rId2"/>
    <p:sldId id="281" r:id="rId3"/>
    <p:sldId id="289" r:id="rId4"/>
    <p:sldId id="280" r:id="rId5"/>
    <p:sldId id="283" r:id="rId6"/>
    <p:sldId id="284" r:id="rId7"/>
    <p:sldId id="285" r:id="rId8"/>
    <p:sldId id="286" r:id="rId9"/>
    <p:sldId id="287" r:id="rId10"/>
    <p:sldId id="288" r:id="rId11"/>
    <p:sldId id="290" r:id="rId12"/>
    <p:sldId id="291"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12" r:id="rId31"/>
    <p:sldId id="313" r:id="rId32"/>
    <p:sldId id="314" r:id="rId33"/>
    <p:sldId id="309" r:id="rId34"/>
    <p:sldId id="310" r:id="rId35"/>
    <p:sldId id="311" r:id="rId36"/>
    <p:sldId id="315" r:id="rId37"/>
    <p:sldId id="316" r:id="rId38"/>
    <p:sldId id="317" r:id="rId39"/>
    <p:sldId id="256" r:id="rId40"/>
    <p:sldId id="257" r:id="rId41"/>
    <p:sldId id="258" r:id="rId42"/>
    <p:sldId id="259" r:id="rId43"/>
    <p:sldId id="260" r:id="rId44"/>
    <p:sldId id="261" r:id="rId45"/>
    <p:sldId id="26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1B84F-10B9-9601-5E9A-872E6C9553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BB77EC-2396-E904-3BDC-CBE7009169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EEE417-0142-B773-89AD-781B9989E274}"/>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5" name="Footer Placeholder 4">
            <a:extLst>
              <a:ext uri="{FF2B5EF4-FFF2-40B4-BE49-F238E27FC236}">
                <a16:creationId xmlns:a16="http://schemas.microsoft.com/office/drawing/2014/main" id="{8DC2ED77-5841-E16D-298C-34990A035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4D7E91-AD35-6540-F733-9B2FC4275F26}"/>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4164678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CAB6E-3DA3-BE82-2A80-B0408D0E0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0A3DF4-F1EF-F8BD-3B49-C02A16655A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7B16E9-299D-FE06-3705-6C13705225DB}"/>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5" name="Footer Placeholder 4">
            <a:extLst>
              <a:ext uri="{FF2B5EF4-FFF2-40B4-BE49-F238E27FC236}">
                <a16:creationId xmlns:a16="http://schemas.microsoft.com/office/drawing/2014/main" id="{BE00FC35-5335-6B73-3A10-394B7BA18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9A8524-B5FD-2AB7-41AA-BE86590C1910}"/>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575147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D0340-BA94-E260-4B6E-DDBAF813AC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A3F431-DF02-7F79-40C8-1429591644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AD0D28-AF97-74AA-F023-18A9217683BD}"/>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5" name="Footer Placeholder 4">
            <a:extLst>
              <a:ext uri="{FF2B5EF4-FFF2-40B4-BE49-F238E27FC236}">
                <a16:creationId xmlns:a16="http://schemas.microsoft.com/office/drawing/2014/main" id="{CC64C9AF-BA76-D9FD-7F39-64E7A6616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2B6F3A-0480-DA4A-101D-588BE0F0760C}"/>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373009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6C4ED-9F8F-3DCE-F5C4-9A20CE0745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E0027C-4F7C-8DEE-BB81-D63DD54CD4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B43C0D-9339-5CA9-0698-2F75F3AEC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9B9649-25AD-62E4-8B1D-3FC580BF258A}"/>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6" name="Footer Placeholder 5">
            <a:extLst>
              <a:ext uri="{FF2B5EF4-FFF2-40B4-BE49-F238E27FC236}">
                <a16:creationId xmlns:a16="http://schemas.microsoft.com/office/drawing/2014/main" id="{CAC360DB-534E-6F1E-41C3-10DEA6BCF5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975F49-446A-1D38-34E7-D880766EE8ED}"/>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3367714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9E610-D91F-6F8B-8278-1042130F11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9CE344-FDCA-81A7-0726-4EC1014793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1C0B0C-0E5E-121E-1FC1-104AC1DCF6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780CB4-E0C3-866C-5C5B-8119D657E7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CD9BBA-2189-801D-A9A7-926EE3AB24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531577-17BF-2F69-CEA0-D90F2469DFF2}"/>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8" name="Footer Placeholder 7">
            <a:extLst>
              <a:ext uri="{FF2B5EF4-FFF2-40B4-BE49-F238E27FC236}">
                <a16:creationId xmlns:a16="http://schemas.microsoft.com/office/drawing/2014/main" id="{91EC3056-DE04-E18F-6EDA-5AC15E8644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6C3F3E-7916-CD7A-CD1D-0A3EC9FDC72D}"/>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1239328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4FEF9-2548-732C-DDDA-FA16AD3B70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7977EE-E97B-D8DD-52D7-5D6FDCD1E714}"/>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4" name="Footer Placeholder 3">
            <a:extLst>
              <a:ext uri="{FF2B5EF4-FFF2-40B4-BE49-F238E27FC236}">
                <a16:creationId xmlns:a16="http://schemas.microsoft.com/office/drawing/2014/main" id="{10C6E10A-70F2-51C7-1D0B-477626B667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CEC02D-2C08-355B-8F90-DC17C9501450}"/>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2914735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04A868-F114-420A-F3F4-D31C06D021B8}"/>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3" name="Footer Placeholder 2">
            <a:extLst>
              <a:ext uri="{FF2B5EF4-FFF2-40B4-BE49-F238E27FC236}">
                <a16:creationId xmlns:a16="http://schemas.microsoft.com/office/drawing/2014/main" id="{76949F2E-6FE8-2C2A-27E9-C4C1B3B374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500F39-1994-B8B8-8840-C2E40114BA08}"/>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166559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E512D-32FA-79C8-5AAC-5B3824C79F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CC4237-089B-1F56-65AF-C02317D97F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28F62D-C516-9F2B-8CC5-09E2EAADC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127E71-8D5B-D330-FF24-FF97AF698FDE}"/>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6" name="Footer Placeholder 5">
            <a:extLst>
              <a:ext uri="{FF2B5EF4-FFF2-40B4-BE49-F238E27FC236}">
                <a16:creationId xmlns:a16="http://schemas.microsoft.com/office/drawing/2014/main" id="{1FCF6A56-D953-7907-6925-C94C7646F0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7481F7-761A-27B6-CFF5-0BA3D902CA35}"/>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2217283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2707-F8DD-5E95-D565-FDF4B80E24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2A651D-5EF5-292A-E369-9C56983932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C6E942-DB19-2AC5-039E-58EC196E3C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4379E0-2103-73A2-B693-CF1DCCED9E3E}"/>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6" name="Footer Placeholder 5">
            <a:extLst>
              <a:ext uri="{FF2B5EF4-FFF2-40B4-BE49-F238E27FC236}">
                <a16:creationId xmlns:a16="http://schemas.microsoft.com/office/drawing/2014/main" id="{5D6277C6-BC71-467F-EF02-05A422FB96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3DD811-5C86-DB19-F6BA-FFB6E3ACA543}"/>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3585553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9311F-FB59-85A0-B67B-8B1B8EDA11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260FBF-87E3-D11C-3235-5FF3EB217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503B2D-2785-253D-B745-FA0F25F8B8E1}"/>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5" name="Footer Placeholder 4">
            <a:extLst>
              <a:ext uri="{FF2B5EF4-FFF2-40B4-BE49-F238E27FC236}">
                <a16:creationId xmlns:a16="http://schemas.microsoft.com/office/drawing/2014/main" id="{83685B75-35D6-ADF2-303E-18481F97B8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095E8-B3AC-B930-AFF7-130CDF6AD5FB}"/>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3904238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908DD4-A704-39C3-19C4-612F604D01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497B6C-9C18-11B9-673E-A291B5F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25363-F524-3F9E-E7A9-BBBCF3F97534}"/>
              </a:ext>
            </a:extLst>
          </p:cNvPr>
          <p:cNvSpPr>
            <a:spLocks noGrp="1"/>
          </p:cNvSpPr>
          <p:nvPr>
            <p:ph type="dt" sz="half" idx="10"/>
          </p:nvPr>
        </p:nvSpPr>
        <p:spPr/>
        <p:txBody>
          <a:bodyPr/>
          <a:lstStyle/>
          <a:p>
            <a:fld id="{5169D6EE-C598-4F38-B83E-57FC94982831}" type="datetimeFigureOut">
              <a:rPr lang="en-US" smtClean="0"/>
              <a:t>2/5/2026</a:t>
            </a:fld>
            <a:endParaRPr lang="en-US"/>
          </a:p>
        </p:txBody>
      </p:sp>
      <p:sp>
        <p:nvSpPr>
          <p:cNvPr id="5" name="Footer Placeholder 4">
            <a:extLst>
              <a:ext uri="{FF2B5EF4-FFF2-40B4-BE49-F238E27FC236}">
                <a16:creationId xmlns:a16="http://schemas.microsoft.com/office/drawing/2014/main" id="{A5EADED9-EF89-4D8B-3572-F174B81B1B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4776C-7101-BAA2-0288-DC4B37756039}"/>
              </a:ext>
            </a:extLst>
          </p:cNvPr>
          <p:cNvSpPr>
            <a:spLocks noGrp="1"/>
          </p:cNvSpPr>
          <p:nvPr>
            <p:ph type="sldNum" sz="quarter" idx="12"/>
          </p:nvPr>
        </p:nvSpPr>
        <p:spPr/>
        <p:txBody>
          <a:bodyPr/>
          <a:lstStyle/>
          <a:p>
            <a:fld id="{73763FE3-F091-453A-9E07-7D10B9327BE1}" type="slidenum">
              <a:rPr lang="en-US" smtClean="0"/>
              <a:t>‹#›</a:t>
            </a:fld>
            <a:endParaRPr lang="en-US"/>
          </a:p>
        </p:txBody>
      </p:sp>
    </p:spTree>
    <p:extLst>
      <p:ext uri="{BB962C8B-B14F-4D97-AF65-F5344CB8AC3E}">
        <p14:creationId xmlns:p14="http://schemas.microsoft.com/office/powerpoint/2010/main" val="1655273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A22016-E0E8-83ED-66A4-EE621EFBB4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7C249A-21FD-591D-8401-7889D5BA7E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ED3B24-B1EA-F01F-8E71-5DEC14512A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69D6EE-C598-4F38-B83E-57FC94982831}" type="datetimeFigureOut">
              <a:rPr lang="en-US" smtClean="0"/>
              <a:t>2/5/2026</a:t>
            </a:fld>
            <a:endParaRPr lang="en-US"/>
          </a:p>
        </p:txBody>
      </p:sp>
      <p:sp>
        <p:nvSpPr>
          <p:cNvPr id="5" name="Footer Placeholder 4">
            <a:extLst>
              <a:ext uri="{FF2B5EF4-FFF2-40B4-BE49-F238E27FC236}">
                <a16:creationId xmlns:a16="http://schemas.microsoft.com/office/drawing/2014/main" id="{D2FFC3C5-4F29-ED5A-F88E-65075B07B7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AB8EA4-C3D4-B6E5-721F-FA30979562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763FE3-F091-453A-9E07-7D10B9327BE1}" type="slidenum">
              <a:rPr lang="en-US" smtClean="0"/>
              <a:t>‹#›</a:t>
            </a:fld>
            <a:endParaRPr lang="en-US"/>
          </a:p>
        </p:txBody>
      </p:sp>
    </p:spTree>
    <p:extLst>
      <p:ext uri="{BB962C8B-B14F-4D97-AF65-F5344CB8AC3E}">
        <p14:creationId xmlns:p14="http://schemas.microsoft.com/office/powerpoint/2010/main" val="2639299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DEDA4-7B8F-8DD9-AE18-0926DABBC047}"/>
              </a:ext>
            </a:extLst>
          </p:cNvPr>
          <p:cNvSpPr>
            <a:spLocks noGrp="1"/>
          </p:cNvSpPr>
          <p:nvPr>
            <p:ph type="title"/>
          </p:nvPr>
        </p:nvSpPr>
        <p:spPr/>
        <p:txBody>
          <a:bodyPr/>
          <a:lstStyle/>
          <a:p>
            <a:r>
              <a:rPr lang="en-CA" dirty="0"/>
              <a:t>Replacement Analysis </a:t>
            </a:r>
          </a:p>
        </p:txBody>
      </p:sp>
      <p:sp>
        <p:nvSpPr>
          <p:cNvPr id="3" name="Content Placeholder 2">
            <a:extLst>
              <a:ext uri="{FF2B5EF4-FFF2-40B4-BE49-F238E27FC236}">
                <a16:creationId xmlns:a16="http://schemas.microsoft.com/office/drawing/2014/main" id="{2F7493F7-DBAD-6E11-7498-441BE4E8CC2A}"/>
              </a:ext>
            </a:extLst>
          </p:cNvPr>
          <p:cNvSpPr>
            <a:spLocks noGrp="1"/>
          </p:cNvSpPr>
          <p:nvPr>
            <p:ph idx="1"/>
          </p:nvPr>
        </p:nvSpPr>
        <p:spPr/>
        <p:txBody>
          <a:bodyPr/>
          <a:lstStyle/>
          <a:p>
            <a:b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Basic concept of defender and challenger </a:t>
            </a:r>
            <a:br>
              <a:rPr kumimoji="0" lang="en-CA" sz="2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Economic service life</a:t>
            </a:r>
            <a:br>
              <a:rPr kumimoji="0" lang="en-CA" sz="2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Replacement strategies under finite and infinite planning horizon </a:t>
            </a:r>
            <a:br>
              <a:rPr kumimoji="0" lang="en-CA" sz="2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endParaRPr lang="en-CA" dirty="0"/>
          </a:p>
        </p:txBody>
      </p:sp>
    </p:spTree>
    <p:extLst>
      <p:ext uri="{BB962C8B-B14F-4D97-AF65-F5344CB8AC3E}">
        <p14:creationId xmlns:p14="http://schemas.microsoft.com/office/powerpoint/2010/main" val="923471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1920E-D166-7371-B747-97EF29D8A581}"/>
              </a:ext>
            </a:extLst>
          </p:cNvPr>
          <p:cNvSpPr>
            <a:spLocks noGrp="1"/>
          </p:cNvSpPr>
          <p:nvPr>
            <p:ph type="title"/>
          </p:nvPr>
        </p:nvSpPr>
        <p:spPr>
          <a:xfrm>
            <a:off x="838200" y="365126"/>
            <a:ext cx="10515600" cy="43128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7127D97-ADB5-7937-A351-9A448CE32EB8}"/>
              </a:ext>
            </a:extLst>
          </p:cNvPr>
          <p:cNvSpPr>
            <a:spLocks noGrp="1"/>
          </p:cNvSpPr>
          <p:nvPr>
            <p:ph idx="1"/>
          </p:nvPr>
        </p:nvSpPr>
        <p:spPr>
          <a:xfrm>
            <a:off x="838200" y="1022555"/>
            <a:ext cx="10515600" cy="5154408"/>
          </a:xfrm>
        </p:spPr>
        <p:txBody>
          <a:bodyPr>
            <a:normAutofit fontScale="62500" lnSpcReduction="2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Meaning of replacement analysis </a:t>
            </a:r>
            <a:endParaRPr kumimoji="0" lang="en-CA" sz="25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Replacement analysis typically refers to a decision-making process where one evaluates whether to replace an existing asset, equipment, or system with a new one based on various factors such as cost, performance, efficiency, and potential benefits. It's commonly used in business and engineering contexts to determine the optimal time to replace aging or obsolete assets to maximize value or utility.</a:t>
            </a:r>
            <a:endParaRPr kumimoji="0" lang="en-CA" sz="25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Key steps in replacement analysis often include:</a:t>
            </a:r>
            <a:endParaRPr kumimoji="0" lang="en-CA" sz="25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Identifying the Existing Asset: Clearly defining the asset or system that is being considered for replacement.</a:t>
            </a:r>
            <a:endParaRPr kumimoji="0" lang="en-CA" sz="25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Establishing Evaluation Criteria: Determining the criteria against which the replacement option will be evaluated (e.g., cost, performance, reliability).</a:t>
            </a:r>
            <a:endParaRPr kumimoji="0" lang="en-CA" sz="25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Cost Analysis: Assessing the costs associated with both the existing asset and the replacement option. This includes initial costs, maintenance costs, operating costs, and disposal costs.</a:t>
            </a:r>
            <a:endParaRPr kumimoji="0" lang="en-CA" sz="25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3308993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04FE8-9758-A8C1-7E36-4558D003BAFA}"/>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87B274A-8698-9C8D-12C3-7A6EF5F801C5}"/>
              </a:ext>
            </a:extLst>
          </p:cNvPr>
          <p:cNvSpPr>
            <a:spLocks noGrp="1"/>
          </p:cNvSpPr>
          <p:nvPr>
            <p:ph idx="1"/>
          </p:nvPr>
        </p:nvSpPr>
        <p:spPr>
          <a:xfrm>
            <a:off x="838200" y="1042219"/>
            <a:ext cx="10515600" cy="5134744"/>
          </a:xfrm>
        </p:spPr>
        <p:txBody>
          <a:bodyPr>
            <a:normAutofit fontScale="85000" lnSpcReduction="10000"/>
          </a:bodyPr>
          <a:lstStyle/>
          <a:p>
            <a:r>
              <a:rPr lang="en-US" dirty="0"/>
              <a:t>4. Benefit Analysis: Evaluating the benefits expected from the replacement, such as improved performance, increased efficiency, reduced downtime, or enhanced capabilities.</a:t>
            </a:r>
          </a:p>
          <a:p>
            <a:r>
              <a:rPr lang="en-US" dirty="0"/>
              <a:t>5. Decision Making: Comparing the costs and benefits to determine whether replacing the asset is financially and operationally justified.</a:t>
            </a:r>
          </a:p>
          <a:p>
            <a:r>
              <a:rPr lang="en-US" dirty="0"/>
              <a:t>6. Risk Assessment: Considering risks associated with both options, including implementation risks, operational risks, and potential future changes in technology or requirements.</a:t>
            </a:r>
          </a:p>
          <a:p>
            <a:r>
              <a:rPr lang="en-US" dirty="0"/>
              <a:t>7. Sensitivity Analysis: Conducting sensitivity analysis to understand how changes in assumptions (e.g., inflation rates, discount rates) impact the decision.</a:t>
            </a:r>
          </a:p>
          <a:p>
            <a:r>
              <a:rPr lang="en-US" dirty="0"/>
              <a:t>8. Implementation Plan: Developing a plan for the replacement process, including timelines, resource allocation, and potential impacts on operations.</a:t>
            </a:r>
          </a:p>
          <a:p>
            <a:r>
              <a:rPr lang="en-US" dirty="0"/>
              <a:t>By systematically analyzing these factors, organizations can make informed decisions regarding asset replacement to optimize resources, improve efficiency, and maintain competitiveness.</a:t>
            </a:r>
          </a:p>
          <a:p>
            <a:endParaRPr lang="en-CA" dirty="0"/>
          </a:p>
        </p:txBody>
      </p:sp>
    </p:spTree>
    <p:extLst>
      <p:ext uri="{BB962C8B-B14F-4D97-AF65-F5344CB8AC3E}">
        <p14:creationId xmlns:p14="http://schemas.microsoft.com/office/powerpoint/2010/main" val="1313321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E0FD6-8BC0-CF65-C8FC-4C1EB5F0C85E}"/>
              </a:ext>
            </a:extLst>
          </p:cNvPr>
          <p:cNvSpPr>
            <a:spLocks noGrp="1"/>
          </p:cNvSpPr>
          <p:nvPr>
            <p:ph type="title"/>
          </p:nvPr>
        </p:nvSpPr>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CA" dirty="0"/>
          </a:p>
        </p:txBody>
      </p:sp>
      <p:sp>
        <p:nvSpPr>
          <p:cNvPr id="3" name="Content Placeholder 2">
            <a:extLst>
              <a:ext uri="{FF2B5EF4-FFF2-40B4-BE49-F238E27FC236}">
                <a16:creationId xmlns:a16="http://schemas.microsoft.com/office/drawing/2014/main" id="{AC0F05FF-B94C-01C8-1C0A-A58559688B7B}"/>
              </a:ext>
            </a:extLst>
          </p:cNvPr>
          <p:cNvSpPr>
            <a:spLocks noGrp="1"/>
          </p:cNvSpPr>
          <p:nvPr>
            <p:ph idx="1"/>
          </p:nvPr>
        </p:nvSpPr>
        <p:spPr/>
        <p:txBody>
          <a:bodyPr>
            <a:normAutofit lnSpcReduction="10000"/>
          </a:bodyPr>
          <a:lstStyle/>
          <a:p>
            <a:pPr>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Reasons for Replacement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There are several common reasons why replacements of assets, equipment, or systems may be necessary or beneficial:</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Technological Obsolescence</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Advancements in technology often render older equipment or systems inefficient, less productive, or incompatible with newer standards or requirements.</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Were and tear: </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use of the assets, physically destroy</a:t>
            </a: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Increased Efficiency</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Newer models or systems may offer improved efficiency, reducing operational costs such as energy consumption or maintenance requirements.</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2042707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4B76-CE70-5CED-5CF9-9741B76222C4}"/>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D0B1D73C-369B-7DD3-5C9C-CB135F68BADD}"/>
              </a:ext>
            </a:extLst>
          </p:cNvPr>
          <p:cNvSpPr>
            <a:spLocks noGrp="1"/>
          </p:cNvSpPr>
          <p:nvPr>
            <p:ph idx="1"/>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Enhanced Performance</a:t>
            </a:r>
            <a:r>
              <a:rPr kumimoji="0" lang="en-US"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Upgrading to newer versions can lead to improved performance metrics such as speed, accuracy, capacity, or reliability.</a:t>
            </a:r>
            <a:endParaRPr kumimoji="0" lang="en-CA" sz="2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Reduced Maintenance Costs</a:t>
            </a:r>
            <a:r>
              <a:rPr kumimoji="0" lang="en-US"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Older assets may require frequent repairs and maintenance, which can be costly over time. Newer equipment may offer reduced maintenance needs and costs. </a:t>
            </a:r>
            <a:endParaRPr kumimoji="0" lang="en-CA" sz="2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Regulatory Compliance</a:t>
            </a:r>
            <a:r>
              <a:rPr kumimoji="0" lang="en-US"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Changes in regulations or standards may necessitate the replacement of equipment to ensure compliance with updated requirements. </a:t>
            </a:r>
            <a:endParaRPr kumimoji="0" lang="en-CA" sz="2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Safety and Environmental Concerns</a:t>
            </a:r>
            <a:r>
              <a:rPr kumimoji="0" lang="en-US"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Newer equipment often incorporates safety features and environmental considerations that may not be present in older models. </a:t>
            </a:r>
            <a:endParaRPr kumimoji="0" lang="en-CA" sz="2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endParaRPr lang="en-CA" sz="9600" dirty="0"/>
          </a:p>
        </p:txBody>
      </p:sp>
    </p:spTree>
    <p:extLst>
      <p:ext uri="{BB962C8B-B14F-4D97-AF65-F5344CB8AC3E}">
        <p14:creationId xmlns:p14="http://schemas.microsoft.com/office/powerpoint/2010/main" val="4122439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E22B6-B73B-9553-413E-7376E3C49C2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4040E8D-6A9A-10B1-5AA6-03482B948419}"/>
              </a:ext>
            </a:extLst>
          </p:cNvPr>
          <p:cNvSpPr>
            <a:spLocks noGrp="1"/>
          </p:cNvSpPr>
          <p:nvPr>
            <p:ph idx="1"/>
          </p:nvPr>
        </p:nvSpPr>
        <p:spPr/>
        <p:txBody>
          <a:bodyPr>
            <a:normAutofit/>
          </a:bodyPr>
          <a:lstStyle/>
          <a:p>
            <a:r>
              <a:rPr lang="en-US" dirty="0"/>
              <a:t>Economic Justification: Replacement decisions are often driven by cost-benefit analysis, where the long-term savings or benefits of a new asset outweigh the costs of continued use of the old one.</a:t>
            </a:r>
          </a:p>
          <a:p>
            <a:r>
              <a:rPr lang="en-US" dirty="0"/>
              <a:t>Capacity or Demand Changes: If demand increases or operational requirements change, replacing equipment with higher capacity or capability may be necessary to meet new demands efficiently.</a:t>
            </a:r>
          </a:p>
          <a:p>
            <a:r>
              <a:rPr lang="en-US" dirty="0"/>
              <a:t>End of Useful Life: Assets may reach the end of their useful life, where continued operation becomes impractical due to high failure rates, inefficiency, or inability to meet current operational demands.</a:t>
            </a:r>
          </a:p>
          <a:p>
            <a:endParaRPr lang="en-CA" dirty="0"/>
          </a:p>
        </p:txBody>
      </p:sp>
    </p:spTree>
    <p:extLst>
      <p:ext uri="{BB962C8B-B14F-4D97-AF65-F5344CB8AC3E}">
        <p14:creationId xmlns:p14="http://schemas.microsoft.com/office/powerpoint/2010/main" val="1196630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BACD-4C3C-0DC6-25B0-1E5E36ABAE6B}"/>
              </a:ext>
            </a:extLst>
          </p:cNvPr>
          <p:cNvSpPr>
            <a:spLocks noGrp="1"/>
          </p:cNvSpPr>
          <p:nvPr>
            <p:ph type="title"/>
          </p:nvPr>
        </p:nvSpPr>
        <p:spPr/>
        <p:txBody>
          <a:bodyPr/>
          <a:lstStyle/>
          <a:p>
            <a:r>
              <a:rPr lang="en-US" dirty="0"/>
              <a:t>Meaning of Defender and Challenger </a:t>
            </a:r>
            <a:br>
              <a:rPr lang="en-US" dirty="0"/>
            </a:br>
            <a:endParaRPr lang="en-CA" dirty="0"/>
          </a:p>
        </p:txBody>
      </p:sp>
      <p:sp>
        <p:nvSpPr>
          <p:cNvPr id="3" name="Content Placeholder 2">
            <a:extLst>
              <a:ext uri="{FF2B5EF4-FFF2-40B4-BE49-F238E27FC236}">
                <a16:creationId xmlns:a16="http://schemas.microsoft.com/office/drawing/2014/main" id="{5E75138A-5FD4-9E20-163C-BE591460881A}"/>
              </a:ext>
            </a:extLst>
          </p:cNvPr>
          <p:cNvSpPr>
            <a:spLocks noGrp="1"/>
          </p:cNvSpPr>
          <p:nvPr>
            <p:ph idx="1"/>
          </p:nvPr>
        </p:nvSpPr>
        <p:spPr/>
        <p:txBody>
          <a:bodyPr>
            <a:normAutofit/>
          </a:bodyPr>
          <a:lstStyle/>
          <a:p>
            <a:r>
              <a:rPr lang="en-US" dirty="0"/>
              <a:t>in replacement analysis, "defender" and "challenger" are terms used to describe the current asset (defender) and the potential replacement option (challenger). Here’s how they are typically understood in this context:</a:t>
            </a:r>
          </a:p>
          <a:p>
            <a:r>
              <a:rPr lang="en-US" dirty="0"/>
              <a:t>Defender: The defender refers to the existing asset, equipment, or system that is currently in use and is being considered for replacement. It represents the status quo or the baseline against which the challenger (replacement option) is compared.</a:t>
            </a:r>
          </a:p>
          <a:p>
            <a:endParaRPr lang="en-CA" dirty="0"/>
          </a:p>
        </p:txBody>
      </p:sp>
    </p:spTree>
    <p:extLst>
      <p:ext uri="{BB962C8B-B14F-4D97-AF65-F5344CB8AC3E}">
        <p14:creationId xmlns:p14="http://schemas.microsoft.com/office/powerpoint/2010/main" val="2349273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FCCD-77E3-341B-A91B-40FBDE99BF1F}"/>
              </a:ext>
            </a:extLst>
          </p:cNvPr>
          <p:cNvSpPr>
            <a:spLocks noGrp="1"/>
          </p:cNvSpPr>
          <p:nvPr>
            <p:ph type="title"/>
          </p:nvPr>
        </p:nvSpPr>
        <p:spPr>
          <a:xfrm>
            <a:off x="838200" y="365125"/>
            <a:ext cx="10515600" cy="48526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37D574D-53AC-9F36-649B-8E1EB9B089A6}"/>
              </a:ext>
            </a:extLst>
          </p:cNvPr>
          <p:cNvSpPr>
            <a:spLocks noGrp="1"/>
          </p:cNvSpPr>
          <p:nvPr>
            <p:ph idx="1"/>
          </p:nvPr>
        </p:nvSpPr>
        <p:spPr>
          <a:xfrm>
            <a:off x="493776" y="1060704"/>
            <a:ext cx="11539728" cy="5116259"/>
          </a:xfrm>
        </p:spPr>
        <p:txBody>
          <a:bodyPr>
            <a:normAutofit lnSpcReduction="10000"/>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Challenger: The challenger is the proposed replacement option that is being evaluated against the defender. It represents a new asset, equipment, or system that could potentially replace the existing one. The challenger is assessed based on various criteria such as cost, performance, efficiency, and other relevant factors to determine whether it offers superior benefits compared to the defender.</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In replacement analysis, the decision-making process involves comparing the costs and benefits of the defender (existing asset) with those of the challenger (potential replacement). Factors like initial costs, operating costs, maintenance costs, performance improvements, technological advancements, and economic benefits play crucial roles in determining whether replacing the defender with the challenger is justified.</a:t>
            </a:r>
          </a:p>
          <a:p>
            <a:endParaRPr lang="en-CA" dirty="0"/>
          </a:p>
        </p:txBody>
      </p:sp>
    </p:spTree>
    <p:extLst>
      <p:ext uri="{BB962C8B-B14F-4D97-AF65-F5344CB8AC3E}">
        <p14:creationId xmlns:p14="http://schemas.microsoft.com/office/powerpoint/2010/main" val="3446899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5C43D-98A6-A4F4-FF77-F44431FE542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85D4735-38A2-670B-0613-E0982847C6E7}"/>
              </a:ext>
            </a:extLst>
          </p:cNvPr>
          <p:cNvSpPr>
            <a:spLocks noGrp="1"/>
          </p:cNvSpPr>
          <p:nvPr>
            <p:ph idx="1"/>
          </p:nvPr>
        </p:nvSpPr>
        <p:spPr/>
        <p:txBody>
          <a:bodyPr/>
          <a:lstStyle/>
          <a:p>
            <a:r>
              <a:rPr lang="en-US" dirty="0"/>
              <a:t>Ultimately, the goal of replacement analysis is to make an informed decision that maximizes value, efficiency, and effectiveness, considering both short-term and long-term implications of the replacement.</a:t>
            </a:r>
          </a:p>
          <a:p>
            <a:endParaRPr lang="en-CA" dirty="0"/>
          </a:p>
        </p:txBody>
      </p:sp>
    </p:spTree>
    <p:extLst>
      <p:ext uri="{BB962C8B-B14F-4D97-AF65-F5344CB8AC3E}">
        <p14:creationId xmlns:p14="http://schemas.microsoft.com/office/powerpoint/2010/main" val="1711737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BDAE-6B76-7FD4-782F-4348B8FE175C}"/>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Opportunity cost approach for replacement analysis </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graphicFrame>
        <p:nvGraphicFramePr>
          <p:cNvPr id="4" name="Content Placeholder 3">
            <a:extLst>
              <a:ext uri="{FF2B5EF4-FFF2-40B4-BE49-F238E27FC236}">
                <a16:creationId xmlns:a16="http://schemas.microsoft.com/office/drawing/2014/main" id="{888F0F38-0018-3039-B3E6-3243B5A56A46}"/>
              </a:ext>
            </a:extLst>
          </p:cNvPr>
          <p:cNvGraphicFramePr>
            <a:graphicFrameLocks noGrp="1"/>
          </p:cNvGraphicFramePr>
          <p:nvPr>
            <p:ph idx="1"/>
            <p:extLst>
              <p:ext uri="{D42A27DB-BD31-4B8C-83A1-F6EECF244321}">
                <p14:modId xmlns:p14="http://schemas.microsoft.com/office/powerpoint/2010/main" val="2278493433"/>
              </p:ext>
            </p:extLst>
          </p:nvPr>
        </p:nvGraphicFramePr>
        <p:xfrm>
          <a:off x="3838470" y="3361214"/>
          <a:ext cx="5978769" cy="2438400"/>
        </p:xfrm>
        <a:graphic>
          <a:graphicData uri="http://schemas.openxmlformats.org/drawingml/2006/table">
            <a:tbl>
              <a:tblPr firstRow="1" firstCol="1" bandRow="1"/>
              <a:tblGrid>
                <a:gridCol w="1638133">
                  <a:extLst>
                    <a:ext uri="{9D8B030D-6E8A-4147-A177-3AD203B41FA5}">
                      <a16:colId xmlns:a16="http://schemas.microsoft.com/office/drawing/2014/main" val="1523101491"/>
                    </a:ext>
                  </a:extLst>
                </a:gridCol>
                <a:gridCol w="1796126">
                  <a:extLst>
                    <a:ext uri="{9D8B030D-6E8A-4147-A177-3AD203B41FA5}">
                      <a16:colId xmlns:a16="http://schemas.microsoft.com/office/drawing/2014/main" val="3663648817"/>
                    </a:ext>
                  </a:extLst>
                </a:gridCol>
                <a:gridCol w="2544510">
                  <a:extLst>
                    <a:ext uri="{9D8B030D-6E8A-4147-A177-3AD203B41FA5}">
                      <a16:colId xmlns:a16="http://schemas.microsoft.com/office/drawing/2014/main" val="3317251220"/>
                    </a:ext>
                  </a:extLst>
                </a:gridCol>
              </a:tblGrid>
              <a:tr h="459202">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Year </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Defender </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Challenger </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6593115"/>
                  </a:ext>
                </a:extLst>
              </a:tr>
              <a:tr h="459202">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0</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5000</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7500</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6539724"/>
                  </a:ext>
                </a:extLst>
              </a:tr>
              <a:tr h="459202">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1</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1700</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500</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6923459"/>
                  </a:ext>
                </a:extLst>
              </a:tr>
              <a:tr h="459202">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2</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2000</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1100</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3469860"/>
                  </a:ext>
                </a:extLst>
              </a:tr>
              <a:tr h="459202">
                <a:tc>
                  <a:txBody>
                    <a:bodyPr/>
                    <a:lstStyle/>
                    <a:p>
                      <a:pPr>
                        <a:buNone/>
                      </a:pPr>
                      <a:r>
                        <a:rPr lang="en-US" sz="3200" kern="100">
                          <a:effectLst/>
                          <a:latin typeface="Calibri" panose="020F0502020204030204" pitchFamily="34" charset="0"/>
                          <a:ea typeface="Calibri" panose="020F0502020204030204" pitchFamily="34" charset="0"/>
                          <a:cs typeface="Times New Roman" panose="02020603050405020304" pitchFamily="18" charset="0"/>
                        </a:rPr>
                        <a:t>3</a:t>
                      </a:r>
                      <a:endParaRPr lang="en-CA"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2000</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1000</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9316005"/>
                  </a:ext>
                </a:extLst>
              </a:tr>
            </a:tbl>
          </a:graphicData>
        </a:graphic>
      </p:graphicFrame>
      <p:sp>
        <p:nvSpPr>
          <p:cNvPr id="5" name="Rectangle 1">
            <a:extLst>
              <a:ext uri="{FF2B5EF4-FFF2-40B4-BE49-F238E27FC236}">
                <a16:creationId xmlns:a16="http://schemas.microsoft.com/office/drawing/2014/main" id="{12875B77-160D-AFED-BA17-6B8C8741639A}"/>
              </a:ext>
            </a:extLst>
          </p:cNvPr>
          <p:cNvSpPr>
            <a:spLocks noChangeArrowheads="1"/>
          </p:cNvSpPr>
          <p:nvPr/>
        </p:nvSpPr>
        <p:spPr bwMode="auto">
          <a:xfrm>
            <a:off x="0" y="-2510607"/>
            <a:ext cx="11756571"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Example </a:t>
            </a:r>
            <a:endParaRPr kumimoji="0" lang="en-CA"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Consider the choice between the defender that has a current market value Rs 5000 and challenger that can be purchased at Rs 7500 both have the service life of 3 years and have no salvage value where MARR is 12%. Suggest which one is the best defender or challenger.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544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3C277-9B8B-FDEB-3B7E-0A659012381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D23BF48-D507-9B71-1D27-1FF62656D7ED}"/>
              </a:ext>
            </a:extLst>
          </p:cNvPr>
          <p:cNvSpPr>
            <a:spLocks noGrp="1"/>
          </p:cNvSpPr>
          <p:nvPr>
            <p:ph idx="1"/>
          </p:nvPr>
        </p:nvSpPr>
        <p:spPr/>
        <p:txBody>
          <a:bodyPr/>
          <a:lstStyle/>
          <a:p>
            <a:r>
              <a:rPr lang="en-US" dirty="0"/>
              <a:t>Solution </a:t>
            </a:r>
          </a:p>
          <a:p>
            <a:r>
              <a:rPr lang="en-US" dirty="0"/>
              <a:t>For defender </a:t>
            </a:r>
          </a:p>
          <a:p>
            <a:r>
              <a:rPr lang="en-US" dirty="0"/>
              <a:t>Construct the cash flow diagram </a:t>
            </a:r>
          </a:p>
          <a:p>
            <a:r>
              <a:rPr lang="en-US" dirty="0"/>
              <a:t>Convert all costs into PW</a:t>
            </a:r>
          </a:p>
          <a:p>
            <a:r>
              <a:rPr lang="en-US" dirty="0"/>
              <a:t>Then calculate Annual equivalent cost (AEC) </a:t>
            </a:r>
          </a:p>
          <a:p>
            <a:r>
              <a:rPr lang="en-US" dirty="0"/>
              <a:t>PW by PVIFA </a:t>
            </a:r>
          </a:p>
          <a:p>
            <a:r>
              <a:rPr lang="en-US" dirty="0"/>
              <a:t>Do same for challenger </a:t>
            </a:r>
          </a:p>
          <a:p>
            <a:r>
              <a:rPr lang="en-US" dirty="0"/>
              <a:t>Select whichever is small. </a:t>
            </a:r>
            <a:endParaRPr lang="en-CA" dirty="0"/>
          </a:p>
        </p:txBody>
      </p:sp>
    </p:spTree>
    <p:extLst>
      <p:ext uri="{BB962C8B-B14F-4D97-AF65-F5344CB8AC3E}">
        <p14:creationId xmlns:p14="http://schemas.microsoft.com/office/powerpoint/2010/main" val="2488401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A07E8-1086-A752-96BB-184DDE24B505}"/>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EB8D6B16-2C1B-31A7-8C61-9881482E540A}"/>
              </a:ext>
            </a:extLst>
          </p:cNvPr>
          <p:cNvSpPr>
            <a:spLocks noGrp="1"/>
          </p:cNvSpPr>
          <p:nvPr>
            <p:ph idx="1"/>
          </p:nvPr>
        </p:nvSpPr>
        <p:spPr>
          <a:xfrm>
            <a:off x="838200" y="865239"/>
            <a:ext cx="10515600" cy="5311724"/>
          </a:xfrm>
        </p:spPr>
        <p:txBody>
          <a:bodyPr>
            <a:normAutofit fontScale="92500" lnSpcReduction="10000"/>
          </a:bodyPr>
          <a:lstStyle/>
          <a:p>
            <a:r>
              <a:rPr lang="en-US" b="1" dirty="0"/>
              <a:t>Economic service life </a:t>
            </a:r>
          </a:p>
          <a:p>
            <a:r>
              <a:rPr lang="en-US" dirty="0"/>
              <a:t>In replacement analysis, the Economic Service Life (ESL) refers to the period of time an asset should be retained in service to minimize its total equivalent annual cost (EAC) or maximize its net present value (NPV).</a:t>
            </a:r>
          </a:p>
          <a:p>
            <a:r>
              <a:rPr lang="en-US" dirty="0"/>
              <a:t>In all engineering economic studies up to this point, we have made the analysis with assumed useful lives for all alternatives under consideration. For any new asset (challenger), an economic life can be computed if various operation and maintenance costs are known (or can be estimated) in addition to its year-by-year salvage values. The economic life minimizes the annual equivalent cost of owning and operating an asset and it is often shorter than useful or physical life. Economic date regarding defenders and challengers are periodically updated and replacement studies are then repeated to ensure an ongoing evaluation of improvement opportunities that is the selection of challengers </a:t>
            </a:r>
          </a:p>
          <a:p>
            <a:endParaRPr lang="en-CA" dirty="0"/>
          </a:p>
        </p:txBody>
      </p:sp>
    </p:spTree>
    <p:extLst>
      <p:ext uri="{BB962C8B-B14F-4D97-AF65-F5344CB8AC3E}">
        <p14:creationId xmlns:p14="http://schemas.microsoft.com/office/powerpoint/2010/main" val="932526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DF5E-9875-453A-EA6C-4FCC259B67CE}"/>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E4116B27-C628-6E23-C790-4725EBD4D5A8}"/>
              </a:ext>
            </a:extLst>
          </p:cNvPr>
          <p:cNvSpPr>
            <a:spLocks noGrp="1"/>
          </p:cNvSpPr>
          <p:nvPr>
            <p:ph idx="1"/>
          </p:nvPr>
        </p:nvSpPr>
        <p:spPr>
          <a:xfrm>
            <a:off x="838200" y="1124712"/>
            <a:ext cx="10515600" cy="5052251"/>
          </a:xfrm>
        </p:spPr>
        <p:txBody>
          <a:bodyPr/>
          <a:lstStyle/>
          <a:p>
            <a:r>
              <a:rPr lang="en-US" dirty="0"/>
              <a:t>The total annual equivalent costs of owning and operating an assets AEC (</a:t>
            </a:r>
            <a:r>
              <a:rPr lang="en-US" dirty="0" err="1"/>
              <a:t>i</a:t>
            </a:r>
            <a:r>
              <a:rPr lang="en-US" dirty="0"/>
              <a:t>) is the summation of the capital recovery cost and the annual equivalent of operating cost of the assets </a:t>
            </a:r>
          </a:p>
          <a:p>
            <a:r>
              <a:rPr lang="en-US" dirty="0"/>
              <a:t>AEC(</a:t>
            </a:r>
            <a:r>
              <a:rPr lang="en-US" dirty="0" err="1"/>
              <a:t>i</a:t>
            </a:r>
            <a:r>
              <a:rPr lang="en-US" dirty="0"/>
              <a:t>) = CR(</a:t>
            </a:r>
            <a:r>
              <a:rPr lang="en-US" dirty="0" err="1"/>
              <a:t>i</a:t>
            </a:r>
            <a:r>
              <a:rPr lang="en-US" dirty="0"/>
              <a:t>) +OC (</a:t>
            </a:r>
            <a:r>
              <a:rPr lang="en-US" dirty="0" err="1"/>
              <a:t>i</a:t>
            </a:r>
            <a:r>
              <a:rPr lang="en-US" dirty="0"/>
              <a:t>)-----------------------(I) </a:t>
            </a:r>
          </a:p>
          <a:p>
            <a:r>
              <a:rPr lang="en-US" dirty="0"/>
              <a:t>The economic service life of an asset is defined as the period of useful life that minimizes the AEC of owning and operating the asset. To get exact economic service life, we need to find the value of N years that minimizes AEC as expressed equation (I) </a:t>
            </a:r>
          </a:p>
          <a:p>
            <a:r>
              <a:rPr lang="en-US" dirty="0"/>
              <a:t>Economic service life is the useful life of the defender and challenger where there is least AEC. </a:t>
            </a:r>
          </a:p>
          <a:p>
            <a:endParaRPr lang="en-CA" dirty="0"/>
          </a:p>
        </p:txBody>
      </p:sp>
    </p:spTree>
    <p:extLst>
      <p:ext uri="{BB962C8B-B14F-4D97-AF65-F5344CB8AC3E}">
        <p14:creationId xmlns:p14="http://schemas.microsoft.com/office/powerpoint/2010/main" val="139872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1473C-C229-3DC9-1ED0-2303D8A7317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066B035-E59A-4BBC-DE28-30DE3978E6E1}"/>
              </a:ext>
            </a:extLst>
          </p:cNvPr>
          <p:cNvSpPr>
            <a:spLocks noGrp="1"/>
          </p:cNvSpPr>
          <p:nvPr>
            <p:ph idx="1"/>
          </p:nvPr>
        </p:nvSpPr>
        <p:spPr/>
        <p:txBody>
          <a:bodyPr>
            <a:normAutofit/>
          </a:bodyPr>
          <a:lstStyle/>
          <a:p>
            <a:pPr marL="457200" indent="-457200">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Example:</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suppose a company has decided to have a new machine costing.18000 and useful life 8years.</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And having operation cost Rs 3000 in first year and for the remaining years increase 15 percent every year. Salvage value is declined each year by 20% from the previous year's salvage value. Find the economic service life where MARR is 12%.</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136855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893C7-EBE9-F67F-FCFA-951F8FF173D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CF5644D-3BCA-7247-7E03-325921EB3B44}"/>
              </a:ext>
            </a:extLst>
          </p:cNvPr>
          <p:cNvSpPr>
            <a:spLocks noGrp="1"/>
          </p:cNvSpPr>
          <p:nvPr>
            <p:ph idx="1"/>
          </p:nvPr>
        </p:nvSpPr>
        <p:spPr/>
        <p:txBody>
          <a:bodyPr>
            <a:normAutofit/>
          </a:bodyPr>
          <a:lstStyle/>
          <a:p>
            <a:r>
              <a:rPr lang="en-US" dirty="0"/>
              <a:t>Calculation of economic service life </a:t>
            </a:r>
          </a:p>
          <a:p>
            <a:r>
              <a:rPr lang="en-US" dirty="0"/>
              <a:t>First of all, construct cash flow diagram showing incremental cost decrement of salvage value </a:t>
            </a:r>
          </a:p>
          <a:p>
            <a:r>
              <a:rPr lang="en-US" dirty="0"/>
              <a:t>Salvage of the first year is 14400 </a:t>
            </a:r>
          </a:p>
          <a:p>
            <a:r>
              <a:rPr lang="en-US" dirty="0"/>
              <a:t>Calculate for individual years </a:t>
            </a:r>
          </a:p>
          <a:p>
            <a:endParaRPr lang="en-CA" dirty="0"/>
          </a:p>
        </p:txBody>
      </p:sp>
    </p:spTree>
    <p:extLst>
      <p:ext uri="{BB962C8B-B14F-4D97-AF65-F5344CB8AC3E}">
        <p14:creationId xmlns:p14="http://schemas.microsoft.com/office/powerpoint/2010/main" val="208655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0287-715A-EC89-1134-450848493DF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AE7DD82-C00B-A723-2871-038533DAA408}"/>
              </a:ext>
            </a:extLst>
          </p:cNvPr>
          <p:cNvSpPr>
            <a:spLocks noGrp="1"/>
          </p:cNvSpPr>
          <p:nvPr>
            <p:ph idx="1"/>
          </p:nvPr>
        </p:nvSpPr>
        <p:spPr/>
        <p:txBody>
          <a:bodyPr>
            <a:normAutofit/>
          </a:bodyPr>
          <a:lstStyle/>
          <a:p>
            <a:r>
              <a:rPr lang="en-US" dirty="0"/>
              <a:t>First year cost = 3000 Salvage value = 14400</a:t>
            </a:r>
          </a:p>
          <a:p>
            <a:r>
              <a:rPr lang="en-US" dirty="0"/>
              <a:t>Convert 3000 into zero year and divide it by pvifa12%1 year </a:t>
            </a:r>
          </a:p>
          <a:p>
            <a:r>
              <a:rPr lang="en-US" dirty="0"/>
              <a:t>AEC(</a:t>
            </a:r>
            <a:r>
              <a:rPr lang="en-US" dirty="0" err="1"/>
              <a:t>i</a:t>
            </a:r>
            <a:r>
              <a:rPr lang="en-US" dirty="0"/>
              <a:t>) = CR(</a:t>
            </a:r>
            <a:r>
              <a:rPr lang="en-US" dirty="0" err="1"/>
              <a:t>i</a:t>
            </a:r>
            <a:r>
              <a:rPr lang="en-US" dirty="0"/>
              <a:t>) + OC (</a:t>
            </a:r>
            <a:r>
              <a:rPr lang="en-US" dirty="0" err="1"/>
              <a:t>i</a:t>
            </a:r>
            <a:r>
              <a:rPr lang="en-US" dirty="0"/>
              <a:t>)-----------------------(I)</a:t>
            </a:r>
          </a:p>
          <a:p>
            <a:r>
              <a:rPr lang="en-US" dirty="0"/>
              <a:t>CR cost  = 18000/pvifa12%1 year -14400/fvifa12% 1 year = 5760</a:t>
            </a:r>
          </a:p>
          <a:p>
            <a:r>
              <a:rPr lang="en-US" dirty="0"/>
              <a:t>OC= 3000/1.12/ pvifa12%1 year = 3000</a:t>
            </a:r>
          </a:p>
          <a:p>
            <a:pPr marL="0" indent="0">
              <a:buNone/>
            </a:pPr>
            <a:r>
              <a:rPr lang="en-US" dirty="0"/>
              <a:t>First years AEC= 5760+3000= 8760</a:t>
            </a:r>
          </a:p>
          <a:p>
            <a:endParaRPr lang="en-US" dirty="0"/>
          </a:p>
          <a:p>
            <a:endParaRPr lang="en-CA" dirty="0"/>
          </a:p>
        </p:txBody>
      </p:sp>
    </p:spTree>
    <p:extLst>
      <p:ext uri="{BB962C8B-B14F-4D97-AF65-F5344CB8AC3E}">
        <p14:creationId xmlns:p14="http://schemas.microsoft.com/office/powerpoint/2010/main" val="1346663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B2FB-C942-A0D7-8E49-0E664A684A1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1379EDB-5FA7-691F-66AB-98BA19F8B56F}"/>
              </a:ext>
            </a:extLst>
          </p:cNvPr>
          <p:cNvSpPr>
            <a:spLocks noGrp="1"/>
          </p:cNvSpPr>
          <p:nvPr>
            <p:ph idx="1"/>
          </p:nvPr>
        </p:nvSpPr>
        <p:spPr/>
        <p:txBody>
          <a:bodyPr>
            <a:normAutofit/>
          </a:bodyPr>
          <a:lstStyle/>
          <a:p>
            <a:r>
              <a:rPr lang="en-US" dirty="0"/>
              <a:t>For second year follow cash flow diagram </a:t>
            </a:r>
          </a:p>
          <a:p>
            <a:r>
              <a:rPr lang="en-US" dirty="0"/>
              <a:t>First years cost 3000 </a:t>
            </a:r>
          </a:p>
          <a:p>
            <a:r>
              <a:rPr lang="en-US" dirty="0"/>
              <a:t>Second years cost 3450</a:t>
            </a:r>
          </a:p>
          <a:p>
            <a:endParaRPr lang="en-CA" dirty="0"/>
          </a:p>
        </p:txBody>
      </p:sp>
    </p:spTree>
    <p:extLst>
      <p:ext uri="{BB962C8B-B14F-4D97-AF65-F5344CB8AC3E}">
        <p14:creationId xmlns:p14="http://schemas.microsoft.com/office/powerpoint/2010/main" val="3738736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19E76-62CC-4E4C-054B-A081DEF20439}"/>
              </a:ext>
            </a:extLst>
          </p:cNvPr>
          <p:cNvSpPr>
            <a:spLocks noGrp="1"/>
          </p:cNvSpPr>
          <p:nvPr>
            <p:ph type="title"/>
          </p:nvPr>
        </p:nvSpPr>
        <p:spPr/>
        <p:txBody>
          <a:bodyPr/>
          <a:lstStyle/>
          <a:p>
            <a:r>
              <a:rPr lang="en-US" dirty="0"/>
              <a:t> </a:t>
            </a:r>
            <a:endParaRPr lang="en-CA" dirty="0"/>
          </a:p>
        </p:txBody>
      </p:sp>
      <p:sp>
        <p:nvSpPr>
          <p:cNvPr id="3" name="Content Placeholder 2">
            <a:extLst>
              <a:ext uri="{FF2B5EF4-FFF2-40B4-BE49-F238E27FC236}">
                <a16:creationId xmlns:a16="http://schemas.microsoft.com/office/drawing/2014/main" id="{9A4EA9CA-9730-F058-8EB7-FCC0DC343855}"/>
              </a:ext>
            </a:extLst>
          </p:cNvPr>
          <p:cNvSpPr>
            <a:spLocks noGrp="1"/>
          </p:cNvSpPr>
          <p:nvPr>
            <p:ph idx="1"/>
          </p:nvPr>
        </p:nvSpPr>
        <p:spPr/>
        <p:txBody>
          <a:bodyPr>
            <a:normAutofit/>
          </a:bodyPr>
          <a:lstStyle/>
          <a:p>
            <a:r>
              <a:rPr lang="en-US" dirty="0"/>
              <a:t>Second years salvage value is 11520 construct cash flow diagrams </a:t>
            </a:r>
          </a:p>
          <a:p>
            <a:r>
              <a:rPr lang="en-US" dirty="0"/>
              <a:t>CR cost = 18000/pvifa12%2 years – 11520/fvifa12%2 years = 5217</a:t>
            </a:r>
          </a:p>
          <a:p>
            <a:r>
              <a:rPr lang="en-US" dirty="0"/>
              <a:t>OC= (3000/1.12) divide by pvifa12% 2 years+ (3450/1.12^2) pvifa12%2years = 1885+1627= 3212</a:t>
            </a:r>
          </a:p>
          <a:p>
            <a:r>
              <a:rPr lang="en-US" dirty="0"/>
              <a:t>Second years AEC= 5217+3212= 8429 </a:t>
            </a:r>
          </a:p>
          <a:p>
            <a:endParaRPr lang="en-CA" dirty="0"/>
          </a:p>
        </p:txBody>
      </p:sp>
    </p:spTree>
    <p:extLst>
      <p:ext uri="{BB962C8B-B14F-4D97-AF65-F5344CB8AC3E}">
        <p14:creationId xmlns:p14="http://schemas.microsoft.com/office/powerpoint/2010/main" val="1513942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CCC-0D82-ABA5-FCE6-2D0C15D3DB3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2B0938C-E950-F494-4013-E50764AE21FC}"/>
              </a:ext>
            </a:extLst>
          </p:cNvPr>
          <p:cNvSpPr>
            <a:spLocks noGrp="1"/>
          </p:cNvSpPr>
          <p:nvPr>
            <p:ph idx="1"/>
          </p:nvPr>
        </p:nvSpPr>
        <p:spPr/>
        <p:txBody>
          <a:bodyPr>
            <a:normAutofit/>
          </a:bodyPr>
          <a:lstStyle/>
          <a:p>
            <a:r>
              <a:rPr lang="en-US" dirty="0"/>
              <a:t>For third year </a:t>
            </a:r>
          </a:p>
          <a:p>
            <a:r>
              <a:rPr lang="en-US" dirty="0"/>
              <a:t>First years cost 3000 Second years cost 3450Third years cost = 3967.5</a:t>
            </a:r>
          </a:p>
          <a:p>
            <a:r>
              <a:rPr lang="en-US" dirty="0"/>
              <a:t>Third years salvage value is 9216</a:t>
            </a:r>
          </a:p>
          <a:p>
            <a:r>
              <a:rPr lang="en-US" dirty="0"/>
              <a:t>CR cost = 18000/pvifa12%3 years – 9216/fvifa12%3 years = 4763</a:t>
            </a:r>
          </a:p>
          <a:p>
            <a:r>
              <a:rPr lang="en-US" dirty="0"/>
              <a:t>OC 12%=  (3000/1.12) divide by pvifa12% 3 years+ (3450/1.12^2) pvifa12%3years+(3967.5/1.12^3) pvifa12%3years</a:t>
            </a:r>
          </a:p>
          <a:p>
            <a:r>
              <a:rPr lang="en-US" dirty="0"/>
              <a:t>= 1115+1145+1176=3436</a:t>
            </a:r>
          </a:p>
          <a:p>
            <a:endParaRPr lang="en-CA" dirty="0"/>
          </a:p>
        </p:txBody>
      </p:sp>
    </p:spTree>
    <p:extLst>
      <p:ext uri="{BB962C8B-B14F-4D97-AF65-F5344CB8AC3E}">
        <p14:creationId xmlns:p14="http://schemas.microsoft.com/office/powerpoint/2010/main" val="3322991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9ED7-8A7F-C4E2-12E1-74A50230E97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CE85A2B-6978-D690-88D0-7DA788F82AE7}"/>
              </a:ext>
            </a:extLst>
          </p:cNvPr>
          <p:cNvSpPr>
            <a:spLocks noGrp="1"/>
          </p:cNvSpPr>
          <p:nvPr>
            <p:ph idx="1"/>
          </p:nvPr>
        </p:nvSpPr>
        <p:spPr/>
        <p:txBody>
          <a:bodyPr>
            <a:normAutofit fontScale="77500" lnSpcReduction="20000"/>
          </a:bodyPr>
          <a:lstStyle/>
          <a:p>
            <a:r>
              <a:rPr lang="en-US" dirty="0"/>
              <a:t>AEC12% = 4760+3436=8199</a:t>
            </a:r>
          </a:p>
          <a:p>
            <a:r>
              <a:rPr lang="en-US" dirty="0"/>
              <a:t> Similarly if we calculate </a:t>
            </a:r>
          </a:p>
          <a:p>
            <a:r>
              <a:rPr lang="en-US" dirty="0"/>
              <a:t>N4    we get AEC= 8055</a:t>
            </a:r>
          </a:p>
          <a:p>
            <a:r>
              <a:rPr lang="en-US" dirty="0"/>
              <a:t>N5    we get AEC= 7985</a:t>
            </a:r>
          </a:p>
          <a:p>
            <a:r>
              <a:rPr lang="en-US" dirty="0"/>
              <a:t>N6    we get AEC= 7977</a:t>
            </a:r>
          </a:p>
          <a:p>
            <a:r>
              <a:rPr lang="en-US" dirty="0"/>
              <a:t>N7    we get AEC= 8024</a:t>
            </a:r>
          </a:p>
          <a:p>
            <a:r>
              <a:rPr lang="en-US" dirty="0"/>
              <a:t> In year six we have 7977 and it started to increased in 7 year so we don’t need to calculate the cost of N8,</a:t>
            </a:r>
          </a:p>
          <a:p>
            <a:r>
              <a:rPr lang="en-US" dirty="0"/>
              <a:t>Since Economic service life is the least AEC so 6 year is the economic service life . …..</a:t>
            </a:r>
          </a:p>
          <a:p>
            <a:r>
              <a:rPr lang="en-US" b="1" dirty="0"/>
              <a:t>Economic service life of challenger and defender </a:t>
            </a:r>
          </a:p>
          <a:p>
            <a:r>
              <a:rPr lang="en-US" dirty="0"/>
              <a:t>Determination of an economic life for the challenger and defender is important in a replacement analysis because of the fundamental principle that new and existing assets should be compared over their economic lives. </a:t>
            </a:r>
          </a:p>
          <a:p>
            <a:endParaRPr lang="en-CA" dirty="0"/>
          </a:p>
        </p:txBody>
      </p:sp>
    </p:spTree>
    <p:extLst>
      <p:ext uri="{BB962C8B-B14F-4D97-AF65-F5344CB8AC3E}">
        <p14:creationId xmlns:p14="http://schemas.microsoft.com/office/powerpoint/2010/main" val="3359241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EC80-4244-7823-08CA-1FD08A2B8CBA}"/>
              </a:ext>
            </a:extLst>
          </p:cNvPr>
          <p:cNvSpPr>
            <a:spLocks noGrp="1"/>
          </p:cNvSpPr>
          <p:nvPr>
            <p:ph type="title"/>
          </p:nvPr>
        </p:nvSpPr>
        <p:spPr>
          <a:xfrm>
            <a:off x="838200" y="365125"/>
            <a:ext cx="10515600" cy="41162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AF4B92D-6996-9471-6A5F-B1257D0A00F3}"/>
              </a:ext>
            </a:extLst>
          </p:cNvPr>
          <p:cNvSpPr>
            <a:spLocks noGrp="1"/>
          </p:cNvSpPr>
          <p:nvPr>
            <p:ph idx="1"/>
          </p:nvPr>
        </p:nvSpPr>
        <p:spPr>
          <a:xfrm>
            <a:off x="338328" y="859536"/>
            <a:ext cx="11603736" cy="5317427"/>
          </a:xfrm>
        </p:spPr>
        <p:txBody>
          <a:bodyPr>
            <a:normAutofit fontScale="92500" lnSpcReduction="10000"/>
          </a:bodyPr>
          <a:lstStyle/>
          <a:p>
            <a:pPr>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Replacement analysis when required service life is long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We understand how the economic service life of an asset is determined. The next question will be when is the optimal time to replace the defender? For it, we need to consider the following three factors or assumptions.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romanLcPeriod"/>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Planning horizon / study period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romanLcPeriod"/>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Technology</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romanLcPeriod"/>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Relevant cash flow information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Planning horizon: </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planning horizon refers required economic service period by the defender and a sequence of future challengers. Infinite planning horizon is used when we are unable to predict the activity under consideration will be terminates. When the project will have a definite and predictable duration, the replacement policy should b e formulated more realistically on the basis of a finite panning horizon.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2586513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FB763-D963-6AD3-01EF-9A77954E4F5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BC15B0E-3216-C231-B22D-ADCF724E937E}"/>
              </a:ext>
            </a:extLst>
          </p:cNvPr>
          <p:cNvSpPr>
            <a:spLocks noGrp="1"/>
          </p:cNvSpPr>
          <p:nvPr>
            <p:ph idx="1"/>
          </p:nvPr>
        </p:nvSpPr>
        <p:spPr/>
        <p:txBody>
          <a:bodyPr>
            <a:normAutofit/>
          </a:bodyPr>
          <a:lstStyle/>
          <a:p>
            <a:r>
              <a:rPr lang="en-US" dirty="0"/>
              <a:t>Technology: it refers to the development of types of challengers they may replace under study. If we assume that all future machines will be the same as those now in use, we are saying that no technological process will occur. In other cases, we may express the possibility of machine becoming in future more efficient, reliable or productive than those are available in the market currently, which leads to the recognition of technological changes and obsolescence. If the available machine gets better and better over time, we should investigate the possibility of delaying assets replacement for a couple of years. </a:t>
            </a:r>
          </a:p>
          <a:p>
            <a:endParaRPr lang="en-CA" dirty="0"/>
          </a:p>
        </p:txBody>
      </p:sp>
    </p:spTree>
    <p:extLst>
      <p:ext uri="{BB962C8B-B14F-4D97-AF65-F5344CB8AC3E}">
        <p14:creationId xmlns:p14="http://schemas.microsoft.com/office/powerpoint/2010/main" val="3735064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E1A14-ABA0-951B-A641-9B316B82DFF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9DF0E6D-126F-E8D9-CF75-4D64CD32DD19}"/>
              </a:ext>
            </a:extLst>
          </p:cNvPr>
          <p:cNvSpPr>
            <a:spLocks noGrp="1"/>
          </p:cNvSpPr>
          <p:nvPr>
            <p:ph idx="1"/>
          </p:nvPr>
        </p:nvSpPr>
        <p:spPr/>
        <p:txBody>
          <a:bodyPr/>
          <a:lstStyle/>
          <a:p>
            <a:r>
              <a:rPr lang="en-US" dirty="0"/>
              <a:t>Relevant cash follows over the life an asset: many predictions can be used to estimate the patters of revenue, cost and salvage value over the life of an asset. We will focus whether preplacement analysis is directed towards cost minimization or profit maximization. We formulate a replacement policy for an asset whose salvage value does not increase with age. </a:t>
            </a:r>
          </a:p>
          <a:p>
            <a:endParaRPr lang="en-CA" dirty="0"/>
          </a:p>
        </p:txBody>
      </p:sp>
    </p:spTree>
    <p:extLst>
      <p:ext uri="{BB962C8B-B14F-4D97-AF65-F5344CB8AC3E}">
        <p14:creationId xmlns:p14="http://schemas.microsoft.com/office/powerpoint/2010/main" val="1024906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E958-402E-B727-F76C-6FCE780DE929}"/>
              </a:ext>
            </a:extLst>
          </p:cNvPr>
          <p:cNvSpPr>
            <a:spLocks noGrp="1"/>
          </p:cNvSpPr>
          <p:nvPr>
            <p:ph type="title"/>
          </p:nvPr>
        </p:nvSpPr>
        <p:spPr>
          <a:xfrm>
            <a:off x="838200" y="1097280"/>
            <a:ext cx="10515600" cy="593408"/>
          </a:xfrm>
        </p:spPr>
        <p:txBody>
          <a:bodyPr>
            <a:normAutofit fontScale="90000"/>
          </a:bodyPr>
          <a:lstStyle/>
          <a:p>
            <a:r>
              <a:rPr lang="en-US" dirty="0"/>
              <a:t>Decision framework</a:t>
            </a:r>
            <a:br>
              <a:rPr lang="en-US" dirty="0"/>
            </a:br>
            <a:endParaRPr lang="en-CA" dirty="0"/>
          </a:p>
        </p:txBody>
      </p:sp>
      <p:sp>
        <p:nvSpPr>
          <p:cNvPr id="3" name="Content Placeholder 2">
            <a:extLst>
              <a:ext uri="{FF2B5EF4-FFF2-40B4-BE49-F238E27FC236}">
                <a16:creationId xmlns:a16="http://schemas.microsoft.com/office/drawing/2014/main" id="{180D8DE5-C064-E829-2574-306D997D09C5}"/>
              </a:ext>
            </a:extLst>
          </p:cNvPr>
          <p:cNvSpPr>
            <a:spLocks noGrp="1"/>
          </p:cNvSpPr>
          <p:nvPr>
            <p:ph idx="1"/>
          </p:nvPr>
        </p:nvSpPr>
        <p:spPr/>
        <p:txBody>
          <a:bodyPr>
            <a:normAutofit/>
          </a:bodyPr>
          <a:lstStyle/>
          <a:p>
            <a:r>
              <a:rPr lang="en-US" dirty="0"/>
              <a:t>Decision framework is developed by indicating a replacement sequence of assets with the nation (jo, no) ( j1, n1) (j2,n2)-------(</a:t>
            </a:r>
            <a:r>
              <a:rPr lang="en-US" dirty="0" err="1"/>
              <a:t>jk</a:t>
            </a:r>
            <a:r>
              <a:rPr lang="en-US" dirty="0"/>
              <a:t>, </a:t>
            </a:r>
            <a:r>
              <a:rPr lang="en-US" dirty="0" err="1"/>
              <a:t>nk</a:t>
            </a:r>
            <a:r>
              <a:rPr lang="en-US" dirty="0"/>
              <a:t>). Each pair of numbers (</a:t>
            </a:r>
            <a:r>
              <a:rPr lang="en-US" dirty="0" err="1"/>
              <a:t>j,n</a:t>
            </a:r>
            <a:r>
              <a:rPr lang="en-US" dirty="0"/>
              <a:t>) indicates a type of asset and lifetime over which that asset will be retained. For example, defender asset (jo) replaced now (no=0) can be written as (jo,0)</a:t>
            </a:r>
          </a:p>
          <a:p>
            <a:r>
              <a:rPr lang="en-US" dirty="0"/>
              <a:t>The sequence (jo,2) (j1,5) (j2,3) indicates retaining the defender for two years and the n replacing defender with an asset type of j1 and using it for five years and then replacing j1, with an asset of type j2 and using it for three years. Hence, the total planning horizon covers 10 years (2+5+3) </a:t>
            </a:r>
          </a:p>
          <a:p>
            <a:endParaRPr lang="en-CA" dirty="0"/>
          </a:p>
        </p:txBody>
      </p:sp>
    </p:spTree>
    <p:extLst>
      <p:ext uri="{BB962C8B-B14F-4D97-AF65-F5344CB8AC3E}">
        <p14:creationId xmlns:p14="http://schemas.microsoft.com/office/powerpoint/2010/main" val="1251595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17A5C-3CA4-AEED-4B9D-9C6A0C77F39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1104657-2E85-3C85-2FB1-67C2358EBB78}"/>
              </a:ext>
            </a:extLst>
          </p:cNvPr>
          <p:cNvSpPr>
            <a:spLocks noGrp="1"/>
          </p:cNvSpPr>
          <p:nvPr>
            <p:ph idx="1"/>
          </p:nvPr>
        </p:nvSpPr>
        <p:spPr/>
        <p:txBody>
          <a:bodyPr/>
          <a:lstStyle/>
          <a:p>
            <a:r>
              <a:rPr lang="en-US" dirty="0"/>
              <a:t>Finite planning horizon of 10 year (jo,2) ( j1,5) (j2,3)</a:t>
            </a:r>
          </a:p>
          <a:p>
            <a:r>
              <a:rPr lang="en-US" dirty="0"/>
              <a:t>Although the economic life of the defender is defined as the additional number of years of service which minimizes the annual equivalent cost (AEC), that is not necessarily the optimal time to replace the defender. The correct replacement time depends on data on the challenger as well as data on the defender. </a:t>
            </a:r>
          </a:p>
          <a:p>
            <a:r>
              <a:rPr lang="en-US" dirty="0"/>
              <a:t>AEC method provides a direct solution when the planning horizon is infinite and when the planning horizon is finite, the PW method is more convenient to use. </a:t>
            </a:r>
          </a:p>
          <a:p>
            <a:endParaRPr lang="en-CA" dirty="0"/>
          </a:p>
        </p:txBody>
      </p:sp>
    </p:spTree>
    <p:extLst>
      <p:ext uri="{BB962C8B-B14F-4D97-AF65-F5344CB8AC3E}">
        <p14:creationId xmlns:p14="http://schemas.microsoft.com/office/powerpoint/2010/main" val="3320888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41B4-63D4-72FA-5076-2151C97DC50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4520321-76E2-B507-FA67-A7442D5585A2}"/>
              </a:ext>
            </a:extLst>
          </p:cNvPr>
          <p:cNvSpPr>
            <a:spLocks noGrp="1"/>
          </p:cNvSpPr>
          <p:nvPr>
            <p:ph idx="1"/>
          </p:nvPr>
        </p:nvSpPr>
        <p:spPr/>
        <p:txBody>
          <a:bodyPr>
            <a:normAutofit lnSpcReduction="10000"/>
          </a:bodyPr>
          <a:lstStyle/>
          <a:p>
            <a:r>
              <a:rPr lang="en-US" b="1" dirty="0"/>
              <a:t>Replacement analysis under the infinite planning horizon </a:t>
            </a:r>
          </a:p>
          <a:p>
            <a:r>
              <a:rPr lang="en-US" dirty="0"/>
              <a:t>Under the infinite planning horizon, the service is required for a very long time either we continue to use the defender to provide the service or we replace the defender with best available challenger for the same service. In this case, we may apply the following procedure in replacement analysis. </a:t>
            </a:r>
          </a:p>
          <a:p>
            <a:r>
              <a:rPr lang="en-US" dirty="0"/>
              <a:t>Step one: compute the economic lives of both the defender and challenger. Let ND and NC is used to indicate the economic lives of the defender and challenger and the annual equivalent costs AEC for the defender and challenger at their respective economic lies are indicated by AECD and AECC</a:t>
            </a:r>
          </a:p>
          <a:p>
            <a:endParaRPr lang="en-CA" dirty="0"/>
          </a:p>
        </p:txBody>
      </p:sp>
    </p:spTree>
    <p:extLst>
      <p:ext uri="{BB962C8B-B14F-4D97-AF65-F5344CB8AC3E}">
        <p14:creationId xmlns:p14="http://schemas.microsoft.com/office/powerpoint/2010/main" val="1029929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F8F5D-E862-E95B-8EB8-436F38C3CAB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B5F8DE8-AA9D-68C9-9995-2E15E4B6D596}"/>
              </a:ext>
            </a:extLst>
          </p:cNvPr>
          <p:cNvSpPr>
            <a:spLocks noGrp="1"/>
          </p:cNvSpPr>
          <p:nvPr>
            <p:ph idx="1"/>
          </p:nvPr>
        </p:nvSpPr>
        <p:spPr/>
        <p:txBody>
          <a:bodyPr>
            <a:normAutofit lnSpcReduction="10000"/>
          </a:bodyPr>
          <a:lstStyle/>
          <a:p>
            <a:r>
              <a:rPr lang="en-US" dirty="0"/>
              <a:t>Step two: compare AECD and AECC </a:t>
            </a:r>
          </a:p>
          <a:p>
            <a:r>
              <a:rPr lang="en-US" dirty="0"/>
              <a:t>If AECD is greater than AECC, it is the situation of more costly to keep the defender than replace it with challenger. Hence challenger should; replace with defender now. </a:t>
            </a:r>
          </a:p>
          <a:p>
            <a:r>
              <a:rPr lang="en-US" dirty="0"/>
              <a:t>If AECD is less than AECC, it costs less to keep the defender than to replace it with the challenger. hence, defender should not be replaced now.</a:t>
            </a:r>
          </a:p>
          <a:p>
            <a:r>
              <a:rPr lang="en-US" dirty="0"/>
              <a:t>Step three </a:t>
            </a:r>
          </a:p>
          <a:p>
            <a:r>
              <a:rPr lang="en-US" dirty="0"/>
              <a:t>If defender should not be replaced now, when should it be replaced? </a:t>
            </a:r>
          </a:p>
          <a:p>
            <a:pPr marL="0" indent="0">
              <a:buNone/>
            </a:pPr>
            <a:r>
              <a:rPr lang="en-US" dirty="0"/>
              <a:t>	</a:t>
            </a:r>
            <a:endParaRPr lang="en-CA" dirty="0"/>
          </a:p>
        </p:txBody>
      </p:sp>
    </p:spTree>
    <p:extLst>
      <p:ext uri="{BB962C8B-B14F-4D97-AF65-F5344CB8AC3E}">
        <p14:creationId xmlns:p14="http://schemas.microsoft.com/office/powerpoint/2010/main" val="605942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2730B-BBB0-2791-88A5-05383987E98E}"/>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7F1DC55C-3340-785A-04BC-F4DC6C8534FB}"/>
              </a:ext>
            </a:extLst>
          </p:cNvPr>
          <p:cNvSpPr>
            <a:spLocks noGrp="1"/>
          </p:cNvSpPr>
          <p:nvPr>
            <p:ph idx="1"/>
          </p:nvPr>
        </p:nvSpPr>
        <p:spPr>
          <a:xfrm>
            <a:off x="838200" y="1825625"/>
            <a:ext cx="10515600" cy="4667250"/>
          </a:xfrm>
        </p:spPr>
        <p:txBody>
          <a:bodyPr>
            <a:normAutofit fontScale="77500" lnSpcReduction="20000"/>
          </a:bodyPr>
          <a:lstStyle/>
          <a:p>
            <a:r>
              <a:rPr lang="en-US" dirty="0"/>
              <a:t>First, we need to continue to use it until its economic life is over.</a:t>
            </a:r>
          </a:p>
          <a:p>
            <a:r>
              <a:rPr lang="en-US" dirty="0"/>
              <a:t>-	Then we should calculate the cost of running the defender for one more year after its economic life, this approach is called marginal analysis, </a:t>
            </a:r>
            <a:r>
              <a:rPr lang="en-US" dirty="0" err="1"/>
              <a:t>ie</a:t>
            </a:r>
            <a:r>
              <a:rPr lang="en-US" dirty="0"/>
              <a:t>, we calculate the incremental cost of operating the defender for just one more year. </a:t>
            </a:r>
          </a:p>
          <a:p>
            <a:r>
              <a:rPr lang="en-US" dirty="0"/>
              <a:t>-	In another words, we want to see whether the cost of extending the use of the defender for an additional year exceeds the savings resulting from delaying the purchase of the challenger. </a:t>
            </a:r>
          </a:p>
          <a:p>
            <a:r>
              <a:rPr lang="en-US" dirty="0"/>
              <a:t>In this case, </a:t>
            </a:r>
          </a:p>
          <a:p>
            <a:r>
              <a:rPr lang="en-US" dirty="0"/>
              <a:t>-	If the marginal cost of defender is greater than AECC, the defender should be replaced at the end of its economic life. Otherwise, we should calculate the cost of running the defender for the second year </a:t>
            </a:r>
            <a:r>
              <a:rPr lang="en-US" dirty="0" err="1"/>
              <a:t>ie</a:t>
            </a:r>
            <a:r>
              <a:rPr lang="en-US" dirty="0"/>
              <a:t> marginal cost for second year after its economic life. </a:t>
            </a:r>
          </a:p>
          <a:p>
            <a:r>
              <a:rPr lang="en-US" dirty="0"/>
              <a:t>-	If the marginal cost of defender for the second year is greater than AECC the defender should be replaced one year after its economic life. The process should be continued until we find the optimal replacement time. here, we have assumed that the best available challenger does not change. </a:t>
            </a:r>
          </a:p>
          <a:p>
            <a:endParaRPr lang="en-CA" dirty="0"/>
          </a:p>
        </p:txBody>
      </p:sp>
    </p:spTree>
    <p:extLst>
      <p:ext uri="{BB962C8B-B14F-4D97-AF65-F5344CB8AC3E}">
        <p14:creationId xmlns:p14="http://schemas.microsoft.com/office/powerpoint/2010/main" val="3677634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D058E-CC16-2096-AA71-825E87456E68}"/>
              </a:ext>
            </a:extLst>
          </p:cNvPr>
          <p:cNvSpPr>
            <a:spLocks noGrp="1"/>
          </p:cNvSpPr>
          <p:nvPr>
            <p:ph type="title"/>
          </p:nvPr>
        </p:nvSpPr>
        <p:spPr>
          <a:xfrm>
            <a:off x="838200" y="681037"/>
            <a:ext cx="10811256" cy="1009651"/>
          </a:xfrm>
        </p:spPr>
        <p:txBody>
          <a:bodyPr>
            <a:normAutofit fontScale="90000"/>
          </a:bodyPr>
          <a:lstStyle/>
          <a:p>
            <a:r>
              <a:rPr lang="en-US" dirty="0"/>
              <a:t>Example: an electrical company is considering replacing the old machine with newer one for it. </a:t>
            </a:r>
            <a:br>
              <a:rPr lang="en-US" dirty="0"/>
            </a:br>
            <a:endParaRPr lang="en-CA" dirty="0"/>
          </a:p>
        </p:txBody>
      </p:sp>
      <p:sp>
        <p:nvSpPr>
          <p:cNvPr id="3" name="Content Placeholder 2">
            <a:extLst>
              <a:ext uri="{FF2B5EF4-FFF2-40B4-BE49-F238E27FC236}">
                <a16:creationId xmlns:a16="http://schemas.microsoft.com/office/drawing/2014/main" id="{75DB4019-F5D0-D190-3B51-6236783A4EE0}"/>
              </a:ext>
            </a:extLst>
          </p:cNvPr>
          <p:cNvSpPr>
            <a:spLocks noGrp="1"/>
          </p:cNvSpPr>
          <p:nvPr>
            <p:ph idx="1"/>
          </p:nvPr>
        </p:nvSpPr>
        <p:spPr>
          <a:xfrm>
            <a:off x="838200" y="1545336"/>
            <a:ext cx="10515600" cy="4631627"/>
          </a:xfrm>
        </p:spPr>
        <p:txBody>
          <a:bodyPr>
            <a:normAutofit fontScale="92500" lnSpcReduction="20000"/>
          </a:bodyPr>
          <a:lstStyle/>
          <a:p>
            <a:r>
              <a:rPr lang="en-US" dirty="0"/>
              <a:t>Option one </a:t>
            </a:r>
          </a:p>
          <a:p>
            <a:r>
              <a:rPr lang="en-US" dirty="0"/>
              <a:t>If repaired the old machine that can be used for another 6 years. That will require Rs 1200 to overhaul repair. The operating cost is estimated RS2000 for first year and expected to increase Rs1500 per year thereafter. However, the company can sale it now for Rs 5000 and further market values are expected to decline by 25% each year over the previous year's value. </a:t>
            </a:r>
          </a:p>
          <a:p>
            <a:r>
              <a:rPr lang="en-US" dirty="0"/>
              <a:t>Option two</a:t>
            </a:r>
          </a:p>
          <a:p>
            <a:r>
              <a:rPr lang="en-US" dirty="0"/>
              <a:t>The new machine cost is 10000 and will have operating cost of Rs 2200 in the first year and expected to increase by 20% per year thereafter. The expected salvage value is Rs 6000 after one year and will decline by 15% each year for 8 years. </a:t>
            </a:r>
          </a:p>
          <a:p>
            <a:r>
              <a:rPr lang="en-US" dirty="0"/>
              <a:t>Find the economic life for each option and determine when the defender should be replaced at MARR is 15%?</a:t>
            </a:r>
          </a:p>
          <a:p>
            <a:endParaRPr lang="en-CA" dirty="0"/>
          </a:p>
        </p:txBody>
      </p:sp>
    </p:spTree>
    <p:extLst>
      <p:ext uri="{BB962C8B-B14F-4D97-AF65-F5344CB8AC3E}">
        <p14:creationId xmlns:p14="http://schemas.microsoft.com/office/powerpoint/2010/main" val="1896835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92A31-7584-4CD3-981C-0AC88D87EC7B}"/>
              </a:ext>
            </a:extLst>
          </p:cNvPr>
          <p:cNvSpPr>
            <a:spLocks noGrp="1"/>
          </p:cNvSpPr>
          <p:nvPr>
            <p:ph type="title"/>
          </p:nvPr>
        </p:nvSpPr>
        <p:spPr>
          <a:xfrm>
            <a:off x="838200" y="365125"/>
            <a:ext cx="10515600" cy="13779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C06ACFF-F815-5BED-CED6-6084F8CBD795}"/>
              </a:ext>
            </a:extLst>
          </p:cNvPr>
          <p:cNvSpPr>
            <a:spLocks noGrp="1"/>
          </p:cNvSpPr>
          <p:nvPr>
            <p:ph idx="1"/>
          </p:nvPr>
        </p:nvSpPr>
        <p:spPr>
          <a:xfrm>
            <a:off x="838200" y="932688"/>
            <a:ext cx="10515600" cy="5244275"/>
          </a:xfrm>
        </p:spPr>
        <p:txBody>
          <a:bodyPr>
            <a:normAutofit fontScale="92500" lnSpcReduction="10000"/>
          </a:bodyPr>
          <a:lstStyle/>
          <a:p>
            <a:r>
              <a:rPr lang="en-US" dirty="0"/>
              <a:t>Solution </a:t>
            </a:r>
          </a:p>
          <a:p>
            <a:r>
              <a:rPr lang="en-US" dirty="0"/>
              <a:t>Calculation of Economic service life for defender </a:t>
            </a:r>
          </a:p>
          <a:p>
            <a:r>
              <a:rPr lang="en-US" dirty="0"/>
              <a:t>The opportunity cost of the machine is Rs 5000. Because overhauling cost of Rs 1200 is also needed to machine operation, the total initial cost of machine is Rs 5000+Rs 1200 = Rs 6200</a:t>
            </a:r>
          </a:p>
          <a:p>
            <a:r>
              <a:rPr lang="en-US" dirty="0"/>
              <a:t>We can calculate the annual equivalent cost AEC if the defender is to be kept for one year, two years, three years and so forth with the following equation and diagram. </a:t>
            </a:r>
          </a:p>
          <a:p>
            <a:r>
              <a:rPr lang="en-US" dirty="0"/>
              <a:t>For first year </a:t>
            </a:r>
          </a:p>
          <a:p>
            <a:r>
              <a:rPr lang="en-US" dirty="0"/>
              <a:t>AEC15%  1 year </a:t>
            </a:r>
          </a:p>
          <a:p>
            <a:r>
              <a:rPr lang="en-US" dirty="0"/>
              <a:t>CR cost = 6200/ pvifa15%1 year – 3750 fvifa15%1 year  = 7130-3750=3380</a:t>
            </a:r>
          </a:p>
          <a:p>
            <a:r>
              <a:rPr lang="en-US" dirty="0"/>
              <a:t>OC cost = 2000/1.15  whole divide by </a:t>
            </a:r>
            <a:r>
              <a:rPr lang="en-US" dirty="0" err="1"/>
              <a:t>pvifa</a:t>
            </a:r>
            <a:r>
              <a:rPr lang="en-US" dirty="0"/>
              <a:t> 15% 1 year = 2000</a:t>
            </a:r>
          </a:p>
          <a:p>
            <a:r>
              <a:rPr lang="en-US" dirty="0"/>
              <a:t>AEC15% = 3380+2000= 5380</a:t>
            </a:r>
          </a:p>
          <a:p>
            <a:endParaRPr lang="en-CA" dirty="0"/>
          </a:p>
        </p:txBody>
      </p:sp>
    </p:spTree>
    <p:extLst>
      <p:ext uri="{BB962C8B-B14F-4D97-AF65-F5344CB8AC3E}">
        <p14:creationId xmlns:p14="http://schemas.microsoft.com/office/powerpoint/2010/main" val="220120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7C59-4B42-C04F-3255-D91FD66AA71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31D9A53-5184-D31C-12FC-5DB8B1ED90F2}"/>
              </a:ext>
            </a:extLst>
          </p:cNvPr>
          <p:cNvSpPr>
            <a:spLocks noGrp="1"/>
          </p:cNvSpPr>
          <p:nvPr>
            <p:ph idx="1"/>
          </p:nvPr>
        </p:nvSpPr>
        <p:spPr/>
        <p:txBody>
          <a:bodyPr>
            <a:normAutofit/>
          </a:bodyPr>
          <a:lstStyle/>
          <a:p>
            <a:r>
              <a:rPr lang="en-US" dirty="0"/>
              <a:t>For second year </a:t>
            </a:r>
          </a:p>
          <a:p>
            <a:r>
              <a:rPr lang="en-US" dirty="0"/>
              <a:t>AEC15% 2 year </a:t>
            </a:r>
          </a:p>
          <a:p>
            <a:r>
              <a:rPr lang="en-US" dirty="0"/>
              <a:t>CR cost 15% 2  year = 6200/ pvifa15% 2 years – 2812 / </a:t>
            </a:r>
            <a:r>
              <a:rPr lang="en-US" dirty="0" err="1"/>
              <a:t>fvifa</a:t>
            </a:r>
            <a:r>
              <a:rPr lang="en-US" dirty="0"/>
              <a:t> 15% 2 years = 2506</a:t>
            </a:r>
          </a:p>
          <a:p>
            <a:r>
              <a:rPr lang="en-US" dirty="0"/>
              <a:t>OC 15% 2 year =  2000/1.15 whole divided by pvifa15%2 years + 3500/1.15^2 whole divided by Pvifa15% 2 years =2697</a:t>
            </a:r>
          </a:p>
          <a:p>
            <a:r>
              <a:rPr lang="en-US" dirty="0"/>
              <a:t>AEC15% =2506+2697= 5203</a:t>
            </a:r>
          </a:p>
          <a:p>
            <a:endParaRPr lang="en-CA" dirty="0"/>
          </a:p>
        </p:txBody>
      </p:sp>
    </p:spTree>
    <p:extLst>
      <p:ext uri="{BB962C8B-B14F-4D97-AF65-F5344CB8AC3E}">
        <p14:creationId xmlns:p14="http://schemas.microsoft.com/office/powerpoint/2010/main" val="4262127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3226C-F426-472E-94FD-7E81EA1F46E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EE276F4-6E01-56AD-C2FC-3E239F7BEC58}"/>
              </a:ext>
            </a:extLst>
          </p:cNvPr>
          <p:cNvSpPr>
            <a:spLocks noGrp="1"/>
          </p:cNvSpPr>
          <p:nvPr>
            <p:ph idx="1"/>
          </p:nvPr>
        </p:nvSpPr>
        <p:spPr/>
        <p:txBody>
          <a:bodyPr>
            <a:normAutofit/>
          </a:bodyPr>
          <a:lstStyle/>
          <a:p>
            <a:r>
              <a:rPr lang="en-US" dirty="0"/>
              <a:t>For third year </a:t>
            </a:r>
          </a:p>
          <a:p>
            <a:r>
              <a:rPr lang="en-US" dirty="0"/>
              <a:t>By following above process we get  AEC for third year is 5468 </a:t>
            </a:r>
          </a:p>
          <a:p>
            <a:r>
              <a:rPr lang="en-US" dirty="0"/>
              <a:t>The AEC in third year is greater than second year, so the economic service life for defender is 2 year with AECD = 5203</a:t>
            </a:r>
          </a:p>
          <a:p>
            <a:r>
              <a:rPr lang="en-US" dirty="0"/>
              <a:t>Calculation of economic service life of challenger </a:t>
            </a:r>
          </a:p>
          <a:p>
            <a:r>
              <a:rPr lang="en-US" dirty="0"/>
              <a:t>The economic life of challenger can be determined with the following cash flow schedule and MARR=15%</a:t>
            </a:r>
          </a:p>
          <a:p>
            <a:endParaRPr lang="en-CA" dirty="0"/>
          </a:p>
        </p:txBody>
      </p:sp>
    </p:spTree>
    <p:extLst>
      <p:ext uri="{BB962C8B-B14F-4D97-AF65-F5344CB8AC3E}">
        <p14:creationId xmlns:p14="http://schemas.microsoft.com/office/powerpoint/2010/main" val="4207984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9FAA-535D-33F4-8FBC-7ADA6806A48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8C16E8D-BEBD-12F1-C5FB-88C176AED8FF}"/>
              </a:ext>
            </a:extLst>
          </p:cNvPr>
          <p:cNvSpPr>
            <a:spLocks noGrp="1"/>
          </p:cNvSpPr>
          <p:nvPr>
            <p:ph idx="1"/>
          </p:nvPr>
        </p:nvSpPr>
        <p:spPr/>
        <p:txBody>
          <a:bodyPr>
            <a:normAutofit/>
          </a:bodyPr>
          <a:lstStyle/>
          <a:p>
            <a:r>
              <a:rPr lang="en-US" dirty="0"/>
              <a:t>Construct the cash flow diagram for challenger </a:t>
            </a:r>
          </a:p>
          <a:p>
            <a:r>
              <a:rPr lang="en-US" dirty="0"/>
              <a:t>AEC for first year </a:t>
            </a:r>
          </a:p>
          <a:p>
            <a:r>
              <a:rPr lang="en-US" dirty="0"/>
              <a:t>CR cost = 10000/ pvifa15%1 year – 6000 fvifa15%1 year  = 11500-6000=5500</a:t>
            </a:r>
          </a:p>
          <a:p>
            <a:r>
              <a:rPr lang="en-US" dirty="0"/>
              <a:t>OC cost = 2200/1.15  whole divide by </a:t>
            </a:r>
            <a:r>
              <a:rPr lang="en-US" dirty="0" err="1"/>
              <a:t>pvifa</a:t>
            </a:r>
            <a:r>
              <a:rPr lang="en-US" dirty="0"/>
              <a:t> 15% 1 year = 2200</a:t>
            </a:r>
          </a:p>
          <a:p>
            <a:r>
              <a:rPr lang="en-US" dirty="0"/>
              <a:t>AEC15% = 5500+2200= 7700</a:t>
            </a:r>
          </a:p>
          <a:p>
            <a:endParaRPr lang="en-CA" dirty="0"/>
          </a:p>
        </p:txBody>
      </p:sp>
    </p:spTree>
    <p:extLst>
      <p:ext uri="{BB962C8B-B14F-4D97-AF65-F5344CB8AC3E}">
        <p14:creationId xmlns:p14="http://schemas.microsoft.com/office/powerpoint/2010/main" val="203411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DFF3-927A-3408-6856-7C9F2842A95E}"/>
              </a:ext>
            </a:extLst>
          </p:cNvPr>
          <p:cNvSpPr>
            <a:spLocks noGrp="1"/>
          </p:cNvSpPr>
          <p:nvPr>
            <p:ph type="title"/>
          </p:nvPr>
        </p:nvSpPr>
        <p:spPr/>
        <p:txBody>
          <a:bodyPr/>
          <a:lstStyle/>
          <a:p>
            <a:r>
              <a:rPr lang="en-US" dirty="0"/>
              <a:t> </a:t>
            </a:r>
            <a:endParaRPr lang="en-CA" dirty="0"/>
          </a:p>
        </p:txBody>
      </p:sp>
      <p:sp>
        <p:nvSpPr>
          <p:cNvPr id="3" name="Content Placeholder 2">
            <a:extLst>
              <a:ext uri="{FF2B5EF4-FFF2-40B4-BE49-F238E27FC236}">
                <a16:creationId xmlns:a16="http://schemas.microsoft.com/office/drawing/2014/main" id="{1152C50A-7263-B22B-25E1-2BBB2F8AB12C}"/>
              </a:ext>
            </a:extLst>
          </p:cNvPr>
          <p:cNvSpPr>
            <a:spLocks noGrp="1"/>
          </p:cNvSpPr>
          <p:nvPr>
            <p:ph idx="1"/>
          </p:nvPr>
        </p:nvSpPr>
        <p:spPr/>
        <p:txBody>
          <a:bodyPr>
            <a:normAutofit/>
          </a:bodyPr>
          <a:lstStyle/>
          <a:p>
            <a:r>
              <a:rPr lang="en-US" dirty="0"/>
              <a:t>AEC for second year </a:t>
            </a:r>
          </a:p>
          <a:p>
            <a:r>
              <a:rPr lang="en-US" dirty="0"/>
              <a:t>CR cost 15% 2  year = 10000/ pvifa15% 2 years – 5100 / </a:t>
            </a:r>
            <a:r>
              <a:rPr lang="en-US" dirty="0" err="1"/>
              <a:t>fvifa</a:t>
            </a:r>
            <a:r>
              <a:rPr lang="en-US" dirty="0"/>
              <a:t> 15% 2 years = 3779</a:t>
            </a:r>
          </a:p>
          <a:p>
            <a:r>
              <a:rPr lang="en-US" dirty="0"/>
              <a:t>OC 15% 2 year =  2200/1.15 whole divided by pvifa15%2 years + 2640/1.15^2 whole divided by Pvifa15% 2 years =2405</a:t>
            </a:r>
          </a:p>
          <a:p>
            <a:r>
              <a:rPr lang="en-US" dirty="0"/>
              <a:t>AEC15% =3779+2405= 6184</a:t>
            </a:r>
          </a:p>
          <a:p>
            <a:endParaRPr lang="en-CA" dirty="0"/>
          </a:p>
        </p:txBody>
      </p:sp>
    </p:spTree>
    <p:extLst>
      <p:ext uri="{BB962C8B-B14F-4D97-AF65-F5344CB8AC3E}">
        <p14:creationId xmlns:p14="http://schemas.microsoft.com/office/powerpoint/2010/main" val="1984669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A435A-601F-72E2-B415-A6269B3E633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AC9243E-D31A-AE66-D4EE-BEC771FBC8E9}"/>
              </a:ext>
            </a:extLst>
          </p:cNvPr>
          <p:cNvSpPr>
            <a:spLocks noGrp="1"/>
          </p:cNvSpPr>
          <p:nvPr>
            <p:ph idx="1"/>
          </p:nvPr>
        </p:nvSpPr>
        <p:spPr/>
        <p:txBody>
          <a:bodyPr>
            <a:normAutofit/>
          </a:bodyPr>
          <a:lstStyle/>
          <a:p>
            <a:r>
              <a:rPr lang="en-US" dirty="0"/>
              <a:t>By following same procedure as above </a:t>
            </a:r>
          </a:p>
          <a:p>
            <a:r>
              <a:rPr lang="en-US" dirty="0"/>
              <a:t>We get </a:t>
            </a:r>
          </a:p>
          <a:p>
            <a:r>
              <a:rPr lang="en-US" dirty="0"/>
              <a:t>At 3rd  year 5756</a:t>
            </a:r>
          </a:p>
          <a:p>
            <a:r>
              <a:rPr lang="en-US" dirty="0"/>
              <a:t>At 4th year 5625</a:t>
            </a:r>
          </a:p>
          <a:p>
            <a:r>
              <a:rPr lang="en-US" dirty="0"/>
              <a:t>At 5th year 5631</a:t>
            </a:r>
          </a:p>
          <a:p>
            <a:endParaRPr lang="en-CA" dirty="0"/>
          </a:p>
        </p:txBody>
      </p:sp>
    </p:spTree>
    <p:extLst>
      <p:ext uri="{BB962C8B-B14F-4D97-AF65-F5344CB8AC3E}">
        <p14:creationId xmlns:p14="http://schemas.microsoft.com/office/powerpoint/2010/main" val="35169825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E987C-E54A-25BD-B833-780ADA8552E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4BA8E4E-1B70-2BDE-7B34-DE999AF53471}"/>
              </a:ext>
            </a:extLst>
          </p:cNvPr>
          <p:cNvSpPr>
            <a:spLocks noGrp="1"/>
          </p:cNvSpPr>
          <p:nvPr>
            <p:ph idx="1"/>
          </p:nvPr>
        </p:nvSpPr>
        <p:spPr/>
        <p:txBody>
          <a:bodyPr>
            <a:normAutofit/>
          </a:bodyPr>
          <a:lstStyle/>
          <a:p>
            <a:r>
              <a:rPr lang="en-US" dirty="0"/>
              <a:t>Since it started to increase the cost from 5th year, we don’t have to calculate the further. </a:t>
            </a:r>
          </a:p>
          <a:p>
            <a:r>
              <a:rPr lang="en-US" dirty="0"/>
              <a:t>From the above calculation, the economics life of the challenger is 4 years with AEC= 5625</a:t>
            </a:r>
          </a:p>
          <a:p>
            <a:r>
              <a:rPr lang="en-US" dirty="0"/>
              <a:t>Since AEC of defender =5203 is less than AEC of challenger = 5625, the defender should not be replaced for now. If there are no technological advances in the few years, the defender should be used for at least 2 more years. It depends on what type of challenger would be available in the future. </a:t>
            </a:r>
          </a:p>
          <a:p>
            <a:endParaRPr lang="en-CA" dirty="0"/>
          </a:p>
        </p:txBody>
      </p:sp>
    </p:spTree>
    <p:extLst>
      <p:ext uri="{BB962C8B-B14F-4D97-AF65-F5344CB8AC3E}">
        <p14:creationId xmlns:p14="http://schemas.microsoft.com/office/powerpoint/2010/main" val="3054576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2CBD-3C29-259F-B83E-EFD92E036D2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6352524-0F7C-FDC4-7FA3-36C5EAFA72F2}"/>
              </a:ext>
            </a:extLst>
          </p:cNvPr>
          <p:cNvSpPr>
            <a:spLocks noGrp="1"/>
          </p:cNvSpPr>
          <p:nvPr>
            <p:ph idx="1"/>
          </p:nvPr>
        </p:nvSpPr>
        <p:spPr/>
        <p:txBody>
          <a:bodyPr>
            <a:normAutofit/>
          </a:bodyPr>
          <a:lstStyle/>
          <a:p>
            <a:r>
              <a:rPr lang="en-US" dirty="0"/>
              <a:t>When should the defender be replaced?</a:t>
            </a:r>
          </a:p>
          <a:p>
            <a:r>
              <a:rPr lang="en-US" dirty="0"/>
              <a:t>If we need to find the answer to this question at present, we have to calculate the cost of keeping and using the defender for the third year from toady. For this </a:t>
            </a:r>
          </a:p>
          <a:p>
            <a:r>
              <a:rPr lang="en-US" dirty="0"/>
              <a:t>-	Opportunity cost at the end of year = market or salvage value of defender at the end of year 2 = 2813</a:t>
            </a:r>
          </a:p>
          <a:p>
            <a:r>
              <a:rPr lang="en-US" dirty="0"/>
              <a:t>-	Operation cost for the third year = 2000+1500+1500= 5000</a:t>
            </a:r>
          </a:p>
          <a:p>
            <a:r>
              <a:rPr lang="en-US" dirty="0"/>
              <a:t>-	Salvage value at the end of third year 2109</a:t>
            </a:r>
          </a:p>
          <a:p>
            <a:endParaRPr lang="en-CA" dirty="0"/>
          </a:p>
        </p:txBody>
      </p:sp>
    </p:spTree>
    <p:extLst>
      <p:ext uri="{BB962C8B-B14F-4D97-AF65-F5344CB8AC3E}">
        <p14:creationId xmlns:p14="http://schemas.microsoft.com/office/powerpoint/2010/main" val="2285966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5850A-28BF-375B-790F-93ADA158716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977160E-AA83-2463-D650-61E60AA3C4E6}"/>
              </a:ext>
            </a:extLst>
          </p:cNvPr>
          <p:cNvSpPr>
            <a:spLocks noGrp="1"/>
          </p:cNvSpPr>
          <p:nvPr>
            <p:ph idx="1"/>
          </p:nvPr>
        </p:nvSpPr>
        <p:spPr/>
        <p:txBody>
          <a:bodyPr>
            <a:normAutofit lnSpcReduction="10000"/>
          </a:bodyPr>
          <a:lstStyle/>
          <a:p>
            <a:r>
              <a:rPr lang="en-US" dirty="0"/>
              <a:t>Hence, the cost of using the defender for one more year from the end of its economic life is </a:t>
            </a:r>
          </a:p>
          <a:p>
            <a:r>
              <a:rPr lang="en-US" dirty="0"/>
              <a:t>2813x1.15+5000-2109= 6126 which is greater than 5625  </a:t>
            </a:r>
            <a:r>
              <a:rPr lang="en-US" dirty="0" err="1"/>
              <a:t>ie</a:t>
            </a:r>
            <a:r>
              <a:rPr lang="en-US" dirty="0"/>
              <a:t> AECC . </a:t>
            </a:r>
          </a:p>
          <a:p>
            <a:r>
              <a:rPr lang="en-US" dirty="0"/>
              <a:t>Since AECC = 5625, it is more expensive to keep the defender for the third year than to replace it with the challenger. </a:t>
            </a:r>
          </a:p>
          <a:p>
            <a:endParaRPr lang="en-US" dirty="0"/>
          </a:p>
          <a:p>
            <a:r>
              <a:rPr lang="en-US" dirty="0"/>
              <a:t>Accordingly, we conclude that we should replace the defender at the end of year 2. If the third-year cost of defender is still smaller than AECC we need to calculate the cost of using defender foe the fourth year and then compare it with the AECC of the challenger </a:t>
            </a:r>
          </a:p>
          <a:p>
            <a:endParaRPr lang="en-CA" dirty="0"/>
          </a:p>
        </p:txBody>
      </p:sp>
    </p:spTree>
    <p:extLst>
      <p:ext uri="{BB962C8B-B14F-4D97-AF65-F5344CB8AC3E}">
        <p14:creationId xmlns:p14="http://schemas.microsoft.com/office/powerpoint/2010/main" val="18676551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2FDA7-E2C4-A018-6BD0-950696FD838D}"/>
              </a:ext>
            </a:extLst>
          </p:cNvPr>
          <p:cNvSpPr>
            <a:spLocks noGrp="1"/>
          </p:cNvSpPr>
          <p:nvPr>
            <p:ph type="ctrTitle"/>
          </p:nvPr>
        </p:nvSpPr>
        <p:spPr>
          <a:xfrm>
            <a:off x="1524000" y="211395"/>
            <a:ext cx="9144000" cy="329380"/>
          </a:xfrm>
        </p:spPr>
        <p:txBody>
          <a:bodyPr>
            <a:normAutofit fontScale="90000"/>
          </a:bodyPr>
          <a:lstStyle/>
          <a:p>
            <a:endParaRPr lang="en-US" dirty="0"/>
          </a:p>
        </p:txBody>
      </p:sp>
      <p:sp>
        <p:nvSpPr>
          <p:cNvPr id="3" name="Subtitle 2">
            <a:extLst>
              <a:ext uri="{FF2B5EF4-FFF2-40B4-BE49-F238E27FC236}">
                <a16:creationId xmlns:a16="http://schemas.microsoft.com/office/drawing/2014/main" id="{2BA8A971-51F9-515F-DEE4-5FB56C5D92B8}"/>
              </a:ext>
            </a:extLst>
          </p:cNvPr>
          <p:cNvSpPr>
            <a:spLocks noGrp="1"/>
          </p:cNvSpPr>
          <p:nvPr>
            <p:ph type="subTitle" idx="1"/>
          </p:nvPr>
        </p:nvSpPr>
        <p:spPr>
          <a:xfrm>
            <a:off x="216309" y="2104104"/>
            <a:ext cx="11720051" cy="4542502"/>
          </a:xfrm>
        </p:spPr>
        <p:txBody>
          <a:bodyPr>
            <a:normAutofit/>
          </a:bodyPr>
          <a:lstStyle/>
          <a:p>
            <a:pPr algn="just"/>
            <a:r>
              <a:rPr lang="en-US" sz="3600" b="1" dirty="0"/>
              <a:t>Replacement analysis under the finite planning horizon</a:t>
            </a:r>
          </a:p>
          <a:p>
            <a:pPr algn="just"/>
            <a:r>
              <a:rPr lang="en-US" sz="3600" dirty="0"/>
              <a:t>If the planning period is finite </a:t>
            </a:r>
            <a:r>
              <a:rPr lang="en-US" sz="3600" dirty="0" err="1"/>
              <a:t>ie</a:t>
            </a:r>
            <a:r>
              <a:rPr lang="en-US" sz="3600" dirty="0"/>
              <a:t> fixed and specified, a comparison with AEC method over the economic service life does not generally apply. In such cases there is to establish all reasonable replacement patterns and then use PW value for the planning period to select the most economical pattern </a:t>
            </a:r>
          </a:p>
        </p:txBody>
      </p:sp>
    </p:spTree>
    <p:extLst>
      <p:ext uri="{BB962C8B-B14F-4D97-AF65-F5344CB8AC3E}">
        <p14:creationId xmlns:p14="http://schemas.microsoft.com/office/powerpoint/2010/main" val="13927920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101D-4A00-5D0D-FD2F-5312B3DE962B}"/>
              </a:ext>
            </a:extLst>
          </p:cNvPr>
          <p:cNvSpPr>
            <a:spLocks noGrp="1"/>
          </p:cNvSpPr>
          <p:nvPr>
            <p:ph type="title"/>
          </p:nvPr>
        </p:nvSpPr>
        <p:spPr>
          <a:xfrm>
            <a:off x="838200" y="365126"/>
            <a:ext cx="10515600" cy="315912"/>
          </a:xfrm>
        </p:spPr>
        <p:txBody>
          <a:bodyPr>
            <a:normAutofit fontScale="90000"/>
          </a:bodyPr>
          <a:lstStyle/>
          <a:p>
            <a:endParaRPr lang="en-US" dirty="0"/>
          </a:p>
        </p:txBody>
      </p:sp>
      <p:pic>
        <p:nvPicPr>
          <p:cNvPr id="5" name="Content Placeholder 4">
            <a:extLst>
              <a:ext uri="{FF2B5EF4-FFF2-40B4-BE49-F238E27FC236}">
                <a16:creationId xmlns:a16="http://schemas.microsoft.com/office/drawing/2014/main" id="{C81D124A-B673-0EBC-AB57-0D29C6BABB0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986" y="681038"/>
            <a:ext cx="11847871" cy="6176962"/>
          </a:xfrm>
          <a:prstGeom prst="rect">
            <a:avLst/>
          </a:prstGeom>
          <a:noFill/>
          <a:ln>
            <a:noFill/>
          </a:ln>
        </p:spPr>
      </p:pic>
    </p:spTree>
    <p:extLst>
      <p:ext uri="{BB962C8B-B14F-4D97-AF65-F5344CB8AC3E}">
        <p14:creationId xmlns:p14="http://schemas.microsoft.com/office/powerpoint/2010/main" val="3017533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7E669-728D-D852-63D1-019DCD0B958C}"/>
              </a:ext>
            </a:extLst>
          </p:cNvPr>
          <p:cNvSpPr>
            <a:spLocks noGrp="1"/>
          </p:cNvSpPr>
          <p:nvPr>
            <p:ph type="title"/>
          </p:nvPr>
        </p:nvSpPr>
        <p:spPr>
          <a:xfrm>
            <a:off x="838200" y="365126"/>
            <a:ext cx="10515600" cy="315912"/>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46FEB7ED-4FDB-41A6-1DE1-C174EA009CB1}"/>
              </a:ext>
            </a:extLst>
          </p:cNvPr>
          <p:cNvPicPr>
            <a:picLocks noGrp="1" noChangeAspect="1"/>
          </p:cNvPicPr>
          <p:nvPr>
            <p:ph idx="1"/>
          </p:nvPr>
        </p:nvPicPr>
        <p:blipFill>
          <a:blip r:embed="rId2"/>
          <a:stretch>
            <a:fillRect/>
          </a:stretch>
        </p:blipFill>
        <p:spPr>
          <a:xfrm>
            <a:off x="838201" y="825910"/>
            <a:ext cx="9677399" cy="5666964"/>
          </a:xfrm>
          <a:prstGeom prst="rect">
            <a:avLst/>
          </a:prstGeom>
        </p:spPr>
      </p:pic>
    </p:spTree>
    <p:extLst>
      <p:ext uri="{BB962C8B-B14F-4D97-AF65-F5344CB8AC3E}">
        <p14:creationId xmlns:p14="http://schemas.microsoft.com/office/powerpoint/2010/main" val="4193382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AFEA-6CA4-F398-A4BC-560416B707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F06342-14FE-3F1A-4A81-D3597F52068B}"/>
              </a:ext>
            </a:extLst>
          </p:cNvPr>
          <p:cNvSpPr>
            <a:spLocks noGrp="1"/>
          </p:cNvSpPr>
          <p:nvPr>
            <p:ph idx="1"/>
          </p:nvPr>
        </p:nvSpPr>
        <p:spPr/>
        <p:txBody>
          <a:bodyPr/>
          <a:lstStyle/>
          <a:p>
            <a:r>
              <a:rPr lang="en-US" dirty="0"/>
              <a:t>When we compare PW(10%) of different strategies, the minimum PW is derived by strategy -3. Hence, the best replacement strategy would be (j0,2), (j,4),(j,2) where PW(10%)= Rs 3014844</a:t>
            </a:r>
          </a:p>
        </p:txBody>
      </p:sp>
    </p:spTree>
    <p:extLst>
      <p:ext uri="{BB962C8B-B14F-4D97-AF65-F5344CB8AC3E}">
        <p14:creationId xmlns:p14="http://schemas.microsoft.com/office/powerpoint/2010/main" val="32237030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70DDF-5404-90E4-ACCC-CCCB86CB171A}"/>
              </a:ext>
            </a:extLst>
          </p:cNvPr>
          <p:cNvSpPr>
            <a:spLocks noGrp="1"/>
          </p:cNvSpPr>
          <p:nvPr>
            <p:ph type="title"/>
          </p:nvPr>
        </p:nvSpPr>
        <p:spPr>
          <a:xfrm>
            <a:off x="838200" y="365126"/>
            <a:ext cx="10515600" cy="315912"/>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74522A13-1C4D-A934-4E9A-A89AFA5FE3D7}"/>
              </a:ext>
            </a:extLst>
          </p:cNvPr>
          <p:cNvPicPr>
            <a:picLocks noGrp="1" noChangeAspect="1"/>
          </p:cNvPicPr>
          <p:nvPr>
            <p:ph idx="1"/>
          </p:nvPr>
        </p:nvPicPr>
        <p:blipFill>
          <a:blip r:embed="rId2"/>
          <a:stretch>
            <a:fillRect/>
          </a:stretch>
        </p:blipFill>
        <p:spPr>
          <a:xfrm>
            <a:off x="1337187" y="796412"/>
            <a:ext cx="10515599" cy="6061587"/>
          </a:xfrm>
          <a:prstGeom prst="rect">
            <a:avLst/>
          </a:prstGeom>
        </p:spPr>
      </p:pic>
    </p:spTree>
    <p:extLst>
      <p:ext uri="{BB962C8B-B14F-4D97-AF65-F5344CB8AC3E}">
        <p14:creationId xmlns:p14="http://schemas.microsoft.com/office/powerpoint/2010/main" val="2506599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8A262-165D-CA67-8D79-5F6E3B165B01}"/>
              </a:ext>
            </a:extLst>
          </p:cNvPr>
          <p:cNvSpPr>
            <a:spLocks noGrp="1"/>
          </p:cNvSpPr>
          <p:nvPr>
            <p:ph type="title"/>
          </p:nvPr>
        </p:nvSpPr>
        <p:spPr>
          <a:xfrm>
            <a:off x="838200" y="365126"/>
            <a:ext cx="10515600" cy="121572"/>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2C0C0838-CF45-8769-BA5B-4A29269D1703}"/>
              </a:ext>
            </a:extLst>
          </p:cNvPr>
          <p:cNvPicPr>
            <a:picLocks noGrp="1" noChangeAspect="1"/>
          </p:cNvPicPr>
          <p:nvPr>
            <p:ph idx="1"/>
          </p:nvPr>
        </p:nvPicPr>
        <p:blipFill>
          <a:blip r:embed="rId2"/>
          <a:stretch>
            <a:fillRect/>
          </a:stretch>
        </p:blipFill>
        <p:spPr>
          <a:xfrm>
            <a:off x="2359743" y="486698"/>
            <a:ext cx="7816644" cy="6533534"/>
          </a:xfrm>
          <a:prstGeom prst="rect">
            <a:avLst/>
          </a:prstGeom>
        </p:spPr>
      </p:pic>
    </p:spTree>
    <p:extLst>
      <p:ext uri="{BB962C8B-B14F-4D97-AF65-F5344CB8AC3E}">
        <p14:creationId xmlns:p14="http://schemas.microsoft.com/office/powerpoint/2010/main" val="31515208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E760E-5496-8B42-3449-C83B21446DD1}"/>
              </a:ext>
            </a:extLst>
          </p:cNvPr>
          <p:cNvSpPr>
            <a:spLocks noGrp="1"/>
          </p:cNvSpPr>
          <p:nvPr>
            <p:ph type="title"/>
          </p:nvPr>
        </p:nvSpPr>
        <p:spPr>
          <a:xfrm>
            <a:off x="838200" y="545689"/>
            <a:ext cx="10515600" cy="24069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792231EB-710C-3E22-DC6B-73AE6F347A53}"/>
              </a:ext>
            </a:extLst>
          </p:cNvPr>
          <p:cNvPicPr>
            <a:picLocks noGrp="1" noChangeAspect="1"/>
          </p:cNvPicPr>
          <p:nvPr>
            <p:ph idx="1"/>
          </p:nvPr>
        </p:nvPicPr>
        <p:blipFill>
          <a:blip r:embed="rId2"/>
          <a:stretch>
            <a:fillRect/>
          </a:stretch>
        </p:blipFill>
        <p:spPr>
          <a:xfrm>
            <a:off x="1188720" y="941832"/>
            <a:ext cx="9902952" cy="5650697"/>
          </a:xfrm>
          <a:prstGeom prst="rect">
            <a:avLst/>
          </a:prstGeom>
        </p:spPr>
      </p:pic>
    </p:spTree>
    <p:extLst>
      <p:ext uri="{BB962C8B-B14F-4D97-AF65-F5344CB8AC3E}">
        <p14:creationId xmlns:p14="http://schemas.microsoft.com/office/powerpoint/2010/main" val="4009865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841</TotalTime>
  <Words>3561</Words>
  <Application>Microsoft Office PowerPoint</Application>
  <PresentationFormat>Widescreen</PresentationFormat>
  <Paragraphs>202</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Calibri Light</vt:lpstr>
      <vt:lpstr>Office Theme</vt:lpstr>
      <vt:lpstr>Replacement Analysis </vt:lpstr>
      <vt:lpstr>PowerPoint Presentation</vt:lpstr>
      <vt:lpstr>PowerPoint Presentation</vt:lpstr>
      <vt:lpstr>PowerPoint Presentation</vt:lpstr>
      <vt:lpstr>PowerPoint Presentation</vt:lpstr>
      <vt:lpstr>PowerPoint Presentation</vt:lpstr>
      <vt:lpstr>Meaning of Defender and Challenger  </vt:lpstr>
      <vt:lpstr>PowerPoint Presentation</vt:lpstr>
      <vt:lpstr>PowerPoint Presentation</vt:lpstr>
      <vt:lpstr>Opportunity cost approach for replacement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Decision framework </vt:lpstr>
      <vt:lpstr>PowerPoint Presentation</vt:lpstr>
      <vt:lpstr>PowerPoint Presentation</vt:lpstr>
      <vt:lpstr>PowerPoint Presentation</vt:lpstr>
      <vt:lpstr>PowerPoint Presentation</vt:lpstr>
      <vt:lpstr>Example: an electrical company is considering replacing the old machine with newer one for it.  </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Sulav Cooperative</cp:lastModifiedBy>
  <cp:revision>24</cp:revision>
  <dcterms:created xsi:type="dcterms:W3CDTF">2024-07-27T07:27:36Z</dcterms:created>
  <dcterms:modified xsi:type="dcterms:W3CDTF">2026-02-05T11:36:30Z</dcterms:modified>
</cp:coreProperties>
</file>