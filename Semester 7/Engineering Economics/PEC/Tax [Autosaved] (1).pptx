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7"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6050-665E-B2B2-8A3F-945E5C8646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5C4306-8BF4-3BA4-13DE-7F2FC567FD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9F0804-6834-B12A-57CA-9D6117E528DB}"/>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5" name="Footer Placeholder 4">
            <a:extLst>
              <a:ext uri="{FF2B5EF4-FFF2-40B4-BE49-F238E27FC236}">
                <a16:creationId xmlns:a16="http://schemas.microsoft.com/office/drawing/2014/main" id="{EFE2AE84-6D13-73B0-DBDA-9761AA7C05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FD65-0F3E-D79B-33BA-AC0673FE4875}"/>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2194970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42652-F84E-7FCB-9CF3-F4BEB7E8AD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9C58F2-3770-C65E-2C05-902C75833B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AB136-3A1D-9CAE-BEED-D1A402E8E13F}"/>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5" name="Footer Placeholder 4">
            <a:extLst>
              <a:ext uri="{FF2B5EF4-FFF2-40B4-BE49-F238E27FC236}">
                <a16:creationId xmlns:a16="http://schemas.microsoft.com/office/drawing/2014/main" id="{ECC673F8-DFF2-6DA5-4D22-FBA41804A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E40651-719D-7618-690A-47EB6CDCC22D}"/>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1278874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A2BCA-DFC7-1B36-DF79-E3E2294A2B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796304-B975-3B0B-7BDF-F9E6851C3F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90F09B-7B5E-C023-A8E1-DBC8089B7BEF}"/>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5" name="Footer Placeholder 4">
            <a:extLst>
              <a:ext uri="{FF2B5EF4-FFF2-40B4-BE49-F238E27FC236}">
                <a16:creationId xmlns:a16="http://schemas.microsoft.com/office/drawing/2014/main" id="{75F6DE45-4901-A88E-470B-6EC714A002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D1D9F8-80B3-3F90-4F74-ADED56BC2877}"/>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2639934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5F098-B679-3DC0-834C-919826B302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3456B8-8E7B-A076-FB9D-938C0600FD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1B5B59-4595-65A3-6E47-2C5B8E4A1D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CF66F2-24A8-A6CD-D8E8-EFFB96FA62A9}"/>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6" name="Footer Placeholder 5">
            <a:extLst>
              <a:ext uri="{FF2B5EF4-FFF2-40B4-BE49-F238E27FC236}">
                <a16:creationId xmlns:a16="http://schemas.microsoft.com/office/drawing/2014/main" id="{F3014199-9F51-53B4-3FF8-F40C12D1CF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FC97FF-24D9-3CED-EEEF-75DD6CCDB876}"/>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3258264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7DC3-ADAF-FB14-589B-76963EAD4D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479488-F2C1-A132-B1CE-60C7B192E1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2EC737-95F9-F6C2-C0F5-20C1231042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BBCE4A-C6BC-087A-4DB1-84C49A3F05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5ECAB4-12C6-2232-6F61-5B3B3C958B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6F3AE7-B5F2-E016-80BA-A340FB98FFFF}"/>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8" name="Footer Placeholder 7">
            <a:extLst>
              <a:ext uri="{FF2B5EF4-FFF2-40B4-BE49-F238E27FC236}">
                <a16:creationId xmlns:a16="http://schemas.microsoft.com/office/drawing/2014/main" id="{57C8A10A-E508-A828-E704-14DB1B0255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62DD47-D037-CA5D-C36B-24CF6E81F043}"/>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1326249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9F07-83D9-F1FF-7D3E-E7A40C5AE6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5DF059-A671-A7CB-AF21-D1DF2BA81905}"/>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4" name="Footer Placeholder 3">
            <a:extLst>
              <a:ext uri="{FF2B5EF4-FFF2-40B4-BE49-F238E27FC236}">
                <a16:creationId xmlns:a16="http://schemas.microsoft.com/office/drawing/2014/main" id="{9F02089D-DBA2-B90D-547C-0C061C2098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223F6E-BD02-8C6A-6885-B8C766D824A5}"/>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62278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909FE4-6D00-5928-B199-822EB598D9C1}"/>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3" name="Footer Placeholder 2">
            <a:extLst>
              <a:ext uri="{FF2B5EF4-FFF2-40B4-BE49-F238E27FC236}">
                <a16:creationId xmlns:a16="http://schemas.microsoft.com/office/drawing/2014/main" id="{686A52A8-ACD1-3AE2-155A-F88D7E5E5A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FD07A3-CD91-B81D-F9F9-BB02D8F68FCF}"/>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409410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9637D-7FDD-5C00-6FCF-A1477535D6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9F48F9-C1E0-6121-16D1-F22B7DD94B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65D9BA-288A-F744-0B20-A375A723E6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743F5-F045-6711-8031-1A84329E7FBE}"/>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6" name="Footer Placeholder 5">
            <a:extLst>
              <a:ext uri="{FF2B5EF4-FFF2-40B4-BE49-F238E27FC236}">
                <a16:creationId xmlns:a16="http://schemas.microsoft.com/office/drawing/2014/main" id="{132334F2-A5B6-914A-AA03-8ADB10EFBB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B426E5-2EBF-5C85-DD03-9AE3D3C634BE}"/>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1778479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8D571-AE1B-299D-0C13-324F45D1DB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656E7B-F0B9-8C43-D4C0-75E396C50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56E655-7AD1-E663-EC15-165FB3A6A7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064935-1EE5-C4CB-FB97-9C96194CB8A4}"/>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6" name="Footer Placeholder 5">
            <a:extLst>
              <a:ext uri="{FF2B5EF4-FFF2-40B4-BE49-F238E27FC236}">
                <a16:creationId xmlns:a16="http://schemas.microsoft.com/office/drawing/2014/main" id="{15B7FF3D-E841-F938-FB76-F48080C285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8979A-D201-0DC4-CA1A-29A48C412715}"/>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1378652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C855E-B018-1CA0-E31D-154B6359DF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67AF02-758B-79C7-4BCC-E81DAC3145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59B7FD-52B6-9131-EF54-AB91E60EF2A7}"/>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5" name="Footer Placeholder 4">
            <a:extLst>
              <a:ext uri="{FF2B5EF4-FFF2-40B4-BE49-F238E27FC236}">
                <a16:creationId xmlns:a16="http://schemas.microsoft.com/office/drawing/2014/main" id="{96CDBCDA-2066-C939-FA57-458B24E6B4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1BE683-415F-0E4A-F9A8-CEA2CA930117}"/>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1169731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66DAF5-ED46-3D87-D295-C443E494AD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5A78AE-BA15-6714-06A3-B52EFDAC7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F958F-0B3E-1980-7BA3-FC2355D8F672}"/>
              </a:ext>
            </a:extLst>
          </p:cNvPr>
          <p:cNvSpPr>
            <a:spLocks noGrp="1"/>
          </p:cNvSpPr>
          <p:nvPr>
            <p:ph type="dt" sz="half" idx="10"/>
          </p:nvPr>
        </p:nvSpPr>
        <p:spPr/>
        <p:txBody>
          <a:bodyPr/>
          <a:lstStyle/>
          <a:p>
            <a:fld id="{99D8D558-79FE-40FC-B8BB-B73DA67B6C69}" type="datetimeFigureOut">
              <a:rPr lang="en-US" smtClean="0"/>
              <a:t>6/24/2025</a:t>
            </a:fld>
            <a:endParaRPr lang="en-US"/>
          </a:p>
        </p:txBody>
      </p:sp>
      <p:sp>
        <p:nvSpPr>
          <p:cNvPr id="5" name="Footer Placeholder 4">
            <a:extLst>
              <a:ext uri="{FF2B5EF4-FFF2-40B4-BE49-F238E27FC236}">
                <a16:creationId xmlns:a16="http://schemas.microsoft.com/office/drawing/2014/main" id="{BD0008E9-B32E-0608-6B88-C14F8BEB89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B5E0B4-506B-D060-C201-A0322D43061F}"/>
              </a:ext>
            </a:extLst>
          </p:cNvPr>
          <p:cNvSpPr>
            <a:spLocks noGrp="1"/>
          </p:cNvSpPr>
          <p:nvPr>
            <p:ph type="sldNum" sz="quarter" idx="12"/>
          </p:nvPr>
        </p:nvSpPr>
        <p:spPr/>
        <p:txBody>
          <a:bodyPr/>
          <a:lstStyle/>
          <a:p>
            <a:fld id="{B208E580-FD04-4A0B-9E3E-E62788AC6EC0}" type="slidenum">
              <a:rPr lang="en-US" smtClean="0"/>
              <a:t>‹#›</a:t>
            </a:fld>
            <a:endParaRPr lang="en-US"/>
          </a:p>
        </p:txBody>
      </p:sp>
    </p:spTree>
    <p:extLst>
      <p:ext uri="{BB962C8B-B14F-4D97-AF65-F5344CB8AC3E}">
        <p14:creationId xmlns:p14="http://schemas.microsoft.com/office/powerpoint/2010/main" val="2681402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6BA6B-87D1-B591-A293-8EEE236DD4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5ECF18-A109-4787-3E29-4908DCFBE2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4D2B5-9C7D-02E4-ACEC-5972F4968C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D8D558-79FE-40FC-B8BB-B73DA67B6C69}" type="datetimeFigureOut">
              <a:rPr lang="en-US" smtClean="0"/>
              <a:t>6/24/2025</a:t>
            </a:fld>
            <a:endParaRPr lang="en-US"/>
          </a:p>
        </p:txBody>
      </p:sp>
      <p:sp>
        <p:nvSpPr>
          <p:cNvPr id="5" name="Footer Placeholder 4">
            <a:extLst>
              <a:ext uri="{FF2B5EF4-FFF2-40B4-BE49-F238E27FC236}">
                <a16:creationId xmlns:a16="http://schemas.microsoft.com/office/drawing/2014/main" id="{007CA679-E44F-6DCE-3F93-557661F09E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1A11DA-9268-B4FB-16C1-B6E7043F17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8E580-FD04-4A0B-9E3E-E62788AC6EC0}" type="slidenum">
              <a:rPr lang="en-US" smtClean="0"/>
              <a:t>‹#›</a:t>
            </a:fld>
            <a:endParaRPr lang="en-US"/>
          </a:p>
        </p:txBody>
      </p:sp>
    </p:spTree>
    <p:extLst>
      <p:ext uri="{BB962C8B-B14F-4D97-AF65-F5344CB8AC3E}">
        <p14:creationId xmlns:p14="http://schemas.microsoft.com/office/powerpoint/2010/main" val="3464037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F1FD-E2BD-1EFD-E52B-7C2FD63594D6}"/>
              </a:ext>
            </a:extLst>
          </p:cNvPr>
          <p:cNvSpPr>
            <a:spLocks noGrp="1"/>
          </p:cNvSpPr>
          <p:nvPr>
            <p:ph type="ctrTitle"/>
          </p:nvPr>
        </p:nvSpPr>
        <p:spPr/>
        <p:txBody>
          <a:bodyPr/>
          <a:lstStyle/>
          <a:p>
            <a:r>
              <a:rPr lang="en-US" dirty="0"/>
              <a:t>Tax </a:t>
            </a:r>
          </a:p>
        </p:txBody>
      </p:sp>
      <p:sp>
        <p:nvSpPr>
          <p:cNvPr id="3" name="Subtitle 2">
            <a:extLst>
              <a:ext uri="{FF2B5EF4-FFF2-40B4-BE49-F238E27FC236}">
                <a16:creationId xmlns:a16="http://schemas.microsoft.com/office/drawing/2014/main" id="{A8A07973-E340-BF1A-9AA7-B2F17F2E33A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3344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A8BD4-0EB2-BC5A-EBF6-A2A734136A59}"/>
              </a:ext>
            </a:extLst>
          </p:cNvPr>
          <p:cNvSpPr>
            <a:spLocks noGrp="1"/>
          </p:cNvSpPr>
          <p:nvPr>
            <p:ph type="title"/>
          </p:nvPr>
        </p:nvSpPr>
        <p:spPr/>
        <p:txBody>
          <a:bodyPr/>
          <a:lstStyle/>
          <a:p>
            <a:r>
              <a:rPr lang="en-US" dirty="0"/>
              <a:t>Meaning of Tax </a:t>
            </a:r>
          </a:p>
        </p:txBody>
      </p:sp>
      <p:sp>
        <p:nvSpPr>
          <p:cNvPr id="3" name="Content Placeholder 2">
            <a:extLst>
              <a:ext uri="{FF2B5EF4-FFF2-40B4-BE49-F238E27FC236}">
                <a16:creationId xmlns:a16="http://schemas.microsoft.com/office/drawing/2014/main" id="{832EB4E9-B4CC-2609-60AD-1BD167D8F09D}"/>
              </a:ext>
            </a:extLst>
          </p:cNvPr>
          <p:cNvSpPr>
            <a:spLocks noGrp="1"/>
          </p:cNvSpPr>
          <p:nvPr>
            <p:ph idx="1"/>
          </p:nvPr>
        </p:nvSpPr>
        <p:spPr/>
        <p:txBody>
          <a:bodyPr>
            <a:normAutofit fontScale="85000" lnSpcReduction="10000"/>
          </a:bodyPr>
          <a:lstStyle/>
          <a:p>
            <a:r>
              <a:rPr lang="en-US" dirty="0"/>
              <a:t>In general, tax can be defined as a levy or other type of financial charge or fee imposed by state or central government on legal entities or individuals. It is a compulsory levy form individuals, households, and firms to central or local government. It is a kind of money of which it is levied on income, property and even at the time of purchasing a commodity. Tax is computed and paid as prescribed in the law. If a person defies the tax payment; he or she may be punished in the court of law. </a:t>
            </a:r>
          </a:p>
          <a:p>
            <a:r>
              <a:rPr lang="en-US" dirty="0"/>
              <a:t>In other words, tax is as compulsory contribution or payment to government by the people and institution without any expectation of direct benefit. Hence, tax payer does not get any definite and direct benefit against the payment of tax. Tax is a major part of public revenue sources. It is neither as borrowing/ loan nor a grant. Similarly, it is not any fee or fine or price undertaken by the government. They are imposed upon all those people who are able to pay or earn, who owns property, who does consume or expense. </a:t>
            </a:r>
          </a:p>
          <a:p>
            <a:endParaRPr lang="en-US" dirty="0"/>
          </a:p>
        </p:txBody>
      </p:sp>
    </p:spTree>
    <p:extLst>
      <p:ext uri="{BB962C8B-B14F-4D97-AF65-F5344CB8AC3E}">
        <p14:creationId xmlns:p14="http://schemas.microsoft.com/office/powerpoint/2010/main" val="3395312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24329-E285-56F9-7250-829AB6B71A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D1F741-4B50-9EED-B7B0-F9A80D811C12}"/>
              </a:ext>
            </a:extLst>
          </p:cNvPr>
          <p:cNvSpPr>
            <a:spLocks noGrp="1"/>
          </p:cNvSpPr>
          <p:nvPr>
            <p:ph idx="1"/>
          </p:nvPr>
        </p:nvSpPr>
        <p:spPr/>
        <p:txBody>
          <a:bodyPr>
            <a:normAutofit/>
          </a:bodyPr>
          <a:lstStyle/>
          <a:p>
            <a:r>
              <a:rPr lang="en-US" dirty="0"/>
              <a:t>Some future of tax </a:t>
            </a:r>
          </a:p>
          <a:p>
            <a:r>
              <a:rPr lang="en-US" dirty="0"/>
              <a:t>Tax is a compulsory payment</a:t>
            </a:r>
          </a:p>
          <a:p>
            <a:r>
              <a:rPr lang="en-US" dirty="0"/>
              <a:t>People do not receive direct benefit from tax</a:t>
            </a:r>
          </a:p>
          <a:p>
            <a:r>
              <a:rPr lang="en-US" dirty="0"/>
              <a:t>The fund raised form tax is spent on public welfare. </a:t>
            </a:r>
          </a:p>
          <a:p>
            <a:endParaRPr lang="en-US" dirty="0"/>
          </a:p>
        </p:txBody>
      </p:sp>
    </p:spTree>
    <p:extLst>
      <p:ext uri="{BB962C8B-B14F-4D97-AF65-F5344CB8AC3E}">
        <p14:creationId xmlns:p14="http://schemas.microsoft.com/office/powerpoint/2010/main" val="1206390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F46C3-3F1B-751D-8399-BD32C40F2D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BE1A8A-63F9-FC32-899F-455227109AC0}"/>
              </a:ext>
            </a:extLst>
          </p:cNvPr>
          <p:cNvSpPr>
            <a:spLocks noGrp="1"/>
          </p:cNvSpPr>
          <p:nvPr>
            <p:ph idx="1"/>
          </p:nvPr>
        </p:nvSpPr>
        <p:spPr/>
        <p:txBody>
          <a:bodyPr>
            <a:normAutofit fontScale="92500" lnSpcReduction="20000"/>
          </a:bodyPr>
          <a:lstStyle/>
          <a:p>
            <a:r>
              <a:rPr lang="en-US" dirty="0"/>
              <a:t>Structure of tax</a:t>
            </a:r>
          </a:p>
          <a:p>
            <a:r>
              <a:rPr lang="en-US" dirty="0"/>
              <a:t>On the basis of nature and impact, tax is divided into two types </a:t>
            </a:r>
          </a:p>
          <a:p>
            <a:r>
              <a:rPr lang="en-US" dirty="0"/>
              <a:t>Direct tax </a:t>
            </a:r>
          </a:p>
          <a:p>
            <a:r>
              <a:rPr lang="en-US" dirty="0"/>
              <a:t>Indirect tax </a:t>
            </a:r>
          </a:p>
          <a:p>
            <a:r>
              <a:rPr lang="en-US" dirty="0"/>
              <a:t>A direct tax is a form of tax paid by a person on whom it is legally imposed. It is collected directly by the government from the person who bears the tax burden. Taxpayers need to file tax returns directly to government. Therefore, direct tax cannot be shifted. The impact or the money burden and the incidence are on the one and the same person. In other words, the same person pays and bears the tax burden. It is the tax on income, and property. Examples include income tax, property tax, vehicle tax, interest tax, expenditure tax, death tax, gift tax etc. </a:t>
            </a:r>
          </a:p>
          <a:p>
            <a:endParaRPr lang="en-US" dirty="0"/>
          </a:p>
        </p:txBody>
      </p:sp>
    </p:spTree>
    <p:extLst>
      <p:ext uri="{BB962C8B-B14F-4D97-AF65-F5344CB8AC3E}">
        <p14:creationId xmlns:p14="http://schemas.microsoft.com/office/powerpoint/2010/main" val="110753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C996E-9BBE-505F-49C3-41BC5E0340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E819BD-3DF7-077E-B560-74B415B257B1}"/>
              </a:ext>
            </a:extLst>
          </p:cNvPr>
          <p:cNvSpPr>
            <a:spLocks noGrp="1"/>
          </p:cNvSpPr>
          <p:nvPr>
            <p:ph idx="1"/>
          </p:nvPr>
        </p:nvSpPr>
        <p:spPr/>
        <p:txBody>
          <a:bodyPr>
            <a:normAutofit/>
          </a:bodyPr>
          <a:lstStyle/>
          <a:p>
            <a:r>
              <a:rPr lang="en-US" dirty="0"/>
              <a:t> Indirect tax </a:t>
            </a:r>
          </a:p>
          <a:p>
            <a:r>
              <a:rPr lang="en-US" dirty="0"/>
              <a:t>An indirect tax is a form of tax imposed on one person but partly or wholly paid by another. It is collected by mediators who transfer he taxes to the government and also perform functions associated with filing taxes return. Hence, indirect tax can be shifted. In indirect tax, the impact and incidence of tax are on different person. In other words, the person paying and bearing the tax is different. It is the tax on consumption or expenditures. Examples include VAT, excise duty, import and export duty etc. </a:t>
            </a:r>
          </a:p>
          <a:p>
            <a:endParaRPr lang="en-US" dirty="0"/>
          </a:p>
          <a:p>
            <a:endParaRPr lang="en-US" dirty="0"/>
          </a:p>
        </p:txBody>
      </p:sp>
    </p:spTree>
    <p:extLst>
      <p:ext uri="{BB962C8B-B14F-4D97-AF65-F5344CB8AC3E}">
        <p14:creationId xmlns:p14="http://schemas.microsoft.com/office/powerpoint/2010/main" val="3289767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F8F2E-36DB-ECCF-282D-7EB25CAB4F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569407-BC2F-9FD2-68A5-6E00E94EF5A8}"/>
              </a:ext>
            </a:extLst>
          </p:cNvPr>
          <p:cNvSpPr>
            <a:spLocks noGrp="1"/>
          </p:cNvSpPr>
          <p:nvPr>
            <p:ph idx="1"/>
          </p:nvPr>
        </p:nvSpPr>
        <p:spPr/>
        <p:txBody>
          <a:bodyPr>
            <a:normAutofit/>
          </a:bodyPr>
          <a:lstStyle/>
          <a:p>
            <a:r>
              <a:rPr lang="en-US" dirty="0"/>
              <a:t>Taxation in Nepal </a:t>
            </a:r>
          </a:p>
          <a:p>
            <a:r>
              <a:rPr lang="en-US" dirty="0"/>
              <a:t>Nepal has a long history in the taxation. Land tax has been found to be practiced form </a:t>
            </a:r>
            <a:r>
              <a:rPr lang="en-US" dirty="0" err="1"/>
              <a:t>Lichhavi</a:t>
            </a:r>
            <a:r>
              <a:rPr lang="en-US" dirty="0"/>
              <a:t> period and excise duty was imposed on Rana regime. Up to the Rana regime, tax system was governed by various Sanad </a:t>
            </a:r>
            <a:r>
              <a:rPr lang="en-US" dirty="0" err="1"/>
              <a:t>Sawal</a:t>
            </a:r>
            <a:r>
              <a:rPr lang="en-US" dirty="0"/>
              <a:t>. (Laws) developed for specific areas were not institutionalized in that time and method of collection too was not systematic. For example, custom duties were collected through contractors; land revenues were collected by Mukhiya, </a:t>
            </a:r>
            <a:r>
              <a:rPr lang="en-US" dirty="0" err="1"/>
              <a:t>Zimwal</a:t>
            </a:r>
            <a:r>
              <a:rPr lang="en-US" dirty="0"/>
              <a:t> or Zamindar in different parts of country and there were authorized by the power centers. </a:t>
            </a:r>
          </a:p>
          <a:p>
            <a:endParaRPr lang="en-US" dirty="0"/>
          </a:p>
        </p:txBody>
      </p:sp>
    </p:spTree>
    <p:extLst>
      <p:ext uri="{BB962C8B-B14F-4D97-AF65-F5344CB8AC3E}">
        <p14:creationId xmlns:p14="http://schemas.microsoft.com/office/powerpoint/2010/main" val="651838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60094-B0B4-9A06-922D-EEEBC5205C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584D61-3F1D-868B-97E0-6E776370251B}"/>
              </a:ext>
            </a:extLst>
          </p:cNvPr>
          <p:cNvSpPr>
            <a:spLocks noGrp="1"/>
          </p:cNvSpPr>
          <p:nvPr>
            <p:ph idx="1"/>
          </p:nvPr>
        </p:nvSpPr>
        <p:spPr/>
        <p:txBody>
          <a:bodyPr>
            <a:normAutofit fontScale="92500" lnSpcReduction="10000"/>
          </a:bodyPr>
          <a:lstStyle/>
          <a:p>
            <a:r>
              <a:rPr lang="en-US" dirty="0"/>
              <a:t>In Nepal, modern taxation system was introduced only after the introduction of multiparty system in 1951. The tax system was rationalized by introducing Excise Act 1958. Tax on corporate profit and income was first introduced by the first Parliamentary Government in 1959. Before that, there were existences of costume duty, entertainment tax, and excise duty and registration fee. In 1962, Nepal income tax act was introduced by replacing business, profit and remuneration tax act of 1959.nepal income tax act 1962 was replaced by income tax act 1974 which was amended for eight items and existed for a period of 28 years. The income tax act, 1974 and all the income tax related provisions made under other special enactment have replaced with the existence of income tax act 2002. This act governs all income tax matters and is applicable throughout the geography of Nepal. </a:t>
            </a:r>
          </a:p>
          <a:p>
            <a:endParaRPr lang="en-US" dirty="0"/>
          </a:p>
        </p:txBody>
      </p:sp>
    </p:spTree>
    <p:extLst>
      <p:ext uri="{BB962C8B-B14F-4D97-AF65-F5344CB8AC3E}">
        <p14:creationId xmlns:p14="http://schemas.microsoft.com/office/powerpoint/2010/main" val="1738223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510E5-3113-B17F-EEBC-5F57DF9B70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408F62-6147-91EA-FB2E-ACF9CEEF2B8F}"/>
              </a:ext>
            </a:extLst>
          </p:cNvPr>
          <p:cNvSpPr>
            <a:spLocks noGrp="1"/>
          </p:cNvSpPr>
          <p:nvPr>
            <p:ph idx="1"/>
          </p:nvPr>
        </p:nvSpPr>
        <p:spPr/>
        <p:txBody>
          <a:bodyPr/>
          <a:lstStyle/>
          <a:p>
            <a:r>
              <a:rPr lang="en-US" dirty="0"/>
              <a:t>At present, following tax acts are enacting in Nepal. </a:t>
            </a:r>
          </a:p>
          <a:p>
            <a:r>
              <a:rPr lang="en-US" dirty="0"/>
              <a:t>Income tax act 2058</a:t>
            </a:r>
          </a:p>
          <a:p>
            <a:r>
              <a:rPr lang="en-US" dirty="0"/>
              <a:t>Custom tax act 2064</a:t>
            </a:r>
          </a:p>
          <a:p>
            <a:r>
              <a:rPr lang="en-US" dirty="0"/>
              <a:t>Excise tax act 2058</a:t>
            </a:r>
          </a:p>
          <a:p>
            <a:r>
              <a:rPr lang="en-US" dirty="0"/>
              <a:t>VAT act 2052</a:t>
            </a:r>
          </a:p>
          <a:p>
            <a:endParaRPr lang="en-US" dirty="0"/>
          </a:p>
        </p:txBody>
      </p:sp>
    </p:spTree>
    <p:extLst>
      <p:ext uri="{BB962C8B-B14F-4D97-AF65-F5344CB8AC3E}">
        <p14:creationId xmlns:p14="http://schemas.microsoft.com/office/powerpoint/2010/main" val="130633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C730E-C5F2-2664-99D6-BFA47C9AC4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4BE5AC-93B4-61DD-A422-DD93AD0FDE30}"/>
              </a:ext>
            </a:extLst>
          </p:cNvPr>
          <p:cNvSpPr>
            <a:spLocks noGrp="1"/>
          </p:cNvSpPr>
          <p:nvPr>
            <p:ph idx="1"/>
          </p:nvPr>
        </p:nvSpPr>
        <p:spPr/>
        <p:txBody>
          <a:bodyPr>
            <a:normAutofit fontScale="85000" lnSpcReduction="10000"/>
          </a:bodyPr>
          <a:lstStyle/>
          <a:p>
            <a:r>
              <a:rPr lang="en-US" dirty="0"/>
              <a:t>Value added tax VAT</a:t>
            </a:r>
          </a:p>
          <a:p>
            <a:r>
              <a:rPr lang="en-US" dirty="0"/>
              <a:t>Value added tax is a general consumption tax assessed on the value added to goods and services. In some countries, including Australia, Canada, New Zealand and Singapore, this tax is known as goods and services tax or GST, and in Japan it is known as consumption tax. It is a general tax that applies, in principle, to all commercial activities invo0ving the production and distribution of goods and the provision of services. It is a consumption tax because it is borne ultimately by the final consumer. It is not charge on companies. It is charged as a percentage of prices, which means that the actual tax burden is visible at each stage in the production and distribution chain. It is an indirect tax, in that the tax is collected from someone other than the person who actually bears the cost of the tax (namely the seller rather than the consumer) as VAT is intended as a tax on consumption, exports (which are, by definition, consumed abroad) are usually not subject to VAT. </a:t>
            </a:r>
          </a:p>
          <a:p>
            <a:endParaRPr lang="en-US" dirty="0"/>
          </a:p>
          <a:p>
            <a:endParaRPr lang="en-US" dirty="0"/>
          </a:p>
        </p:txBody>
      </p:sp>
    </p:spTree>
    <p:extLst>
      <p:ext uri="{BB962C8B-B14F-4D97-AF65-F5344CB8AC3E}">
        <p14:creationId xmlns:p14="http://schemas.microsoft.com/office/powerpoint/2010/main" val="1075592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8829-3870-26CE-7A2C-8A96F60124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6E1C3C-282E-F424-4DB9-0D0E6FD91704}"/>
              </a:ext>
            </a:extLst>
          </p:cNvPr>
          <p:cNvSpPr>
            <a:spLocks noGrp="1"/>
          </p:cNvSpPr>
          <p:nvPr>
            <p:ph idx="1"/>
          </p:nvPr>
        </p:nvSpPr>
        <p:spPr/>
        <p:txBody>
          <a:bodyPr>
            <a:normAutofit fontScale="92500" lnSpcReduction="10000"/>
          </a:bodyPr>
          <a:lstStyle/>
          <a:p>
            <a:r>
              <a:rPr lang="en-US" dirty="0"/>
              <a:t>VAT is an indirect tax. It is an improved and modified form of sales tax. It is levied on value added of goods and services at each stage in the process of production and distribution chain. These stages can be import, manufacturing, wholesale and retail. Value added for a film is sales value minus all expenditures on goods and services purchased from other firm. The value added can be obtained by adding payments to factors of production. This value added is the base of VAT. Although VAT is eventually borne by the final costumer, it is collected at each stage of production and distribution chain.  The rate of VAT is different in different countries. The provision of VAT is 13% in Nepal. The government of Nepal has declared on non taxable items like medicines, rice, meat items, candle, flowers etc. The main characteristics of VAT are stated as follows</a:t>
            </a:r>
          </a:p>
          <a:p>
            <a:endParaRPr lang="en-US" dirty="0"/>
          </a:p>
        </p:txBody>
      </p:sp>
    </p:spTree>
    <p:extLst>
      <p:ext uri="{BB962C8B-B14F-4D97-AF65-F5344CB8AC3E}">
        <p14:creationId xmlns:p14="http://schemas.microsoft.com/office/powerpoint/2010/main" val="951103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9C29-06AA-F48A-FC96-70143C8D0A23}"/>
              </a:ext>
            </a:extLst>
          </p:cNvPr>
          <p:cNvSpPr>
            <a:spLocks noGrp="1"/>
          </p:cNvSpPr>
          <p:nvPr>
            <p:ph type="title"/>
          </p:nvPr>
        </p:nvSpPr>
        <p:spPr>
          <a:xfrm>
            <a:off x="838200" y="681037"/>
            <a:ext cx="10515600" cy="321853"/>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Important points to be noted regarding VAT</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02FED331-C387-FFF0-4EB7-B061ADD86CB2}"/>
              </a:ext>
            </a:extLst>
          </p:cNvPr>
          <p:cNvSpPr>
            <a:spLocks noGrp="1"/>
          </p:cNvSpPr>
          <p:nvPr>
            <p:ph idx="1"/>
          </p:nvPr>
        </p:nvSpPr>
        <p:spPr>
          <a:xfrm>
            <a:off x="314632" y="1002890"/>
            <a:ext cx="11877368" cy="5604387"/>
          </a:xfrm>
        </p:spPr>
        <p:txBody>
          <a:bodyPr>
            <a:normAutofit fontScale="70000" lnSpcReduction="20000"/>
          </a:bodyPr>
          <a:lstStyle/>
          <a:p>
            <a:r>
              <a:rPr lang="en-US" dirty="0"/>
              <a:t>Full form is Value added tax </a:t>
            </a:r>
          </a:p>
          <a:p>
            <a:r>
              <a:rPr lang="en-US" dirty="0"/>
              <a:t>It is an indirect tax</a:t>
            </a:r>
          </a:p>
          <a:p>
            <a:r>
              <a:rPr lang="en-US" dirty="0"/>
              <a:t>Consumers  pay vat to the businessman and every month business pays it to the government at inland revenue office. </a:t>
            </a:r>
          </a:p>
          <a:p>
            <a:r>
              <a:rPr lang="en-US" dirty="0"/>
              <a:t>Different country have different rates, </a:t>
            </a:r>
          </a:p>
          <a:p>
            <a:r>
              <a:rPr lang="en-US" dirty="0"/>
              <a:t>Vat is charged 13% and 0% in Nepal. Government does not charge Vat in some products like, medicines, rice, vegetables, meat etc. </a:t>
            </a:r>
          </a:p>
          <a:p>
            <a:r>
              <a:rPr lang="en-US" dirty="0"/>
              <a:t>Vat is related with VAT act 2052</a:t>
            </a:r>
          </a:p>
          <a:p>
            <a:r>
              <a:rPr lang="en-US" dirty="0"/>
              <a:t>It was firstly implemented in Nepal in </a:t>
            </a:r>
            <a:r>
              <a:rPr lang="en-CA" b="0" i="0" dirty="0">
                <a:solidFill>
                  <a:srgbClr val="404040"/>
                </a:solidFill>
                <a:effectLst/>
                <a:latin typeface="quote-cjk-patch"/>
              </a:rPr>
              <a:t>Kartik 30, 2054 BS</a:t>
            </a:r>
          </a:p>
          <a:p>
            <a:r>
              <a:rPr lang="en-CA" dirty="0">
                <a:solidFill>
                  <a:srgbClr val="404040"/>
                </a:solidFill>
                <a:latin typeface="quote-cjk-patch"/>
              </a:rPr>
              <a:t>Vat act replaced sales tax, entertainment tax. </a:t>
            </a: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quote-cjk-patch"/>
              </a:rPr>
              <a:t>Businesses can claim credit for VAT paid on purchases (input tax) against VAT collected on sales (output tax).</a:t>
            </a: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quote-cjk-patch"/>
              </a:rPr>
              <a:t>Late filing or payment may result in fines and interest charges.</a:t>
            </a: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quote-cjk-patch"/>
              </a:rPr>
              <a:t>Businesses with an annual turnover exceeding </a:t>
            </a:r>
            <a:r>
              <a:rPr lang="en-US" b="1" i="0" dirty="0">
                <a:solidFill>
                  <a:srgbClr val="404040"/>
                </a:solidFill>
                <a:effectLst/>
                <a:latin typeface="quote-cjk-patch"/>
              </a:rPr>
              <a:t>NPR 5 million</a:t>
            </a:r>
            <a:r>
              <a:rPr lang="en-US" b="0" i="0" dirty="0">
                <a:solidFill>
                  <a:srgbClr val="404040"/>
                </a:solidFill>
                <a:effectLst/>
                <a:latin typeface="quote-cjk-patch"/>
              </a:rPr>
              <a:t> must register for VAT.</a:t>
            </a: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quote-cjk-patch"/>
              </a:rPr>
              <a:t>Generally, the </a:t>
            </a:r>
            <a:r>
              <a:rPr lang="en-US" b="1" i="0" dirty="0">
                <a:solidFill>
                  <a:srgbClr val="404040"/>
                </a:solidFill>
                <a:effectLst/>
                <a:latin typeface="quote-cjk-patch"/>
              </a:rPr>
              <a:t>25th day</a:t>
            </a:r>
            <a:r>
              <a:rPr lang="en-US" b="0" i="0" dirty="0">
                <a:solidFill>
                  <a:srgbClr val="404040"/>
                </a:solidFill>
                <a:effectLst/>
                <a:latin typeface="quote-cjk-patch"/>
              </a:rPr>
              <a:t> of the following month is the deadline of paying Vat. </a:t>
            </a:r>
          </a:p>
          <a:p>
            <a:pPr algn="l">
              <a:lnSpc>
                <a:spcPts val="2143"/>
              </a:lnSpc>
              <a:spcBef>
                <a:spcPts val="1029"/>
              </a:spcBef>
              <a:spcAft>
                <a:spcPts val="1029"/>
              </a:spcAft>
              <a:buFont typeface="Arial" panose="020B0604020202020204" pitchFamily="34" charset="0"/>
              <a:buChar char="•"/>
            </a:pPr>
            <a:endParaRPr lang="en-US" b="0" i="0" dirty="0">
              <a:solidFill>
                <a:srgbClr val="404040"/>
              </a:solidFill>
              <a:effectLst/>
              <a:latin typeface="quote-cjk-patch"/>
            </a:endParaRPr>
          </a:p>
          <a:p>
            <a:endParaRPr lang="en-CA" dirty="0"/>
          </a:p>
        </p:txBody>
      </p:sp>
    </p:spTree>
    <p:extLst>
      <p:ext uri="{BB962C8B-B14F-4D97-AF65-F5344CB8AC3E}">
        <p14:creationId xmlns:p14="http://schemas.microsoft.com/office/powerpoint/2010/main" val="109970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7E75-FC85-CD2D-6876-1EC9341EE3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545871-BB66-219F-08C0-042F94E2C202}"/>
              </a:ext>
            </a:extLst>
          </p:cNvPr>
          <p:cNvSpPr>
            <a:spLocks noGrp="1"/>
          </p:cNvSpPr>
          <p:nvPr>
            <p:ph idx="1"/>
          </p:nvPr>
        </p:nvSpPr>
        <p:spPr/>
        <p:txBody>
          <a:bodyPr>
            <a:normAutofit lnSpcReduction="10000"/>
          </a:bodyPr>
          <a:lstStyle/>
          <a:p>
            <a:r>
              <a:rPr lang="en-US" dirty="0"/>
              <a:t>-	It is a form of indirect taxation. </a:t>
            </a:r>
          </a:p>
          <a:p>
            <a:r>
              <a:rPr lang="en-US" dirty="0"/>
              <a:t>-	It is a broad based tax as it covers the value added to each commodity by a firm during all stages of production and distribution. </a:t>
            </a:r>
          </a:p>
          <a:p>
            <a:r>
              <a:rPr lang="en-US" dirty="0"/>
              <a:t>-	It is based on value added principle. Value added can be obtained either by adding payments to factors of production (wages +rent +interest + profit) or deducting cost of inputs form sales value. </a:t>
            </a:r>
          </a:p>
          <a:p>
            <a:r>
              <a:rPr lang="en-US" dirty="0"/>
              <a:t>-	It is a substitute for sale tax, hotel tax, contract tax and entertainment tax. </a:t>
            </a:r>
          </a:p>
          <a:p>
            <a:r>
              <a:rPr lang="en-US" dirty="0"/>
              <a:t>-	It is based on self assessment system and provides the facility of tax credit and tax refund. </a:t>
            </a:r>
          </a:p>
          <a:p>
            <a:endParaRPr lang="en-US" dirty="0"/>
          </a:p>
        </p:txBody>
      </p:sp>
    </p:spTree>
    <p:extLst>
      <p:ext uri="{BB962C8B-B14F-4D97-AF65-F5344CB8AC3E}">
        <p14:creationId xmlns:p14="http://schemas.microsoft.com/office/powerpoint/2010/main" val="381126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03B8-0637-DD03-D586-873026DE7031}"/>
              </a:ext>
            </a:extLst>
          </p:cNvPr>
          <p:cNvSpPr>
            <a:spLocks noGrp="1"/>
          </p:cNvSpPr>
          <p:nvPr>
            <p:ph type="title"/>
          </p:nvPr>
        </p:nvSpPr>
        <p:spPr/>
        <p:txBody>
          <a:bodyPr/>
          <a:lstStyle/>
          <a:p>
            <a:r>
              <a:rPr lang="en-US" dirty="0"/>
              <a:t>Income tax act 2058</a:t>
            </a:r>
            <a:br>
              <a:rPr lang="en-US" dirty="0"/>
            </a:br>
            <a:endParaRPr lang="en-US" dirty="0"/>
          </a:p>
        </p:txBody>
      </p:sp>
      <p:sp>
        <p:nvSpPr>
          <p:cNvPr id="3" name="Content Placeholder 2">
            <a:extLst>
              <a:ext uri="{FF2B5EF4-FFF2-40B4-BE49-F238E27FC236}">
                <a16:creationId xmlns:a16="http://schemas.microsoft.com/office/drawing/2014/main" id="{A877EF0A-EEA5-9DDC-7022-F535A8F63089}"/>
              </a:ext>
            </a:extLst>
          </p:cNvPr>
          <p:cNvSpPr>
            <a:spLocks noGrp="1"/>
          </p:cNvSpPr>
          <p:nvPr>
            <p:ph idx="1"/>
          </p:nvPr>
        </p:nvSpPr>
        <p:spPr>
          <a:xfrm>
            <a:off x="838200" y="1238865"/>
            <a:ext cx="10515600" cy="4938098"/>
          </a:xfrm>
        </p:spPr>
        <p:txBody>
          <a:bodyPr>
            <a:normAutofit/>
          </a:bodyPr>
          <a:lstStyle/>
          <a:p>
            <a:r>
              <a:rPr lang="en-US" dirty="0"/>
              <a:t>If the tax levied on various sources of individual income, then it is known as personal income tax or income tax. Income refer as the economic gain by the person during the particular accounting period i.e. economic year</a:t>
            </a:r>
          </a:p>
          <a:p>
            <a:r>
              <a:rPr lang="en-US" dirty="0"/>
              <a:t>Income tax act.2058 has been enacted with wide a perspective. Various new concepts have been introduced in this act as compared to income tax act 2031. Many of the concepts introduced in this act were not prevailed in previous tax laws. This act contains 143 sections. </a:t>
            </a:r>
          </a:p>
          <a:p>
            <a:endParaRPr lang="en-US" dirty="0"/>
          </a:p>
        </p:txBody>
      </p:sp>
    </p:spTree>
    <p:extLst>
      <p:ext uri="{BB962C8B-B14F-4D97-AF65-F5344CB8AC3E}">
        <p14:creationId xmlns:p14="http://schemas.microsoft.com/office/powerpoint/2010/main" val="2286359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1C122-B62D-09C1-8820-61F8DF40B8F0}"/>
              </a:ext>
            </a:extLst>
          </p:cNvPr>
          <p:cNvSpPr>
            <a:spLocks noGrp="1"/>
          </p:cNvSpPr>
          <p:nvPr>
            <p:ph type="title"/>
          </p:nvPr>
        </p:nvSpPr>
        <p:spPr>
          <a:xfrm>
            <a:off x="838200" y="365125"/>
            <a:ext cx="10515600" cy="5492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4F4B6EC-6568-2168-8D56-5C3E713BE3D0}"/>
              </a:ext>
            </a:extLst>
          </p:cNvPr>
          <p:cNvSpPr>
            <a:spLocks noGrp="1"/>
          </p:cNvSpPr>
          <p:nvPr>
            <p:ph idx="1"/>
          </p:nvPr>
        </p:nvSpPr>
        <p:spPr>
          <a:xfrm>
            <a:off x="838200" y="1165123"/>
            <a:ext cx="10515600" cy="5011840"/>
          </a:xfrm>
        </p:spPr>
        <p:txBody>
          <a:bodyPr>
            <a:normAutofit fontScale="92500" lnSpcReduction="20000"/>
          </a:bodyPr>
          <a:lstStyle/>
          <a:p>
            <a:r>
              <a:rPr lang="en-US" b="1" dirty="0"/>
              <a:t>Corporate tax or business tax </a:t>
            </a:r>
          </a:p>
          <a:p>
            <a:r>
              <a:rPr lang="en-US" dirty="0"/>
              <a:t>Generally, business is a commercial activity undertaken with a profit motive. Income tax act, 2058 has defined business as an industry, a trade, a profession or the like isolated transaction what business character and includes a past, present or prospective business. By contrast to employment, business is an earning activity typically consisting of not only the provision of </a:t>
            </a:r>
            <a:r>
              <a:rPr lang="en-US" dirty="0" err="1"/>
              <a:t>labour</a:t>
            </a:r>
            <a:r>
              <a:rPr lang="en-US" dirty="0"/>
              <a:t> but of the combined provision of </a:t>
            </a:r>
            <a:r>
              <a:rPr lang="en-US" dirty="0" err="1"/>
              <a:t>labour</a:t>
            </a:r>
            <a:r>
              <a:rPr lang="en-US" dirty="0"/>
              <a:t> and capital. </a:t>
            </a:r>
          </a:p>
          <a:p>
            <a:r>
              <a:rPr lang="en-US" dirty="0"/>
              <a:t>A person's income form a business for an income year is the persons profit and gains from conducting the business for the year. This type of income includes service fees, amount derived from the disposal of trading stock and net gain from disposal of business assets. Income from a business can be accounted d for either on a cash basis or an accrual basis. The individual has option to select cash or accrual basis of accounting to account for business income. A company shall always for tax purposes account on an accrual basis. </a:t>
            </a:r>
          </a:p>
          <a:p>
            <a:endParaRPr lang="en-US" dirty="0"/>
          </a:p>
        </p:txBody>
      </p:sp>
    </p:spTree>
    <p:extLst>
      <p:ext uri="{BB962C8B-B14F-4D97-AF65-F5344CB8AC3E}">
        <p14:creationId xmlns:p14="http://schemas.microsoft.com/office/powerpoint/2010/main" val="227178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72A1-723E-2ABE-0AAE-BBD5F81158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3DAA3D-3394-F1EC-D958-69BD7B903BDD}"/>
              </a:ext>
            </a:extLst>
          </p:cNvPr>
          <p:cNvSpPr>
            <a:spLocks noGrp="1"/>
          </p:cNvSpPr>
          <p:nvPr>
            <p:ph idx="1"/>
          </p:nvPr>
        </p:nvSpPr>
        <p:spPr/>
        <p:txBody>
          <a:bodyPr/>
          <a:lstStyle/>
          <a:p>
            <a:r>
              <a:rPr lang="en-US" dirty="0"/>
              <a:t>Individuals as well as corporations are subject to income tax. Income tax on corporations is known as the corporate income tax or corporate tax. It was first introduced in America at 1909 AD. Corporation is a word used to cover a variety of business enterprises, all of which are entities having a legal personality and distinct from their owners. There are various types of business enterprises but corporations and companies have  separate legal personality. </a:t>
            </a:r>
          </a:p>
          <a:p>
            <a:endParaRPr lang="en-US" dirty="0"/>
          </a:p>
        </p:txBody>
      </p:sp>
    </p:spTree>
    <p:extLst>
      <p:ext uri="{BB962C8B-B14F-4D97-AF65-F5344CB8AC3E}">
        <p14:creationId xmlns:p14="http://schemas.microsoft.com/office/powerpoint/2010/main" val="165847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E503F-8232-150E-C51C-236141F0F738}"/>
              </a:ext>
            </a:extLst>
          </p:cNvPr>
          <p:cNvSpPr>
            <a:spLocks noGrp="1"/>
          </p:cNvSpPr>
          <p:nvPr>
            <p:ph type="title"/>
          </p:nvPr>
        </p:nvSpPr>
        <p:spPr/>
        <p:txBody>
          <a:bodyPr>
            <a:normAutofit/>
          </a:bodyPr>
          <a:lstStyle/>
          <a:p>
            <a:r>
              <a:rPr lang="en-US" sz="3600" dirty="0"/>
              <a:t>Updated Income Tax rates in Nepal for 2081/2082                    		(Corporate, Individual and Couple)</a:t>
            </a:r>
            <a:endParaRPr lang="en-US" dirty="0"/>
          </a:p>
        </p:txBody>
      </p:sp>
      <p:pic>
        <p:nvPicPr>
          <p:cNvPr id="5" name="Content Placeholder 4">
            <a:extLst>
              <a:ext uri="{FF2B5EF4-FFF2-40B4-BE49-F238E27FC236}">
                <a16:creationId xmlns:a16="http://schemas.microsoft.com/office/drawing/2014/main" id="{1A431AF0-DA25-53A2-FC9C-8D33C96F6B28}"/>
              </a:ext>
            </a:extLst>
          </p:cNvPr>
          <p:cNvPicPr>
            <a:picLocks noGrp="1" noChangeAspect="1"/>
          </p:cNvPicPr>
          <p:nvPr>
            <p:ph idx="1"/>
          </p:nvPr>
        </p:nvPicPr>
        <p:blipFill>
          <a:blip r:embed="rId2"/>
          <a:stretch>
            <a:fillRect/>
          </a:stretch>
        </p:blipFill>
        <p:spPr>
          <a:xfrm>
            <a:off x="186813" y="1690688"/>
            <a:ext cx="11774129" cy="4931337"/>
          </a:xfrm>
        </p:spPr>
      </p:pic>
    </p:spTree>
    <p:extLst>
      <p:ext uri="{BB962C8B-B14F-4D97-AF65-F5344CB8AC3E}">
        <p14:creationId xmlns:p14="http://schemas.microsoft.com/office/powerpoint/2010/main" val="3001475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1B30E-9FB5-E323-E192-AB4D9A7CFC25}"/>
              </a:ext>
            </a:extLst>
          </p:cNvPr>
          <p:cNvSpPr>
            <a:spLocks noGrp="1"/>
          </p:cNvSpPr>
          <p:nvPr>
            <p:ph type="title"/>
          </p:nvPr>
        </p:nvSpPr>
        <p:spPr>
          <a:xfrm>
            <a:off x="838200" y="365126"/>
            <a:ext cx="10515600" cy="519778"/>
          </a:xfrm>
        </p:spPr>
        <p:txBody>
          <a:bodyPr>
            <a:normAutofit fontScale="90000"/>
          </a:bodyPr>
          <a:lstStyle/>
          <a:p>
            <a:r>
              <a:rPr lang="en-US" dirty="0"/>
              <a:t>For Couple </a:t>
            </a:r>
          </a:p>
        </p:txBody>
      </p:sp>
      <p:pic>
        <p:nvPicPr>
          <p:cNvPr id="5" name="Content Placeholder 4">
            <a:extLst>
              <a:ext uri="{FF2B5EF4-FFF2-40B4-BE49-F238E27FC236}">
                <a16:creationId xmlns:a16="http://schemas.microsoft.com/office/drawing/2014/main" id="{A2F0E056-A268-71C3-37C6-0182DDF689F5}"/>
              </a:ext>
            </a:extLst>
          </p:cNvPr>
          <p:cNvPicPr>
            <a:picLocks noGrp="1" noChangeAspect="1"/>
          </p:cNvPicPr>
          <p:nvPr>
            <p:ph idx="1"/>
          </p:nvPr>
        </p:nvPicPr>
        <p:blipFill>
          <a:blip r:embed="rId2"/>
          <a:stretch>
            <a:fillRect/>
          </a:stretch>
        </p:blipFill>
        <p:spPr>
          <a:xfrm>
            <a:off x="206477" y="1238864"/>
            <a:ext cx="11695471" cy="5471651"/>
          </a:xfrm>
        </p:spPr>
      </p:pic>
    </p:spTree>
    <p:extLst>
      <p:ext uri="{BB962C8B-B14F-4D97-AF65-F5344CB8AC3E}">
        <p14:creationId xmlns:p14="http://schemas.microsoft.com/office/powerpoint/2010/main" val="3399582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2E289-0323-7ED1-9144-B04509142D2F}"/>
              </a:ext>
            </a:extLst>
          </p:cNvPr>
          <p:cNvSpPr>
            <a:spLocks noGrp="1"/>
          </p:cNvSpPr>
          <p:nvPr>
            <p:ph type="title"/>
          </p:nvPr>
        </p:nvSpPr>
        <p:spPr>
          <a:xfrm>
            <a:off x="838200" y="412955"/>
            <a:ext cx="10515600" cy="884903"/>
          </a:xfrm>
        </p:spPr>
        <p:txBody>
          <a:bodyPr/>
          <a:lstStyle/>
          <a:p>
            <a:r>
              <a:rPr lang="en-US" dirty="0"/>
              <a:t>Corporate Tax Rate in Nepal </a:t>
            </a:r>
          </a:p>
        </p:txBody>
      </p:sp>
      <p:pic>
        <p:nvPicPr>
          <p:cNvPr id="5" name="Content Placeholder 4">
            <a:extLst>
              <a:ext uri="{FF2B5EF4-FFF2-40B4-BE49-F238E27FC236}">
                <a16:creationId xmlns:a16="http://schemas.microsoft.com/office/drawing/2014/main" id="{83F5724E-5AE2-1B07-B481-A62EC0BB511A}"/>
              </a:ext>
            </a:extLst>
          </p:cNvPr>
          <p:cNvPicPr>
            <a:picLocks noGrp="1" noChangeAspect="1"/>
          </p:cNvPicPr>
          <p:nvPr>
            <p:ph idx="1"/>
          </p:nvPr>
        </p:nvPicPr>
        <p:blipFill>
          <a:blip r:embed="rId2"/>
          <a:stretch>
            <a:fillRect/>
          </a:stretch>
        </p:blipFill>
        <p:spPr>
          <a:xfrm>
            <a:off x="324465" y="1297858"/>
            <a:ext cx="11415251" cy="5338915"/>
          </a:xfrm>
        </p:spPr>
      </p:pic>
    </p:spTree>
    <p:extLst>
      <p:ext uri="{BB962C8B-B14F-4D97-AF65-F5344CB8AC3E}">
        <p14:creationId xmlns:p14="http://schemas.microsoft.com/office/powerpoint/2010/main" val="373868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2756-33B5-8C46-90EA-CDC524EF866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7598B89-A547-5DD3-F9C9-1D273B3E322A}"/>
              </a:ext>
            </a:extLst>
          </p:cNvPr>
          <p:cNvPicPr>
            <a:picLocks noGrp="1" noChangeAspect="1"/>
          </p:cNvPicPr>
          <p:nvPr>
            <p:ph idx="1"/>
          </p:nvPr>
        </p:nvPicPr>
        <p:blipFill>
          <a:blip r:embed="rId2"/>
          <a:stretch>
            <a:fillRect/>
          </a:stretch>
        </p:blipFill>
        <p:spPr>
          <a:xfrm>
            <a:off x="820994" y="1887793"/>
            <a:ext cx="10220632" cy="4822723"/>
          </a:xfrm>
        </p:spPr>
      </p:pic>
    </p:spTree>
    <p:extLst>
      <p:ext uri="{BB962C8B-B14F-4D97-AF65-F5344CB8AC3E}">
        <p14:creationId xmlns:p14="http://schemas.microsoft.com/office/powerpoint/2010/main" val="204464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928D6-DBC0-6549-4806-C7A567E431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1C89D5-471B-2D33-7142-C0220F181942}"/>
              </a:ext>
            </a:extLst>
          </p:cNvPr>
          <p:cNvSpPr>
            <a:spLocks noGrp="1"/>
          </p:cNvSpPr>
          <p:nvPr>
            <p:ph idx="1"/>
          </p:nvPr>
        </p:nvSpPr>
        <p:spPr/>
        <p:txBody>
          <a:bodyPr/>
          <a:lstStyle/>
          <a:p>
            <a:r>
              <a:rPr lang="en-US" dirty="0"/>
              <a:t>Depreciation rate to be charged on fixed assets under diminishing balance method </a:t>
            </a:r>
          </a:p>
          <a:p>
            <a:r>
              <a:rPr lang="en-US" dirty="0"/>
              <a:t>Furniture		    	          25%</a:t>
            </a:r>
          </a:p>
          <a:p>
            <a:r>
              <a:rPr lang="en-US" dirty="0"/>
              <a:t>Building 			           10%</a:t>
            </a:r>
          </a:p>
          <a:p>
            <a:r>
              <a:rPr lang="en-US" dirty="0"/>
              <a:t>Machinery and equipment 	15%</a:t>
            </a:r>
          </a:p>
          <a:p>
            <a:endParaRPr lang="en-US" dirty="0"/>
          </a:p>
        </p:txBody>
      </p:sp>
    </p:spTree>
    <p:extLst>
      <p:ext uri="{BB962C8B-B14F-4D97-AF65-F5344CB8AC3E}">
        <p14:creationId xmlns:p14="http://schemas.microsoft.com/office/powerpoint/2010/main" val="2107900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5C24-6F5F-1ED0-CB0B-30FF0E89C685}"/>
              </a:ext>
            </a:extLst>
          </p:cNvPr>
          <p:cNvSpPr>
            <a:spLocks noGrp="1"/>
          </p:cNvSpPr>
          <p:nvPr>
            <p:ph type="title"/>
          </p:nvPr>
        </p:nvSpPr>
        <p:spPr/>
        <p:txBody>
          <a:bodyPr/>
          <a:lstStyle/>
          <a:p>
            <a:r>
              <a:rPr lang="en-US" dirty="0"/>
              <a:t>Cash Flow After Tax CFAT</a:t>
            </a:r>
          </a:p>
        </p:txBody>
      </p:sp>
      <p:sp>
        <p:nvSpPr>
          <p:cNvPr id="3" name="Content Placeholder 2">
            <a:extLst>
              <a:ext uri="{FF2B5EF4-FFF2-40B4-BE49-F238E27FC236}">
                <a16:creationId xmlns:a16="http://schemas.microsoft.com/office/drawing/2014/main" id="{5E8A1FD4-F43E-36BF-B453-CCD4F68DC1C3}"/>
              </a:ext>
            </a:extLst>
          </p:cNvPr>
          <p:cNvSpPr>
            <a:spLocks noGrp="1"/>
          </p:cNvSpPr>
          <p:nvPr>
            <p:ph idx="1"/>
          </p:nvPr>
        </p:nvSpPr>
        <p:spPr/>
        <p:txBody>
          <a:bodyPr/>
          <a:lstStyle/>
          <a:p>
            <a:r>
              <a:rPr lang="en-US" dirty="0"/>
              <a:t>Calculate CFAT of the following project. Use straight line depreciation method. </a:t>
            </a:r>
          </a:p>
          <a:p>
            <a:r>
              <a:rPr lang="en-US" dirty="0"/>
              <a:t>Initial investment Rs 100000</a:t>
            </a:r>
          </a:p>
          <a:p>
            <a:r>
              <a:rPr lang="en-US" dirty="0"/>
              <a:t>Net annual revenue Rs 20000</a:t>
            </a:r>
          </a:p>
          <a:p>
            <a:r>
              <a:rPr lang="en-US" dirty="0"/>
              <a:t>Life of the project 10 years </a:t>
            </a:r>
          </a:p>
          <a:p>
            <a:r>
              <a:rPr lang="en-US" dirty="0"/>
              <a:t>Salvage value Rs 10000</a:t>
            </a:r>
          </a:p>
          <a:p>
            <a:r>
              <a:rPr lang="en-US" dirty="0"/>
              <a:t>Tax rate 40%</a:t>
            </a:r>
          </a:p>
        </p:txBody>
      </p:sp>
    </p:spTree>
    <p:extLst>
      <p:ext uri="{BB962C8B-B14F-4D97-AF65-F5344CB8AC3E}">
        <p14:creationId xmlns:p14="http://schemas.microsoft.com/office/powerpoint/2010/main" val="413641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EDCE5-D552-027B-54FF-303946DD00CA}"/>
              </a:ext>
            </a:extLst>
          </p:cNvPr>
          <p:cNvSpPr>
            <a:spLocks noGrp="1"/>
          </p:cNvSpPr>
          <p:nvPr>
            <p:ph type="title"/>
          </p:nvPr>
        </p:nvSpPr>
        <p:spPr>
          <a:xfrm>
            <a:off x="838200" y="365126"/>
            <a:ext cx="10515600" cy="315912"/>
          </a:xfrm>
        </p:spPr>
        <p:txBody>
          <a:bodyPr>
            <a:normAutofit fontScale="90000"/>
          </a:bodyPr>
          <a:lstStyle/>
          <a:p>
            <a:r>
              <a:rPr lang="en-US" dirty="0"/>
              <a:t>Solution , Calculation table for CFAT </a:t>
            </a:r>
          </a:p>
        </p:txBody>
      </p:sp>
      <p:sp>
        <p:nvSpPr>
          <p:cNvPr id="3" name="Content Placeholder 2">
            <a:extLst>
              <a:ext uri="{FF2B5EF4-FFF2-40B4-BE49-F238E27FC236}">
                <a16:creationId xmlns:a16="http://schemas.microsoft.com/office/drawing/2014/main" id="{752C563D-B529-8F86-F27E-20A53A8DCBA9}"/>
              </a:ext>
            </a:extLst>
          </p:cNvPr>
          <p:cNvSpPr>
            <a:spLocks noGrp="1"/>
          </p:cNvSpPr>
          <p:nvPr>
            <p:ph idx="1"/>
          </p:nvPr>
        </p:nvSpPr>
        <p:spPr>
          <a:xfrm>
            <a:off x="117987" y="1825625"/>
            <a:ext cx="10736827" cy="4351338"/>
          </a:xfrm>
        </p:spPr>
        <p:txBody>
          <a:bodyPr/>
          <a:lstStyle/>
          <a:p>
            <a:r>
              <a:rPr lang="en-US" dirty="0"/>
              <a:t>Calculation table for CFAT </a:t>
            </a:r>
          </a:p>
        </p:txBody>
      </p:sp>
      <p:graphicFrame>
        <p:nvGraphicFramePr>
          <p:cNvPr id="4" name="Table 3">
            <a:extLst>
              <a:ext uri="{FF2B5EF4-FFF2-40B4-BE49-F238E27FC236}">
                <a16:creationId xmlns:a16="http://schemas.microsoft.com/office/drawing/2014/main" id="{53C5E106-8B34-50CF-7FA0-D642BFC8FDE3}"/>
              </a:ext>
            </a:extLst>
          </p:cNvPr>
          <p:cNvGraphicFramePr>
            <a:graphicFrameLocks noGrp="1"/>
          </p:cNvGraphicFramePr>
          <p:nvPr>
            <p:extLst>
              <p:ext uri="{D42A27DB-BD31-4B8C-83A1-F6EECF244321}">
                <p14:modId xmlns:p14="http://schemas.microsoft.com/office/powerpoint/2010/main" val="1452382503"/>
              </p:ext>
            </p:extLst>
          </p:nvPr>
        </p:nvGraphicFramePr>
        <p:xfrm>
          <a:off x="221226" y="926299"/>
          <a:ext cx="10633588" cy="5349582"/>
        </p:xfrm>
        <a:graphic>
          <a:graphicData uri="http://schemas.openxmlformats.org/drawingml/2006/table">
            <a:tbl>
              <a:tblPr firstRow="1" bandRow="1">
                <a:tableStyleId>{5C22544A-7EE6-4342-B048-85BDC9FD1C3A}</a:tableStyleId>
              </a:tblPr>
              <a:tblGrid>
                <a:gridCol w="752168">
                  <a:extLst>
                    <a:ext uri="{9D8B030D-6E8A-4147-A177-3AD203B41FA5}">
                      <a16:colId xmlns:a16="http://schemas.microsoft.com/office/drawing/2014/main" val="3749384602"/>
                    </a:ext>
                  </a:extLst>
                </a:gridCol>
                <a:gridCol w="1401096">
                  <a:extLst>
                    <a:ext uri="{9D8B030D-6E8A-4147-A177-3AD203B41FA5}">
                      <a16:colId xmlns:a16="http://schemas.microsoft.com/office/drawing/2014/main" val="1786042938"/>
                    </a:ext>
                  </a:extLst>
                </a:gridCol>
                <a:gridCol w="1238865">
                  <a:extLst>
                    <a:ext uri="{9D8B030D-6E8A-4147-A177-3AD203B41FA5}">
                      <a16:colId xmlns:a16="http://schemas.microsoft.com/office/drawing/2014/main" val="1265213512"/>
                    </a:ext>
                  </a:extLst>
                </a:gridCol>
                <a:gridCol w="1710813">
                  <a:extLst>
                    <a:ext uri="{9D8B030D-6E8A-4147-A177-3AD203B41FA5}">
                      <a16:colId xmlns:a16="http://schemas.microsoft.com/office/drawing/2014/main" val="595883084"/>
                    </a:ext>
                  </a:extLst>
                </a:gridCol>
                <a:gridCol w="1725561">
                  <a:extLst>
                    <a:ext uri="{9D8B030D-6E8A-4147-A177-3AD203B41FA5}">
                      <a16:colId xmlns:a16="http://schemas.microsoft.com/office/drawing/2014/main" val="3808392320"/>
                    </a:ext>
                  </a:extLst>
                </a:gridCol>
                <a:gridCol w="2286001">
                  <a:extLst>
                    <a:ext uri="{9D8B030D-6E8A-4147-A177-3AD203B41FA5}">
                      <a16:colId xmlns:a16="http://schemas.microsoft.com/office/drawing/2014/main" val="239988504"/>
                    </a:ext>
                  </a:extLst>
                </a:gridCol>
                <a:gridCol w="1519084">
                  <a:extLst>
                    <a:ext uri="{9D8B030D-6E8A-4147-A177-3AD203B41FA5}">
                      <a16:colId xmlns:a16="http://schemas.microsoft.com/office/drawing/2014/main" val="1259530022"/>
                    </a:ext>
                  </a:extLst>
                </a:gridCol>
              </a:tblGrid>
              <a:tr h="0">
                <a:tc>
                  <a:txBody>
                    <a:bodyPr/>
                    <a:lstStyle/>
                    <a:p>
                      <a:r>
                        <a:rPr lang="en-US" dirty="0"/>
                        <a:t>Year </a:t>
                      </a:r>
                    </a:p>
                  </a:txBody>
                  <a:tcPr/>
                </a:tc>
                <a:tc>
                  <a:txBody>
                    <a:bodyPr/>
                    <a:lstStyle/>
                    <a:p>
                      <a:r>
                        <a:rPr lang="en-US" dirty="0"/>
                        <a:t>Cash flow </a:t>
                      </a:r>
                    </a:p>
                  </a:txBody>
                  <a:tcPr/>
                </a:tc>
                <a:tc>
                  <a:txBody>
                    <a:bodyPr/>
                    <a:lstStyle/>
                    <a:p>
                      <a:r>
                        <a:rPr lang="en-US" dirty="0"/>
                        <a:t>Dep </a:t>
                      </a:r>
                    </a:p>
                  </a:txBody>
                  <a:tcPr/>
                </a:tc>
                <a:tc>
                  <a:txBody>
                    <a:bodyPr/>
                    <a:lstStyle/>
                    <a:p>
                      <a:r>
                        <a:rPr lang="en-US" dirty="0"/>
                        <a:t>Taxable amount</a:t>
                      </a:r>
                    </a:p>
                  </a:txBody>
                  <a:tcPr/>
                </a:tc>
                <a:tc>
                  <a:txBody>
                    <a:bodyPr/>
                    <a:lstStyle/>
                    <a:p>
                      <a:r>
                        <a:rPr lang="en-US" dirty="0"/>
                        <a:t>Tax rate @40% </a:t>
                      </a:r>
                    </a:p>
                  </a:txBody>
                  <a:tcPr/>
                </a:tc>
                <a:tc>
                  <a:txBody>
                    <a:bodyPr/>
                    <a:lstStyle/>
                    <a:p>
                      <a:r>
                        <a:rPr lang="en-US" dirty="0"/>
                        <a:t>Net revenue after tax </a:t>
                      </a:r>
                    </a:p>
                  </a:txBody>
                  <a:tcPr/>
                </a:tc>
                <a:tc>
                  <a:txBody>
                    <a:bodyPr/>
                    <a:lstStyle/>
                    <a:p>
                      <a:r>
                        <a:rPr lang="en-US" dirty="0"/>
                        <a:t>CFAT (add back depreciation )</a:t>
                      </a:r>
                    </a:p>
                  </a:txBody>
                  <a:tcPr/>
                </a:tc>
                <a:extLst>
                  <a:ext uri="{0D108BD9-81ED-4DB2-BD59-A6C34878D82A}">
                    <a16:rowId xmlns:a16="http://schemas.microsoft.com/office/drawing/2014/main" val="1255752448"/>
                  </a:ext>
                </a:extLst>
              </a:tr>
              <a:tr h="433502">
                <a:tc>
                  <a:txBody>
                    <a:bodyPr/>
                    <a:lstStyle/>
                    <a:p>
                      <a:r>
                        <a:rPr lang="en-US" dirty="0"/>
                        <a:t>0</a:t>
                      </a:r>
                    </a:p>
                  </a:txBody>
                  <a:tcPr/>
                </a:tc>
                <a:tc>
                  <a:txBody>
                    <a:bodyPr/>
                    <a:lstStyle/>
                    <a:p>
                      <a:r>
                        <a:rPr lang="en-US" dirty="0"/>
                        <a:t>-100000</a:t>
                      </a:r>
                    </a:p>
                  </a:txBody>
                  <a:tcPr/>
                </a:tc>
                <a:tc>
                  <a:txBody>
                    <a:bodyPr/>
                    <a:lstStyle/>
                    <a:p>
                      <a:r>
                        <a:rPr lang="en-US" dirty="0"/>
                        <a:t>-</a:t>
                      </a:r>
                    </a:p>
                  </a:txBody>
                  <a:tcPr/>
                </a:tc>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r>
                        <a:rPr lang="en-US" dirty="0"/>
                        <a:t>-100000</a:t>
                      </a:r>
                    </a:p>
                  </a:txBody>
                  <a:tcPr/>
                </a:tc>
                <a:extLst>
                  <a:ext uri="{0D108BD9-81ED-4DB2-BD59-A6C34878D82A}">
                    <a16:rowId xmlns:a16="http://schemas.microsoft.com/office/drawing/2014/main" val="332152370"/>
                  </a:ext>
                </a:extLst>
              </a:tr>
              <a:tr h="390479">
                <a:tc>
                  <a:txBody>
                    <a:bodyPr/>
                    <a:lstStyle/>
                    <a:p>
                      <a:r>
                        <a:rPr lang="en-US" dirty="0"/>
                        <a:t>1</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454746903"/>
                  </a:ext>
                </a:extLst>
              </a:tr>
              <a:tr h="386616">
                <a:tc>
                  <a:txBody>
                    <a:bodyPr/>
                    <a:lstStyle/>
                    <a:p>
                      <a:r>
                        <a:rPr lang="en-US" dirty="0"/>
                        <a:t>2</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3309238752"/>
                  </a:ext>
                </a:extLst>
              </a:tr>
              <a:tr h="279514">
                <a:tc>
                  <a:txBody>
                    <a:bodyPr/>
                    <a:lstStyle/>
                    <a:p>
                      <a:r>
                        <a:rPr lang="en-US" dirty="0"/>
                        <a:t>3</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743107044"/>
                  </a:ext>
                </a:extLst>
              </a:tr>
              <a:tr h="393637">
                <a:tc>
                  <a:txBody>
                    <a:bodyPr/>
                    <a:lstStyle/>
                    <a:p>
                      <a:r>
                        <a:rPr lang="en-US" dirty="0"/>
                        <a:t>4</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114290238"/>
                  </a:ext>
                </a:extLst>
              </a:tr>
              <a:tr h="330780">
                <a:tc>
                  <a:txBody>
                    <a:bodyPr/>
                    <a:lstStyle/>
                    <a:p>
                      <a:r>
                        <a:rPr lang="en-US" dirty="0"/>
                        <a:t>5</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3854573883"/>
                  </a:ext>
                </a:extLst>
              </a:tr>
              <a:tr h="370935">
                <a:tc>
                  <a:txBody>
                    <a:bodyPr/>
                    <a:lstStyle/>
                    <a:p>
                      <a:r>
                        <a:rPr lang="en-US" dirty="0"/>
                        <a:t>6</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3656848775"/>
                  </a:ext>
                </a:extLst>
              </a:tr>
              <a:tr h="381820">
                <a:tc>
                  <a:txBody>
                    <a:bodyPr/>
                    <a:lstStyle/>
                    <a:p>
                      <a:r>
                        <a:rPr lang="en-US" dirty="0"/>
                        <a:t>7</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1830654752"/>
                  </a:ext>
                </a:extLst>
              </a:tr>
              <a:tr h="333938">
                <a:tc>
                  <a:txBody>
                    <a:bodyPr/>
                    <a:lstStyle/>
                    <a:p>
                      <a:r>
                        <a:rPr lang="en-US" dirty="0"/>
                        <a:t>8</a:t>
                      </a:r>
                    </a:p>
                  </a:txBody>
                  <a:tcPr/>
                </a:tc>
                <a:tc>
                  <a:txBody>
                    <a:bodyPr/>
                    <a:lstStyle/>
                    <a:p>
                      <a:r>
                        <a:rPr lang="en-US" dirty="0"/>
                        <a:t>20000</a:t>
                      </a:r>
                    </a:p>
                  </a:txBody>
                  <a:tcPr/>
                </a:tc>
                <a:tc>
                  <a:txBody>
                    <a:bodyPr/>
                    <a:lstStyle/>
                    <a:p>
                      <a:r>
                        <a:rPr lang="en-US" dirty="0"/>
                        <a:t>9000</a:t>
                      </a:r>
                    </a:p>
                  </a:txBody>
                  <a:tcPr/>
                </a:tc>
                <a:tc>
                  <a:txBody>
                    <a:bodyPr/>
                    <a:lstStyle/>
                    <a:p>
                      <a:r>
                        <a:rPr lang="en-US" dirty="0"/>
                        <a:t>11000</a:t>
                      </a:r>
                    </a:p>
                  </a:txBody>
                  <a:tcPr/>
                </a:tc>
                <a:tc>
                  <a:txBody>
                    <a:bodyPr/>
                    <a:lstStyle/>
                    <a:p>
                      <a:r>
                        <a:rPr lang="en-US" dirty="0"/>
                        <a:t>4400</a:t>
                      </a:r>
                    </a:p>
                  </a:txBody>
                  <a:tcPr/>
                </a:tc>
                <a:tc>
                  <a:txBody>
                    <a:bodyPr/>
                    <a:lstStyle/>
                    <a:p>
                      <a:r>
                        <a:rPr lang="en-US" dirty="0"/>
                        <a:t>15600</a:t>
                      </a:r>
                    </a:p>
                  </a:txBody>
                  <a:tcPr/>
                </a:tc>
                <a:tc>
                  <a:txBody>
                    <a:bodyPr/>
                    <a:lstStyle/>
                    <a:p>
                      <a:r>
                        <a:rPr lang="en-US" dirty="0"/>
                        <a:t>24600</a:t>
                      </a:r>
                    </a:p>
                  </a:txBody>
                  <a:tcPr/>
                </a:tc>
                <a:extLst>
                  <a:ext uri="{0D108BD9-81ED-4DB2-BD59-A6C34878D82A}">
                    <a16:rowId xmlns:a16="http://schemas.microsoft.com/office/drawing/2014/main" val="3351190036"/>
                  </a:ext>
                </a:extLst>
              </a:tr>
              <a:tr h="980913">
                <a:tc>
                  <a:txBody>
                    <a:bodyPr/>
                    <a:lstStyle/>
                    <a:p>
                      <a:r>
                        <a:rPr lang="en-US" dirty="0"/>
                        <a:t>9</a:t>
                      </a:r>
                    </a:p>
                    <a:p>
                      <a:endParaRPr lang="en-US" dirty="0"/>
                    </a:p>
                    <a:p>
                      <a:r>
                        <a:rPr lang="en-US" dirty="0"/>
                        <a:t>10</a:t>
                      </a:r>
                    </a:p>
                  </a:txBody>
                  <a:tcPr/>
                </a:tc>
                <a:tc>
                  <a:txBody>
                    <a:bodyPr/>
                    <a:lstStyle/>
                    <a:p>
                      <a:r>
                        <a:rPr lang="en-US" dirty="0"/>
                        <a:t>20000</a:t>
                      </a:r>
                    </a:p>
                    <a:p>
                      <a:endParaRPr lang="en-US" dirty="0"/>
                    </a:p>
                    <a:p>
                      <a:r>
                        <a:rPr lang="en-US" dirty="0"/>
                        <a:t>30000</a:t>
                      </a:r>
                    </a:p>
                  </a:txBody>
                  <a:tcPr/>
                </a:tc>
                <a:tc>
                  <a:txBody>
                    <a:bodyPr/>
                    <a:lstStyle/>
                    <a:p>
                      <a:r>
                        <a:rPr lang="en-US" dirty="0"/>
                        <a:t>9000</a:t>
                      </a:r>
                    </a:p>
                    <a:p>
                      <a:endParaRPr lang="en-US" dirty="0"/>
                    </a:p>
                    <a:p>
                      <a:r>
                        <a:rPr lang="en-US" dirty="0"/>
                        <a:t>9000</a:t>
                      </a:r>
                    </a:p>
                  </a:txBody>
                  <a:tcPr/>
                </a:tc>
                <a:tc>
                  <a:txBody>
                    <a:bodyPr/>
                    <a:lstStyle/>
                    <a:p>
                      <a:r>
                        <a:rPr lang="en-US" dirty="0"/>
                        <a:t>11000</a:t>
                      </a:r>
                    </a:p>
                    <a:p>
                      <a:endParaRPr lang="en-US" dirty="0"/>
                    </a:p>
                    <a:p>
                      <a:r>
                        <a:rPr lang="en-US" dirty="0"/>
                        <a:t>21000</a:t>
                      </a:r>
                    </a:p>
                  </a:txBody>
                  <a:tcPr/>
                </a:tc>
                <a:tc>
                  <a:txBody>
                    <a:bodyPr/>
                    <a:lstStyle/>
                    <a:p>
                      <a:r>
                        <a:rPr lang="en-US" dirty="0"/>
                        <a:t>4400</a:t>
                      </a:r>
                    </a:p>
                    <a:p>
                      <a:endParaRPr lang="en-US" dirty="0"/>
                    </a:p>
                    <a:p>
                      <a:r>
                        <a:rPr lang="en-US" dirty="0"/>
                        <a:t>8400</a:t>
                      </a:r>
                    </a:p>
                  </a:txBody>
                  <a:tcPr/>
                </a:tc>
                <a:tc>
                  <a:txBody>
                    <a:bodyPr/>
                    <a:lstStyle/>
                    <a:p>
                      <a:r>
                        <a:rPr lang="en-US" dirty="0"/>
                        <a:t>15600</a:t>
                      </a:r>
                    </a:p>
                    <a:p>
                      <a:endParaRPr lang="en-US" dirty="0"/>
                    </a:p>
                    <a:p>
                      <a:r>
                        <a:rPr lang="en-US" dirty="0"/>
                        <a:t>21600</a:t>
                      </a:r>
                    </a:p>
                  </a:txBody>
                  <a:tcPr/>
                </a:tc>
                <a:tc>
                  <a:txBody>
                    <a:bodyPr/>
                    <a:lstStyle/>
                    <a:p>
                      <a:r>
                        <a:rPr lang="en-US" dirty="0"/>
                        <a:t>24600</a:t>
                      </a:r>
                    </a:p>
                    <a:p>
                      <a:endParaRPr lang="en-US" dirty="0"/>
                    </a:p>
                    <a:p>
                      <a:r>
                        <a:rPr lang="en-US" dirty="0"/>
                        <a:t>30900</a:t>
                      </a:r>
                    </a:p>
                  </a:txBody>
                  <a:tcPr/>
                </a:tc>
                <a:extLst>
                  <a:ext uri="{0D108BD9-81ED-4DB2-BD59-A6C34878D82A}">
                    <a16:rowId xmlns:a16="http://schemas.microsoft.com/office/drawing/2014/main" val="2243669883"/>
                  </a:ext>
                </a:extLst>
              </a:tr>
            </a:tbl>
          </a:graphicData>
        </a:graphic>
      </p:graphicFrame>
    </p:spTree>
    <p:extLst>
      <p:ext uri="{BB962C8B-B14F-4D97-AF65-F5344CB8AC3E}">
        <p14:creationId xmlns:p14="http://schemas.microsoft.com/office/powerpoint/2010/main" val="1862240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1992</Words>
  <Application>Microsoft Office PowerPoint</Application>
  <PresentationFormat>Widescreen</PresentationFormat>
  <Paragraphs>156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quote-cjk-patch</vt:lpstr>
      <vt:lpstr>Office Theme</vt:lpstr>
      <vt:lpstr>Tax </vt:lpstr>
      <vt:lpstr>Meaning of Tax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Important points to be noted regarding VAT </vt:lpstr>
      <vt:lpstr>PowerPoint Presentation</vt:lpstr>
      <vt:lpstr>Income tax act 2058 </vt:lpstr>
      <vt:lpstr>PowerPoint Presentation</vt:lpstr>
      <vt:lpstr>PowerPoint Presentation</vt:lpstr>
      <vt:lpstr>Updated Income Tax rates in Nepal for 2081/2082                      (Corporate, Individual and Couple)</vt:lpstr>
      <vt:lpstr>For Couple </vt:lpstr>
      <vt:lpstr>Corporate Tax Rate in Nepal </vt:lpstr>
      <vt:lpstr>PowerPoint Presentation</vt:lpstr>
      <vt:lpstr>PowerPoint Presentation</vt:lpstr>
      <vt:lpstr>Cash Flow After Tax CFAT</vt:lpstr>
      <vt:lpstr>Solution , Calculation table for CFAT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Sulav Cooperative</cp:lastModifiedBy>
  <cp:revision>8</cp:revision>
  <dcterms:created xsi:type="dcterms:W3CDTF">2024-06-28T10:20:03Z</dcterms:created>
  <dcterms:modified xsi:type="dcterms:W3CDTF">2025-06-24T12:35:17Z</dcterms:modified>
</cp:coreProperties>
</file>