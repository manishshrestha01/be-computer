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75" r:id="rId13"/>
    <p:sldId id="276" r:id="rId14"/>
    <p:sldId id="266" r:id="rId15"/>
    <p:sldId id="267" r:id="rId16"/>
    <p:sldId id="268" r:id="rId17"/>
    <p:sldId id="269" r:id="rId18"/>
    <p:sldId id="270" r:id="rId19"/>
    <p:sldId id="271" r:id="rId20"/>
    <p:sldId id="272"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95D675-55A6-4343-961F-4AF90647C1F0}" type="datetimeFigureOut">
              <a:rPr lang="en-CA" smtClean="0"/>
              <a:t>2025-06-25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01DB1C-8DBD-449E-9857-DAA208E23E10}" type="slidenum">
              <a:rPr lang="en-CA" smtClean="0"/>
              <a:t>‹#›</a:t>
            </a:fld>
            <a:endParaRPr lang="en-CA"/>
          </a:p>
        </p:txBody>
      </p:sp>
    </p:spTree>
    <p:extLst>
      <p:ext uri="{BB962C8B-B14F-4D97-AF65-F5344CB8AC3E}">
        <p14:creationId xmlns:p14="http://schemas.microsoft.com/office/powerpoint/2010/main" val="781139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0201DB1C-8DBD-449E-9857-DAA208E23E10}" type="slidenum">
              <a:rPr lang="en-CA" smtClean="0"/>
              <a:t>17</a:t>
            </a:fld>
            <a:endParaRPr lang="en-CA"/>
          </a:p>
        </p:txBody>
      </p:sp>
    </p:spTree>
    <p:extLst>
      <p:ext uri="{BB962C8B-B14F-4D97-AF65-F5344CB8AC3E}">
        <p14:creationId xmlns:p14="http://schemas.microsoft.com/office/powerpoint/2010/main" val="3179535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A04AE-336E-460F-FC9C-EA43411D7F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2EB9028C-DA3D-CDD3-E5E6-B7C887EEEE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AD0C92AA-50DE-882E-42C4-D682E1388805}"/>
              </a:ext>
            </a:extLst>
          </p:cNvPr>
          <p:cNvSpPr>
            <a:spLocks noGrp="1"/>
          </p:cNvSpPr>
          <p:nvPr>
            <p:ph type="dt" sz="half" idx="10"/>
          </p:nvPr>
        </p:nvSpPr>
        <p:spPr/>
        <p:txBody>
          <a:bodyPr/>
          <a:lstStyle/>
          <a:p>
            <a:fld id="{E807124B-FE8A-49C4-9050-737D3E7B9803}" type="datetimeFigureOut">
              <a:rPr lang="en-CA" smtClean="0"/>
              <a:t>2025-06-25</a:t>
            </a:fld>
            <a:endParaRPr lang="en-CA"/>
          </a:p>
        </p:txBody>
      </p:sp>
      <p:sp>
        <p:nvSpPr>
          <p:cNvPr id="5" name="Footer Placeholder 4">
            <a:extLst>
              <a:ext uri="{FF2B5EF4-FFF2-40B4-BE49-F238E27FC236}">
                <a16:creationId xmlns:a16="http://schemas.microsoft.com/office/drawing/2014/main" id="{14399614-3D13-3BBD-5B29-96F2F256EDE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3F96FB3-3C9F-6CEE-0322-1322D5DB1702}"/>
              </a:ext>
            </a:extLst>
          </p:cNvPr>
          <p:cNvSpPr>
            <a:spLocks noGrp="1"/>
          </p:cNvSpPr>
          <p:nvPr>
            <p:ph type="sldNum" sz="quarter" idx="12"/>
          </p:nvPr>
        </p:nvSpPr>
        <p:spPr/>
        <p:txBody>
          <a:bodyPr/>
          <a:lstStyle/>
          <a:p>
            <a:fld id="{5EF680B9-F3EE-4A01-A6B3-9C630D02631E}" type="slidenum">
              <a:rPr lang="en-CA" smtClean="0"/>
              <a:t>‹#›</a:t>
            </a:fld>
            <a:endParaRPr lang="en-CA"/>
          </a:p>
        </p:txBody>
      </p:sp>
    </p:spTree>
    <p:extLst>
      <p:ext uri="{BB962C8B-B14F-4D97-AF65-F5344CB8AC3E}">
        <p14:creationId xmlns:p14="http://schemas.microsoft.com/office/powerpoint/2010/main" val="38683536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04B2F-485D-9D83-EEF5-6D263A06E9A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D54A38C-992A-EF56-9F05-7D74445EC2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07A27A4A-6FE4-7CD9-1100-B650DE763836}"/>
              </a:ext>
            </a:extLst>
          </p:cNvPr>
          <p:cNvSpPr>
            <a:spLocks noGrp="1"/>
          </p:cNvSpPr>
          <p:nvPr>
            <p:ph type="dt" sz="half" idx="10"/>
          </p:nvPr>
        </p:nvSpPr>
        <p:spPr/>
        <p:txBody>
          <a:bodyPr/>
          <a:lstStyle/>
          <a:p>
            <a:fld id="{E807124B-FE8A-49C4-9050-737D3E7B9803}" type="datetimeFigureOut">
              <a:rPr lang="en-CA" smtClean="0"/>
              <a:t>2025-06-25</a:t>
            </a:fld>
            <a:endParaRPr lang="en-CA"/>
          </a:p>
        </p:txBody>
      </p:sp>
      <p:sp>
        <p:nvSpPr>
          <p:cNvPr id="5" name="Footer Placeholder 4">
            <a:extLst>
              <a:ext uri="{FF2B5EF4-FFF2-40B4-BE49-F238E27FC236}">
                <a16:creationId xmlns:a16="http://schemas.microsoft.com/office/drawing/2014/main" id="{CB8FA695-0CE8-0E34-97B7-18D9C35DB8B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4D27389-585B-2A02-C693-A8183A81FBFD}"/>
              </a:ext>
            </a:extLst>
          </p:cNvPr>
          <p:cNvSpPr>
            <a:spLocks noGrp="1"/>
          </p:cNvSpPr>
          <p:nvPr>
            <p:ph type="sldNum" sz="quarter" idx="12"/>
          </p:nvPr>
        </p:nvSpPr>
        <p:spPr/>
        <p:txBody>
          <a:bodyPr/>
          <a:lstStyle/>
          <a:p>
            <a:fld id="{5EF680B9-F3EE-4A01-A6B3-9C630D02631E}" type="slidenum">
              <a:rPr lang="en-CA" smtClean="0"/>
              <a:t>‹#›</a:t>
            </a:fld>
            <a:endParaRPr lang="en-CA"/>
          </a:p>
        </p:txBody>
      </p:sp>
    </p:spTree>
    <p:extLst>
      <p:ext uri="{BB962C8B-B14F-4D97-AF65-F5344CB8AC3E}">
        <p14:creationId xmlns:p14="http://schemas.microsoft.com/office/powerpoint/2010/main" val="1531469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45C3E-3DAF-F06B-FF16-5ABEA054B5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7FDA874B-A35C-9D35-460F-0568E2C60A3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C6DB28-401A-E1BB-0578-5FDA40D1DA01}"/>
              </a:ext>
            </a:extLst>
          </p:cNvPr>
          <p:cNvSpPr>
            <a:spLocks noGrp="1"/>
          </p:cNvSpPr>
          <p:nvPr>
            <p:ph type="dt" sz="half" idx="10"/>
          </p:nvPr>
        </p:nvSpPr>
        <p:spPr/>
        <p:txBody>
          <a:bodyPr/>
          <a:lstStyle/>
          <a:p>
            <a:fld id="{E807124B-FE8A-49C4-9050-737D3E7B9803}" type="datetimeFigureOut">
              <a:rPr lang="en-CA" smtClean="0"/>
              <a:t>2025-06-25</a:t>
            </a:fld>
            <a:endParaRPr lang="en-CA"/>
          </a:p>
        </p:txBody>
      </p:sp>
      <p:sp>
        <p:nvSpPr>
          <p:cNvPr id="5" name="Footer Placeholder 4">
            <a:extLst>
              <a:ext uri="{FF2B5EF4-FFF2-40B4-BE49-F238E27FC236}">
                <a16:creationId xmlns:a16="http://schemas.microsoft.com/office/drawing/2014/main" id="{9A6C3F76-2075-7E57-8889-E30D37388E3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799691CA-AA49-B91D-79DA-D837862C0F45}"/>
              </a:ext>
            </a:extLst>
          </p:cNvPr>
          <p:cNvSpPr>
            <a:spLocks noGrp="1"/>
          </p:cNvSpPr>
          <p:nvPr>
            <p:ph type="sldNum" sz="quarter" idx="12"/>
          </p:nvPr>
        </p:nvSpPr>
        <p:spPr/>
        <p:txBody>
          <a:bodyPr/>
          <a:lstStyle/>
          <a:p>
            <a:fld id="{5EF680B9-F3EE-4A01-A6B3-9C630D02631E}" type="slidenum">
              <a:rPr lang="en-CA" smtClean="0"/>
              <a:t>‹#›</a:t>
            </a:fld>
            <a:endParaRPr lang="en-CA"/>
          </a:p>
        </p:txBody>
      </p:sp>
    </p:spTree>
    <p:extLst>
      <p:ext uri="{BB962C8B-B14F-4D97-AF65-F5344CB8AC3E}">
        <p14:creationId xmlns:p14="http://schemas.microsoft.com/office/powerpoint/2010/main" val="2540181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8689F-5225-A099-8383-9C718B202C5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BA369C1E-EE44-6EA0-3FB3-AB9D4ECFD6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CAC9706A-9612-C0D3-7315-BB1A6431E2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43D74F24-97E4-933E-0743-257A1368D5D3}"/>
              </a:ext>
            </a:extLst>
          </p:cNvPr>
          <p:cNvSpPr>
            <a:spLocks noGrp="1"/>
          </p:cNvSpPr>
          <p:nvPr>
            <p:ph type="dt" sz="half" idx="10"/>
          </p:nvPr>
        </p:nvSpPr>
        <p:spPr/>
        <p:txBody>
          <a:bodyPr/>
          <a:lstStyle/>
          <a:p>
            <a:fld id="{E807124B-FE8A-49C4-9050-737D3E7B9803}" type="datetimeFigureOut">
              <a:rPr lang="en-CA" smtClean="0"/>
              <a:t>2025-06-25</a:t>
            </a:fld>
            <a:endParaRPr lang="en-CA"/>
          </a:p>
        </p:txBody>
      </p:sp>
      <p:sp>
        <p:nvSpPr>
          <p:cNvPr id="6" name="Footer Placeholder 5">
            <a:extLst>
              <a:ext uri="{FF2B5EF4-FFF2-40B4-BE49-F238E27FC236}">
                <a16:creationId xmlns:a16="http://schemas.microsoft.com/office/drawing/2014/main" id="{569C96CB-8886-827F-FB21-810010DFCD5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76000C0-6248-B8FC-53BE-A4AD46E7EF84}"/>
              </a:ext>
            </a:extLst>
          </p:cNvPr>
          <p:cNvSpPr>
            <a:spLocks noGrp="1"/>
          </p:cNvSpPr>
          <p:nvPr>
            <p:ph type="sldNum" sz="quarter" idx="12"/>
          </p:nvPr>
        </p:nvSpPr>
        <p:spPr/>
        <p:txBody>
          <a:bodyPr/>
          <a:lstStyle/>
          <a:p>
            <a:fld id="{5EF680B9-F3EE-4A01-A6B3-9C630D02631E}" type="slidenum">
              <a:rPr lang="en-CA" smtClean="0"/>
              <a:t>‹#›</a:t>
            </a:fld>
            <a:endParaRPr lang="en-CA"/>
          </a:p>
        </p:txBody>
      </p:sp>
    </p:spTree>
    <p:extLst>
      <p:ext uri="{BB962C8B-B14F-4D97-AF65-F5344CB8AC3E}">
        <p14:creationId xmlns:p14="http://schemas.microsoft.com/office/powerpoint/2010/main" val="1439441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87199-2E1E-F1CE-1FE3-61DC9A6DA5ED}"/>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7A1AE55-93A8-7313-C7A8-02C87F8EF0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A62C8D-F67E-AC0A-5159-5FCA2D762B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99B37D1D-ECC9-F8D3-C74A-4222EB2FE4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51C6DD-3345-62B8-5305-0B9F2C009E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A1DAFBDB-6EF2-61B2-D692-BBEBE4EA59B8}"/>
              </a:ext>
            </a:extLst>
          </p:cNvPr>
          <p:cNvSpPr>
            <a:spLocks noGrp="1"/>
          </p:cNvSpPr>
          <p:nvPr>
            <p:ph type="dt" sz="half" idx="10"/>
          </p:nvPr>
        </p:nvSpPr>
        <p:spPr/>
        <p:txBody>
          <a:bodyPr/>
          <a:lstStyle/>
          <a:p>
            <a:fld id="{E807124B-FE8A-49C4-9050-737D3E7B9803}" type="datetimeFigureOut">
              <a:rPr lang="en-CA" smtClean="0"/>
              <a:t>2025-06-25</a:t>
            </a:fld>
            <a:endParaRPr lang="en-CA"/>
          </a:p>
        </p:txBody>
      </p:sp>
      <p:sp>
        <p:nvSpPr>
          <p:cNvPr id="8" name="Footer Placeholder 7">
            <a:extLst>
              <a:ext uri="{FF2B5EF4-FFF2-40B4-BE49-F238E27FC236}">
                <a16:creationId xmlns:a16="http://schemas.microsoft.com/office/drawing/2014/main" id="{FA165DA3-DC9E-F87F-5222-292A02DD7E77}"/>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9ABD2A99-CF4C-93E9-3A83-3C5ADB9F3604}"/>
              </a:ext>
            </a:extLst>
          </p:cNvPr>
          <p:cNvSpPr>
            <a:spLocks noGrp="1"/>
          </p:cNvSpPr>
          <p:nvPr>
            <p:ph type="sldNum" sz="quarter" idx="12"/>
          </p:nvPr>
        </p:nvSpPr>
        <p:spPr/>
        <p:txBody>
          <a:bodyPr/>
          <a:lstStyle/>
          <a:p>
            <a:fld id="{5EF680B9-F3EE-4A01-A6B3-9C630D02631E}" type="slidenum">
              <a:rPr lang="en-CA" smtClean="0"/>
              <a:t>‹#›</a:t>
            </a:fld>
            <a:endParaRPr lang="en-CA"/>
          </a:p>
        </p:txBody>
      </p:sp>
    </p:spTree>
    <p:extLst>
      <p:ext uri="{BB962C8B-B14F-4D97-AF65-F5344CB8AC3E}">
        <p14:creationId xmlns:p14="http://schemas.microsoft.com/office/powerpoint/2010/main" val="253258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3F3E4-9C96-5C99-261D-71A8DD64184D}"/>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E8DB0420-6789-F1D8-0286-AE3163E1F1D5}"/>
              </a:ext>
            </a:extLst>
          </p:cNvPr>
          <p:cNvSpPr>
            <a:spLocks noGrp="1"/>
          </p:cNvSpPr>
          <p:nvPr>
            <p:ph type="dt" sz="half" idx="10"/>
          </p:nvPr>
        </p:nvSpPr>
        <p:spPr/>
        <p:txBody>
          <a:bodyPr/>
          <a:lstStyle/>
          <a:p>
            <a:fld id="{E807124B-FE8A-49C4-9050-737D3E7B9803}" type="datetimeFigureOut">
              <a:rPr lang="en-CA" smtClean="0"/>
              <a:t>2025-06-25</a:t>
            </a:fld>
            <a:endParaRPr lang="en-CA"/>
          </a:p>
        </p:txBody>
      </p:sp>
      <p:sp>
        <p:nvSpPr>
          <p:cNvPr id="4" name="Footer Placeholder 3">
            <a:extLst>
              <a:ext uri="{FF2B5EF4-FFF2-40B4-BE49-F238E27FC236}">
                <a16:creationId xmlns:a16="http://schemas.microsoft.com/office/drawing/2014/main" id="{C805BF2A-198A-F320-A272-A8C0502433D9}"/>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1098B295-DF29-5CAC-096A-A89B5383D513}"/>
              </a:ext>
            </a:extLst>
          </p:cNvPr>
          <p:cNvSpPr>
            <a:spLocks noGrp="1"/>
          </p:cNvSpPr>
          <p:nvPr>
            <p:ph type="sldNum" sz="quarter" idx="12"/>
          </p:nvPr>
        </p:nvSpPr>
        <p:spPr/>
        <p:txBody>
          <a:bodyPr/>
          <a:lstStyle/>
          <a:p>
            <a:fld id="{5EF680B9-F3EE-4A01-A6B3-9C630D02631E}" type="slidenum">
              <a:rPr lang="en-CA" smtClean="0"/>
              <a:t>‹#›</a:t>
            </a:fld>
            <a:endParaRPr lang="en-CA"/>
          </a:p>
        </p:txBody>
      </p:sp>
    </p:spTree>
    <p:extLst>
      <p:ext uri="{BB962C8B-B14F-4D97-AF65-F5344CB8AC3E}">
        <p14:creationId xmlns:p14="http://schemas.microsoft.com/office/powerpoint/2010/main" val="2566855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3C8EE3-50BC-D4D1-D196-CC58338BA1F0}"/>
              </a:ext>
            </a:extLst>
          </p:cNvPr>
          <p:cNvSpPr>
            <a:spLocks noGrp="1"/>
          </p:cNvSpPr>
          <p:nvPr>
            <p:ph type="dt" sz="half" idx="10"/>
          </p:nvPr>
        </p:nvSpPr>
        <p:spPr/>
        <p:txBody>
          <a:bodyPr/>
          <a:lstStyle/>
          <a:p>
            <a:fld id="{E807124B-FE8A-49C4-9050-737D3E7B9803}" type="datetimeFigureOut">
              <a:rPr lang="en-CA" smtClean="0"/>
              <a:t>2025-06-25</a:t>
            </a:fld>
            <a:endParaRPr lang="en-CA"/>
          </a:p>
        </p:txBody>
      </p:sp>
      <p:sp>
        <p:nvSpPr>
          <p:cNvPr id="3" name="Footer Placeholder 2">
            <a:extLst>
              <a:ext uri="{FF2B5EF4-FFF2-40B4-BE49-F238E27FC236}">
                <a16:creationId xmlns:a16="http://schemas.microsoft.com/office/drawing/2014/main" id="{EDAB3B85-AB13-A898-AD4E-F29F4CD15C90}"/>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9663AAA5-5428-A230-7031-1827ACD24048}"/>
              </a:ext>
            </a:extLst>
          </p:cNvPr>
          <p:cNvSpPr>
            <a:spLocks noGrp="1"/>
          </p:cNvSpPr>
          <p:nvPr>
            <p:ph type="sldNum" sz="quarter" idx="12"/>
          </p:nvPr>
        </p:nvSpPr>
        <p:spPr/>
        <p:txBody>
          <a:bodyPr/>
          <a:lstStyle/>
          <a:p>
            <a:fld id="{5EF680B9-F3EE-4A01-A6B3-9C630D02631E}" type="slidenum">
              <a:rPr lang="en-CA" smtClean="0"/>
              <a:t>‹#›</a:t>
            </a:fld>
            <a:endParaRPr lang="en-CA"/>
          </a:p>
        </p:txBody>
      </p:sp>
    </p:spTree>
    <p:extLst>
      <p:ext uri="{BB962C8B-B14F-4D97-AF65-F5344CB8AC3E}">
        <p14:creationId xmlns:p14="http://schemas.microsoft.com/office/powerpoint/2010/main" val="69484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B52B7-B81B-1EA6-E9A9-D3FD39CD06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973259E5-AD0B-A484-E4F3-0FAD5B3C70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4B9B191A-BA9E-FA27-2616-B6E6FA9D27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24F3A3-0B12-9FA3-3CDB-798A0F443BC7}"/>
              </a:ext>
            </a:extLst>
          </p:cNvPr>
          <p:cNvSpPr>
            <a:spLocks noGrp="1"/>
          </p:cNvSpPr>
          <p:nvPr>
            <p:ph type="dt" sz="half" idx="10"/>
          </p:nvPr>
        </p:nvSpPr>
        <p:spPr/>
        <p:txBody>
          <a:bodyPr/>
          <a:lstStyle/>
          <a:p>
            <a:fld id="{E807124B-FE8A-49C4-9050-737D3E7B9803}" type="datetimeFigureOut">
              <a:rPr lang="en-CA" smtClean="0"/>
              <a:t>2025-06-25</a:t>
            </a:fld>
            <a:endParaRPr lang="en-CA"/>
          </a:p>
        </p:txBody>
      </p:sp>
      <p:sp>
        <p:nvSpPr>
          <p:cNvPr id="6" name="Footer Placeholder 5">
            <a:extLst>
              <a:ext uri="{FF2B5EF4-FFF2-40B4-BE49-F238E27FC236}">
                <a16:creationId xmlns:a16="http://schemas.microsoft.com/office/drawing/2014/main" id="{ACEEAD0C-7702-F9F3-5D8E-B4E150F2ECE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B10D7D0-6AD4-6834-2F0E-E5E62D8ED024}"/>
              </a:ext>
            </a:extLst>
          </p:cNvPr>
          <p:cNvSpPr>
            <a:spLocks noGrp="1"/>
          </p:cNvSpPr>
          <p:nvPr>
            <p:ph type="sldNum" sz="quarter" idx="12"/>
          </p:nvPr>
        </p:nvSpPr>
        <p:spPr/>
        <p:txBody>
          <a:bodyPr/>
          <a:lstStyle/>
          <a:p>
            <a:fld id="{5EF680B9-F3EE-4A01-A6B3-9C630D02631E}" type="slidenum">
              <a:rPr lang="en-CA" smtClean="0"/>
              <a:t>‹#›</a:t>
            </a:fld>
            <a:endParaRPr lang="en-CA"/>
          </a:p>
        </p:txBody>
      </p:sp>
    </p:spTree>
    <p:extLst>
      <p:ext uri="{BB962C8B-B14F-4D97-AF65-F5344CB8AC3E}">
        <p14:creationId xmlns:p14="http://schemas.microsoft.com/office/powerpoint/2010/main" val="4283733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47DF7-8591-05A7-C620-AC13B55880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7445F72B-96C1-BD13-BEDC-2365D56AE5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C0B691E3-9C80-7AAC-0186-AACA5405AA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4FF074-56E4-2961-701C-3C07EE9704ED}"/>
              </a:ext>
            </a:extLst>
          </p:cNvPr>
          <p:cNvSpPr>
            <a:spLocks noGrp="1"/>
          </p:cNvSpPr>
          <p:nvPr>
            <p:ph type="dt" sz="half" idx="10"/>
          </p:nvPr>
        </p:nvSpPr>
        <p:spPr/>
        <p:txBody>
          <a:bodyPr/>
          <a:lstStyle/>
          <a:p>
            <a:fld id="{E807124B-FE8A-49C4-9050-737D3E7B9803}" type="datetimeFigureOut">
              <a:rPr lang="en-CA" smtClean="0"/>
              <a:t>2025-06-25</a:t>
            </a:fld>
            <a:endParaRPr lang="en-CA"/>
          </a:p>
        </p:txBody>
      </p:sp>
      <p:sp>
        <p:nvSpPr>
          <p:cNvPr id="6" name="Footer Placeholder 5">
            <a:extLst>
              <a:ext uri="{FF2B5EF4-FFF2-40B4-BE49-F238E27FC236}">
                <a16:creationId xmlns:a16="http://schemas.microsoft.com/office/drawing/2014/main" id="{7F355C2C-44CB-8753-DF26-BA4E0599F15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7711811-C84B-56D0-0AEA-279856C334E2}"/>
              </a:ext>
            </a:extLst>
          </p:cNvPr>
          <p:cNvSpPr>
            <a:spLocks noGrp="1"/>
          </p:cNvSpPr>
          <p:nvPr>
            <p:ph type="sldNum" sz="quarter" idx="12"/>
          </p:nvPr>
        </p:nvSpPr>
        <p:spPr/>
        <p:txBody>
          <a:bodyPr/>
          <a:lstStyle/>
          <a:p>
            <a:fld id="{5EF680B9-F3EE-4A01-A6B3-9C630D02631E}" type="slidenum">
              <a:rPr lang="en-CA" smtClean="0"/>
              <a:t>‹#›</a:t>
            </a:fld>
            <a:endParaRPr lang="en-CA"/>
          </a:p>
        </p:txBody>
      </p:sp>
    </p:spTree>
    <p:extLst>
      <p:ext uri="{BB962C8B-B14F-4D97-AF65-F5344CB8AC3E}">
        <p14:creationId xmlns:p14="http://schemas.microsoft.com/office/powerpoint/2010/main" val="557671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9E903-CCDA-A0A1-3FA3-731A9ECC0A63}"/>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374F040-5541-8C16-6FC6-B855057C4C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C31E776-488F-C5CC-B20D-4D9765754C23}"/>
              </a:ext>
            </a:extLst>
          </p:cNvPr>
          <p:cNvSpPr>
            <a:spLocks noGrp="1"/>
          </p:cNvSpPr>
          <p:nvPr>
            <p:ph type="dt" sz="half" idx="10"/>
          </p:nvPr>
        </p:nvSpPr>
        <p:spPr/>
        <p:txBody>
          <a:bodyPr/>
          <a:lstStyle/>
          <a:p>
            <a:fld id="{E807124B-FE8A-49C4-9050-737D3E7B9803}" type="datetimeFigureOut">
              <a:rPr lang="en-CA" smtClean="0"/>
              <a:t>2025-06-25</a:t>
            </a:fld>
            <a:endParaRPr lang="en-CA"/>
          </a:p>
        </p:txBody>
      </p:sp>
      <p:sp>
        <p:nvSpPr>
          <p:cNvPr id="5" name="Footer Placeholder 4">
            <a:extLst>
              <a:ext uri="{FF2B5EF4-FFF2-40B4-BE49-F238E27FC236}">
                <a16:creationId xmlns:a16="http://schemas.microsoft.com/office/drawing/2014/main" id="{46240AB2-A1BA-89C1-E40C-3B21ADBBB31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FF8AEF67-712D-9D20-CAA5-FDA835652F15}"/>
              </a:ext>
            </a:extLst>
          </p:cNvPr>
          <p:cNvSpPr>
            <a:spLocks noGrp="1"/>
          </p:cNvSpPr>
          <p:nvPr>
            <p:ph type="sldNum" sz="quarter" idx="12"/>
          </p:nvPr>
        </p:nvSpPr>
        <p:spPr/>
        <p:txBody>
          <a:bodyPr/>
          <a:lstStyle/>
          <a:p>
            <a:fld id="{5EF680B9-F3EE-4A01-A6B3-9C630D02631E}" type="slidenum">
              <a:rPr lang="en-CA" smtClean="0"/>
              <a:t>‹#›</a:t>
            </a:fld>
            <a:endParaRPr lang="en-CA"/>
          </a:p>
        </p:txBody>
      </p:sp>
    </p:spTree>
    <p:extLst>
      <p:ext uri="{BB962C8B-B14F-4D97-AF65-F5344CB8AC3E}">
        <p14:creationId xmlns:p14="http://schemas.microsoft.com/office/powerpoint/2010/main" val="923678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6BD28D-BA43-5CF8-9F86-CC0644B891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3E45C9DB-CDFF-7836-2EDD-93FFB3FBDF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3DB604CF-8AC4-4295-A035-C240BB46FCE3}"/>
              </a:ext>
            </a:extLst>
          </p:cNvPr>
          <p:cNvSpPr>
            <a:spLocks noGrp="1"/>
          </p:cNvSpPr>
          <p:nvPr>
            <p:ph type="dt" sz="half" idx="10"/>
          </p:nvPr>
        </p:nvSpPr>
        <p:spPr/>
        <p:txBody>
          <a:bodyPr/>
          <a:lstStyle/>
          <a:p>
            <a:fld id="{E807124B-FE8A-49C4-9050-737D3E7B9803}" type="datetimeFigureOut">
              <a:rPr lang="en-CA" smtClean="0"/>
              <a:t>2025-06-25</a:t>
            </a:fld>
            <a:endParaRPr lang="en-CA"/>
          </a:p>
        </p:txBody>
      </p:sp>
      <p:sp>
        <p:nvSpPr>
          <p:cNvPr id="5" name="Footer Placeholder 4">
            <a:extLst>
              <a:ext uri="{FF2B5EF4-FFF2-40B4-BE49-F238E27FC236}">
                <a16:creationId xmlns:a16="http://schemas.microsoft.com/office/drawing/2014/main" id="{BD1DC80B-0F5C-5774-262A-F0F40900098D}"/>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EB8A47B8-B1FB-CEE2-8F86-0E3F1A686308}"/>
              </a:ext>
            </a:extLst>
          </p:cNvPr>
          <p:cNvSpPr>
            <a:spLocks noGrp="1"/>
          </p:cNvSpPr>
          <p:nvPr>
            <p:ph type="sldNum" sz="quarter" idx="12"/>
          </p:nvPr>
        </p:nvSpPr>
        <p:spPr/>
        <p:txBody>
          <a:bodyPr/>
          <a:lstStyle/>
          <a:p>
            <a:fld id="{5EF680B9-F3EE-4A01-A6B3-9C630D02631E}" type="slidenum">
              <a:rPr lang="en-CA" smtClean="0"/>
              <a:t>‹#›</a:t>
            </a:fld>
            <a:endParaRPr lang="en-CA"/>
          </a:p>
        </p:txBody>
      </p:sp>
    </p:spTree>
    <p:extLst>
      <p:ext uri="{BB962C8B-B14F-4D97-AF65-F5344CB8AC3E}">
        <p14:creationId xmlns:p14="http://schemas.microsoft.com/office/powerpoint/2010/main" val="1099918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34BB39A7-29A8-4968-A138-135B50AE2ABE}" type="datetimeFigureOut">
              <a:rPr lang="en-US" smtClean="0"/>
              <a:pPr/>
              <a:t>6/25/2025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B212483-30D8-4C07-9BAC-77624B632010}" type="slidenum">
              <a:rPr lang="en-US" smtClean="0"/>
              <a:pPr/>
              <a:t>‹#›</a:t>
            </a:fld>
            <a:endParaRPr lang="en-US"/>
          </a:p>
        </p:txBody>
      </p:sp>
    </p:spTree>
    <p:extLst>
      <p:ext uri="{BB962C8B-B14F-4D97-AF65-F5344CB8AC3E}">
        <p14:creationId xmlns:p14="http://schemas.microsoft.com/office/powerpoint/2010/main" val="1194220110"/>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4BB39A7-29A8-4968-A138-135B50AE2ABE}" type="datetimeFigureOut">
              <a:rPr lang="en-US" smtClean="0"/>
              <a:pPr/>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212483-30D8-4C07-9BAC-77624B632010}" type="slidenum">
              <a:rPr lang="en-US" smtClean="0"/>
              <a:pPr/>
              <a:t>‹#›</a:t>
            </a:fld>
            <a:endParaRPr lang="en-US"/>
          </a:p>
        </p:txBody>
      </p:sp>
    </p:spTree>
    <p:extLst>
      <p:ext uri="{BB962C8B-B14F-4D97-AF65-F5344CB8AC3E}">
        <p14:creationId xmlns:p14="http://schemas.microsoft.com/office/powerpoint/2010/main" val="34656477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34BB39A7-29A8-4968-A138-135B50AE2ABE}" type="datetimeFigureOut">
              <a:rPr lang="en-US" smtClean="0"/>
              <a:pPr/>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212483-30D8-4C07-9BAC-77624B632010}" type="slidenum">
              <a:rPr lang="en-US" smtClean="0"/>
              <a:pPr/>
              <a:t>‹#›</a:t>
            </a:fld>
            <a:endParaRPr lang="en-US"/>
          </a:p>
        </p:txBody>
      </p:sp>
    </p:spTree>
    <p:extLst>
      <p:ext uri="{BB962C8B-B14F-4D97-AF65-F5344CB8AC3E}">
        <p14:creationId xmlns:p14="http://schemas.microsoft.com/office/powerpoint/2010/main" val="4056732703"/>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4BB39A7-29A8-4968-A138-135B50AE2ABE}" type="datetimeFigureOut">
              <a:rPr lang="en-US" smtClean="0"/>
              <a:pPr/>
              <a:t>6/25/2025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212483-30D8-4C07-9BAC-77624B632010}" type="slidenum">
              <a:rPr lang="en-US" smtClean="0"/>
              <a:pPr/>
              <a:t>‹#›</a:t>
            </a:fld>
            <a:endParaRPr lang="en-US"/>
          </a:p>
        </p:txBody>
      </p:sp>
    </p:spTree>
    <p:extLst>
      <p:ext uri="{BB962C8B-B14F-4D97-AF65-F5344CB8AC3E}">
        <p14:creationId xmlns:p14="http://schemas.microsoft.com/office/powerpoint/2010/main" val="2996882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34BB39A7-29A8-4968-A138-135B50AE2ABE}" type="datetimeFigureOut">
              <a:rPr lang="en-US" smtClean="0"/>
              <a:pPr/>
              <a:t>6/25/2025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212483-30D8-4C07-9BAC-77624B632010}" type="slidenum">
              <a:rPr lang="en-US" smtClean="0"/>
              <a:pPr/>
              <a:t>‹#›</a:t>
            </a:fld>
            <a:endParaRPr lang="en-US"/>
          </a:p>
        </p:txBody>
      </p:sp>
    </p:spTree>
    <p:extLst>
      <p:ext uri="{BB962C8B-B14F-4D97-AF65-F5344CB8AC3E}">
        <p14:creationId xmlns:p14="http://schemas.microsoft.com/office/powerpoint/2010/main" val="24508441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34BB39A7-29A8-4968-A138-135B50AE2ABE}" type="datetimeFigureOut">
              <a:rPr lang="en-US" smtClean="0"/>
              <a:pPr/>
              <a:t>6/25/2025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212483-30D8-4C07-9BAC-77624B632010}" type="slidenum">
              <a:rPr lang="en-US" smtClean="0"/>
              <a:pPr/>
              <a:t>‹#›</a:t>
            </a:fld>
            <a:endParaRPr lang="en-US"/>
          </a:p>
        </p:txBody>
      </p:sp>
    </p:spTree>
    <p:extLst>
      <p:ext uri="{BB962C8B-B14F-4D97-AF65-F5344CB8AC3E}">
        <p14:creationId xmlns:p14="http://schemas.microsoft.com/office/powerpoint/2010/main" val="9553301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BB39A7-29A8-4968-A138-135B50AE2ABE}" type="datetimeFigureOut">
              <a:rPr lang="en-US" smtClean="0"/>
              <a:pPr/>
              <a:t>6/25/2025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212483-30D8-4C07-9BAC-77624B632010}" type="slidenum">
              <a:rPr lang="en-US" smtClean="0"/>
              <a:pPr/>
              <a:t>‹#›</a:t>
            </a:fld>
            <a:endParaRPr lang="en-US"/>
          </a:p>
        </p:txBody>
      </p:sp>
    </p:spTree>
    <p:extLst>
      <p:ext uri="{BB962C8B-B14F-4D97-AF65-F5344CB8AC3E}">
        <p14:creationId xmlns:p14="http://schemas.microsoft.com/office/powerpoint/2010/main" val="23955516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4BB39A7-29A8-4968-A138-135B50AE2ABE}" type="datetimeFigureOut">
              <a:rPr lang="en-US" smtClean="0"/>
              <a:pPr/>
              <a:t>6/25/2025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212483-30D8-4C07-9BAC-77624B632010}" type="slidenum">
              <a:rPr lang="en-US" smtClean="0"/>
              <a:pPr/>
              <a:t>‹#›</a:t>
            </a:fld>
            <a:endParaRPr lang="en-US"/>
          </a:p>
        </p:txBody>
      </p:sp>
    </p:spTree>
    <p:extLst>
      <p:ext uri="{BB962C8B-B14F-4D97-AF65-F5344CB8AC3E}">
        <p14:creationId xmlns:p14="http://schemas.microsoft.com/office/powerpoint/2010/main" val="25950602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34BB39A7-29A8-4968-A138-135B50AE2ABE}" type="datetimeFigureOut">
              <a:rPr lang="en-US" smtClean="0"/>
              <a:pPr/>
              <a:t>6/25/2025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69600" y="6356351"/>
            <a:ext cx="812800" cy="365125"/>
          </a:xfrm>
        </p:spPr>
        <p:txBody>
          <a:bodyPr/>
          <a:lstStyle/>
          <a:p>
            <a:fld id="{9B212483-30D8-4C07-9BAC-77624B632010}" type="slidenum">
              <a:rPr lang="en-US" smtClean="0"/>
              <a:pPr/>
              <a:t>‹#›</a:t>
            </a:fld>
            <a:endParaRPr lang="en-US"/>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Tree>
    <p:extLst>
      <p:ext uri="{BB962C8B-B14F-4D97-AF65-F5344CB8AC3E}">
        <p14:creationId xmlns:p14="http://schemas.microsoft.com/office/powerpoint/2010/main" val="20799538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4BB39A7-29A8-4968-A138-135B50AE2ABE}" type="datetimeFigureOut">
              <a:rPr lang="en-US" smtClean="0"/>
              <a:pPr/>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212483-30D8-4C07-9BAC-77624B632010}" type="slidenum">
              <a:rPr lang="en-US" smtClean="0"/>
              <a:pPr/>
              <a:t>‹#›</a:t>
            </a:fld>
            <a:endParaRPr lang="en-US"/>
          </a:p>
        </p:txBody>
      </p:sp>
    </p:spTree>
    <p:extLst>
      <p:ext uri="{BB962C8B-B14F-4D97-AF65-F5344CB8AC3E}">
        <p14:creationId xmlns:p14="http://schemas.microsoft.com/office/powerpoint/2010/main" val="25709543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34BB39A7-29A8-4968-A138-135B50AE2ABE}" type="datetimeFigureOut">
              <a:rPr lang="en-US" smtClean="0"/>
              <a:pPr/>
              <a:t>6/25/2025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212483-30D8-4C07-9BAC-77624B632010}" type="slidenum">
              <a:rPr lang="en-US" smtClean="0"/>
              <a:pPr/>
              <a:t>‹#›</a:t>
            </a:fld>
            <a:endParaRPr lang="en-US"/>
          </a:p>
        </p:txBody>
      </p:sp>
    </p:spTree>
    <p:extLst>
      <p:ext uri="{BB962C8B-B14F-4D97-AF65-F5344CB8AC3E}">
        <p14:creationId xmlns:p14="http://schemas.microsoft.com/office/powerpoint/2010/main" val="3811422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40F7CC-3506-123F-228B-4098A92332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CCFAC7B-5DBE-43A3-957B-843FC95320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8634C1B-D961-FAF1-6C1B-7378278A4FB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07124B-FE8A-49C4-9050-737D3E7B9803}" type="datetimeFigureOut">
              <a:rPr lang="en-CA" smtClean="0"/>
              <a:t>2025-06-25</a:t>
            </a:fld>
            <a:endParaRPr lang="en-CA"/>
          </a:p>
        </p:txBody>
      </p:sp>
      <p:sp>
        <p:nvSpPr>
          <p:cNvPr id="5" name="Footer Placeholder 4">
            <a:extLst>
              <a:ext uri="{FF2B5EF4-FFF2-40B4-BE49-F238E27FC236}">
                <a16:creationId xmlns:a16="http://schemas.microsoft.com/office/drawing/2014/main" id="{BD14B62B-81B5-31EE-1694-85B2FF1CB3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30EFE6E1-BAA2-1FE0-EBE2-D865495DEC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680B9-F3EE-4A01-A6B3-9C630D02631E}" type="slidenum">
              <a:rPr lang="en-CA" smtClean="0"/>
              <a:t>‹#›</a:t>
            </a:fld>
            <a:endParaRPr lang="en-CA"/>
          </a:p>
        </p:txBody>
      </p:sp>
    </p:spTree>
    <p:extLst>
      <p:ext uri="{BB962C8B-B14F-4D97-AF65-F5344CB8AC3E}">
        <p14:creationId xmlns:p14="http://schemas.microsoft.com/office/powerpoint/2010/main" val="8358114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34BB39A7-29A8-4968-A138-135B50AE2ABE}" type="datetimeFigureOut">
              <a:rPr lang="en-US" smtClean="0"/>
              <a:pPr/>
              <a:t>6/25/2025</a:t>
            </a:fld>
            <a:endParaRPr lang="en-US"/>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9B212483-30D8-4C07-9BAC-77624B632010}" type="slidenum">
              <a:rPr lang="en-US" smtClean="0"/>
              <a:pPr/>
              <a:t>‹#›</a:t>
            </a:fld>
            <a:endParaRPr lang="en-US"/>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sz="1800"/>
            </a:p>
          </p:txBody>
        </p:sp>
      </p:grpSp>
    </p:spTree>
    <p:extLst>
      <p:ext uri="{BB962C8B-B14F-4D97-AF65-F5344CB8AC3E}">
        <p14:creationId xmlns:p14="http://schemas.microsoft.com/office/powerpoint/2010/main" val="38090823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C3A91-4B8E-8B34-2522-16C11F0EF2B2}"/>
              </a:ext>
            </a:extLst>
          </p:cNvPr>
          <p:cNvSpPr>
            <a:spLocks noGrp="1"/>
          </p:cNvSpPr>
          <p:nvPr>
            <p:ph type="ctrTitle"/>
          </p:nvPr>
        </p:nvSpPr>
        <p:spPr/>
        <p:txBody>
          <a:bodyPr/>
          <a:lstStyle/>
          <a:p>
            <a:r>
              <a:rPr lang="en-US" dirty="0"/>
              <a:t>Cost concept </a:t>
            </a:r>
            <a:endParaRPr lang="en-CA" dirty="0"/>
          </a:p>
        </p:txBody>
      </p:sp>
      <p:sp>
        <p:nvSpPr>
          <p:cNvPr id="3" name="Subtitle 2">
            <a:extLst>
              <a:ext uri="{FF2B5EF4-FFF2-40B4-BE49-F238E27FC236}">
                <a16:creationId xmlns:a16="http://schemas.microsoft.com/office/drawing/2014/main" id="{DE713F84-BAF6-19BC-C1C0-3697F1AF9782}"/>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3781975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F8634-F3C8-B591-F169-658C672CCBD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C39264A-5039-C5F2-4D5B-AEE0C8225C77}"/>
              </a:ext>
            </a:extLst>
          </p:cNvPr>
          <p:cNvSpPr>
            <a:spLocks noGrp="1"/>
          </p:cNvSpPr>
          <p:nvPr>
            <p:ph idx="1"/>
          </p:nvPr>
        </p:nvSpPr>
        <p:spPr/>
        <p:txBody>
          <a:bodyPr>
            <a:normAutofit lnSpcReduction="10000"/>
          </a:bodyPr>
          <a:lstStyle/>
          <a:p>
            <a:r>
              <a:rPr lang="en-US" dirty="0"/>
              <a:t>Cost </a:t>
            </a:r>
          </a:p>
          <a:p>
            <a:r>
              <a:rPr lang="en-US" dirty="0"/>
              <a:t>Cost is a resource sacrificed or foregone to achieve a specific objective. It is usually ensured as the monetary amount that must be paid to acquire goods and services. </a:t>
            </a:r>
          </a:p>
          <a:p>
            <a:r>
              <a:rPr lang="en-US" dirty="0"/>
              <a:t>A measurement of what must be given up in order to in order to obtain something. </a:t>
            </a:r>
          </a:p>
          <a:p>
            <a:r>
              <a:rPr lang="en-US" dirty="0"/>
              <a:t>The value of the inputs needed to produce any goods and services, that has to be measured in some units usually money.</a:t>
            </a:r>
          </a:p>
          <a:p>
            <a:r>
              <a:rPr lang="en-US" dirty="0"/>
              <a:t>The amount paid for a thing is called cost or cost is the amount of expenditure incurred on a given thing. </a:t>
            </a:r>
          </a:p>
          <a:p>
            <a:endParaRPr lang="en-CA" dirty="0"/>
          </a:p>
        </p:txBody>
      </p:sp>
    </p:spTree>
    <p:extLst>
      <p:ext uri="{BB962C8B-B14F-4D97-AF65-F5344CB8AC3E}">
        <p14:creationId xmlns:p14="http://schemas.microsoft.com/office/powerpoint/2010/main" val="265515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DAB4B-90C4-1E6F-430A-E2F0D0A5E8C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4F880CA1-863B-2483-92E3-FB77E46EE667}"/>
              </a:ext>
            </a:extLst>
          </p:cNvPr>
          <p:cNvSpPr>
            <a:spLocks noGrp="1"/>
          </p:cNvSpPr>
          <p:nvPr>
            <p:ph idx="1"/>
          </p:nvPr>
        </p:nvSpPr>
        <p:spPr/>
        <p:txBody>
          <a:bodyPr>
            <a:normAutofit fontScale="92500" lnSpcReduction="20000"/>
          </a:bodyPr>
          <a:lstStyle/>
          <a:p>
            <a:r>
              <a:rPr lang="en-US" dirty="0"/>
              <a:t>1.	Production costs/manufacturing cost, costs involved directly to convert the raw materials into finished goods are called production costs. This cost is also called manufacturing expensive. Direct </a:t>
            </a:r>
            <a:r>
              <a:rPr lang="en-US" dirty="0" err="1"/>
              <a:t>labour</a:t>
            </a:r>
            <a:r>
              <a:rPr lang="en-US" dirty="0"/>
              <a:t> cost, direct materials cost, and direct expenses are production costs. </a:t>
            </a:r>
          </a:p>
          <a:p>
            <a:r>
              <a:rPr lang="en-US" dirty="0"/>
              <a:t>Manufacturing cost can be further divided into </a:t>
            </a:r>
          </a:p>
          <a:p>
            <a:r>
              <a:rPr lang="en-US" dirty="0"/>
              <a:t>a.	Prime cost or direct cost </a:t>
            </a:r>
          </a:p>
          <a:p>
            <a:r>
              <a:rPr lang="en-US" dirty="0"/>
              <a:t>Prime costs are those costs which are related directly with the product. Prime cost is the aggregate of the following three elements. </a:t>
            </a:r>
          </a:p>
          <a:p>
            <a:r>
              <a:rPr lang="en-US" dirty="0" err="1"/>
              <a:t>i</a:t>
            </a:r>
            <a:r>
              <a:rPr lang="en-US" dirty="0"/>
              <a:t>.	Direct materials cost: it is the cost associated with those materials and components that can be directly and conveniently traced to a unit of product. Cost of paper in a book, wood in furniture, metal in bridge are some examples of direct materials costs.  </a:t>
            </a:r>
          </a:p>
          <a:p>
            <a:endParaRPr lang="en-CA" dirty="0"/>
          </a:p>
        </p:txBody>
      </p:sp>
    </p:spTree>
    <p:extLst>
      <p:ext uri="{BB962C8B-B14F-4D97-AF65-F5344CB8AC3E}">
        <p14:creationId xmlns:p14="http://schemas.microsoft.com/office/powerpoint/2010/main" val="1712846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A5086-D0DF-87CD-A9EA-FBC98091691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803090E-417A-4B7E-B254-A92A86EC253D}"/>
              </a:ext>
            </a:extLst>
          </p:cNvPr>
          <p:cNvSpPr>
            <a:spLocks noGrp="1"/>
          </p:cNvSpPr>
          <p:nvPr>
            <p:ph idx="1"/>
          </p:nvPr>
        </p:nvSpPr>
        <p:spPr/>
        <p:txBody>
          <a:bodyPr>
            <a:normAutofit fontScale="77500" lnSpcReduction="20000"/>
          </a:bodyPr>
          <a:lstStyle/>
          <a:p>
            <a:r>
              <a:rPr lang="en-US" dirty="0"/>
              <a:t>ii.	Direct </a:t>
            </a:r>
            <a:r>
              <a:rPr lang="en-US" dirty="0" err="1"/>
              <a:t>labour</a:t>
            </a:r>
            <a:r>
              <a:rPr lang="en-US" dirty="0"/>
              <a:t> cost: the costs of production </a:t>
            </a:r>
            <a:r>
              <a:rPr lang="en-US" dirty="0" err="1"/>
              <a:t>labour</a:t>
            </a:r>
            <a:r>
              <a:rPr lang="en-US" dirty="0"/>
              <a:t> that can be directly and conveniently traced to a unit of product are called direct </a:t>
            </a:r>
            <a:r>
              <a:rPr lang="en-US" dirty="0" err="1"/>
              <a:t>labour</a:t>
            </a:r>
            <a:r>
              <a:rPr lang="en-US" dirty="0"/>
              <a:t> costs. Costs associated with chef in restaurant, welders in metal fabrication, carpenters or masons in building works, machine operators in manufacturing operations are some examples of direct </a:t>
            </a:r>
            <a:r>
              <a:rPr lang="en-US" dirty="0" err="1"/>
              <a:t>labour</a:t>
            </a:r>
            <a:r>
              <a:rPr lang="en-US" dirty="0"/>
              <a:t> costs. </a:t>
            </a:r>
          </a:p>
          <a:p>
            <a:r>
              <a:rPr lang="en-US" dirty="0"/>
              <a:t>iii.	Direct expenses: the production expenses that can be directly and conveniently traced to a unit of product are direct expenses. Special design and drawings, hire of special tools and equipment </a:t>
            </a:r>
            <a:r>
              <a:rPr lang="en-US" dirty="0" err="1"/>
              <a:t>etc</a:t>
            </a:r>
            <a:r>
              <a:rPr lang="en-US" dirty="0"/>
              <a:t> are some examples of direct expensive. </a:t>
            </a:r>
          </a:p>
          <a:p>
            <a:r>
              <a:rPr lang="en-US" dirty="0"/>
              <a:t>b.	Overhead costs indirect costs.</a:t>
            </a:r>
          </a:p>
          <a:p>
            <a:r>
              <a:rPr lang="en-US" dirty="0"/>
              <a:t>Overhead costs are related to the particular cost object that cannot be traced to specific units of product. Overhead cost is the aggregate of following three elements. </a:t>
            </a:r>
          </a:p>
          <a:p>
            <a:r>
              <a:rPr lang="en-US" dirty="0" err="1"/>
              <a:t>i</a:t>
            </a:r>
            <a:r>
              <a:rPr lang="en-US" dirty="0"/>
              <a:t>.	Indirect material costs: the costs of materials not directly traceable, and those extremely small in monetary value are called indirect material cost. Cost of glue used to bind the book, screws in a furniture factory, dishwasher detergent in a fast food restaurant </a:t>
            </a:r>
            <a:r>
              <a:rPr lang="en-US" dirty="0" err="1"/>
              <a:t>etc</a:t>
            </a:r>
            <a:r>
              <a:rPr lang="en-US" dirty="0"/>
              <a:t> are some examples of indirect materials costs. </a:t>
            </a:r>
          </a:p>
          <a:p>
            <a:endParaRPr lang="en-CA" dirty="0"/>
          </a:p>
        </p:txBody>
      </p:sp>
    </p:spTree>
    <p:extLst>
      <p:ext uri="{BB962C8B-B14F-4D97-AF65-F5344CB8AC3E}">
        <p14:creationId xmlns:p14="http://schemas.microsoft.com/office/powerpoint/2010/main" val="2250226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973DE-0A8C-A984-8462-D87A41D3DCE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41906D4-E99C-E4B0-E37F-2C0A5F03739B}"/>
              </a:ext>
            </a:extLst>
          </p:cNvPr>
          <p:cNvSpPr>
            <a:spLocks noGrp="1"/>
          </p:cNvSpPr>
          <p:nvPr>
            <p:ph idx="1"/>
          </p:nvPr>
        </p:nvSpPr>
        <p:spPr/>
        <p:txBody>
          <a:bodyPr>
            <a:normAutofit/>
          </a:bodyPr>
          <a:lstStyle/>
          <a:p>
            <a:r>
              <a:rPr lang="en-US" dirty="0"/>
              <a:t>ii.	Indirect </a:t>
            </a:r>
            <a:r>
              <a:rPr lang="en-US" dirty="0" err="1"/>
              <a:t>labour</a:t>
            </a:r>
            <a:r>
              <a:rPr lang="en-US" dirty="0"/>
              <a:t> cost: the </a:t>
            </a:r>
            <a:r>
              <a:rPr lang="en-US" dirty="0" err="1"/>
              <a:t>labour</a:t>
            </a:r>
            <a:r>
              <a:rPr lang="en-US" dirty="0"/>
              <a:t> costs that are not </a:t>
            </a:r>
            <a:r>
              <a:rPr lang="en-US" dirty="0" err="1"/>
              <a:t>directlytraceable</a:t>
            </a:r>
            <a:r>
              <a:rPr lang="en-US" dirty="0"/>
              <a:t>, or those extremely small in monetary value are called indirect </a:t>
            </a:r>
            <a:r>
              <a:rPr lang="en-US" dirty="0" err="1"/>
              <a:t>labour</a:t>
            </a:r>
            <a:r>
              <a:rPr lang="en-US" dirty="0"/>
              <a:t> costs. Costs associated with storekeeper, night security guards </a:t>
            </a:r>
            <a:r>
              <a:rPr lang="en-US" dirty="0" err="1"/>
              <a:t>etc</a:t>
            </a:r>
            <a:r>
              <a:rPr lang="en-US" dirty="0"/>
              <a:t> are some examples of indirect </a:t>
            </a:r>
            <a:r>
              <a:rPr lang="en-US" dirty="0" err="1"/>
              <a:t>labour</a:t>
            </a:r>
            <a:r>
              <a:rPr lang="en-US" dirty="0"/>
              <a:t> costs. </a:t>
            </a:r>
          </a:p>
          <a:p>
            <a:r>
              <a:rPr lang="en-US" dirty="0"/>
              <a:t>iii.	Indirect expenses, the expenses that are not directly traceable, or those extremely small in monetary value are called indirect expenses. Factory rent, depreciation of plant and machinery </a:t>
            </a:r>
            <a:r>
              <a:rPr lang="en-US" dirty="0" err="1"/>
              <a:t>ect</a:t>
            </a:r>
            <a:r>
              <a:rPr lang="en-US" dirty="0"/>
              <a:t> are some example indirect expenses. </a:t>
            </a:r>
          </a:p>
          <a:p>
            <a:endParaRPr lang="en-CA" dirty="0"/>
          </a:p>
        </p:txBody>
      </p:sp>
    </p:spTree>
    <p:extLst>
      <p:ext uri="{BB962C8B-B14F-4D97-AF65-F5344CB8AC3E}">
        <p14:creationId xmlns:p14="http://schemas.microsoft.com/office/powerpoint/2010/main" val="4066585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0692A-6DBB-3255-342A-316528C3CDE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6BD1F91-0F76-0FA7-12F3-DD2CA14411CC}"/>
              </a:ext>
            </a:extLst>
          </p:cNvPr>
          <p:cNvSpPr>
            <a:spLocks noGrp="1"/>
          </p:cNvSpPr>
          <p:nvPr>
            <p:ph idx="1"/>
          </p:nvPr>
        </p:nvSpPr>
        <p:spPr/>
        <p:txBody>
          <a:bodyPr/>
          <a:lstStyle/>
          <a:p>
            <a:r>
              <a:rPr lang="en-US" dirty="0"/>
              <a:t>2.	Non manufacturing costs</a:t>
            </a:r>
          </a:p>
          <a:p>
            <a:r>
              <a:rPr lang="en-US" dirty="0"/>
              <a:t>Non manufacturing costs include all costs associated with the activities carried out in support of any manufacturing operations. These costs are not directly associated with the production. All these costs are happened after the production process. Non manufacturing costs can be further classified in to the following types;</a:t>
            </a:r>
          </a:p>
          <a:p>
            <a:r>
              <a:rPr lang="en-US" dirty="0"/>
              <a:t>a.	Administrative costs</a:t>
            </a:r>
          </a:p>
          <a:p>
            <a:r>
              <a:rPr lang="en-US" dirty="0"/>
              <a:t>b.	Selling and distributing cost </a:t>
            </a:r>
          </a:p>
          <a:p>
            <a:r>
              <a:rPr lang="en-US" dirty="0"/>
              <a:t>c.	Research and development cost</a:t>
            </a:r>
          </a:p>
          <a:p>
            <a:endParaRPr lang="en-CA" dirty="0"/>
          </a:p>
        </p:txBody>
      </p:sp>
    </p:spTree>
    <p:extLst>
      <p:ext uri="{BB962C8B-B14F-4D97-AF65-F5344CB8AC3E}">
        <p14:creationId xmlns:p14="http://schemas.microsoft.com/office/powerpoint/2010/main" val="4184377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263D0-C093-5C06-9FD6-26A822C0FCF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72FCDF2-0BC1-9E4E-D16B-0A39980C9D2F}"/>
              </a:ext>
            </a:extLst>
          </p:cNvPr>
          <p:cNvSpPr>
            <a:spLocks noGrp="1"/>
          </p:cNvSpPr>
          <p:nvPr>
            <p:ph idx="1"/>
          </p:nvPr>
        </p:nvSpPr>
        <p:spPr/>
        <p:txBody>
          <a:bodyPr>
            <a:normAutofit lnSpcReduction="10000"/>
          </a:bodyPr>
          <a:lstStyle/>
          <a:p>
            <a:r>
              <a:rPr lang="en-US" dirty="0"/>
              <a:t>Fixed cost, cost that does not change with output is called fixed cost. It remained fixed for a certain period and for a specified capacity outputs. It is also called constant cost. Increases in output decreases fixed cost per unit and decreases in outputs increases fixed cost per unit. Examples of fixed costs are depreciations of fixed assets, salary to the staff, office and factory rent etc.</a:t>
            </a:r>
          </a:p>
          <a:p>
            <a:r>
              <a:rPr lang="en-US" dirty="0"/>
              <a:t>Variable costs, costs which change proportionately with the volume of outputs or services are called variable costs. They increase or decrease in the total amount with the increase or decrease in volume of output. Direct materials cost, direct </a:t>
            </a:r>
            <a:r>
              <a:rPr lang="en-US" dirty="0" err="1"/>
              <a:t>labour</a:t>
            </a:r>
            <a:r>
              <a:rPr lang="en-US" dirty="0"/>
              <a:t> cost are some examples of variable cost</a:t>
            </a:r>
          </a:p>
          <a:p>
            <a:endParaRPr lang="en-CA" dirty="0"/>
          </a:p>
        </p:txBody>
      </p:sp>
    </p:spTree>
    <p:extLst>
      <p:ext uri="{BB962C8B-B14F-4D97-AF65-F5344CB8AC3E}">
        <p14:creationId xmlns:p14="http://schemas.microsoft.com/office/powerpoint/2010/main" val="1716854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6B5E6-AC88-7142-87E1-9DA72AB63C6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95316F6-BE56-DDEC-067C-55CAF1498F1C}"/>
              </a:ext>
            </a:extLst>
          </p:cNvPr>
          <p:cNvSpPr>
            <a:spLocks noGrp="1"/>
          </p:cNvSpPr>
          <p:nvPr>
            <p:ph idx="1"/>
          </p:nvPr>
        </p:nvSpPr>
        <p:spPr/>
        <p:txBody>
          <a:bodyPr/>
          <a:lstStyle/>
          <a:p>
            <a:r>
              <a:rPr lang="en-US" dirty="0"/>
              <a:t> Differential cost and differential revenues </a:t>
            </a:r>
          </a:p>
          <a:p>
            <a:r>
              <a:rPr lang="en-US" dirty="0"/>
              <a:t>A difference in cost between any two alternatives is known as differential cost. A difference in revenue between any two alternatives is known as differential revenues. Differential cost includes both cost increase (incremental cost) and cost decrease (detrimental cost). In general the difference (cost and revenue) between alternatives are relevant in decision making. Those items that are the same under all alternatives can be ignored.</a:t>
            </a:r>
          </a:p>
          <a:p>
            <a:endParaRPr lang="en-CA" dirty="0"/>
          </a:p>
        </p:txBody>
      </p:sp>
    </p:spTree>
    <p:extLst>
      <p:ext uri="{BB962C8B-B14F-4D97-AF65-F5344CB8AC3E}">
        <p14:creationId xmlns:p14="http://schemas.microsoft.com/office/powerpoint/2010/main" val="1860971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919B6-6E04-ED6D-6918-10B3D14E7BE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2E5330D-1F89-B9B0-9E29-9907E5AB7416}"/>
              </a:ext>
            </a:extLst>
          </p:cNvPr>
          <p:cNvSpPr>
            <a:spLocks noGrp="1"/>
          </p:cNvSpPr>
          <p:nvPr>
            <p:ph idx="1"/>
          </p:nvPr>
        </p:nvSpPr>
        <p:spPr/>
        <p:txBody>
          <a:bodyPr>
            <a:normAutofit/>
          </a:bodyPr>
          <a:lstStyle/>
          <a:p>
            <a:pPr marL="228600" marR="0" lvl="0" indent="-228600" algn="l" defTabSz="914400" rtl="0" eaLnBrk="1" fontAlgn="auto" latinLnBrk="0" hangingPunct="1">
              <a:lnSpc>
                <a:spcPts val="2143"/>
              </a:lnSpc>
              <a:spcBef>
                <a:spcPts val="300"/>
              </a:spcBef>
              <a:spcAft>
                <a:spcPts val="1029"/>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rgbClr val="404040"/>
                </a:solidFill>
                <a:effectLst/>
                <a:uLnTx/>
                <a:uFillTx/>
                <a:latin typeface="DeepSeek-CJK-patch"/>
                <a:ea typeface="+mn-ea"/>
                <a:cs typeface="+mn-cs"/>
              </a:rPr>
              <a:t>Opportunity Cost:</a:t>
            </a:r>
            <a:r>
              <a:rPr kumimoji="0" lang="en-US" sz="2800" b="0" i="0" u="none" strike="noStrike" kern="1200" cap="none" spc="0" normalizeH="0" baseline="0" noProof="0" dirty="0">
                <a:ln>
                  <a:noFill/>
                </a:ln>
                <a:solidFill>
                  <a:srgbClr val="404040"/>
                </a:solidFill>
                <a:effectLst/>
                <a:uLnTx/>
                <a:uFillTx/>
                <a:latin typeface="DeepSeek-CJK-patch"/>
                <a:ea typeface="+mn-ea"/>
                <a:cs typeface="+mn-cs"/>
              </a:rPr>
              <a:t> The value of the next-best alternative foregone when a choice is made (e.g., working instead of studying means lost potential future earnings).</a:t>
            </a:r>
          </a:p>
          <a:p>
            <a:pPr marL="228600" marR="0" lvl="0" indent="-228600" algn="l" defTabSz="914400" rtl="0" eaLnBrk="1" fontAlgn="auto" latinLnBrk="0" hangingPunct="1">
              <a:lnSpc>
                <a:spcPts val="2143"/>
              </a:lnSpc>
              <a:spcBef>
                <a:spcPts val="300"/>
              </a:spcBef>
              <a:spcAft>
                <a:spcPts val="1029"/>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04040"/>
                </a:solidFill>
                <a:effectLst/>
                <a:uLnTx/>
                <a:uFillTx/>
                <a:latin typeface="DeepSeek-CJK-patch"/>
                <a:ea typeface="+mn-ea"/>
                <a:cs typeface="+mn-cs"/>
              </a:rPr>
              <a:t>M</a:t>
            </a:r>
            <a:r>
              <a:rPr lang="en-US" dirty="0">
                <a:solidFill>
                  <a:srgbClr val="404040"/>
                </a:solidFill>
                <a:latin typeface="DeepSeek-CJK-patch"/>
              </a:rPr>
              <a:t>r A had two choices, first giving his property for rent which would earn Rs 120000 yearly. </a:t>
            </a:r>
          </a:p>
          <a:p>
            <a:pPr marL="228600" marR="0" lvl="0" indent="-228600" algn="l" defTabSz="914400" rtl="0" eaLnBrk="1" fontAlgn="auto" latinLnBrk="0" hangingPunct="1">
              <a:lnSpc>
                <a:spcPts val="2143"/>
              </a:lnSpc>
              <a:spcBef>
                <a:spcPts val="300"/>
              </a:spcBef>
              <a:spcAft>
                <a:spcPts val="1029"/>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404040"/>
                </a:solidFill>
                <a:effectLst/>
                <a:uLnTx/>
                <a:uFillTx/>
                <a:latin typeface="DeepSeek-CJK-patch"/>
                <a:ea typeface="+mn-ea"/>
                <a:cs typeface="+mn-cs"/>
              </a:rPr>
              <a:t>Second, running own business, if he has chosen the second option then the probable income form the first alternative </a:t>
            </a:r>
            <a:r>
              <a:rPr kumimoji="0" lang="en-US" sz="2800" b="0" i="0" u="none" strike="noStrike" kern="1200" cap="none" spc="0" normalizeH="0" baseline="0" noProof="0" dirty="0" err="1">
                <a:ln>
                  <a:noFill/>
                </a:ln>
                <a:solidFill>
                  <a:srgbClr val="404040"/>
                </a:solidFill>
                <a:effectLst/>
                <a:uLnTx/>
                <a:uFillTx/>
                <a:latin typeface="DeepSeek-CJK-patch"/>
                <a:ea typeface="+mn-ea"/>
                <a:cs typeface="+mn-cs"/>
              </a:rPr>
              <a:t>ie</a:t>
            </a:r>
            <a:r>
              <a:rPr kumimoji="0" lang="en-US" sz="2800" b="0" i="0" u="none" strike="noStrike" kern="1200" cap="none" spc="0" normalizeH="0" baseline="0" noProof="0" dirty="0">
                <a:ln>
                  <a:noFill/>
                </a:ln>
                <a:solidFill>
                  <a:srgbClr val="404040"/>
                </a:solidFill>
                <a:effectLst/>
                <a:uLnTx/>
                <a:uFillTx/>
                <a:latin typeface="DeepSeek-CJK-patch"/>
                <a:ea typeface="+mn-ea"/>
                <a:cs typeface="+mn-cs"/>
              </a:rPr>
              <a:t> Rs 120000 is an opportunity cost.   </a:t>
            </a:r>
          </a:p>
          <a:p>
            <a:r>
              <a:rPr lang="en-US" dirty="0"/>
              <a:t>The value or revenue  of passing up the next best choice when making a decision is called opportunity cost.  </a:t>
            </a:r>
            <a:endParaRPr lang="en-CA" dirty="0"/>
          </a:p>
        </p:txBody>
      </p:sp>
    </p:spTree>
    <p:extLst>
      <p:ext uri="{BB962C8B-B14F-4D97-AF65-F5344CB8AC3E}">
        <p14:creationId xmlns:p14="http://schemas.microsoft.com/office/powerpoint/2010/main" val="360957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4219B-817E-F282-19B5-05621B61AA7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121B438-FC07-E0F6-6EA3-031D501C86D7}"/>
              </a:ext>
            </a:extLst>
          </p:cNvPr>
          <p:cNvSpPr>
            <a:spLocks noGrp="1"/>
          </p:cNvSpPr>
          <p:nvPr>
            <p:ph idx="1"/>
          </p:nvPr>
        </p:nvSpPr>
        <p:spPr/>
        <p:txBody>
          <a:bodyPr>
            <a:normAutofit/>
          </a:bodyPr>
          <a:lstStyle/>
          <a:p>
            <a:r>
              <a:rPr lang="en-US" dirty="0"/>
              <a:t>The cost of best rejected opportunity to earn return is called opportunity cost. </a:t>
            </a:r>
          </a:p>
          <a:p>
            <a:r>
              <a:rPr lang="en-US" dirty="0"/>
              <a:t>It is hidden or expected cost but important for decision making process. .In microeconomic theory, the opportunity cost of a choice is the value of the best alternative forgone, in a situation in which a choice needs to be made between several mutually exclusive alternatives given limited resources. </a:t>
            </a:r>
          </a:p>
          <a:p>
            <a:endParaRPr lang="en-CA" dirty="0"/>
          </a:p>
        </p:txBody>
      </p:sp>
    </p:spTree>
    <p:extLst>
      <p:ext uri="{BB962C8B-B14F-4D97-AF65-F5344CB8AC3E}">
        <p14:creationId xmlns:p14="http://schemas.microsoft.com/office/powerpoint/2010/main" val="40194570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6B113-8E5C-37AE-23D6-7913465299B5}"/>
              </a:ext>
            </a:extLst>
          </p:cNvPr>
          <p:cNvSpPr>
            <a:spLocks noGrp="1"/>
          </p:cNvSpPr>
          <p:nvPr>
            <p:ph type="title"/>
          </p:nvPr>
        </p:nvSpPr>
        <p:spPr/>
        <p:txBody>
          <a:bodyPr/>
          <a:lstStyle/>
          <a:p>
            <a:r>
              <a:rPr lang="en-US" dirty="0"/>
              <a:t>Sunk cost </a:t>
            </a:r>
            <a:endParaRPr lang="en-CA" dirty="0"/>
          </a:p>
        </p:txBody>
      </p:sp>
      <p:sp>
        <p:nvSpPr>
          <p:cNvPr id="3" name="Content Placeholder 2">
            <a:extLst>
              <a:ext uri="{FF2B5EF4-FFF2-40B4-BE49-F238E27FC236}">
                <a16:creationId xmlns:a16="http://schemas.microsoft.com/office/drawing/2014/main" id="{099084F4-9101-C849-23A4-4040D73C9D4F}"/>
              </a:ext>
            </a:extLst>
          </p:cNvPr>
          <p:cNvSpPr>
            <a:spLocks noGrp="1"/>
          </p:cNvSpPr>
          <p:nvPr>
            <p:ph idx="1"/>
          </p:nvPr>
        </p:nvSpPr>
        <p:spPr>
          <a:xfrm>
            <a:off x="550606" y="1825625"/>
            <a:ext cx="10803194" cy="4351338"/>
          </a:xfrm>
        </p:spPr>
        <p:txBody>
          <a:bodyPr/>
          <a:lstStyle/>
          <a:p>
            <a:pPr algn="l">
              <a:spcBef>
                <a:spcPts val="1372"/>
              </a:spcBef>
              <a:spcAft>
                <a:spcPts val="1029"/>
              </a:spcAft>
              <a:buNone/>
            </a:pPr>
            <a:r>
              <a:rPr lang="en-US" b="0" i="0" dirty="0">
                <a:solidFill>
                  <a:srgbClr val="404040"/>
                </a:solidFill>
                <a:effectLst/>
                <a:latin typeface="quote-cjk-patch"/>
              </a:rPr>
              <a:t>A </a:t>
            </a:r>
            <a:r>
              <a:rPr lang="en-US" b="1" i="0" dirty="0">
                <a:solidFill>
                  <a:srgbClr val="404040"/>
                </a:solidFill>
                <a:effectLst/>
                <a:latin typeface="quote-cjk-patch"/>
              </a:rPr>
              <a:t>sunk cost</a:t>
            </a:r>
            <a:r>
              <a:rPr lang="en-US" b="0" i="0" dirty="0">
                <a:solidFill>
                  <a:srgbClr val="404040"/>
                </a:solidFill>
                <a:effectLst/>
                <a:latin typeface="quote-cjk-patch"/>
              </a:rPr>
              <a:t> is a cost that has already been incurred and cannot be recovered. </a:t>
            </a:r>
          </a:p>
          <a:p>
            <a:pPr algn="l">
              <a:spcBef>
                <a:spcPts val="1372"/>
              </a:spcBef>
              <a:spcAft>
                <a:spcPts val="1029"/>
              </a:spcAft>
              <a:buNone/>
            </a:pPr>
            <a:r>
              <a:rPr lang="en-US" b="1" i="0" dirty="0">
                <a:solidFill>
                  <a:srgbClr val="404040"/>
                </a:solidFill>
                <a:effectLst/>
                <a:latin typeface="quote-cjk-patch"/>
              </a:rPr>
              <a:t>Key Features of Sunk Costs:</a:t>
            </a:r>
            <a:endParaRPr lang="en-US" b="0" i="0" dirty="0">
              <a:solidFill>
                <a:srgbClr val="404040"/>
              </a:solidFill>
              <a:effectLst/>
              <a:latin typeface="quote-cjk-patch"/>
            </a:endParaRPr>
          </a:p>
          <a:p>
            <a:pPr algn="l">
              <a:lnSpc>
                <a:spcPts val="2143"/>
              </a:lnSpc>
              <a:spcBef>
                <a:spcPts val="1029"/>
              </a:spcBef>
              <a:spcAft>
                <a:spcPts val="1029"/>
              </a:spcAft>
              <a:buFont typeface="+mj-lt"/>
              <a:buAutoNum type="arabicPeriod"/>
            </a:pPr>
            <a:r>
              <a:rPr lang="en-US" b="1" i="0" dirty="0">
                <a:solidFill>
                  <a:srgbClr val="404040"/>
                </a:solidFill>
                <a:effectLst/>
                <a:latin typeface="quote-cjk-patch"/>
              </a:rPr>
              <a:t>Irrecoverable</a:t>
            </a:r>
            <a:r>
              <a:rPr lang="en-US" b="0" i="0" dirty="0">
                <a:solidFill>
                  <a:srgbClr val="404040"/>
                </a:solidFill>
                <a:effectLst/>
                <a:latin typeface="quote-cjk-patch"/>
              </a:rPr>
              <a:t> – Once spent, the money or resources cannot be regained.</a:t>
            </a:r>
          </a:p>
          <a:p>
            <a:pPr algn="l">
              <a:lnSpc>
                <a:spcPts val="2143"/>
              </a:lnSpc>
              <a:spcBef>
                <a:spcPts val="300"/>
              </a:spcBef>
              <a:spcAft>
                <a:spcPts val="1029"/>
              </a:spcAft>
              <a:buFont typeface="+mj-lt"/>
              <a:buAutoNum type="arabicPeriod"/>
            </a:pPr>
            <a:r>
              <a:rPr lang="en-US" b="1" i="0" dirty="0">
                <a:solidFill>
                  <a:srgbClr val="404040"/>
                </a:solidFill>
                <a:effectLst/>
                <a:latin typeface="quote-cjk-patch"/>
              </a:rPr>
              <a:t>Past Expense</a:t>
            </a:r>
            <a:r>
              <a:rPr lang="en-US" b="0" i="0" dirty="0">
                <a:solidFill>
                  <a:srgbClr val="404040"/>
                </a:solidFill>
                <a:effectLst/>
                <a:latin typeface="quote-cjk-patch"/>
              </a:rPr>
              <a:t> – Related to decisions already made, not future actions.</a:t>
            </a:r>
          </a:p>
          <a:p>
            <a:pPr algn="l">
              <a:lnSpc>
                <a:spcPts val="2143"/>
              </a:lnSpc>
              <a:spcBef>
                <a:spcPts val="300"/>
              </a:spcBef>
              <a:spcAft>
                <a:spcPts val="1029"/>
              </a:spcAft>
              <a:buFont typeface="+mj-lt"/>
              <a:buAutoNum type="arabicPeriod"/>
            </a:pPr>
            <a:r>
              <a:rPr lang="en-US" b="1" i="0" dirty="0">
                <a:solidFill>
                  <a:srgbClr val="404040"/>
                </a:solidFill>
                <a:effectLst/>
                <a:latin typeface="quote-cjk-patch"/>
              </a:rPr>
              <a:t>Not Relevant for Future Decisions</a:t>
            </a:r>
            <a:r>
              <a:rPr lang="en-US" b="0" i="0" dirty="0">
                <a:solidFill>
                  <a:srgbClr val="404040"/>
                </a:solidFill>
                <a:effectLst/>
                <a:latin typeface="quote-cjk-patch"/>
              </a:rPr>
              <a:t> – Rational decision-making should ignore sunk costs.</a:t>
            </a:r>
          </a:p>
        </p:txBody>
      </p:sp>
    </p:spTree>
    <p:extLst>
      <p:ext uri="{BB962C8B-B14F-4D97-AF65-F5344CB8AC3E}">
        <p14:creationId xmlns:p14="http://schemas.microsoft.com/office/powerpoint/2010/main" val="3876803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143000"/>
            <a:ext cx="8229600" cy="5181600"/>
          </a:xfrm>
        </p:spPr>
        <p:txBody>
          <a:bodyPr>
            <a:normAutofit/>
          </a:bodyPr>
          <a:lstStyle/>
          <a:p>
            <a:pPr algn="just"/>
            <a:r>
              <a:rPr lang="en-US" sz="3200" b="1" dirty="0">
                <a:solidFill>
                  <a:srgbClr val="FF0000"/>
                </a:solidFill>
              </a:rPr>
              <a:t>Sunk cost</a:t>
            </a:r>
          </a:p>
          <a:p>
            <a:pPr algn="just">
              <a:buNone/>
            </a:pPr>
            <a:r>
              <a:rPr lang="en-US" dirty="0"/>
              <a:t>•	All the past (previous) costs which cannot be recovered when a firm leaves from an industry. Sunk costs have no relevance to decision making in future.</a:t>
            </a:r>
          </a:p>
          <a:p>
            <a:pPr algn="just">
              <a:buNone/>
            </a:pPr>
            <a:r>
              <a:rPr lang="en-US" dirty="0"/>
              <a:t>•	Cost of engineering design, wages, registration, license, decoration, depreciation etc. are the examples of sunk cost.</a:t>
            </a:r>
          </a:p>
          <a:p>
            <a:pPr algn="just"/>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99D33-D247-5DFE-4C22-A2BAE5FF126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F858511-BD7C-FBC4-D4DC-F7D0A80AD606}"/>
              </a:ext>
            </a:extLst>
          </p:cNvPr>
          <p:cNvSpPr>
            <a:spLocks noGrp="1"/>
          </p:cNvSpPr>
          <p:nvPr>
            <p:ph idx="1"/>
          </p:nvPr>
        </p:nvSpPr>
        <p:spPr/>
        <p:txBody>
          <a:bodyPr/>
          <a:lstStyle/>
          <a:p>
            <a:r>
              <a:rPr lang="en-US" b="1" dirty="0"/>
              <a:t>Incremental cost </a:t>
            </a:r>
          </a:p>
          <a:p>
            <a:r>
              <a:rPr lang="en-US" dirty="0"/>
              <a:t>The change in total cost due to change in one unit of extra output is called incremental cost. It is also called marginal cost. </a:t>
            </a:r>
          </a:p>
          <a:p>
            <a:r>
              <a:rPr lang="en-US" dirty="0"/>
              <a:t>MC = CHANGE IN TOTAL COST DIVIDED CHANGE IN OUTPUT QUANTITIY </a:t>
            </a:r>
          </a:p>
          <a:p>
            <a:r>
              <a:rPr lang="en-US" b="1" dirty="0"/>
              <a:t>Average cost </a:t>
            </a:r>
          </a:p>
          <a:p>
            <a:r>
              <a:rPr lang="en-US" dirty="0"/>
              <a:t>It is per unit cost of any output level. </a:t>
            </a:r>
          </a:p>
          <a:p>
            <a:r>
              <a:rPr lang="en-US" dirty="0"/>
              <a:t>AC = TOTAL COST DIVIDED BY QUANTITY OUTPUT </a:t>
            </a:r>
          </a:p>
          <a:p>
            <a:endParaRPr lang="en-US" dirty="0"/>
          </a:p>
          <a:p>
            <a:endParaRPr lang="en-CA" dirty="0"/>
          </a:p>
        </p:txBody>
      </p:sp>
    </p:spTree>
    <p:extLst>
      <p:ext uri="{BB962C8B-B14F-4D97-AF65-F5344CB8AC3E}">
        <p14:creationId xmlns:p14="http://schemas.microsoft.com/office/powerpoint/2010/main" val="2316641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A095B-48B9-26AA-3AF6-832D2515068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827F2EB-54CE-497F-F478-29158F0A7F16}"/>
              </a:ext>
            </a:extLst>
          </p:cNvPr>
          <p:cNvSpPr>
            <a:spLocks noGrp="1"/>
          </p:cNvSpPr>
          <p:nvPr>
            <p:ph idx="1"/>
          </p:nvPr>
        </p:nvSpPr>
        <p:spPr/>
        <p:txBody>
          <a:bodyPr>
            <a:normAutofit fontScale="92500" lnSpcReduction="10000"/>
          </a:bodyPr>
          <a:lstStyle/>
          <a:p>
            <a:r>
              <a:rPr lang="en-US" b="1" dirty="0"/>
              <a:t>Recurring cost </a:t>
            </a:r>
          </a:p>
          <a:p>
            <a:r>
              <a:rPr lang="en-US" dirty="0"/>
              <a:t>All the costs which are occurring over the production process on a continuing basis. All the variable as well as fixed costs which are paid as a repeatable basis is recurring cost.  </a:t>
            </a:r>
          </a:p>
          <a:p>
            <a:r>
              <a:rPr lang="en-US" dirty="0"/>
              <a:t>Rent, wages, salary are some examples of recurring cost. </a:t>
            </a:r>
          </a:p>
          <a:p>
            <a:endParaRPr lang="en-US" dirty="0"/>
          </a:p>
          <a:p>
            <a:r>
              <a:rPr lang="en-US" b="1" dirty="0"/>
              <a:t>Non recurring cost</a:t>
            </a:r>
          </a:p>
          <a:p>
            <a:r>
              <a:rPr lang="en-US" dirty="0"/>
              <a:t>Those costs which are not occurring or repeating over a production process</a:t>
            </a:r>
          </a:p>
          <a:p>
            <a:r>
              <a:rPr lang="en-US" dirty="0"/>
              <a:t>It involves the cost of developing capacity to operate </a:t>
            </a:r>
          </a:p>
          <a:p>
            <a:r>
              <a:rPr lang="en-US" dirty="0"/>
              <a:t>Purchase cost of land, plant </a:t>
            </a:r>
            <a:r>
              <a:rPr lang="en-US" dirty="0" err="1"/>
              <a:t>ect</a:t>
            </a:r>
            <a:r>
              <a:rPr lang="en-US" dirty="0"/>
              <a:t> </a:t>
            </a:r>
          </a:p>
          <a:p>
            <a:endParaRPr lang="en-CA" dirty="0"/>
          </a:p>
        </p:txBody>
      </p:sp>
    </p:spTree>
    <p:extLst>
      <p:ext uri="{BB962C8B-B14F-4D97-AF65-F5344CB8AC3E}">
        <p14:creationId xmlns:p14="http://schemas.microsoft.com/office/powerpoint/2010/main" val="31439935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A3B5B-6636-3821-0A22-4B39B34C537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BE0A1B0-4F34-C772-B243-801E4CC155F8}"/>
              </a:ext>
            </a:extLst>
          </p:cNvPr>
          <p:cNvSpPr>
            <a:spLocks noGrp="1"/>
          </p:cNvSpPr>
          <p:nvPr>
            <p:ph idx="1"/>
          </p:nvPr>
        </p:nvSpPr>
        <p:spPr/>
        <p:txBody>
          <a:bodyPr>
            <a:normAutofit fontScale="92500"/>
          </a:bodyPr>
          <a:lstStyle/>
          <a:p>
            <a:r>
              <a:rPr lang="en-US" dirty="0"/>
              <a:t>Life cycle cost: in engineering practice, the term life cycle cost is often encountered. Life cycle cost is the sum of all expenditures associated with the item or project during its entire service life. The life cycle begins with identification of the economic need and ends with retirement and disposable activities. It may also be expressed as the summation of acquisition, operation, maintenance and disposable costs.</a:t>
            </a:r>
          </a:p>
          <a:p>
            <a:r>
              <a:rPr lang="en-US" dirty="0"/>
              <a:t>-	Life cycle cost consists following three components </a:t>
            </a:r>
          </a:p>
          <a:p>
            <a:r>
              <a:rPr lang="en-US" dirty="0"/>
              <a:t>-	First cost or initial investment, capital cost</a:t>
            </a:r>
          </a:p>
          <a:p>
            <a:r>
              <a:rPr lang="en-US" dirty="0"/>
              <a:t>-	Operating and maintenance costs </a:t>
            </a:r>
          </a:p>
          <a:p>
            <a:r>
              <a:rPr lang="en-US" dirty="0"/>
              <a:t>-	Disposal costs </a:t>
            </a:r>
          </a:p>
          <a:p>
            <a:endParaRPr lang="en-US" dirty="0"/>
          </a:p>
          <a:p>
            <a:endParaRPr lang="en-US" dirty="0"/>
          </a:p>
          <a:p>
            <a:endParaRPr lang="en-US" dirty="0"/>
          </a:p>
          <a:p>
            <a:endParaRPr lang="en-CA" dirty="0"/>
          </a:p>
        </p:txBody>
      </p:sp>
    </p:spTree>
    <p:extLst>
      <p:ext uri="{BB962C8B-B14F-4D97-AF65-F5344CB8AC3E}">
        <p14:creationId xmlns:p14="http://schemas.microsoft.com/office/powerpoint/2010/main" val="1423218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3F5F0-487D-EBF5-4848-E3FAB5819B05}"/>
              </a:ext>
            </a:extLst>
          </p:cNvPr>
          <p:cNvSpPr>
            <a:spLocks noGrp="1"/>
          </p:cNvSpPr>
          <p:nvPr>
            <p:ph type="title"/>
          </p:nvPr>
        </p:nvSpPr>
        <p:spPr/>
        <p:txBody>
          <a:bodyPr/>
          <a:lstStyle/>
          <a:p>
            <a:r>
              <a:rPr lang="en-US" dirty="0"/>
              <a:t>Marginal cost </a:t>
            </a:r>
            <a:endParaRPr lang="en-CA" dirty="0"/>
          </a:p>
        </p:txBody>
      </p:sp>
      <p:sp>
        <p:nvSpPr>
          <p:cNvPr id="3" name="Content Placeholder 2">
            <a:extLst>
              <a:ext uri="{FF2B5EF4-FFF2-40B4-BE49-F238E27FC236}">
                <a16:creationId xmlns:a16="http://schemas.microsoft.com/office/drawing/2014/main" id="{A86581D3-1549-861D-FFEA-51AAD50A4738}"/>
              </a:ext>
            </a:extLst>
          </p:cNvPr>
          <p:cNvSpPr>
            <a:spLocks noGrp="1"/>
          </p:cNvSpPr>
          <p:nvPr>
            <p:ph idx="1"/>
          </p:nvPr>
        </p:nvSpPr>
        <p:spPr>
          <a:xfrm>
            <a:off x="838200" y="1408936"/>
            <a:ext cx="10515600" cy="4351338"/>
          </a:xfrm>
        </p:spPr>
        <p:txBody>
          <a:bodyPr>
            <a:normAutofit/>
          </a:bodyPr>
          <a:lstStyle/>
          <a:p>
            <a:r>
              <a:rPr lang="en-US" dirty="0"/>
              <a:t>Marginal cost is the additional cost incurred when producing one more unit of a good or service. It is calculated as the change in total cost resulting from a one-unit increase in production. Marginal cost is crucial in decision-making because it helps businesses determine the most efficient level of production.</a:t>
            </a:r>
          </a:p>
          <a:p>
            <a:pPr marL="0" indent="0">
              <a:buNone/>
            </a:pPr>
            <a:endParaRPr lang="en-US" b="1" dirty="0"/>
          </a:p>
          <a:p>
            <a:endParaRPr lang="en-CA" dirty="0"/>
          </a:p>
        </p:txBody>
      </p:sp>
      <p:pic>
        <p:nvPicPr>
          <p:cNvPr id="5" name="Picture 4">
            <a:extLst>
              <a:ext uri="{FF2B5EF4-FFF2-40B4-BE49-F238E27FC236}">
                <a16:creationId xmlns:a16="http://schemas.microsoft.com/office/drawing/2014/main" id="{458FF316-F4D7-3ABB-07C2-4E5F33083608}"/>
              </a:ext>
            </a:extLst>
          </p:cNvPr>
          <p:cNvPicPr>
            <a:picLocks noChangeAspect="1"/>
          </p:cNvPicPr>
          <p:nvPr/>
        </p:nvPicPr>
        <p:blipFill>
          <a:blip r:embed="rId2"/>
          <a:stretch>
            <a:fillRect/>
          </a:stretch>
        </p:blipFill>
        <p:spPr>
          <a:xfrm>
            <a:off x="1273215" y="3429000"/>
            <a:ext cx="9421793" cy="3168569"/>
          </a:xfrm>
          <a:prstGeom prst="rect">
            <a:avLst/>
          </a:prstGeom>
        </p:spPr>
      </p:pic>
    </p:spTree>
    <p:extLst>
      <p:ext uri="{BB962C8B-B14F-4D97-AF65-F5344CB8AC3E}">
        <p14:creationId xmlns:p14="http://schemas.microsoft.com/office/powerpoint/2010/main" val="1732771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5335D-0BF1-C40E-E031-BA38F9AF6D66}"/>
              </a:ext>
            </a:extLst>
          </p:cNvPr>
          <p:cNvSpPr>
            <a:spLocks noGrp="1"/>
          </p:cNvSpPr>
          <p:nvPr>
            <p:ph type="title"/>
          </p:nvPr>
        </p:nvSpPr>
        <p:spPr/>
        <p:txBody>
          <a:bodyPr/>
          <a:lstStyle/>
          <a:p>
            <a:r>
              <a:rPr lang="en-US" dirty="0"/>
              <a:t>Question: following are the cost data for the production of 100 Badminton racquets.</a:t>
            </a:r>
            <a:endParaRPr lang="en-CA" dirty="0"/>
          </a:p>
        </p:txBody>
      </p:sp>
      <p:pic>
        <p:nvPicPr>
          <p:cNvPr id="5" name="Content Placeholder 4">
            <a:extLst>
              <a:ext uri="{FF2B5EF4-FFF2-40B4-BE49-F238E27FC236}">
                <a16:creationId xmlns:a16="http://schemas.microsoft.com/office/drawing/2014/main" id="{FA3FE850-C845-EE4A-AE2F-8D8819FD115D}"/>
              </a:ext>
            </a:extLst>
          </p:cNvPr>
          <p:cNvPicPr>
            <a:picLocks noGrp="1" noChangeAspect="1"/>
          </p:cNvPicPr>
          <p:nvPr>
            <p:ph idx="1"/>
          </p:nvPr>
        </p:nvPicPr>
        <p:blipFill>
          <a:blip r:embed="rId3"/>
          <a:stretch>
            <a:fillRect/>
          </a:stretch>
        </p:blipFill>
        <p:spPr>
          <a:xfrm>
            <a:off x="451413" y="1817225"/>
            <a:ext cx="10706582" cy="3495555"/>
          </a:xfrm>
        </p:spPr>
      </p:pic>
    </p:spTree>
    <p:extLst>
      <p:ext uri="{BB962C8B-B14F-4D97-AF65-F5344CB8AC3E}">
        <p14:creationId xmlns:p14="http://schemas.microsoft.com/office/powerpoint/2010/main" val="1822209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5155C-96A6-65CA-28A0-0C87BDFB837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65DD218C-0C85-E33B-1701-4B758BD371D9}"/>
              </a:ext>
            </a:extLst>
          </p:cNvPr>
          <p:cNvSpPr>
            <a:spLocks noGrp="1"/>
          </p:cNvSpPr>
          <p:nvPr>
            <p:ph idx="1"/>
          </p:nvPr>
        </p:nvSpPr>
        <p:spPr/>
        <p:txBody>
          <a:bodyPr/>
          <a:lstStyle/>
          <a:p>
            <a:r>
              <a:rPr lang="en-US" dirty="0"/>
              <a:t>Breakdown the costs into components of prime costs and overhead costs and find out the manufacturing cost of each racquet. </a:t>
            </a:r>
          </a:p>
          <a:p>
            <a:endParaRPr lang="en-CA" dirty="0"/>
          </a:p>
        </p:txBody>
      </p:sp>
    </p:spTree>
    <p:extLst>
      <p:ext uri="{BB962C8B-B14F-4D97-AF65-F5344CB8AC3E}">
        <p14:creationId xmlns:p14="http://schemas.microsoft.com/office/powerpoint/2010/main" val="35498448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ACD1E-DB3E-A9D4-5CF9-704764253596}"/>
              </a:ext>
            </a:extLst>
          </p:cNvPr>
          <p:cNvSpPr>
            <a:spLocks noGrp="1"/>
          </p:cNvSpPr>
          <p:nvPr>
            <p:ph type="title"/>
          </p:nvPr>
        </p:nvSpPr>
        <p:spPr>
          <a:xfrm>
            <a:off x="838200" y="365126"/>
            <a:ext cx="10515600" cy="155736"/>
          </a:xfrm>
        </p:spPr>
        <p:txBody>
          <a:bodyPr>
            <a:normAutofit fontScale="90000"/>
          </a:bodyPr>
          <a:lstStyle/>
          <a:p>
            <a:endParaRPr lang="en-CA" dirty="0"/>
          </a:p>
        </p:txBody>
      </p:sp>
      <p:pic>
        <p:nvPicPr>
          <p:cNvPr id="5" name="Content Placeholder 4">
            <a:extLst>
              <a:ext uri="{FF2B5EF4-FFF2-40B4-BE49-F238E27FC236}">
                <a16:creationId xmlns:a16="http://schemas.microsoft.com/office/drawing/2014/main" id="{5A884D12-E67D-EEFA-1E5F-A2DA051DA77A}"/>
              </a:ext>
            </a:extLst>
          </p:cNvPr>
          <p:cNvPicPr>
            <a:picLocks noGrp="1" noChangeAspect="1"/>
          </p:cNvPicPr>
          <p:nvPr>
            <p:ph idx="1"/>
          </p:nvPr>
        </p:nvPicPr>
        <p:blipFill>
          <a:blip r:embed="rId2"/>
          <a:stretch>
            <a:fillRect/>
          </a:stretch>
        </p:blipFill>
        <p:spPr>
          <a:xfrm>
            <a:off x="486137" y="682905"/>
            <a:ext cx="11076971" cy="5949389"/>
          </a:xfrm>
        </p:spPr>
      </p:pic>
    </p:spTree>
    <p:extLst>
      <p:ext uri="{BB962C8B-B14F-4D97-AF65-F5344CB8AC3E}">
        <p14:creationId xmlns:p14="http://schemas.microsoft.com/office/powerpoint/2010/main" val="529679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016FE-3319-0C6B-24DF-070710E68C0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B821EC5-D97C-66B0-4556-A2FF270AC1DB}"/>
              </a:ext>
            </a:extLst>
          </p:cNvPr>
          <p:cNvSpPr>
            <a:spLocks noGrp="1"/>
          </p:cNvSpPr>
          <p:nvPr>
            <p:ph idx="1"/>
          </p:nvPr>
        </p:nvSpPr>
        <p:spPr/>
        <p:txBody>
          <a:bodyPr/>
          <a:lstStyle/>
          <a:p>
            <a:endParaRPr lang="en-CA" dirty="0"/>
          </a:p>
        </p:txBody>
      </p:sp>
    </p:spTree>
    <p:extLst>
      <p:ext uri="{BB962C8B-B14F-4D97-AF65-F5344CB8AC3E}">
        <p14:creationId xmlns:p14="http://schemas.microsoft.com/office/powerpoint/2010/main" val="524677120"/>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1427</Words>
  <Application>Microsoft Office PowerPoint</Application>
  <PresentationFormat>Widescreen</PresentationFormat>
  <Paragraphs>68</Paragraphs>
  <Slides>20</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20</vt:i4>
      </vt:variant>
    </vt:vector>
  </HeadingPairs>
  <TitlesOfParts>
    <vt:vector size="29" baseType="lpstr">
      <vt:lpstr>Arial</vt:lpstr>
      <vt:lpstr>Calibri</vt:lpstr>
      <vt:lpstr>Calibri Light</vt:lpstr>
      <vt:lpstr>Constantia</vt:lpstr>
      <vt:lpstr>DeepSeek-CJK-patch</vt:lpstr>
      <vt:lpstr>quote-cjk-patch</vt:lpstr>
      <vt:lpstr>Wingdings 2</vt:lpstr>
      <vt:lpstr>Office Theme</vt:lpstr>
      <vt:lpstr>Flow</vt:lpstr>
      <vt:lpstr>Cost concept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Sunk cost </vt:lpstr>
      <vt:lpstr>PowerPoint Presentation</vt:lpstr>
      <vt:lpstr>PowerPoint Presentation</vt:lpstr>
      <vt:lpstr>PowerPoint Presentation</vt:lpstr>
      <vt:lpstr>PowerPoint Presentation</vt:lpstr>
      <vt:lpstr>Marginal cost </vt:lpstr>
      <vt:lpstr>Question: following are the cost data for the production of 100 Badminton racquets.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Sulav Cooperative</dc:creator>
  <cp:lastModifiedBy>Sulav Cooperative</cp:lastModifiedBy>
  <cp:revision>4</cp:revision>
  <dcterms:created xsi:type="dcterms:W3CDTF">2025-01-16T16:27:10Z</dcterms:created>
  <dcterms:modified xsi:type="dcterms:W3CDTF">2025-06-25T14:43:01Z</dcterms:modified>
</cp:coreProperties>
</file>