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8A23F-5388-C568-89C8-84112A3866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8E299506-9B7D-6BE5-B342-8C9C5D4229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3219828A-6C3E-1914-8934-4CFC77928153}"/>
              </a:ext>
            </a:extLst>
          </p:cNvPr>
          <p:cNvSpPr>
            <a:spLocks noGrp="1"/>
          </p:cNvSpPr>
          <p:nvPr>
            <p:ph type="dt" sz="half" idx="10"/>
          </p:nvPr>
        </p:nvSpPr>
        <p:spPr/>
        <p:txBody>
          <a:bodyPr/>
          <a:lstStyle/>
          <a:p>
            <a:fld id="{2F10C62E-ACEE-4F04-BF72-9D742794A53C}" type="datetimeFigureOut">
              <a:rPr lang="en-CA" smtClean="0"/>
              <a:t>2026-02-04</a:t>
            </a:fld>
            <a:endParaRPr lang="en-CA"/>
          </a:p>
        </p:txBody>
      </p:sp>
      <p:sp>
        <p:nvSpPr>
          <p:cNvPr id="5" name="Footer Placeholder 4">
            <a:extLst>
              <a:ext uri="{FF2B5EF4-FFF2-40B4-BE49-F238E27FC236}">
                <a16:creationId xmlns:a16="http://schemas.microsoft.com/office/drawing/2014/main" id="{D6F847A8-1F2E-A7ED-E710-6C21318A23B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EFA9038-B930-AF48-944D-9C4C11336C1C}"/>
              </a:ext>
            </a:extLst>
          </p:cNvPr>
          <p:cNvSpPr>
            <a:spLocks noGrp="1"/>
          </p:cNvSpPr>
          <p:nvPr>
            <p:ph type="sldNum" sz="quarter" idx="12"/>
          </p:nvPr>
        </p:nvSpPr>
        <p:spPr/>
        <p:txBody>
          <a:bodyPr/>
          <a:lstStyle/>
          <a:p>
            <a:fld id="{6188C2E0-4DFB-4E15-89A2-0C99BD8F2CF6}" type="slidenum">
              <a:rPr lang="en-CA" smtClean="0"/>
              <a:t>‹#›</a:t>
            </a:fld>
            <a:endParaRPr lang="en-CA"/>
          </a:p>
        </p:txBody>
      </p:sp>
    </p:spTree>
    <p:extLst>
      <p:ext uri="{BB962C8B-B14F-4D97-AF65-F5344CB8AC3E}">
        <p14:creationId xmlns:p14="http://schemas.microsoft.com/office/powerpoint/2010/main" val="3450215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FDD5B-F230-6AB1-C04E-333464A337E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2E4AA08E-6E73-5675-F7F0-550B778C39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AD80E0E-748C-3F2A-F847-6F761CBC1549}"/>
              </a:ext>
            </a:extLst>
          </p:cNvPr>
          <p:cNvSpPr>
            <a:spLocks noGrp="1"/>
          </p:cNvSpPr>
          <p:nvPr>
            <p:ph type="dt" sz="half" idx="10"/>
          </p:nvPr>
        </p:nvSpPr>
        <p:spPr/>
        <p:txBody>
          <a:bodyPr/>
          <a:lstStyle/>
          <a:p>
            <a:fld id="{2F10C62E-ACEE-4F04-BF72-9D742794A53C}" type="datetimeFigureOut">
              <a:rPr lang="en-CA" smtClean="0"/>
              <a:t>2026-02-04</a:t>
            </a:fld>
            <a:endParaRPr lang="en-CA"/>
          </a:p>
        </p:txBody>
      </p:sp>
      <p:sp>
        <p:nvSpPr>
          <p:cNvPr id="5" name="Footer Placeholder 4">
            <a:extLst>
              <a:ext uri="{FF2B5EF4-FFF2-40B4-BE49-F238E27FC236}">
                <a16:creationId xmlns:a16="http://schemas.microsoft.com/office/drawing/2014/main" id="{2E8759A9-9EB6-31B2-5EDC-A178102DDA3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7456EF1-BFBF-D7F1-6773-974CC54C791F}"/>
              </a:ext>
            </a:extLst>
          </p:cNvPr>
          <p:cNvSpPr>
            <a:spLocks noGrp="1"/>
          </p:cNvSpPr>
          <p:nvPr>
            <p:ph type="sldNum" sz="quarter" idx="12"/>
          </p:nvPr>
        </p:nvSpPr>
        <p:spPr/>
        <p:txBody>
          <a:bodyPr/>
          <a:lstStyle/>
          <a:p>
            <a:fld id="{6188C2E0-4DFB-4E15-89A2-0C99BD8F2CF6}" type="slidenum">
              <a:rPr lang="en-CA" smtClean="0"/>
              <a:t>‹#›</a:t>
            </a:fld>
            <a:endParaRPr lang="en-CA"/>
          </a:p>
        </p:txBody>
      </p:sp>
    </p:spTree>
    <p:extLst>
      <p:ext uri="{BB962C8B-B14F-4D97-AF65-F5344CB8AC3E}">
        <p14:creationId xmlns:p14="http://schemas.microsoft.com/office/powerpoint/2010/main" val="4269088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914B3-73DE-2440-746A-1FEC78B076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87A01B43-AAF4-069D-E0FE-AF9B4A13AA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0DC21D-7E33-5D7F-04F6-BED0A35BFBC9}"/>
              </a:ext>
            </a:extLst>
          </p:cNvPr>
          <p:cNvSpPr>
            <a:spLocks noGrp="1"/>
          </p:cNvSpPr>
          <p:nvPr>
            <p:ph type="dt" sz="half" idx="10"/>
          </p:nvPr>
        </p:nvSpPr>
        <p:spPr/>
        <p:txBody>
          <a:bodyPr/>
          <a:lstStyle/>
          <a:p>
            <a:fld id="{2F10C62E-ACEE-4F04-BF72-9D742794A53C}" type="datetimeFigureOut">
              <a:rPr lang="en-CA" smtClean="0"/>
              <a:t>2026-02-04</a:t>
            </a:fld>
            <a:endParaRPr lang="en-CA"/>
          </a:p>
        </p:txBody>
      </p:sp>
      <p:sp>
        <p:nvSpPr>
          <p:cNvPr id="5" name="Footer Placeholder 4">
            <a:extLst>
              <a:ext uri="{FF2B5EF4-FFF2-40B4-BE49-F238E27FC236}">
                <a16:creationId xmlns:a16="http://schemas.microsoft.com/office/drawing/2014/main" id="{79839FE8-F3A7-F45E-4FF0-9A09DBFB01E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44D5CBE-498A-C263-FAA5-EEC72D46A123}"/>
              </a:ext>
            </a:extLst>
          </p:cNvPr>
          <p:cNvSpPr>
            <a:spLocks noGrp="1"/>
          </p:cNvSpPr>
          <p:nvPr>
            <p:ph type="sldNum" sz="quarter" idx="12"/>
          </p:nvPr>
        </p:nvSpPr>
        <p:spPr/>
        <p:txBody>
          <a:bodyPr/>
          <a:lstStyle/>
          <a:p>
            <a:fld id="{6188C2E0-4DFB-4E15-89A2-0C99BD8F2CF6}" type="slidenum">
              <a:rPr lang="en-CA" smtClean="0"/>
              <a:t>‹#›</a:t>
            </a:fld>
            <a:endParaRPr lang="en-CA"/>
          </a:p>
        </p:txBody>
      </p:sp>
    </p:spTree>
    <p:extLst>
      <p:ext uri="{BB962C8B-B14F-4D97-AF65-F5344CB8AC3E}">
        <p14:creationId xmlns:p14="http://schemas.microsoft.com/office/powerpoint/2010/main" val="39996466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7879-1DBC-E2FD-2E7B-4CA8B9EAAFB9}"/>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59E08DF0-4711-44B8-2A94-6D0DAC26A0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C5571D3A-CB52-8BE1-16AB-DD71002CC3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90D77586-3AC9-0C46-99BC-7C1303954759}"/>
              </a:ext>
            </a:extLst>
          </p:cNvPr>
          <p:cNvSpPr>
            <a:spLocks noGrp="1"/>
          </p:cNvSpPr>
          <p:nvPr>
            <p:ph type="dt" sz="half" idx="10"/>
          </p:nvPr>
        </p:nvSpPr>
        <p:spPr/>
        <p:txBody>
          <a:bodyPr/>
          <a:lstStyle/>
          <a:p>
            <a:fld id="{2F10C62E-ACEE-4F04-BF72-9D742794A53C}" type="datetimeFigureOut">
              <a:rPr lang="en-CA" smtClean="0"/>
              <a:t>2026-02-04</a:t>
            </a:fld>
            <a:endParaRPr lang="en-CA"/>
          </a:p>
        </p:txBody>
      </p:sp>
      <p:sp>
        <p:nvSpPr>
          <p:cNvPr id="6" name="Footer Placeholder 5">
            <a:extLst>
              <a:ext uri="{FF2B5EF4-FFF2-40B4-BE49-F238E27FC236}">
                <a16:creationId xmlns:a16="http://schemas.microsoft.com/office/drawing/2014/main" id="{D0C4981C-C004-A353-D1B3-3C9182F1C050}"/>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02E3EFB-BD41-B608-2A79-74A1F44FCBDE}"/>
              </a:ext>
            </a:extLst>
          </p:cNvPr>
          <p:cNvSpPr>
            <a:spLocks noGrp="1"/>
          </p:cNvSpPr>
          <p:nvPr>
            <p:ph type="sldNum" sz="quarter" idx="12"/>
          </p:nvPr>
        </p:nvSpPr>
        <p:spPr/>
        <p:txBody>
          <a:bodyPr/>
          <a:lstStyle/>
          <a:p>
            <a:fld id="{6188C2E0-4DFB-4E15-89A2-0C99BD8F2CF6}" type="slidenum">
              <a:rPr lang="en-CA" smtClean="0"/>
              <a:t>‹#›</a:t>
            </a:fld>
            <a:endParaRPr lang="en-CA"/>
          </a:p>
        </p:txBody>
      </p:sp>
    </p:spTree>
    <p:extLst>
      <p:ext uri="{BB962C8B-B14F-4D97-AF65-F5344CB8AC3E}">
        <p14:creationId xmlns:p14="http://schemas.microsoft.com/office/powerpoint/2010/main" val="2220111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BDB57-1A32-8DD8-53EA-029C45A26644}"/>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F4BA03E5-9F94-C5A7-9E5E-91E83E26C6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1C6599-1AC7-6939-9228-0CEE128F5A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7D7DF952-D0AD-61BC-2287-4CB9C76830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83FE22-D776-8A8B-279A-1534C1EA06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C054B217-F4B6-08CC-BB3D-34677DAF6B23}"/>
              </a:ext>
            </a:extLst>
          </p:cNvPr>
          <p:cNvSpPr>
            <a:spLocks noGrp="1"/>
          </p:cNvSpPr>
          <p:nvPr>
            <p:ph type="dt" sz="half" idx="10"/>
          </p:nvPr>
        </p:nvSpPr>
        <p:spPr/>
        <p:txBody>
          <a:bodyPr/>
          <a:lstStyle/>
          <a:p>
            <a:fld id="{2F10C62E-ACEE-4F04-BF72-9D742794A53C}" type="datetimeFigureOut">
              <a:rPr lang="en-CA" smtClean="0"/>
              <a:t>2026-02-04</a:t>
            </a:fld>
            <a:endParaRPr lang="en-CA"/>
          </a:p>
        </p:txBody>
      </p:sp>
      <p:sp>
        <p:nvSpPr>
          <p:cNvPr id="8" name="Footer Placeholder 7">
            <a:extLst>
              <a:ext uri="{FF2B5EF4-FFF2-40B4-BE49-F238E27FC236}">
                <a16:creationId xmlns:a16="http://schemas.microsoft.com/office/drawing/2014/main" id="{3C8BEA13-46BB-6F2D-1CB1-1A374F204B3A}"/>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22F0CC16-B7E7-106E-B227-21072653BF3C}"/>
              </a:ext>
            </a:extLst>
          </p:cNvPr>
          <p:cNvSpPr>
            <a:spLocks noGrp="1"/>
          </p:cNvSpPr>
          <p:nvPr>
            <p:ph type="sldNum" sz="quarter" idx="12"/>
          </p:nvPr>
        </p:nvSpPr>
        <p:spPr/>
        <p:txBody>
          <a:bodyPr/>
          <a:lstStyle/>
          <a:p>
            <a:fld id="{6188C2E0-4DFB-4E15-89A2-0C99BD8F2CF6}" type="slidenum">
              <a:rPr lang="en-CA" smtClean="0"/>
              <a:t>‹#›</a:t>
            </a:fld>
            <a:endParaRPr lang="en-CA"/>
          </a:p>
        </p:txBody>
      </p:sp>
    </p:spTree>
    <p:extLst>
      <p:ext uri="{BB962C8B-B14F-4D97-AF65-F5344CB8AC3E}">
        <p14:creationId xmlns:p14="http://schemas.microsoft.com/office/powerpoint/2010/main" val="2705122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53434-70DA-83B2-CFDA-AD722E149EC9}"/>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C6390AA1-6BD1-88C3-D3E5-0D4ADC4C2326}"/>
              </a:ext>
            </a:extLst>
          </p:cNvPr>
          <p:cNvSpPr>
            <a:spLocks noGrp="1"/>
          </p:cNvSpPr>
          <p:nvPr>
            <p:ph type="dt" sz="half" idx="10"/>
          </p:nvPr>
        </p:nvSpPr>
        <p:spPr/>
        <p:txBody>
          <a:bodyPr/>
          <a:lstStyle/>
          <a:p>
            <a:fld id="{2F10C62E-ACEE-4F04-BF72-9D742794A53C}" type="datetimeFigureOut">
              <a:rPr lang="en-CA" smtClean="0"/>
              <a:t>2026-02-04</a:t>
            </a:fld>
            <a:endParaRPr lang="en-CA"/>
          </a:p>
        </p:txBody>
      </p:sp>
      <p:sp>
        <p:nvSpPr>
          <p:cNvPr id="4" name="Footer Placeholder 3">
            <a:extLst>
              <a:ext uri="{FF2B5EF4-FFF2-40B4-BE49-F238E27FC236}">
                <a16:creationId xmlns:a16="http://schemas.microsoft.com/office/drawing/2014/main" id="{9B5105E6-C3B6-8744-D7DA-7EBE480DCE03}"/>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3A246D4C-981F-59A8-B3AE-BA8171A5C686}"/>
              </a:ext>
            </a:extLst>
          </p:cNvPr>
          <p:cNvSpPr>
            <a:spLocks noGrp="1"/>
          </p:cNvSpPr>
          <p:nvPr>
            <p:ph type="sldNum" sz="quarter" idx="12"/>
          </p:nvPr>
        </p:nvSpPr>
        <p:spPr/>
        <p:txBody>
          <a:bodyPr/>
          <a:lstStyle/>
          <a:p>
            <a:fld id="{6188C2E0-4DFB-4E15-89A2-0C99BD8F2CF6}" type="slidenum">
              <a:rPr lang="en-CA" smtClean="0"/>
              <a:t>‹#›</a:t>
            </a:fld>
            <a:endParaRPr lang="en-CA"/>
          </a:p>
        </p:txBody>
      </p:sp>
    </p:spTree>
    <p:extLst>
      <p:ext uri="{BB962C8B-B14F-4D97-AF65-F5344CB8AC3E}">
        <p14:creationId xmlns:p14="http://schemas.microsoft.com/office/powerpoint/2010/main" val="656455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487F55-DD10-1451-0DAA-E6EC70506B65}"/>
              </a:ext>
            </a:extLst>
          </p:cNvPr>
          <p:cNvSpPr>
            <a:spLocks noGrp="1"/>
          </p:cNvSpPr>
          <p:nvPr>
            <p:ph type="dt" sz="half" idx="10"/>
          </p:nvPr>
        </p:nvSpPr>
        <p:spPr/>
        <p:txBody>
          <a:bodyPr/>
          <a:lstStyle/>
          <a:p>
            <a:fld id="{2F10C62E-ACEE-4F04-BF72-9D742794A53C}" type="datetimeFigureOut">
              <a:rPr lang="en-CA" smtClean="0"/>
              <a:t>2026-02-04</a:t>
            </a:fld>
            <a:endParaRPr lang="en-CA"/>
          </a:p>
        </p:txBody>
      </p:sp>
      <p:sp>
        <p:nvSpPr>
          <p:cNvPr id="3" name="Footer Placeholder 2">
            <a:extLst>
              <a:ext uri="{FF2B5EF4-FFF2-40B4-BE49-F238E27FC236}">
                <a16:creationId xmlns:a16="http://schemas.microsoft.com/office/drawing/2014/main" id="{A93D253F-E876-9F76-91D7-E5AD3B86249C}"/>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43CD4604-2D42-3C7A-A0B5-66399F3DA164}"/>
              </a:ext>
            </a:extLst>
          </p:cNvPr>
          <p:cNvSpPr>
            <a:spLocks noGrp="1"/>
          </p:cNvSpPr>
          <p:nvPr>
            <p:ph type="sldNum" sz="quarter" idx="12"/>
          </p:nvPr>
        </p:nvSpPr>
        <p:spPr/>
        <p:txBody>
          <a:bodyPr/>
          <a:lstStyle/>
          <a:p>
            <a:fld id="{6188C2E0-4DFB-4E15-89A2-0C99BD8F2CF6}" type="slidenum">
              <a:rPr lang="en-CA" smtClean="0"/>
              <a:t>‹#›</a:t>
            </a:fld>
            <a:endParaRPr lang="en-CA"/>
          </a:p>
        </p:txBody>
      </p:sp>
    </p:spTree>
    <p:extLst>
      <p:ext uri="{BB962C8B-B14F-4D97-AF65-F5344CB8AC3E}">
        <p14:creationId xmlns:p14="http://schemas.microsoft.com/office/powerpoint/2010/main" val="37868328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B74B9-2969-0755-0E6F-9249A5AB28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02690AAB-FCDD-ADF9-7EBB-3A791B83FC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EB2847B9-6E8B-AF09-0A70-46F6C43C06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784164-C2CC-98BD-32AF-EDE426A731C4}"/>
              </a:ext>
            </a:extLst>
          </p:cNvPr>
          <p:cNvSpPr>
            <a:spLocks noGrp="1"/>
          </p:cNvSpPr>
          <p:nvPr>
            <p:ph type="dt" sz="half" idx="10"/>
          </p:nvPr>
        </p:nvSpPr>
        <p:spPr/>
        <p:txBody>
          <a:bodyPr/>
          <a:lstStyle/>
          <a:p>
            <a:fld id="{2F10C62E-ACEE-4F04-BF72-9D742794A53C}" type="datetimeFigureOut">
              <a:rPr lang="en-CA" smtClean="0"/>
              <a:t>2026-02-04</a:t>
            </a:fld>
            <a:endParaRPr lang="en-CA"/>
          </a:p>
        </p:txBody>
      </p:sp>
      <p:sp>
        <p:nvSpPr>
          <p:cNvPr id="6" name="Footer Placeholder 5">
            <a:extLst>
              <a:ext uri="{FF2B5EF4-FFF2-40B4-BE49-F238E27FC236}">
                <a16:creationId xmlns:a16="http://schemas.microsoft.com/office/drawing/2014/main" id="{E341F1BD-C1F7-D609-57E6-88D19AB36913}"/>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DC945AA-8C71-E4D3-E1B4-284D3D29914D}"/>
              </a:ext>
            </a:extLst>
          </p:cNvPr>
          <p:cNvSpPr>
            <a:spLocks noGrp="1"/>
          </p:cNvSpPr>
          <p:nvPr>
            <p:ph type="sldNum" sz="quarter" idx="12"/>
          </p:nvPr>
        </p:nvSpPr>
        <p:spPr/>
        <p:txBody>
          <a:bodyPr/>
          <a:lstStyle/>
          <a:p>
            <a:fld id="{6188C2E0-4DFB-4E15-89A2-0C99BD8F2CF6}" type="slidenum">
              <a:rPr lang="en-CA" smtClean="0"/>
              <a:t>‹#›</a:t>
            </a:fld>
            <a:endParaRPr lang="en-CA"/>
          </a:p>
        </p:txBody>
      </p:sp>
    </p:spTree>
    <p:extLst>
      <p:ext uri="{BB962C8B-B14F-4D97-AF65-F5344CB8AC3E}">
        <p14:creationId xmlns:p14="http://schemas.microsoft.com/office/powerpoint/2010/main" val="394046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5E653-1D8F-AE89-657F-902027730E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492BCF5C-C477-EB61-9F3A-16E77A6D774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E82B30D7-1422-7A46-8698-BF44ED6566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24E8FD2-55A8-4D8D-F45C-5C56CFDFA57D}"/>
              </a:ext>
            </a:extLst>
          </p:cNvPr>
          <p:cNvSpPr>
            <a:spLocks noGrp="1"/>
          </p:cNvSpPr>
          <p:nvPr>
            <p:ph type="dt" sz="half" idx="10"/>
          </p:nvPr>
        </p:nvSpPr>
        <p:spPr/>
        <p:txBody>
          <a:bodyPr/>
          <a:lstStyle/>
          <a:p>
            <a:fld id="{2F10C62E-ACEE-4F04-BF72-9D742794A53C}" type="datetimeFigureOut">
              <a:rPr lang="en-CA" smtClean="0"/>
              <a:t>2026-02-04</a:t>
            </a:fld>
            <a:endParaRPr lang="en-CA"/>
          </a:p>
        </p:txBody>
      </p:sp>
      <p:sp>
        <p:nvSpPr>
          <p:cNvPr id="6" name="Footer Placeholder 5">
            <a:extLst>
              <a:ext uri="{FF2B5EF4-FFF2-40B4-BE49-F238E27FC236}">
                <a16:creationId xmlns:a16="http://schemas.microsoft.com/office/drawing/2014/main" id="{2F93D59F-1661-55BD-6806-9719B02F8E9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69ED643-693F-42D2-DD5C-766B50B60B83}"/>
              </a:ext>
            </a:extLst>
          </p:cNvPr>
          <p:cNvSpPr>
            <a:spLocks noGrp="1"/>
          </p:cNvSpPr>
          <p:nvPr>
            <p:ph type="sldNum" sz="quarter" idx="12"/>
          </p:nvPr>
        </p:nvSpPr>
        <p:spPr/>
        <p:txBody>
          <a:bodyPr/>
          <a:lstStyle/>
          <a:p>
            <a:fld id="{6188C2E0-4DFB-4E15-89A2-0C99BD8F2CF6}" type="slidenum">
              <a:rPr lang="en-CA" smtClean="0"/>
              <a:t>‹#›</a:t>
            </a:fld>
            <a:endParaRPr lang="en-CA"/>
          </a:p>
        </p:txBody>
      </p:sp>
    </p:spTree>
    <p:extLst>
      <p:ext uri="{BB962C8B-B14F-4D97-AF65-F5344CB8AC3E}">
        <p14:creationId xmlns:p14="http://schemas.microsoft.com/office/powerpoint/2010/main" val="1664931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6C2BA-E12D-2A6A-CC45-5C286A569D2E}"/>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FAE2FCD1-9BD6-4359-F787-10A2248A38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5975D4E-E55F-8BCF-BE61-26B17C8CFF00}"/>
              </a:ext>
            </a:extLst>
          </p:cNvPr>
          <p:cNvSpPr>
            <a:spLocks noGrp="1"/>
          </p:cNvSpPr>
          <p:nvPr>
            <p:ph type="dt" sz="half" idx="10"/>
          </p:nvPr>
        </p:nvSpPr>
        <p:spPr/>
        <p:txBody>
          <a:bodyPr/>
          <a:lstStyle/>
          <a:p>
            <a:fld id="{2F10C62E-ACEE-4F04-BF72-9D742794A53C}" type="datetimeFigureOut">
              <a:rPr lang="en-CA" smtClean="0"/>
              <a:t>2026-02-04</a:t>
            </a:fld>
            <a:endParaRPr lang="en-CA"/>
          </a:p>
        </p:txBody>
      </p:sp>
      <p:sp>
        <p:nvSpPr>
          <p:cNvPr id="5" name="Footer Placeholder 4">
            <a:extLst>
              <a:ext uri="{FF2B5EF4-FFF2-40B4-BE49-F238E27FC236}">
                <a16:creationId xmlns:a16="http://schemas.microsoft.com/office/drawing/2014/main" id="{82D4FD16-B16D-C493-6508-53C2B348F1F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4FB3C1C-3956-FE16-C1B3-731EF0D0D909}"/>
              </a:ext>
            </a:extLst>
          </p:cNvPr>
          <p:cNvSpPr>
            <a:spLocks noGrp="1"/>
          </p:cNvSpPr>
          <p:nvPr>
            <p:ph type="sldNum" sz="quarter" idx="12"/>
          </p:nvPr>
        </p:nvSpPr>
        <p:spPr/>
        <p:txBody>
          <a:bodyPr/>
          <a:lstStyle/>
          <a:p>
            <a:fld id="{6188C2E0-4DFB-4E15-89A2-0C99BD8F2CF6}" type="slidenum">
              <a:rPr lang="en-CA" smtClean="0"/>
              <a:t>‹#›</a:t>
            </a:fld>
            <a:endParaRPr lang="en-CA"/>
          </a:p>
        </p:txBody>
      </p:sp>
    </p:spTree>
    <p:extLst>
      <p:ext uri="{BB962C8B-B14F-4D97-AF65-F5344CB8AC3E}">
        <p14:creationId xmlns:p14="http://schemas.microsoft.com/office/powerpoint/2010/main" val="10241397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A4AA85-E001-05A4-1101-039AEED242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4DEEB55-BD60-2DC1-239D-BF3E59C62B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78C88E8-20A2-5B01-A094-2A0D1BC56234}"/>
              </a:ext>
            </a:extLst>
          </p:cNvPr>
          <p:cNvSpPr>
            <a:spLocks noGrp="1"/>
          </p:cNvSpPr>
          <p:nvPr>
            <p:ph type="dt" sz="half" idx="10"/>
          </p:nvPr>
        </p:nvSpPr>
        <p:spPr/>
        <p:txBody>
          <a:bodyPr/>
          <a:lstStyle/>
          <a:p>
            <a:fld id="{2F10C62E-ACEE-4F04-BF72-9D742794A53C}" type="datetimeFigureOut">
              <a:rPr lang="en-CA" smtClean="0"/>
              <a:t>2026-02-04</a:t>
            </a:fld>
            <a:endParaRPr lang="en-CA"/>
          </a:p>
        </p:txBody>
      </p:sp>
      <p:sp>
        <p:nvSpPr>
          <p:cNvPr id="5" name="Footer Placeholder 4">
            <a:extLst>
              <a:ext uri="{FF2B5EF4-FFF2-40B4-BE49-F238E27FC236}">
                <a16:creationId xmlns:a16="http://schemas.microsoft.com/office/drawing/2014/main" id="{C980690A-C9C7-456C-455C-93155589CCD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756A49C-C14B-E0F9-2FDE-388498998BA2}"/>
              </a:ext>
            </a:extLst>
          </p:cNvPr>
          <p:cNvSpPr>
            <a:spLocks noGrp="1"/>
          </p:cNvSpPr>
          <p:nvPr>
            <p:ph type="sldNum" sz="quarter" idx="12"/>
          </p:nvPr>
        </p:nvSpPr>
        <p:spPr/>
        <p:txBody>
          <a:bodyPr/>
          <a:lstStyle/>
          <a:p>
            <a:fld id="{6188C2E0-4DFB-4E15-89A2-0C99BD8F2CF6}" type="slidenum">
              <a:rPr lang="en-CA" smtClean="0"/>
              <a:t>‹#›</a:t>
            </a:fld>
            <a:endParaRPr lang="en-CA"/>
          </a:p>
        </p:txBody>
      </p:sp>
    </p:spTree>
    <p:extLst>
      <p:ext uri="{BB962C8B-B14F-4D97-AF65-F5344CB8AC3E}">
        <p14:creationId xmlns:p14="http://schemas.microsoft.com/office/powerpoint/2010/main" val="2818445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F613D2-EF6F-9392-7C5D-528D436471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B47141E4-4F53-8C08-EE99-40AE407293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B0070B5-B65F-63A0-EDFA-725817441A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0C62E-ACEE-4F04-BF72-9D742794A53C}" type="datetimeFigureOut">
              <a:rPr lang="en-CA" smtClean="0"/>
              <a:t>2026-02-04</a:t>
            </a:fld>
            <a:endParaRPr lang="en-CA"/>
          </a:p>
        </p:txBody>
      </p:sp>
      <p:sp>
        <p:nvSpPr>
          <p:cNvPr id="5" name="Footer Placeholder 4">
            <a:extLst>
              <a:ext uri="{FF2B5EF4-FFF2-40B4-BE49-F238E27FC236}">
                <a16:creationId xmlns:a16="http://schemas.microsoft.com/office/drawing/2014/main" id="{407B0017-AA63-EAB0-6BB7-9F94537AD2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95BE6229-1057-6E46-2BA4-33E79AFCDA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88C2E0-4DFB-4E15-89A2-0C99BD8F2CF6}" type="slidenum">
              <a:rPr lang="en-CA" smtClean="0"/>
              <a:t>‹#›</a:t>
            </a:fld>
            <a:endParaRPr lang="en-CA"/>
          </a:p>
        </p:txBody>
      </p:sp>
    </p:spTree>
    <p:extLst>
      <p:ext uri="{BB962C8B-B14F-4D97-AF65-F5344CB8AC3E}">
        <p14:creationId xmlns:p14="http://schemas.microsoft.com/office/powerpoint/2010/main" val="3907388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78020-5F14-DD7F-6D89-B61A36D672E6}"/>
              </a:ext>
            </a:extLst>
          </p:cNvPr>
          <p:cNvSpPr>
            <a:spLocks noGrp="1"/>
          </p:cNvSpPr>
          <p:nvPr>
            <p:ph type="ctrTitle"/>
          </p:nvPr>
        </p:nvSpPr>
        <p:spPr>
          <a:xfrm>
            <a:off x="1524000" y="1122363"/>
            <a:ext cx="9144000" cy="1117917"/>
          </a:xfrm>
        </p:spPr>
        <p:txBody>
          <a:bodyPr/>
          <a:lstStyle/>
          <a:p>
            <a:r>
              <a:rPr lang="en-US" dirty="0"/>
              <a:t>Inflation </a:t>
            </a:r>
            <a:endParaRPr lang="en-CA" dirty="0"/>
          </a:p>
        </p:txBody>
      </p:sp>
      <p:sp>
        <p:nvSpPr>
          <p:cNvPr id="3" name="Subtitle 2">
            <a:extLst>
              <a:ext uri="{FF2B5EF4-FFF2-40B4-BE49-F238E27FC236}">
                <a16:creationId xmlns:a16="http://schemas.microsoft.com/office/drawing/2014/main" id="{43E7488A-C194-8387-6A70-A4AF67FAD37F}"/>
              </a:ext>
            </a:extLst>
          </p:cNvPr>
          <p:cNvSpPr>
            <a:spLocks noGrp="1"/>
          </p:cNvSpPr>
          <p:nvPr>
            <p:ph type="subTitle" idx="1"/>
          </p:nvPr>
        </p:nvSpPr>
        <p:spPr>
          <a:xfrm>
            <a:off x="1524000" y="2350008"/>
            <a:ext cx="9144000" cy="2907792"/>
          </a:xfrm>
        </p:spPr>
        <p:txBody>
          <a:bodyPr/>
          <a:lstStyle/>
          <a:p>
            <a:pPr algn="l">
              <a:buNone/>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Meaning and measure of inflation </a:t>
            </a:r>
            <a:endParaRPr lang="en-CA"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l">
              <a:buNone/>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Actual vs constant dollar </a:t>
            </a:r>
            <a:endParaRPr lang="en-CA"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l">
              <a:buNone/>
            </a:pP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Market and inflation free interest rates </a:t>
            </a:r>
            <a:endParaRPr lang="en-CA"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l"/>
            <a:r>
              <a:rPr lang="en-US" sz="2400" kern="100" dirty="0">
                <a:effectLst/>
                <a:latin typeface="Calibri" panose="020F0502020204030204" pitchFamily="34" charset="0"/>
                <a:ea typeface="Calibri" panose="020F0502020204030204" pitchFamily="34" charset="0"/>
                <a:cs typeface="Times New Roman" panose="02020603050405020304" pitchFamily="18" charset="0"/>
              </a:rPr>
              <a:t>Constant dollar and actual dollar analysis </a:t>
            </a:r>
            <a:endParaRPr lang="en-CA" sz="2400" kern="100" dirty="0">
              <a:effectLst/>
              <a:latin typeface="Calibri" panose="020F0502020204030204" pitchFamily="34" charset="0"/>
              <a:ea typeface="Calibri" panose="020F0502020204030204" pitchFamily="34" charset="0"/>
              <a:cs typeface="Times New Roman" panose="02020603050405020304" pitchFamily="18" charset="0"/>
            </a:endParaRPr>
          </a:p>
          <a:p>
            <a:pPr algn="l"/>
            <a:endParaRPr lang="en-CA" dirty="0"/>
          </a:p>
        </p:txBody>
      </p:sp>
    </p:spTree>
    <p:extLst>
      <p:ext uri="{BB962C8B-B14F-4D97-AF65-F5344CB8AC3E}">
        <p14:creationId xmlns:p14="http://schemas.microsoft.com/office/powerpoint/2010/main" val="33467968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68BE7-0C02-D48D-19D4-8E5D19A19CB9}"/>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D18D2AC-FF0C-3BCE-AC66-0439BF87AA34}"/>
              </a:ext>
            </a:extLst>
          </p:cNvPr>
          <p:cNvSpPr>
            <a:spLocks noGrp="1"/>
          </p:cNvSpPr>
          <p:nvPr>
            <p:ph idx="1"/>
          </p:nvPr>
        </p:nvSpPr>
        <p:spPr/>
        <p:txBody>
          <a:bodyPr/>
          <a:lstStyle/>
          <a:p>
            <a:pPr>
              <a:buNone/>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Meaning of inflation </a:t>
            </a:r>
            <a:endParaRPr lang="en-CA" sz="2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CA" sz="2800" b="1" kern="100" dirty="0">
                <a:solidFill>
                  <a:srgbClr val="404040"/>
                </a:solidFill>
                <a:effectLst/>
                <a:latin typeface="Segoe UI" panose="020B0502040204020203" pitchFamily="34" charset="0"/>
                <a:ea typeface="Calibri" panose="020F0502020204030204" pitchFamily="34" charset="0"/>
                <a:cs typeface="Times New Roman" panose="02020603050405020304" pitchFamily="18" charset="0"/>
              </a:rPr>
              <a:t>Inflation</a:t>
            </a:r>
            <a:r>
              <a:rPr lang="en-CA" sz="2800" kern="100" dirty="0">
                <a:solidFill>
                  <a:srgbClr val="404040"/>
                </a:solidFill>
                <a:effectLst/>
                <a:latin typeface="Segoe UI" panose="020B0502040204020203" pitchFamily="34" charset="0"/>
                <a:ea typeface="Calibri" panose="020F0502020204030204" pitchFamily="34" charset="0"/>
                <a:cs typeface="Times New Roman" panose="02020603050405020304" pitchFamily="18" charset="0"/>
              </a:rPr>
              <a:t> is the rate at which the general level of prices for goods and services rises over time, leading to a decrease in the purchasing power of money. In other words, as inflation increases, each unit of currency buys fewer goods and services than before.</a:t>
            </a:r>
            <a:r>
              <a:rPr lang="en-CA" sz="2800" kern="100" dirty="0">
                <a:effectLst/>
                <a:latin typeface="Calibri" panose="020F0502020204030204" pitchFamily="34" charset="0"/>
                <a:ea typeface="Calibri" panose="020F0502020204030204" pitchFamily="34" charset="0"/>
                <a:cs typeface="Times New Roman" panose="02020603050405020304" pitchFamily="18" charset="0"/>
              </a:rPr>
              <a:t> In simpler terms, it means that your money buys less today than it did yesterday.</a:t>
            </a:r>
          </a:p>
          <a:p>
            <a:endParaRPr lang="en-CA" dirty="0"/>
          </a:p>
        </p:txBody>
      </p:sp>
    </p:spTree>
    <p:extLst>
      <p:ext uri="{BB962C8B-B14F-4D97-AF65-F5344CB8AC3E}">
        <p14:creationId xmlns:p14="http://schemas.microsoft.com/office/powerpoint/2010/main" val="1921111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8C958-9429-19E0-FA8A-0C53F162066E}"/>
              </a:ext>
            </a:extLst>
          </p:cNvPr>
          <p:cNvSpPr>
            <a:spLocks noGrp="1"/>
          </p:cNvSpPr>
          <p:nvPr>
            <p:ph type="title"/>
          </p:nvPr>
        </p:nvSpPr>
        <p:spPr>
          <a:xfrm>
            <a:off x="838200" y="365125"/>
            <a:ext cx="10515600" cy="841883"/>
          </a:xfrm>
        </p:spPr>
        <p:txBody>
          <a:bodyPr/>
          <a:lstStyle/>
          <a:p>
            <a:endParaRPr lang="en-CA" dirty="0"/>
          </a:p>
        </p:txBody>
      </p:sp>
      <p:sp>
        <p:nvSpPr>
          <p:cNvPr id="3" name="Content Placeholder 2">
            <a:extLst>
              <a:ext uri="{FF2B5EF4-FFF2-40B4-BE49-F238E27FC236}">
                <a16:creationId xmlns:a16="http://schemas.microsoft.com/office/drawing/2014/main" id="{41B6E78F-337E-FD49-2700-7C7B3E03357B}"/>
              </a:ext>
            </a:extLst>
          </p:cNvPr>
          <p:cNvSpPr>
            <a:spLocks noGrp="1"/>
          </p:cNvSpPr>
          <p:nvPr>
            <p:ph idx="1"/>
          </p:nvPr>
        </p:nvSpPr>
        <p:spPr/>
        <p:txBody>
          <a:bodyPr/>
          <a:lstStyle/>
          <a:p>
            <a:pPr marL="342900" lvl="0" indent="-342900">
              <a:lnSpc>
                <a:spcPts val="2145"/>
              </a:lnSpc>
              <a:spcAft>
                <a:spcPts val="300"/>
              </a:spcAft>
              <a:buNone/>
              <a:tabLst>
                <a:tab pos="457200" algn="l"/>
              </a:tabLst>
            </a:pPr>
            <a:r>
              <a:rPr lang="en-CA" sz="2400" b="1" dirty="0">
                <a:solidFill>
                  <a:srgbClr val="404040"/>
                </a:solidFill>
                <a:effectLst/>
                <a:latin typeface="Segoe UI" panose="020B0502040204020203" pitchFamily="34" charset="0"/>
                <a:ea typeface="Times New Roman" panose="02020603050405020304" pitchFamily="18" charset="0"/>
              </a:rPr>
              <a:t>Causes of Inflation:</a:t>
            </a:r>
            <a:endParaRPr lang="en-CA" sz="2400" dirty="0">
              <a:effectLst/>
              <a:latin typeface="Times New Roman" panose="02020603050405020304" pitchFamily="18" charset="0"/>
              <a:ea typeface="Times New Roman" panose="02020603050405020304" pitchFamily="18" charset="0"/>
            </a:endParaRPr>
          </a:p>
          <a:p>
            <a:pPr marL="742950" lvl="1" indent="-285750">
              <a:lnSpc>
                <a:spcPts val="2145"/>
              </a:lnSpc>
              <a:buSzPts val="1000"/>
              <a:buFont typeface="Courier New" panose="02070309020205020404" pitchFamily="49" charset="0"/>
              <a:buChar char="o"/>
              <a:tabLst>
                <a:tab pos="914400" algn="l"/>
              </a:tabLst>
            </a:pPr>
            <a:r>
              <a:rPr lang="en-CA" b="1" dirty="0">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Demand-Pull Inflation:</a:t>
            </a:r>
            <a:r>
              <a:rPr lang="en-CA" dirty="0">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 Occurs when demand for goods and services exceeds supply.</a:t>
            </a:r>
            <a:endParaRPr lang="en-CA"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nSpc>
                <a:spcPts val="2145"/>
              </a:lnSpc>
              <a:buSzPts val="1000"/>
              <a:buFont typeface="Courier New" panose="02070309020205020404" pitchFamily="49" charset="0"/>
              <a:buChar char="o"/>
              <a:tabLst>
                <a:tab pos="914400" algn="l"/>
              </a:tabLst>
            </a:pPr>
            <a:r>
              <a:rPr lang="en-CA" b="1" dirty="0">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Cost-Push Inflation:</a:t>
            </a:r>
            <a:r>
              <a:rPr lang="en-CA" dirty="0">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 Happens when production costs (e.g., wages, raw materials) increase, leading to higher prices.</a:t>
            </a:r>
            <a:endParaRPr lang="en-CA"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lvl="1" indent="-285750">
              <a:lnSpc>
                <a:spcPts val="2145"/>
              </a:lnSpc>
              <a:buSzPts val="1000"/>
              <a:buFont typeface="Courier New" panose="02070309020205020404" pitchFamily="49" charset="0"/>
              <a:buChar char="o"/>
              <a:tabLst>
                <a:tab pos="914400" algn="l"/>
              </a:tabLst>
            </a:pPr>
            <a:r>
              <a:rPr lang="en-CA" b="1" dirty="0">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Monetary Inflation:</a:t>
            </a:r>
            <a:r>
              <a:rPr lang="en-CA" dirty="0">
                <a:solidFill>
                  <a:srgbClr val="404040"/>
                </a:solidFill>
                <a:effectLst/>
                <a:latin typeface="Segoe UI" panose="020B0502040204020203" pitchFamily="34" charset="0"/>
                <a:ea typeface="Times New Roman" panose="02020603050405020304" pitchFamily="18" charset="0"/>
                <a:cs typeface="Times New Roman" panose="02020603050405020304" pitchFamily="18" charset="0"/>
              </a:rPr>
              <a:t> Results from an excessive increase in the money supply by central banks.</a:t>
            </a:r>
            <a:endParaRPr lang="en-CA"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CA" dirty="0"/>
          </a:p>
        </p:txBody>
      </p:sp>
    </p:spTree>
    <p:extLst>
      <p:ext uri="{BB962C8B-B14F-4D97-AF65-F5344CB8AC3E}">
        <p14:creationId xmlns:p14="http://schemas.microsoft.com/office/powerpoint/2010/main" val="497913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6B6D2-37F7-941B-2665-1CAF16964B2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2A3DBA7-D4E6-05A1-7F56-2359FD641AC2}"/>
              </a:ext>
            </a:extLst>
          </p:cNvPr>
          <p:cNvSpPr>
            <a:spLocks noGrp="1"/>
          </p:cNvSpPr>
          <p:nvPr>
            <p:ph idx="1"/>
          </p:nvPr>
        </p:nvSpPr>
        <p:spPr/>
        <p:txBody>
          <a:bodyPr/>
          <a:lstStyle/>
          <a:p>
            <a:pPr>
              <a:buNone/>
            </a:pPr>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Measures of inflation </a:t>
            </a:r>
            <a:endParaRPr lang="en-CA" sz="24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CA" sz="2800" dirty="0">
                <a:effectLst/>
                <a:latin typeface="Times New Roman" panose="02020603050405020304" pitchFamily="18" charset="0"/>
                <a:ea typeface="Times New Roman" panose="02020603050405020304" pitchFamily="18" charset="0"/>
              </a:rPr>
              <a:t>Measuring inflation is crucial for understanding the health of an economy and for policymakers to make informed decisions. Various indices are used, each capturing different aspects of price changes. Here are the most common measures of inflation:</a:t>
            </a:r>
          </a:p>
          <a:p>
            <a:endParaRPr lang="en-CA" dirty="0"/>
          </a:p>
        </p:txBody>
      </p:sp>
    </p:spTree>
    <p:extLst>
      <p:ext uri="{BB962C8B-B14F-4D97-AF65-F5344CB8AC3E}">
        <p14:creationId xmlns:p14="http://schemas.microsoft.com/office/powerpoint/2010/main" val="231215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2D4EC-BC3B-849D-E824-89EEE7E1A95E}"/>
              </a:ext>
            </a:extLst>
          </p:cNvPr>
          <p:cNvSpPr>
            <a:spLocks noGrp="1"/>
          </p:cNvSpPr>
          <p:nvPr>
            <p:ph type="title"/>
          </p:nvPr>
        </p:nvSpPr>
        <p:spPr>
          <a:xfrm>
            <a:off x="838200" y="365125"/>
            <a:ext cx="10515600" cy="521843"/>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B568ED22-89F3-B912-5E78-95B8626575B2}"/>
              </a:ext>
            </a:extLst>
          </p:cNvPr>
          <p:cNvSpPr>
            <a:spLocks noGrp="1"/>
          </p:cNvSpPr>
          <p:nvPr>
            <p:ph idx="1"/>
          </p:nvPr>
        </p:nvSpPr>
        <p:spPr>
          <a:xfrm>
            <a:off x="838200" y="1280160"/>
            <a:ext cx="10515600" cy="4896803"/>
          </a:xfrm>
        </p:spPr>
        <p:txBody>
          <a:bodyPr>
            <a:normAutofit fontScale="92500" lnSpcReduction="20000"/>
          </a:bodyPr>
          <a:lstStyle/>
          <a:p>
            <a:pPr marL="342900" lvl="0" indent="-342900">
              <a:buNone/>
              <a:tabLst>
                <a:tab pos="457200" algn="l"/>
              </a:tabLst>
            </a:pPr>
            <a:r>
              <a:rPr lang="en-CA" b="1" dirty="0">
                <a:effectLst/>
                <a:latin typeface="Times New Roman" panose="02020603050405020304" pitchFamily="18" charset="0"/>
                <a:ea typeface="Times New Roman" panose="02020603050405020304" pitchFamily="18" charset="0"/>
              </a:rPr>
              <a:t>Consumer Price Index (CPI)</a:t>
            </a:r>
            <a:endParaRPr lang="en-CA" dirty="0">
              <a:effectLst/>
              <a:latin typeface="Times New Roman" panose="02020603050405020304" pitchFamily="18" charset="0"/>
              <a:ea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CA" sz="2800" dirty="0">
                <a:effectLst/>
                <a:latin typeface="Times New Roman" panose="02020603050405020304" pitchFamily="18" charset="0"/>
                <a:ea typeface="Times New Roman" panose="02020603050405020304" pitchFamily="18" charset="0"/>
                <a:cs typeface="Times New Roman" panose="02020603050405020304" pitchFamily="18" charset="0"/>
              </a:rPr>
              <a:t>The CPI is the most widely recognized and used measure of inflation. It tracks the average change over time in the prices paid by urban consumers for a "basket" of consumer goods and services. This basket includes a wide range of items such as food, housing, transportation, medical care, clothing, and education.</a:t>
            </a:r>
          </a:p>
          <a:p>
            <a:pPr marL="742950" lvl="1" indent="-285750">
              <a:buSzPts val="1000"/>
              <a:buFont typeface="Courier New" panose="02070309020205020404" pitchFamily="49" charset="0"/>
              <a:buChar char="o"/>
              <a:tabLst>
                <a:tab pos="914400" algn="l"/>
              </a:tabLst>
            </a:pPr>
            <a:r>
              <a:rPr lang="en-CA" sz="2800" b="1" dirty="0">
                <a:effectLst/>
                <a:latin typeface="Times New Roman" panose="02020603050405020304" pitchFamily="18" charset="0"/>
                <a:ea typeface="Times New Roman" panose="02020603050405020304" pitchFamily="18" charset="0"/>
                <a:cs typeface="Times New Roman" panose="02020603050405020304" pitchFamily="18" charset="0"/>
              </a:rPr>
              <a:t>How it's calculated:</a:t>
            </a:r>
            <a:r>
              <a:rPr lang="en-CA" sz="2800" dirty="0">
                <a:effectLst/>
                <a:latin typeface="Times New Roman" panose="02020603050405020304" pitchFamily="18" charset="0"/>
                <a:ea typeface="Times New Roman" panose="02020603050405020304" pitchFamily="18" charset="0"/>
                <a:cs typeface="Times New Roman" panose="02020603050405020304" pitchFamily="18" charset="0"/>
              </a:rPr>
              <a:t> Statistical agencies collect prices for thousands of items from various sources (retailers, service providers, etc.) at regular intervals (usually monthly). These prices are then weighted according to how much households typically spend on them. The inflation rate is the percentage change in the CPI over a specific period (e.g., month-over-month, year-over-year).</a:t>
            </a:r>
          </a:p>
          <a:p>
            <a:pPr marL="541020"/>
            <a:r>
              <a:rPr lang="en-CA" dirty="0">
                <a:effectLst/>
                <a:latin typeface="Calibri" panose="020F0502020204030204" pitchFamily="34" charset="0"/>
                <a:ea typeface="Times New Roman" panose="02020603050405020304" pitchFamily="18" charset="0"/>
              </a:rPr>
              <a:t> </a:t>
            </a:r>
            <a:r>
              <a:rPr lang="en-CA" dirty="0">
                <a:solidFill>
                  <a:srgbClr val="404040"/>
                </a:solidFill>
                <a:effectLst/>
                <a:latin typeface="Calibri" panose="020F0502020204030204" pitchFamily="34" charset="0"/>
                <a:ea typeface="Times New Roman" panose="02020603050405020304" pitchFamily="18" charset="0"/>
              </a:rPr>
              <a:t>The </a:t>
            </a:r>
            <a:r>
              <a:rPr lang="en-CA" b="1" dirty="0">
                <a:solidFill>
                  <a:srgbClr val="404040"/>
                </a:solidFill>
                <a:effectLst/>
                <a:latin typeface="Calibri" panose="020F0502020204030204" pitchFamily="34" charset="0"/>
                <a:ea typeface="Times New Roman" panose="02020603050405020304" pitchFamily="18" charset="0"/>
              </a:rPr>
              <a:t>Consumer Price Index (CPI)</a:t>
            </a:r>
            <a:r>
              <a:rPr lang="en-CA" dirty="0">
                <a:solidFill>
                  <a:srgbClr val="404040"/>
                </a:solidFill>
                <a:effectLst/>
                <a:latin typeface="Calibri" panose="020F0502020204030204" pitchFamily="34" charset="0"/>
                <a:ea typeface="Times New Roman" panose="02020603050405020304" pitchFamily="18" charset="0"/>
              </a:rPr>
              <a:t> is like a </a:t>
            </a:r>
            <a:r>
              <a:rPr lang="en-CA" b="1" dirty="0">
                <a:solidFill>
                  <a:srgbClr val="404040"/>
                </a:solidFill>
                <a:effectLst/>
                <a:latin typeface="Calibri" panose="020F0502020204030204" pitchFamily="34" charset="0"/>
                <a:ea typeface="Times New Roman" panose="02020603050405020304" pitchFamily="18" charset="0"/>
              </a:rPr>
              <a:t>"shopping basket tracker."</a:t>
            </a:r>
            <a:r>
              <a:rPr lang="en-CA" dirty="0">
                <a:solidFill>
                  <a:srgbClr val="404040"/>
                </a:solidFill>
                <a:effectLst/>
                <a:latin typeface="Calibri" panose="020F0502020204030204" pitchFamily="34" charset="0"/>
                <a:ea typeface="Times New Roman" panose="02020603050405020304" pitchFamily="18" charset="0"/>
              </a:rPr>
              <a:t> It checks how        much prices go up for everyday things (food, rent, gas, etc.) over time.</a:t>
            </a:r>
            <a:r>
              <a:rPr lang="en-CA" dirty="0">
                <a:effectLst/>
                <a:latin typeface="Calibri" panose="020F0502020204030204" pitchFamily="34" charset="0"/>
                <a:ea typeface="Times New Roman" panose="02020603050405020304" pitchFamily="18" charset="0"/>
              </a:rPr>
              <a:t> </a:t>
            </a:r>
            <a:endParaRPr lang="en-CA" dirty="0">
              <a:effectLst/>
              <a:latin typeface="Times New Roman" panose="02020603050405020304" pitchFamily="18" charset="0"/>
              <a:ea typeface="Times New Roman" panose="02020603050405020304" pitchFamily="18" charset="0"/>
            </a:endParaRPr>
          </a:p>
          <a:p>
            <a:pPr marL="0" indent="0">
              <a:buNone/>
            </a:pPr>
            <a:endParaRPr lang="en-CA" dirty="0"/>
          </a:p>
        </p:txBody>
      </p:sp>
    </p:spTree>
    <p:extLst>
      <p:ext uri="{BB962C8B-B14F-4D97-AF65-F5344CB8AC3E}">
        <p14:creationId xmlns:p14="http://schemas.microsoft.com/office/powerpoint/2010/main" val="3181332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4BB79-F167-2BA3-8E2B-A377F5D01FDE}"/>
              </a:ext>
            </a:extLst>
          </p:cNvPr>
          <p:cNvSpPr>
            <a:spLocks noGrp="1"/>
          </p:cNvSpPr>
          <p:nvPr>
            <p:ph type="title"/>
          </p:nvPr>
        </p:nvSpPr>
        <p:spPr/>
        <p:txBody>
          <a:bodyPr/>
          <a:lstStyle/>
          <a:p>
            <a:r>
              <a:rPr lang="en-CA" b="1" dirty="0">
                <a:latin typeface="Times New Roman" panose="02020603050405020304" pitchFamily="18" charset="0"/>
                <a:ea typeface="Times New Roman" panose="02020603050405020304" pitchFamily="18" charset="0"/>
              </a:rPr>
              <a:t>Producer Price Index (PPI)</a:t>
            </a:r>
            <a:br>
              <a:rPr lang="en-CA" dirty="0">
                <a:latin typeface="Times New Roman" panose="02020603050405020304" pitchFamily="18" charset="0"/>
                <a:ea typeface="Times New Roman" panose="02020603050405020304" pitchFamily="18" charset="0"/>
              </a:rPr>
            </a:br>
            <a:endParaRPr lang="en-CA" dirty="0"/>
          </a:p>
        </p:txBody>
      </p:sp>
      <p:sp>
        <p:nvSpPr>
          <p:cNvPr id="3" name="Content Placeholder 2">
            <a:extLst>
              <a:ext uri="{FF2B5EF4-FFF2-40B4-BE49-F238E27FC236}">
                <a16:creationId xmlns:a16="http://schemas.microsoft.com/office/drawing/2014/main" id="{1F3DA9C8-B0BC-A898-816B-E1CEA8A990CE}"/>
              </a:ext>
            </a:extLst>
          </p:cNvPr>
          <p:cNvSpPr>
            <a:spLocks noGrp="1"/>
          </p:cNvSpPr>
          <p:nvPr>
            <p:ph idx="1"/>
          </p:nvPr>
        </p:nvSpPr>
        <p:spPr>
          <a:xfrm>
            <a:off x="838200" y="1120877"/>
            <a:ext cx="10515600" cy="5056086"/>
          </a:xfrm>
        </p:spPr>
        <p:txBody>
          <a:bodyPr>
            <a:normAutofit/>
          </a:bodyPr>
          <a:lstStyle/>
          <a:p>
            <a:pPr marL="342900" lvl="0" indent="-342900">
              <a:buNone/>
              <a:tabLst>
                <a:tab pos="457200" algn="l"/>
              </a:tabLst>
            </a:pPr>
            <a:r>
              <a:rPr lang="en-CA" sz="3200" dirty="0">
                <a:effectLst/>
                <a:latin typeface="Times New Roman" panose="02020603050405020304" pitchFamily="18" charset="0"/>
                <a:ea typeface="Times New Roman" panose="02020603050405020304" pitchFamily="18" charset="0"/>
                <a:cs typeface="Times New Roman" panose="02020603050405020304" pitchFamily="18" charset="0"/>
              </a:rPr>
              <a:t>The PPI measures the average change over time in the selling prices received by domestic producers for their output. Unlike the CPI, which focuses on prices paid by consumers, the PPI focuses on prices at the wholesale or producer level. It captures price changes from the seller's perspective.</a:t>
            </a:r>
          </a:p>
          <a:p>
            <a:pPr marL="742950" lvl="1" indent="-285750">
              <a:buSzPts val="1000"/>
              <a:buFont typeface="Courier New" panose="02070309020205020404" pitchFamily="49" charset="0"/>
              <a:buChar char="o"/>
              <a:tabLst>
                <a:tab pos="914400" algn="l"/>
              </a:tabLst>
            </a:pPr>
            <a:r>
              <a:rPr lang="en-CA" sz="3200" b="1" dirty="0">
                <a:effectLst/>
                <a:latin typeface="Times New Roman" panose="02020603050405020304" pitchFamily="18" charset="0"/>
                <a:ea typeface="Times New Roman" panose="02020603050405020304" pitchFamily="18" charset="0"/>
                <a:cs typeface="Times New Roman" panose="02020603050405020304" pitchFamily="18" charset="0"/>
              </a:rPr>
              <a:t>How it's calculated:</a:t>
            </a:r>
            <a:r>
              <a:rPr lang="en-CA" sz="3200" dirty="0">
                <a:effectLst/>
                <a:latin typeface="Times New Roman" panose="02020603050405020304" pitchFamily="18" charset="0"/>
                <a:ea typeface="Times New Roman" panose="02020603050405020304" pitchFamily="18" charset="0"/>
                <a:cs typeface="Times New Roman" panose="02020603050405020304" pitchFamily="18" charset="0"/>
              </a:rPr>
              <a:t> Data is collected on prices of raw materials, intermediate goods, and finished goods as they leave the production stage.</a:t>
            </a:r>
          </a:p>
          <a:p>
            <a:r>
              <a:rPr lang="en-CA" sz="3200" dirty="0">
                <a:effectLst/>
                <a:latin typeface="Times New Roman" panose="02020603050405020304" pitchFamily="18" charset="0"/>
                <a:ea typeface="Times New Roman" panose="02020603050405020304" pitchFamily="18" charset="0"/>
              </a:rPr>
              <a:t> </a:t>
            </a:r>
          </a:p>
          <a:p>
            <a:endParaRPr lang="en-CA" sz="6000" dirty="0"/>
          </a:p>
        </p:txBody>
      </p:sp>
    </p:spTree>
    <p:extLst>
      <p:ext uri="{BB962C8B-B14F-4D97-AF65-F5344CB8AC3E}">
        <p14:creationId xmlns:p14="http://schemas.microsoft.com/office/powerpoint/2010/main" val="1426706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10A62-A260-E62E-78C7-B94CEDE57453}"/>
              </a:ext>
            </a:extLst>
          </p:cNvPr>
          <p:cNvSpPr>
            <a:spLocks noGrp="1"/>
          </p:cNvSpPr>
          <p:nvPr>
            <p:ph type="title"/>
          </p:nvPr>
        </p:nvSpPr>
        <p:spPr>
          <a:xfrm>
            <a:off x="838200" y="681037"/>
            <a:ext cx="10515600" cy="547995"/>
          </a:xfrm>
        </p:spPr>
        <p:txBody>
          <a:bodyPr>
            <a:normAutofit fontScale="90000"/>
          </a:bodyPr>
          <a:lstStyle/>
          <a:p>
            <a:r>
              <a:rPr lang="en-US" dirty="0"/>
              <a:t>3.	Wholesale Price Index (WPI)</a:t>
            </a:r>
            <a:br>
              <a:rPr lang="en-US" dirty="0"/>
            </a:br>
            <a:endParaRPr lang="en-CA" dirty="0"/>
          </a:p>
        </p:txBody>
      </p:sp>
      <p:sp>
        <p:nvSpPr>
          <p:cNvPr id="3" name="Content Placeholder 2">
            <a:extLst>
              <a:ext uri="{FF2B5EF4-FFF2-40B4-BE49-F238E27FC236}">
                <a16:creationId xmlns:a16="http://schemas.microsoft.com/office/drawing/2014/main" id="{609355BC-5666-EA8D-B7BD-8526CDFF1DE1}"/>
              </a:ext>
            </a:extLst>
          </p:cNvPr>
          <p:cNvSpPr>
            <a:spLocks noGrp="1"/>
          </p:cNvSpPr>
          <p:nvPr>
            <p:ph idx="1"/>
          </p:nvPr>
        </p:nvSpPr>
        <p:spPr>
          <a:xfrm>
            <a:off x="393289" y="1120877"/>
            <a:ext cx="11602065" cy="5056086"/>
          </a:xfrm>
        </p:spPr>
        <p:txBody>
          <a:bodyPr>
            <a:normAutofit/>
          </a:bodyPr>
          <a:lstStyle/>
          <a:p>
            <a:r>
              <a:rPr lang="en-US" dirty="0"/>
              <a:t>Measures the average change in prices of goods at the wholesale level (before reaching the consumer).</a:t>
            </a:r>
          </a:p>
          <a:p>
            <a:r>
              <a:rPr lang="en-US" dirty="0"/>
              <a:t>Focuses on raw materials and intermediate goods rather than retail prices.</a:t>
            </a:r>
          </a:p>
          <a:p>
            <a:pPr marL="0" indent="0">
              <a:buNone/>
            </a:pPr>
            <a:r>
              <a:rPr lang="en-US" dirty="0"/>
              <a:t>	 Similar to the PPI, the WPI measures price changes at the wholesale level. It tracks the prices of goods traded in bulk between businesses, rather than goods directly bought by consumers.</a:t>
            </a:r>
          </a:p>
          <a:p>
            <a:pPr marL="0" indent="0">
              <a:buNone/>
            </a:pPr>
            <a:r>
              <a:rPr lang="en-US" dirty="0"/>
              <a:t>It helps monitor price movements that reflect supply and demand in industry, manufacturing, and construction.</a:t>
            </a:r>
          </a:p>
          <a:p>
            <a:endParaRPr lang="en-CA" dirty="0"/>
          </a:p>
        </p:txBody>
      </p:sp>
    </p:spTree>
    <p:extLst>
      <p:ext uri="{BB962C8B-B14F-4D97-AF65-F5344CB8AC3E}">
        <p14:creationId xmlns:p14="http://schemas.microsoft.com/office/powerpoint/2010/main" val="30582146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5B0FF-3435-270C-81B1-4DFB34DB6BA2}"/>
              </a:ext>
            </a:extLst>
          </p:cNvPr>
          <p:cNvSpPr>
            <a:spLocks noGrp="1"/>
          </p:cNvSpPr>
          <p:nvPr>
            <p:ph type="title"/>
          </p:nvPr>
        </p:nvSpPr>
        <p:spPr>
          <a:xfrm>
            <a:off x="838199" y="816570"/>
            <a:ext cx="11078497" cy="45719"/>
          </a:xfrm>
        </p:spPr>
        <p:txBody>
          <a:bodyPr>
            <a:normAutofit fontScale="90000"/>
          </a:bodyPr>
          <a:lstStyle/>
          <a:p>
            <a:r>
              <a:rPr lang="en-US" dirty="0"/>
              <a:t>4.	GDP Deflator (Gross Domestic Product Deflator)</a:t>
            </a:r>
            <a:br>
              <a:rPr lang="en-US" dirty="0"/>
            </a:br>
            <a:endParaRPr lang="en-CA" dirty="0"/>
          </a:p>
        </p:txBody>
      </p:sp>
      <p:sp>
        <p:nvSpPr>
          <p:cNvPr id="3" name="Content Placeholder 2">
            <a:extLst>
              <a:ext uri="{FF2B5EF4-FFF2-40B4-BE49-F238E27FC236}">
                <a16:creationId xmlns:a16="http://schemas.microsoft.com/office/drawing/2014/main" id="{CA0479E7-8BFE-BBB0-5E75-35ABA5CE004F}"/>
              </a:ext>
            </a:extLst>
          </p:cNvPr>
          <p:cNvSpPr>
            <a:spLocks noGrp="1"/>
          </p:cNvSpPr>
          <p:nvPr>
            <p:ph idx="1"/>
          </p:nvPr>
        </p:nvSpPr>
        <p:spPr>
          <a:xfrm>
            <a:off x="826008" y="1253331"/>
            <a:ext cx="10515600" cy="4351338"/>
          </a:xfrm>
        </p:spPr>
        <p:txBody>
          <a:bodyPr/>
          <a:lstStyle/>
          <a:p>
            <a:r>
              <a:rPr lang="en-US" dirty="0"/>
              <a:t>The GDP deflator is a broader measure of inflation than the CPI or PPI. It measures the average change in the prices of all new, domestically produced, final goods and services in an economy.</a:t>
            </a:r>
          </a:p>
          <a:p>
            <a:pPr marL="0" indent="0">
              <a:buNone/>
            </a:pPr>
            <a:r>
              <a:rPr lang="en-US" dirty="0"/>
              <a:t>How it's calculated: It's the ratio of nominal GDP (GDP at current prices) to real GDP (GDP at constant prices, adjusted for inflation), multiplied by 100.</a:t>
            </a:r>
          </a:p>
          <a:p>
            <a:pPr marL="0" indent="0">
              <a:buNone/>
            </a:pPr>
            <a:r>
              <a:rPr lang="en-US" dirty="0"/>
              <a:t>Broadest measure of inflation that reflects price changes across all goods and services produced in an economy </a:t>
            </a:r>
          </a:p>
          <a:p>
            <a:endParaRPr lang="en-CA" dirty="0"/>
          </a:p>
        </p:txBody>
      </p:sp>
      <p:pic>
        <p:nvPicPr>
          <p:cNvPr id="4" name="Picture 3">
            <a:extLst>
              <a:ext uri="{FF2B5EF4-FFF2-40B4-BE49-F238E27FC236}">
                <a16:creationId xmlns:a16="http://schemas.microsoft.com/office/drawing/2014/main" id="{888DB1D0-05F6-29F2-5423-7B121EC664D7}"/>
              </a:ext>
            </a:extLst>
          </p:cNvPr>
          <p:cNvPicPr>
            <a:picLocks noChangeAspect="1"/>
          </p:cNvPicPr>
          <p:nvPr/>
        </p:nvPicPr>
        <p:blipFill>
          <a:blip r:embed="rId2"/>
          <a:stretch>
            <a:fillRect/>
          </a:stretch>
        </p:blipFill>
        <p:spPr>
          <a:xfrm>
            <a:off x="1027176" y="5129784"/>
            <a:ext cx="5913277" cy="1581912"/>
          </a:xfrm>
          <a:prstGeom prst="rect">
            <a:avLst/>
          </a:prstGeom>
        </p:spPr>
      </p:pic>
    </p:spTree>
    <p:extLst>
      <p:ext uri="{BB962C8B-B14F-4D97-AF65-F5344CB8AC3E}">
        <p14:creationId xmlns:p14="http://schemas.microsoft.com/office/powerpoint/2010/main" val="1946540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1620A-EC10-91F6-7155-701AB68780DA}"/>
              </a:ext>
            </a:extLst>
          </p:cNvPr>
          <p:cNvSpPr>
            <a:spLocks noGrp="1"/>
          </p:cNvSpPr>
          <p:nvPr>
            <p:ph type="title"/>
          </p:nvPr>
        </p:nvSpPr>
        <p:spPr>
          <a:xfrm>
            <a:off x="838200" y="365125"/>
            <a:ext cx="10515600" cy="183515"/>
          </a:xfrm>
        </p:spPr>
        <p:txBody>
          <a:bodyPr>
            <a:normAutofit fontScale="90000"/>
          </a:bodyPr>
          <a:lstStyle/>
          <a:p>
            <a:r>
              <a:rPr lang="en-US" dirty="0"/>
              <a:t> </a:t>
            </a:r>
            <a:endParaRPr lang="en-CA" dirty="0"/>
          </a:p>
        </p:txBody>
      </p:sp>
      <p:sp>
        <p:nvSpPr>
          <p:cNvPr id="6" name="Content Placeholder 5">
            <a:extLst>
              <a:ext uri="{FF2B5EF4-FFF2-40B4-BE49-F238E27FC236}">
                <a16:creationId xmlns:a16="http://schemas.microsoft.com/office/drawing/2014/main" id="{7CC2DCBE-FAB8-7E73-93D7-68AD8453FEFF}"/>
              </a:ext>
            </a:extLst>
          </p:cNvPr>
          <p:cNvSpPr>
            <a:spLocks noGrp="1"/>
          </p:cNvSpPr>
          <p:nvPr>
            <p:ph idx="1"/>
          </p:nvPr>
        </p:nvSpPr>
        <p:spPr>
          <a:xfrm>
            <a:off x="838200" y="747252"/>
            <a:ext cx="10515600" cy="5429711"/>
          </a:xfrm>
        </p:spPr>
        <p:txBody>
          <a:bodyPr/>
          <a:lstStyle/>
          <a:p>
            <a:pPr>
              <a:buNone/>
            </a:pPr>
            <a:r>
              <a:rPr lang="en-US" sz="2400" b="1" kern="100" dirty="0">
                <a:effectLst/>
                <a:latin typeface="Calibri" panose="020F0502020204030204" pitchFamily="34" charset="0"/>
                <a:ea typeface="Calibri" panose="020F0502020204030204" pitchFamily="34" charset="0"/>
                <a:cs typeface="Times New Roman" panose="02020603050405020304" pitchFamily="18" charset="0"/>
              </a:rPr>
              <a:t>Actual vs constant dollar </a:t>
            </a:r>
            <a:endParaRPr lang="en-CA" sz="2400" kern="100" dirty="0">
              <a:effectLst/>
              <a:latin typeface="Calibri" panose="020F0502020204030204" pitchFamily="34" charset="0"/>
              <a:ea typeface="Calibri" panose="020F0502020204030204" pitchFamily="34" charset="0"/>
              <a:cs typeface="Times New Roman" panose="02020603050405020304" pitchFamily="18" charset="0"/>
            </a:endParaRPr>
          </a:p>
          <a:p>
            <a:pPr marL="914400"/>
            <a:r>
              <a:rPr lang="en-CA" sz="2800" dirty="0">
                <a:effectLst/>
                <a:latin typeface="Times New Roman" panose="02020603050405020304" pitchFamily="18" charset="0"/>
                <a:ea typeface="Times New Roman" panose="02020603050405020304" pitchFamily="18" charset="0"/>
              </a:rPr>
              <a:t>In economics and finance, when we talk about money over time, we need to consider the impact of inflation. This leads to the distinction between "actual dollars" and "constant dollars." They are also often referred to as "nominal dollars" and "real dollars," respectively.</a:t>
            </a:r>
          </a:p>
          <a:p>
            <a:endParaRPr lang="en-CA" dirty="0"/>
          </a:p>
        </p:txBody>
      </p:sp>
    </p:spTree>
    <p:extLst>
      <p:ext uri="{BB962C8B-B14F-4D97-AF65-F5344CB8AC3E}">
        <p14:creationId xmlns:p14="http://schemas.microsoft.com/office/powerpoint/2010/main" val="32055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1C9C9-8544-61D7-82BC-879C284FD38E}"/>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F3F6A31E-35E4-1CE2-0092-53A5E614F25B}"/>
              </a:ext>
            </a:extLst>
          </p:cNvPr>
          <p:cNvSpPr>
            <a:spLocks noGrp="1"/>
          </p:cNvSpPr>
          <p:nvPr>
            <p:ph idx="1"/>
          </p:nvPr>
        </p:nvSpPr>
        <p:spPr>
          <a:xfrm>
            <a:off x="117987" y="1002890"/>
            <a:ext cx="11750925" cy="5174073"/>
          </a:xfrm>
        </p:spPr>
        <p:txBody>
          <a:bodyPr>
            <a:normAutofit lnSpcReduction="10000"/>
          </a:bodyPr>
          <a:lstStyle/>
          <a:p>
            <a:pPr marL="914400">
              <a:buNone/>
            </a:pPr>
            <a:r>
              <a:rPr lang="en-CA" sz="2800" b="1" dirty="0">
                <a:effectLst/>
                <a:latin typeface="Times New Roman" panose="02020603050405020304" pitchFamily="18" charset="0"/>
                <a:ea typeface="Times New Roman" panose="02020603050405020304" pitchFamily="18" charset="0"/>
              </a:rPr>
              <a:t>Actual dollar</a:t>
            </a:r>
            <a:endParaRPr lang="en-CA" sz="2800" dirty="0">
              <a:effectLst/>
              <a:latin typeface="Times New Roman" panose="02020603050405020304" pitchFamily="18" charset="0"/>
              <a:ea typeface="Times New Roman" panose="02020603050405020304" pitchFamily="18" charset="0"/>
            </a:endParaRPr>
          </a:p>
          <a:p>
            <a:pPr marL="914400">
              <a:buNone/>
            </a:pPr>
            <a:r>
              <a:rPr lang="en-CA" sz="2800" b="1" dirty="0">
                <a:effectLst/>
                <a:latin typeface="Times New Roman" panose="02020603050405020304" pitchFamily="18" charset="0"/>
                <a:ea typeface="Times New Roman" panose="02020603050405020304" pitchFamily="18" charset="0"/>
              </a:rPr>
              <a:t>Definition:</a:t>
            </a:r>
            <a:r>
              <a:rPr lang="en-CA" sz="2800" dirty="0">
                <a:effectLst/>
                <a:latin typeface="Times New Roman" panose="02020603050405020304" pitchFamily="18" charset="0"/>
                <a:ea typeface="Times New Roman" panose="02020603050405020304" pitchFamily="18" charset="0"/>
              </a:rPr>
              <a:t> Actual dollars refer to the </a:t>
            </a:r>
            <a:r>
              <a:rPr lang="en-CA" sz="2800" b="1" dirty="0">
                <a:effectLst/>
                <a:latin typeface="Times New Roman" panose="02020603050405020304" pitchFamily="18" charset="0"/>
                <a:ea typeface="Times New Roman" panose="02020603050405020304" pitchFamily="18" charset="0"/>
              </a:rPr>
              <a:t>face value</a:t>
            </a:r>
            <a:r>
              <a:rPr lang="en-CA" sz="2800" dirty="0">
                <a:effectLst/>
                <a:latin typeface="Times New Roman" panose="02020603050405020304" pitchFamily="18" charset="0"/>
                <a:ea typeface="Times New Roman" panose="02020603050405020304" pitchFamily="18" charset="0"/>
              </a:rPr>
              <a:t> of money at the time it is earned, spent, or reported. It's the amount of money you actually have in your hand or that is recorded on a transaction slip.</a:t>
            </a:r>
          </a:p>
          <a:p>
            <a:pPr marL="914400">
              <a:buNone/>
            </a:pPr>
            <a:r>
              <a:rPr lang="en-CA" sz="2800" b="1" dirty="0">
                <a:effectLst/>
                <a:latin typeface="Times New Roman" panose="02020603050405020304" pitchFamily="18" charset="0"/>
                <a:ea typeface="Times New Roman" panose="02020603050405020304" pitchFamily="18" charset="0"/>
              </a:rPr>
              <a:t>What it includes:</a:t>
            </a:r>
            <a:r>
              <a:rPr lang="en-CA" sz="2800" dirty="0">
                <a:effectLst/>
                <a:latin typeface="Times New Roman" panose="02020603050405020304" pitchFamily="18" charset="0"/>
                <a:ea typeface="Times New Roman" panose="02020603050405020304" pitchFamily="18" charset="0"/>
              </a:rPr>
              <a:t> It includes any changes in price levels due to inflation or deflation. So, if a car cost RS10,00000 in 1990 and Rs 30,00000 in 2020, those are the actual dollar amounts for those years.</a:t>
            </a:r>
          </a:p>
          <a:p>
            <a:pPr marL="914400">
              <a:buNone/>
            </a:pPr>
            <a:r>
              <a:rPr lang="en-CA" sz="2800" dirty="0">
                <a:effectLst/>
                <a:latin typeface="Times New Roman" panose="02020603050405020304" pitchFamily="18" charset="0"/>
                <a:ea typeface="Times New Roman" panose="02020603050405020304" pitchFamily="18" charset="0"/>
              </a:rPr>
              <a:t>Actual dollars are useful for understanding the immediate value of transactions, current budgeting, and short-term financial planning. They reflect the current market prices.</a:t>
            </a:r>
          </a:p>
          <a:p>
            <a:pPr marL="914400"/>
            <a:r>
              <a:rPr lang="en-CA" sz="2800" dirty="0">
                <a:effectLst/>
                <a:latin typeface="Times New Roman" panose="02020603050405020304" pitchFamily="18" charset="0"/>
                <a:ea typeface="Times New Roman" panose="02020603050405020304" pitchFamily="18" charset="0"/>
              </a:rPr>
              <a:t>If your salary in 2020 was 50,000 and your salary in 2025 is 60,000, these are your actual dollar earnings for those years.</a:t>
            </a:r>
          </a:p>
          <a:p>
            <a:endParaRPr lang="en-CA" dirty="0"/>
          </a:p>
        </p:txBody>
      </p:sp>
    </p:spTree>
    <p:extLst>
      <p:ext uri="{BB962C8B-B14F-4D97-AF65-F5344CB8AC3E}">
        <p14:creationId xmlns:p14="http://schemas.microsoft.com/office/powerpoint/2010/main" val="847933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80D44-9640-BE0D-22E1-08EC62791282}"/>
              </a:ext>
            </a:extLst>
          </p:cNvPr>
          <p:cNvSpPr>
            <a:spLocks noGrp="1"/>
          </p:cNvSpPr>
          <p:nvPr>
            <p:ph type="title"/>
          </p:nvPr>
        </p:nvSpPr>
        <p:spPr>
          <a:xfrm>
            <a:off x="838200" y="365125"/>
            <a:ext cx="10515600" cy="448691"/>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1D00847A-0C27-3C51-3B37-6D80F220ACA5}"/>
              </a:ext>
            </a:extLst>
          </p:cNvPr>
          <p:cNvSpPr>
            <a:spLocks noGrp="1"/>
          </p:cNvSpPr>
          <p:nvPr>
            <p:ph idx="1"/>
          </p:nvPr>
        </p:nvSpPr>
        <p:spPr>
          <a:xfrm>
            <a:off x="147484" y="1097280"/>
            <a:ext cx="11206316" cy="5293688"/>
          </a:xfrm>
        </p:spPr>
        <p:txBody>
          <a:bodyPr>
            <a:normAutofit fontScale="92500"/>
          </a:bodyPr>
          <a:lstStyle/>
          <a:p>
            <a:pPr marL="914400">
              <a:buNone/>
            </a:pPr>
            <a:r>
              <a:rPr lang="en-CA" sz="2800" b="1" dirty="0">
                <a:effectLst/>
                <a:latin typeface="Times New Roman" panose="02020603050405020304" pitchFamily="18" charset="0"/>
                <a:ea typeface="Times New Roman" panose="02020603050405020304" pitchFamily="18" charset="0"/>
              </a:rPr>
              <a:t>Constant dollar </a:t>
            </a:r>
            <a:endParaRPr lang="en-CA" sz="2800" dirty="0">
              <a:effectLst/>
              <a:latin typeface="Times New Roman" panose="02020603050405020304" pitchFamily="18" charset="0"/>
              <a:ea typeface="Times New Roman" panose="02020603050405020304" pitchFamily="18" charset="0"/>
            </a:endParaRPr>
          </a:p>
          <a:p>
            <a:pPr marL="914400">
              <a:lnSpc>
                <a:spcPct val="107000"/>
              </a:lnSpc>
              <a:spcAft>
                <a:spcPts val="800"/>
              </a:spcAft>
              <a:buNone/>
            </a:pPr>
            <a:r>
              <a:rPr lang="en-CA" sz="2800" kern="0" dirty="0">
                <a:effectLst/>
                <a:latin typeface="Symbol" panose="05050102010706020507" pitchFamily="18" charset="2"/>
                <a:ea typeface="Times New Roman" panose="02020603050405020304" pitchFamily="18" charset="0"/>
                <a:cs typeface="Times New Roman" panose="02020603050405020304" pitchFamily="18" charset="0"/>
              </a:rPr>
              <a:t>·</a:t>
            </a:r>
            <a:r>
              <a:rPr lang="en-CA" sz="2800"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dirty="0"/>
              <a:t>Constant dollars are a way to measure money while removing the effect of inflation. Unlike actual dollars, which show the money you have at a specific time, constant dollars adjust past or present amounts to reflect the purchasing power of a chosen base year. This allows us to compare money across different years as if prices had stayed the same, making it easier to see the real growth or change in income, spending, or the economy, for example, if you earned 50,000 in 2000 and 70,000 in 2020, the actual dollars suggest your income increased. But after adjusting for inflation using constant dollars (e.g., in 2000 prices), your 2020 income might be equivalent to 55,000, showing the true increase in purchasing power rather than just the nominal amount.</a:t>
            </a:r>
            <a:endParaRPr lang="en-CA" dirty="0"/>
          </a:p>
        </p:txBody>
      </p:sp>
    </p:spTree>
    <p:extLst>
      <p:ext uri="{BB962C8B-B14F-4D97-AF65-F5344CB8AC3E}">
        <p14:creationId xmlns:p14="http://schemas.microsoft.com/office/powerpoint/2010/main" val="621421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5820F-2D9C-EC4A-D12C-870F4B313188}"/>
              </a:ext>
            </a:extLst>
          </p:cNvPr>
          <p:cNvSpPr>
            <a:spLocks noGrp="1"/>
          </p:cNvSpPr>
          <p:nvPr>
            <p:ph type="title"/>
          </p:nvPr>
        </p:nvSpPr>
        <p:spPr/>
        <p:txBody>
          <a:bodyPr/>
          <a:lstStyle/>
          <a:p>
            <a:r>
              <a:rPr lang="en-US" b="1" kern="100" dirty="0">
                <a:latin typeface="Calibri" panose="020F0502020204030204" pitchFamily="34" charset="0"/>
                <a:ea typeface="Calibri" panose="020F0502020204030204" pitchFamily="34" charset="0"/>
                <a:cs typeface="Times New Roman" panose="02020603050405020304" pitchFamily="18" charset="0"/>
              </a:rPr>
              <a:t>Market and inflation free interest rates</a:t>
            </a:r>
            <a:br>
              <a:rPr lang="en-CA" kern="100" dirty="0">
                <a:latin typeface="Calibri" panose="020F0502020204030204" pitchFamily="34" charset="0"/>
                <a:ea typeface="Calibri" panose="020F0502020204030204" pitchFamily="34" charset="0"/>
                <a:cs typeface="Times New Roman" panose="02020603050405020304" pitchFamily="18" charset="0"/>
              </a:rPr>
            </a:br>
            <a:endParaRPr lang="en-CA" dirty="0"/>
          </a:p>
        </p:txBody>
      </p:sp>
      <p:sp>
        <p:nvSpPr>
          <p:cNvPr id="3" name="Content Placeholder 2">
            <a:extLst>
              <a:ext uri="{FF2B5EF4-FFF2-40B4-BE49-F238E27FC236}">
                <a16:creationId xmlns:a16="http://schemas.microsoft.com/office/drawing/2014/main" id="{B035202A-637D-EBE5-3631-48B41E21062B}"/>
              </a:ext>
            </a:extLst>
          </p:cNvPr>
          <p:cNvSpPr>
            <a:spLocks noGrp="1"/>
          </p:cNvSpPr>
          <p:nvPr>
            <p:ph idx="1"/>
          </p:nvPr>
        </p:nvSpPr>
        <p:spPr>
          <a:xfrm>
            <a:off x="521110" y="1140542"/>
            <a:ext cx="10832690" cy="5036421"/>
          </a:xfrm>
        </p:spPr>
        <p:txBody>
          <a:bodyPr>
            <a:normAutofit/>
          </a:bodyPr>
          <a:lstStyle/>
          <a:p>
            <a:pPr>
              <a:buNone/>
            </a:pPr>
            <a:r>
              <a:rPr lang="en-US" sz="2800" b="1" kern="100" dirty="0">
                <a:effectLst/>
                <a:latin typeface="Calibri" panose="020F0502020204030204" pitchFamily="34" charset="0"/>
                <a:ea typeface="Calibri" panose="020F0502020204030204" pitchFamily="34" charset="0"/>
                <a:cs typeface="Times New Roman" panose="02020603050405020304" pitchFamily="18" charset="0"/>
              </a:rPr>
              <a:t>Market free interest rate</a:t>
            </a:r>
            <a:endParaRPr lang="en-CA" sz="2800" kern="1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US" sz="2800" kern="100" dirty="0">
                <a:effectLst/>
                <a:latin typeface="Calibri" panose="020F0502020204030204" pitchFamily="34" charset="0"/>
                <a:ea typeface="Calibri" panose="020F0502020204030204" pitchFamily="34" charset="0"/>
                <a:cs typeface="Times New Roman" panose="02020603050405020304" pitchFamily="18" charset="0"/>
              </a:rPr>
              <a:t>The interest rate stated by banks and financial institutions for loan and saving accounts are called market interest rate. Generally, firms use market interest rate (inflation adjusted MARR) in evaluating their investment projects. It includes combine effect of earning value of capital and expected inflation or deflation. </a:t>
            </a:r>
            <a:endParaRPr lang="en-CA" sz="2800" kern="1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CA" sz="2800" kern="100" dirty="0">
                <a:solidFill>
                  <a:srgbClr val="404040"/>
                </a:solidFill>
                <a:effectLst/>
                <a:latin typeface="Segoe UI" panose="020B0502040204020203" pitchFamily="34" charset="0"/>
                <a:ea typeface="Calibri" panose="020F0502020204030204" pitchFamily="34" charset="0"/>
                <a:cs typeface="Times New Roman" panose="02020603050405020304" pitchFamily="18" charset="0"/>
              </a:rPr>
              <a:t>The </a:t>
            </a:r>
            <a:r>
              <a:rPr lang="en-CA" sz="2800" b="1" kern="100" dirty="0">
                <a:effectLst/>
                <a:latin typeface="Segoe UI" panose="020B0502040204020203" pitchFamily="34" charset="0"/>
                <a:ea typeface="Calibri" panose="020F0502020204030204" pitchFamily="34" charset="0"/>
                <a:cs typeface="Times New Roman" panose="02020603050405020304" pitchFamily="18" charset="0"/>
              </a:rPr>
              <a:t>market interest rate (</a:t>
            </a:r>
            <a:r>
              <a:rPr lang="en-CA" sz="2800" b="1" kern="100" dirty="0" err="1">
                <a:effectLst/>
                <a:latin typeface="Segoe UI" panose="020B0502040204020203" pitchFamily="34" charset="0"/>
                <a:ea typeface="Calibri" panose="020F0502020204030204" pitchFamily="34" charset="0"/>
                <a:cs typeface="Times New Roman" panose="02020603050405020304" pitchFamily="18" charset="0"/>
              </a:rPr>
              <a:t>i</a:t>
            </a:r>
            <a:r>
              <a:rPr lang="en-CA" sz="2800" b="1" kern="100" dirty="0">
                <a:effectLst/>
                <a:latin typeface="Segoe UI" panose="020B0502040204020203" pitchFamily="34" charset="0"/>
                <a:ea typeface="Calibri" panose="020F0502020204030204" pitchFamily="34" charset="0"/>
                <a:cs typeface="Times New Roman" panose="02020603050405020304" pitchFamily="18" charset="0"/>
              </a:rPr>
              <a:t>)</a:t>
            </a:r>
            <a:r>
              <a:rPr lang="en-CA" sz="2800" kern="100" dirty="0">
                <a:effectLst/>
                <a:latin typeface="Calibri" panose="020F0502020204030204" pitchFamily="34" charset="0"/>
                <a:ea typeface="Calibri" panose="020F0502020204030204" pitchFamily="34" charset="0"/>
                <a:cs typeface="Times New Roman" panose="02020603050405020304" pitchFamily="18" charset="0"/>
              </a:rPr>
              <a:t>, also called the </a:t>
            </a:r>
            <a:r>
              <a:rPr lang="en-CA" sz="2800" b="1" kern="100" dirty="0">
                <a:effectLst/>
                <a:latin typeface="Segoe UI" panose="020B0502040204020203" pitchFamily="34" charset="0"/>
                <a:ea typeface="Calibri" panose="020F0502020204030204" pitchFamily="34" charset="0"/>
                <a:cs typeface="Times New Roman" panose="02020603050405020304" pitchFamily="18" charset="0"/>
              </a:rPr>
              <a:t>nominal interest rate</a:t>
            </a:r>
            <a:r>
              <a:rPr lang="en-CA" sz="2800" kern="100" dirty="0">
                <a:effectLst/>
                <a:latin typeface="Calibri" panose="020F0502020204030204" pitchFamily="34" charset="0"/>
                <a:ea typeface="Calibri" panose="020F0502020204030204" pitchFamily="34" charset="0"/>
                <a:cs typeface="Times New Roman" panose="02020603050405020304" pitchFamily="18" charset="0"/>
              </a:rPr>
              <a:t>, is the interest rate observed in the market that includes the effect of inflation. It is used to evaluate cash flows in </a:t>
            </a:r>
            <a:r>
              <a:rPr lang="en-CA" sz="2800" b="1" kern="100" dirty="0">
                <a:effectLst/>
                <a:latin typeface="Segoe UI" panose="020B0502040204020203" pitchFamily="34" charset="0"/>
                <a:ea typeface="Calibri" panose="020F0502020204030204" pitchFamily="34" charset="0"/>
                <a:cs typeface="Times New Roman" panose="02020603050405020304" pitchFamily="18" charset="0"/>
              </a:rPr>
              <a:t>actual dollars (A$)</a:t>
            </a:r>
            <a:r>
              <a:rPr lang="en-CA" sz="2800" kern="100" dirty="0">
                <a:effectLst/>
                <a:latin typeface="Calibri" panose="020F0502020204030204" pitchFamily="34" charset="0"/>
                <a:ea typeface="Calibri" panose="020F0502020204030204" pitchFamily="34" charset="0"/>
                <a:cs typeface="Times New Roman" panose="02020603050405020304" pitchFamily="18" charset="0"/>
              </a:rPr>
              <a:t>.</a:t>
            </a:r>
          </a:p>
          <a:p>
            <a:pPr algn="l"/>
            <a:r>
              <a:rPr lang="en-CA" sz="2800" kern="100" dirty="0">
                <a:solidFill>
                  <a:srgbClr val="404040"/>
                </a:solidFill>
                <a:effectLst/>
                <a:latin typeface="Segoe UI" panose="020B0502040204020203" pitchFamily="34" charset="0"/>
                <a:ea typeface="Calibri" panose="020F0502020204030204" pitchFamily="34" charset="0"/>
                <a:cs typeface="Times New Roman" panose="02020603050405020304" pitchFamily="18" charset="0"/>
              </a:rPr>
              <a:t>The market interest rate (</a:t>
            </a:r>
            <a:r>
              <a:rPr lang="en-CA" sz="4000" b="1" i="1" kern="100" dirty="0" err="1">
                <a:solidFill>
                  <a:srgbClr val="404040"/>
                </a:solidFill>
                <a:effectLst/>
                <a:latin typeface="KaTeX_Math"/>
                <a:ea typeface="Calibri" panose="020F0502020204030204" pitchFamily="34" charset="0"/>
                <a:cs typeface="Times New Roman" panose="02020603050405020304" pitchFamily="18" charset="0"/>
              </a:rPr>
              <a:t>i</a:t>
            </a:r>
            <a:r>
              <a:rPr lang="en-CA" sz="2800" kern="100" dirty="0">
                <a:effectLst/>
                <a:latin typeface="Calibri" panose="020F0502020204030204" pitchFamily="34" charset="0"/>
                <a:ea typeface="Calibri" panose="020F0502020204030204" pitchFamily="34" charset="0"/>
                <a:cs typeface="Times New Roman" panose="02020603050405020304" pitchFamily="18" charset="0"/>
              </a:rPr>
              <a:t>) is determined by combining the </a:t>
            </a:r>
            <a:r>
              <a:rPr lang="en-CA" sz="2800" b="1" kern="100" dirty="0">
                <a:effectLst/>
                <a:latin typeface="Segoe UI" panose="020B0502040204020203" pitchFamily="34" charset="0"/>
                <a:ea typeface="Calibri" panose="020F0502020204030204" pitchFamily="34" charset="0"/>
                <a:cs typeface="Times New Roman" panose="02020603050405020304" pitchFamily="18" charset="0"/>
              </a:rPr>
              <a:t>real interest rate (</a:t>
            </a:r>
            <a:r>
              <a:rPr lang="en-CA" sz="4000" b="1" i="1" kern="100" dirty="0" err="1">
                <a:solidFill>
                  <a:srgbClr val="404040"/>
                </a:solidFill>
                <a:effectLst/>
                <a:latin typeface="KaTeX_Math"/>
                <a:ea typeface="Calibri" panose="020F0502020204030204" pitchFamily="34" charset="0"/>
                <a:cs typeface="Times New Roman" panose="02020603050405020304" pitchFamily="18" charset="0"/>
              </a:rPr>
              <a:t>i</a:t>
            </a:r>
            <a:r>
              <a:rPr lang="en-CA" sz="2000" b="1" kern="100" dirty="0">
                <a:solidFill>
                  <a:srgbClr val="404040"/>
                </a:solidFill>
                <a:effectLst/>
                <a:latin typeface="Calibri" panose="020F0502020204030204" pitchFamily="34" charset="0"/>
                <a:ea typeface="Calibri" panose="020F0502020204030204" pitchFamily="34" charset="0"/>
                <a:cs typeface="Times New Roman" panose="02020603050405020304" pitchFamily="18" charset="0"/>
              </a:rPr>
              <a:t>′)</a:t>
            </a:r>
            <a:r>
              <a:rPr lang="en-CA" sz="2000" b="1" kern="100" dirty="0">
                <a:solidFill>
                  <a:srgbClr val="404040"/>
                </a:solidFill>
                <a:effectLst/>
                <a:latin typeface="Segoe UI" panose="020B0502040204020203" pitchFamily="34" charset="0"/>
                <a:ea typeface="Calibri" panose="020F0502020204030204" pitchFamily="34" charset="0"/>
                <a:cs typeface="Times New Roman" panose="02020603050405020304" pitchFamily="18" charset="0"/>
              </a:rPr>
              <a:t> and the inflation rate (</a:t>
            </a:r>
            <a:r>
              <a:rPr lang="en-CA" sz="4000" b="1" kern="100" dirty="0">
                <a:solidFill>
                  <a:srgbClr val="404040"/>
                </a:solidFill>
                <a:effectLst/>
                <a:latin typeface="Segoe UI" panose="020B0502040204020203" pitchFamily="34" charset="0"/>
                <a:ea typeface="Calibri" panose="020F0502020204030204" pitchFamily="34" charset="0"/>
                <a:cs typeface="Times New Roman" panose="02020603050405020304" pitchFamily="18" charset="0"/>
              </a:rPr>
              <a:t>f</a:t>
            </a:r>
            <a:r>
              <a:rPr lang="en-CA" sz="2000" b="1" kern="100" dirty="0">
                <a:solidFill>
                  <a:srgbClr val="404040"/>
                </a:solidFill>
                <a:effectLst/>
                <a:latin typeface="Segoe UI" panose="020B0502040204020203" pitchFamily="34" charset="0"/>
                <a:ea typeface="Calibri" panose="020F0502020204030204" pitchFamily="34" charset="0"/>
                <a:cs typeface="Times New Roman" panose="02020603050405020304" pitchFamily="18" charset="0"/>
              </a:rPr>
              <a:t>) </a:t>
            </a:r>
            <a:r>
              <a:rPr lang="en-CA" sz="2800" b="1" kern="100" dirty="0">
                <a:solidFill>
                  <a:srgbClr val="404040"/>
                </a:solidFill>
                <a:effectLst/>
                <a:latin typeface="Calibri" panose="020F0502020204030204" pitchFamily="34" charset="0"/>
                <a:ea typeface="Calibri" panose="020F0502020204030204" pitchFamily="34" charset="0"/>
                <a:cs typeface="Times New Roman" panose="02020603050405020304" pitchFamily="18" charset="0"/>
              </a:rPr>
              <a:t>1+</a:t>
            </a:r>
            <a:r>
              <a:rPr lang="en-CA" sz="2800" b="1" i="1" kern="100" dirty="0">
                <a:solidFill>
                  <a:srgbClr val="404040"/>
                </a:solidFill>
                <a:effectLst/>
                <a:latin typeface="Calibri" panose="020F0502020204030204" pitchFamily="34" charset="0"/>
                <a:ea typeface="Calibri" panose="020F0502020204030204" pitchFamily="34" charset="0"/>
                <a:cs typeface="Times New Roman" panose="02020603050405020304" pitchFamily="18" charset="0"/>
              </a:rPr>
              <a:t>i</a:t>
            </a:r>
            <a:r>
              <a:rPr lang="en-CA" sz="2800" b="1" kern="100" dirty="0">
                <a:solidFill>
                  <a:srgbClr val="404040"/>
                </a:solidFill>
                <a:effectLst/>
                <a:latin typeface="Calibri" panose="020F0502020204030204" pitchFamily="34" charset="0"/>
                <a:ea typeface="Calibri" panose="020F0502020204030204" pitchFamily="34" charset="0"/>
                <a:cs typeface="Times New Roman" panose="02020603050405020304" pitchFamily="18" charset="0"/>
              </a:rPr>
              <a:t>=(1+</a:t>
            </a:r>
            <a:r>
              <a:rPr lang="en-CA" sz="2800" b="1" i="1" kern="100" dirty="0">
                <a:solidFill>
                  <a:srgbClr val="404040"/>
                </a:solidFill>
                <a:effectLst/>
                <a:latin typeface="Calibri" panose="020F0502020204030204" pitchFamily="34" charset="0"/>
                <a:ea typeface="Calibri" panose="020F0502020204030204" pitchFamily="34" charset="0"/>
                <a:cs typeface="Times New Roman" panose="02020603050405020304" pitchFamily="18" charset="0"/>
              </a:rPr>
              <a:t>i</a:t>
            </a:r>
            <a:r>
              <a:rPr lang="en-CA" sz="2800" b="1" kern="100" dirty="0">
                <a:solidFill>
                  <a:srgbClr val="404040"/>
                </a:solidFill>
                <a:effectLst/>
                <a:latin typeface="Calibri" panose="020F0502020204030204" pitchFamily="34" charset="0"/>
                <a:ea typeface="Calibri" panose="020F0502020204030204" pitchFamily="34" charset="0"/>
                <a:cs typeface="Times New Roman" panose="02020603050405020304" pitchFamily="18" charset="0"/>
              </a:rPr>
              <a:t>′)(1+</a:t>
            </a:r>
            <a:r>
              <a:rPr lang="en-CA" sz="2800" b="1" i="1" kern="100" dirty="0">
                <a:solidFill>
                  <a:srgbClr val="404040"/>
                </a:solidFill>
                <a:effectLst/>
                <a:latin typeface="Calibri" panose="020F0502020204030204" pitchFamily="34" charset="0"/>
                <a:ea typeface="Calibri" panose="020F0502020204030204" pitchFamily="34" charset="0"/>
                <a:cs typeface="Times New Roman" panose="02020603050405020304" pitchFamily="18" charset="0"/>
              </a:rPr>
              <a:t>f</a:t>
            </a:r>
            <a:r>
              <a:rPr lang="en-CA" sz="2800" b="1" kern="100" dirty="0">
                <a:solidFill>
                  <a:srgbClr val="404040"/>
                </a:solidFill>
                <a:effectLst/>
                <a:latin typeface="Calibri" panose="020F0502020204030204" pitchFamily="34" charset="0"/>
                <a:ea typeface="Calibri" panose="020F0502020204030204" pitchFamily="34" charset="0"/>
                <a:cs typeface="Times New Roman" panose="02020603050405020304" pitchFamily="18" charset="0"/>
              </a:rPr>
              <a:t>)</a:t>
            </a:r>
          </a:p>
          <a:p>
            <a:endParaRPr lang="en-CA" dirty="0"/>
          </a:p>
        </p:txBody>
      </p:sp>
    </p:spTree>
    <p:extLst>
      <p:ext uri="{BB962C8B-B14F-4D97-AF65-F5344CB8AC3E}">
        <p14:creationId xmlns:p14="http://schemas.microsoft.com/office/powerpoint/2010/main" val="3920478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74CCE-BE3D-E4B0-5707-A19755BD71C6}"/>
              </a:ext>
            </a:extLst>
          </p:cNvPr>
          <p:cNvSpPr>
            <a:spLocks noGrp="1"/>
          </p:cNvSpPr>
          <p:nvPr>
            <p:ph type="title"/>
          </p:nvPr>
        </p:nvSpPr>
        <p:spPr>
          <a:xfrm>
            <a:off x="838200" y="365126"/>
            <a:ext cx="10515600" cy="529610"/>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F10D2805-7034-4CF1-8917-53BEA536776D}"/>
              </a:ext>
            </a:extLst>
          </p:cNvPr>
          <p:cNvSpPr>
            <a:spLocks noGrp="1"/>
          </p:cNvSpPr>
          <p:nvPr>
            <p:ph idx="1"/>
          </p:nvPr>
        </p:nvSpPr>
        <p:spPr>
          <a:xfrm>
            <a:off x="838200" y="1032387"/>
            <a:ext cx="10515600" cy="5144576"/>
          </a:xfrm>
        </p:spPr>
        <p:txBody>
          <a:bodyPr/>
          <a:lstStyle/>
          <a:p>
            <a:pPr>
              <a:buNone/>
            </a:pPr>
            <a:r>
              <a:rPr lang="en-CA" sz="2800" b="1" kern="100" dirty="0">
                <a:effectLst/>
                <a:latin typeface="Calibri" panose="020F0502020204030204" pitchFamily="34" charset="0"/>
                <a:ea typeface="Calibri" panose="020F0502020204030204" pitchFamily="34" charset="0"/>
                <a:cs typeface="Times New Roman" panose="02020603050405020304" pitchFamily="18" charset="0"/>
              </a:rPr>
              <a:t>Inflation free interest rate/Real or constant dollar interest rate </a:t>
            </a:r>
            <a:endParaRPr lang="en-CA" sz="2800" kern="100" dirty="0">
              <a:effectLst/>
              <a:latin typeface="Calibri" panose="020F0502020204030204" pitchFamily="34" charset="0"/>
              <a:ea typeface="Calibri" panose="020F0502020204030204" pitchFamily="34" charset="0"/>
              <a:cs typeface="Times New Roman" panose="02020603050405020304" pitchFamily="18" charset="0"/>
            </a:endParaRPr>
          </a:p>
          <a:p>
            <a:pPr>
              <a:buNone/>
            </a:pPr>
            <a:r>
              <a:rPr lang="en-CA" sz="2800" kern="100" dirty="0">
                <a:effectLst/>
                <a:latin typeface="Calibri" panose="020F0502020204030204" pitchFamily="34" charset="0"/>
                <a:ea typeface="Calibri" panose="020F0502020204030204" pitchFamily="34" charset="0"/>
                <a:cs typeface="Times New Roman" panose="02020603050405020304" pitchFamily="18" charset="0"/>
              </a:rPr>
              <a:t>It is the rate in which the inflation effects have been removed. It is known real interest rate and it can be computed when the market interest rate and inflation rate are given. In the absence of inflation, the market interest rate is same as the inflation free interest rate. </a:t>
            </a:r>
          </a:p>
          <a:p>
            <a:r>
              <a:rPr lang="en-CA" sz="2800" kern="100" dirty="0">
                <a:effectLst/>
                <a:latin typeface="Calibri" panose="020F0502020204030204" pitchFamily="34" charset="0"/>
                <a:ea typeface="Calibri" panose="020F0502020204030204" pitchFamily="34" charset="0"/>
                <a:cs typeface="Times New Roman" panose="02020603050405020304" pitchFamily="18" charset="0"/>
              </a:rPr>
              <a:t>Inflation free interest rate I’= market interest – inflation rate (f)</a:t>
            </a:r>
          </a:p>
          <a:p>
            <a:endParaRPr lang="en-CA" dirty="0"/>
          </a:p>
        </p:txBody>
      </p:sp>
    </p:spTree>
    <p:extLst>
      <p:ext uri="{BB962C8B-B14F-4D97-AF65-F5344CB8AC3E}">
        <p14:creationId xmlns:p14="http://schemas.microsoft.com/office/powerpoint/2010/main" val="1032909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EB984-ED8A-9CE3-8F77-7CD7293FD608}"/>
              </a:ext>
            </a:extLst>
          </p:cNvPr>
          <p:cNvSpPr>
            <a:spLocks noGrp="1"/>
          </p:cNvSpPr>
          <p:nvPr>
            <p:ph type="title"/>
          </p:nvPr>
        </p:nvSpPr>
        <p:spPr>
          <a:xfrm>
            <a:off x="740664" y="1408175"/>
            <a:ext cx="10613136" cy="282513"/>
          </a:xfrm>
        </p:spPr>
        <p:txBody>
          <a:bodyPr>
            <a:noAutofit/>
          </a:bodyPr>
          <a:lstStyle/>
          <a:p>
            <a:br>
              <a:rPr lang="en-CA" sz="1800" b="1" kern="100" dirty="0">
                <a:effectLst/>
                <a:latin typeface="Calibri" panose="020F0502020204030204" pitchFamily="34" charset="0"/>
                <a:ea typeface="Calibri" panose="020F0502020204030204" pitchFamily="34" charset="0"/>
                <a:cs typeface="Times New Roman" panose="02020603050405020304" pitchFamily="18" charset="0"/>
              </a:rPr>
            </a:br>
            <a:r>
              <a:rPr lang="en-CA" sz="1800" b="1" kern="100" dirty="0">
                <a:effectLst/>
                <a:latin typeface="Calibri" panose="020F0502020204030204" pitchFamily="34" charset="0"/>
                <a:ea typeface="Calibri" panose="020F0502020204030204" pitchFamily="34" charset="0"/>
                <a:cs typeface="Times New Roman" panose="02020603050405020304" pitchFamily="18" charset="0"/>
              </a:rPr>
              <a:t>Some numerical question </a:t>
            </a:r>
            <a:br>
              <a:rPr lang="en-CA" sz="1800" kern="100" dirty="0">
                <a:effectLst/>
                <a:latin typeface="Calibri" panose="020F0502020204030204" pitchFamily="34" charset="0"/>
                <a:ea typeface="Calibri" panose="020F0502020204030204" pitchFamily="34" charset="0"/>
                <a:cs typeface="Times New Roman" panose="02020603050405020304" pitchFamily="18" charset="0"/>
              </a:rPr>
            </a:br>
            <a:r>
              <a:rPr lang="en-CA" sz="1800" kern="100" dirty="0">
                <a:effectLst/>
                <a:latin typeface="Calibri" panose="020F0502020204030204" pitchFamily="34" charset="0"/>
                <a:ea typeface="Calibri" panose="020F0502020204030204" pitchFamily="34" charset="0"/>
                <a:cs typeface="Times New Roman" panose="02020603050405020304" pitchFamily="18" charset="0"/>
              </a:rPr>
              <a:t>Example:1, The annual fuel cost required to operate a small solid waste treatment plant are projected to be Rs 200000 without considering any future inflation. The best estimate indicates that the annual inflation free interest rate I’ will be 6% and the general inflation rate f will be 5%. If the plant has the remaining useful life of four years, what is the present equivalent of its fuel costs? Use actual dollar analysis. </a:t>
            </a:r>
            <a:br>
              <a:rPr lang="en-CA"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CA" sz="1800" dirty="0"/>
          </a:p>
        </p:txBody>
      </p:sp>
      <p:graphicFrame>
        <p:nvGraphicFramePr>
          <p:cNvPr id="4" name="Content Placeholder 3">
            <a:extLst>
              <a:ext uri="{FF2B5EF4-FFF2-40B4-BE49-F238E27FC236}">
                <a16:creationId xmlns:a16="http://schemas.microsoft.com/office/drawing/2014/main" id="{E80F0EF7-0257-138D-2011-4FC8F86BAAF7}"/>
              </a:ext>
            </a:extLst>
          </p:cNvPr>
          <p:cNvGraphicFramePr>
            <a:graphicFrameLocks noGrp="1"/>
          </p:cNvGraphicFramePr>
          <p:nvPr>
            <p:ph idx="1"/>
            <p:extLst>
              <p:ext uri="{D42A27DB-BD31-4B8C-83A1-F6EECF244321}">
                <p14:modId xmlns:p14="http://schemas.microsoft.com/office/powerpoint/2010/main" val="1442663536"/>
              </p:ext>
            </p:extLst>
          </p:nvPr>
        </p:nvGraphicFramePr>
        <p:xfrm>
          <a:off x="1179576" y="4343399"/>
          <a:ext cx="7882128" cy="1965958"/>
        </p:xfrm>
        <a:graphic>
          <a:graphicData uri="http://schemas.openxmlformats.org/drawingml/2006/table">
            <a:tbl>
              <a:tblPr firstRow="1" firstCol="1" bandRow="1"/>
              <a:tblGrid>
                <a:gridCol w="822674">
                  <a:extLst>
                    <a:ext uri="{9D8B030D-6E8A-4147-A177-3AD203B41FA5}">
                      <a16:colId xmlns:a16="http://schemas.microsoft.com/office/drawing/2014/main" val="3256173526"/>
                    </a:ext>
                  </a:extLst>
                </a:gridCol>
                <a:gridCol w="2162857">
                  <a:extLst>
                    <a:ext uri="{9D8B030D-6E8A-4147-A177-3AD203B41FA5}">
                      <a16:colId xmlns:a16="http://schemas.microsoft.com/office/drawing/2014/main" val="1828958984"/>
                    </a:ext>
                  </a:extLst>
                </a:gridCol>
                <a:gridCol w="2929836">
                  <a:extLst>
                    <a:ext uri="{9D8B030D-6E8A-4147-A177-3AD203B41FA5}">
                      <a16:colId xmlns:a16="http://schemas.microsoft.com/office/drawing/2014/main" val="1771763430"/>
                    </a:ext>
                  </a:extLst>
                </a:gridCol>
                <a:gridCol w="1966761">
                  <a:extLst>
                    <a:ext uri="{9D8B030D-6E8A-4147-A177-3AD203B41FA5}">
                      <a16:colId xmlns:a16="http://schemas.microsoft.com/office/drawing/2014/main" val="3787775725"/>
                    </a:ext>
                  </a:extLst>
                </a:gridCol>
              </a:tblGrid>
              <a:tr h="312358">
                <a:tc>
                  <a:txBody>
                    <a:bodyPr/>
                    <a:lstStyle/>
                    <a:p>
                      <a:pPr>
                        <a:buNone/>
                      </a:pPr>
                      <a:r>
                        <a:rPr lang="en-CA" sz="2000" kern="100" dirty="0">
                          <a:effectLst/>
                          <a:latin typeface="Calibri" panose="020F0502020204030204" pitchFamily="34" charset="0"/>
                          <a:ea typeface="Calibri" panose="020F0502020204030204" pitchFamily="34" charset="0"/>
                          <a:cs typeface="Times New Roman" panose="02020603050405020304" pitchFamily="18" charset="0"/>
                        </a:rPr>
                        <a:t>Year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CA" sz="2000" kern="100" dirty="0">
                          <a:effectLst/>
                          <a:latin typeface="Calibri" panose="020F0502020204030204" pitchFamily="34" charset="0"/>
                          <a:ea typeface="Calibri" panose="020F0502020204030204" pitchFamily="34" charset="0"/>
                          <a:cs typeface="Times New Roman" panose="02020603050405020304" pitchFamily="18" charset="0"/>
                        </a:rPr>
                        <a:t>Cash flow of fuel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CA" sz="2000" kern="100" dirty="0">
                          <a:effectLst/>
                          <a:latin typeface="Calibri" panose="020F0502020204030204" pitchFamily="34" charset="0"/>
                          <a:ea typeface="Calibri" panose="020F0502020204030204" pitchFamily="34" charset="0"/>
                          <a:cs typeface="Times New Roman" panose="02020603050405020304" pitchFamily="18" charset="0"/>
                        </a:rPr>
                        <a:t>Conversion factor (f)=5%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CA" sz="2000" kern="100">
                          <a:effectLst/>
                          <a:latin typeface="Calibri" panose="020F0502020204030204" pitchFamily="34" charset="0"/>
                          <a:ea typeface="Calibri" panose="020F0502020204030204" pitchFamily="34" charset="0"/>
                          <a:cs typeface="Times New Roman" panose="02020603050405020304" pitchFamily="18" charset="0"/>
                        </a:rPr>
                        <a:t>Actual cash flow</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4996218"/>
                  </a:ext>
                </a:extLst>
              </a:tr>
              <a:tr h="413400">
                <a:tc>
                  <a:txBody>
                    <a:bodyPr/>
                    <a:lstStyle/>
                    <a:p>
                      <a:pPr>
                        <a:buNone/>
                      </a:pPr>
                      <a:r>
                        <a:rPr lang="en-CA" sz="2000" kern="100">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CA" sz="2000" kern="100">
                          <a:effectLst/>
                          <a:latin typeface="Calibri" panose="020F0502020204030204" pitchFamily="34" charset="0"/>
                          <a:ea typeface="Calibri" panose="020F0502020204030204" pitchFamily="34" charset="0"/>
                          <a:cs typeface="Times New Roman" panose="02020603050405020304" pitchFamily="18" charset="0"/>
                        </a:rPr>
                        <a:t>200000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CA" sz="2000" kern="100">
                          <a:effectLst/>
                          <a:latin typeface="Calibri" panose="020F0502020204030204" pitchFamily="34" charset="0"/>
                          <a:ea typeface="Calibri" panose="020F0502020204030204" pitchFamily="34" charset="0"/>
                          <a:cs typeface="Times New Roman" panose="02020603050405020304" pitchFamily="18" charset="0"/>
                        </a:rPr>
                        <a:t>(1.05)</a:t>
                      </a:r>
                      <a:r>
                        <a:rPr lang="en-CA" sz="2000" kern="100" baseline="30000">
                          <a:effectLst/>
                          <a:latin typeface="Calibri" panose="020F0502020204030204" pitchFamily="34" charset="0"/>
                          <a:ea typeface="Calibri" panose="020F0502020204030204" pitchFamily="34" charset="0"/>
                          <a:cs typeface="Times New Roman" panose="02020603050405020304" pitchFamily="18" charset="0"/>
                        </a:rPr>
                        <a:t>1</a:t>
                      </a:r>
                      <a:endParaRPr lang="en-CA"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CA" sz="2000" kern="100">
                          <a:effectLst/>
                          <a:latin typeface="Calibri" panose="020F0502020204030204" pitchFamily="34" charset="0"/>
                          <a:ea typeface="Calibri" panose="020F0502020204030204" pitchFamily="34" charset="0"/>
                          <a:cs typeface="Times New Roman" panose="02020603050405020304" pitchFamily="18" charset="0"/>
                        </a:rPr>
                        <a:t>210000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63159848"/>
                  </a:ext>
                </a:extLst>
              </a:tr>
              <a:tr h="413400">
                <a:tc>
                  <a:txBody>
                    <a:bodyPr/>
                    <a:lstStyle/>
                    <a:p>
                      <a:pPr>
                        <a:buNone/>
                      </a:pPr>
                      <a:r>
                        <a:rPr lang="en-CA" sz="2000" kern="100" dirty="0">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CA" sz="2000" kern="100">
                          <a:effectLst/>
                          <a:latin typeface="Calibri" panose="020F0502020204030204" pitchFamily="34" charset="0"/>
                          <a:ea typeface="Calibri" panose="020F0502020204030204" pitchFamily="34" charset="0"/>
                          <a:cs typeface="Times New Roman" panose="02020603050405020304" pitchFamily="18" charset="0"/>
                        </a:rPr>
                        <a:t>200000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CA" sz="2000" kern="100">
                          <a:effectLst/>
                          <a:latin typeface="Calibri" panose="020F0502020204030204" pitchFamily="34" charset="0"/>
                          <a:ea typeface="Calibri" panose="020F0502020204030204" pitchFamily="34" charset="0"/>
                          <a:cs typeface="Times New Roman" panose="02020603050405020304" pitchFamily="18" charset="0"/>
                        </a:rPr>
                        <a:t>(1.05)</a:t>
                      </a:r>
                      <a:r>
                        <a:rPr lang="en-CA" sz="2000" kern="100" baseline="30000">
                          <a:effectLst/>
                          <a:latin typeface="Calibri" panose="020F0502020204030204" pitchFamily="34" charset="0"/>
                          <a:ea typeface="Calibri" panose="020F0502020204030204" pitchFamily="34" charset="0"/>
                          <a:cs typeface="Times New Roman" panose="02020603050405020304" pitchFamily="18" charset="0"/>
                        </a:rPr>
                        <a:t>2</a:t>
                      </a:r>
                      <a:endParaRPr lang="en-CA"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CA" sz="2000" kern="100">
                          <a:effectLst/>
                          <a:latin typeface="Calibri" panose="020F0502020204030204" pitchFamily="34" charset="0"/>
                          <a:ea typeface="Calibri" panose="020F0502020204030204" pitchFamily="34" charset="0"/>
                          <a:cs typeface="Times New Roman" panose="02020603050405020304" pitchFamily="18" charset="0"/>
                        </a:rPr>
                        <a:t>220500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4111796"/>
                  </a:ext>
                </a:extLst>
              </a:tr>
              <a:tr h="413400">
                <a:tc>
                  <a:txBody>
                    <a:bodyPr/>
                    <a:lstStyle/>
                    <a:p>
                      <a:pPr>
                        <a:buNone/>
                      </a:pPr>
                      <a:r>
                        <a:rPr lang="en-CA" sz="2000" kern="100">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CA" sz="2000" kern="100">
                          <a:effectLst/>
                          <a:latin typeface="Calibri" panose="020F0502020204030204" pitchFamily="34" charset="0"/>
                          <a:ea typeface="Calibri" panose="020F0502020204030204" pitchFamily="34" charset="0"/>
                          <a:cs typeface="Times New Roman" panose="02020603050405020304" pitchFamily="18" charset="0"/>
                        </a:rPr>
                        <a:t>200000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CA" sz="2000" kern="100">
                          <a:effectLst/>
                          <a:latin typeface="Calibri" panose="020F0502020204030204" pitchFamily="34" charset="0"/>
                          <a:ea typeface="Calibri" panose="020F0502020204030204" pitchFamily="34" charset="0"/>
                          <a:cs typeface="Times New Roman" panose="02020603050405020304" pitchFamily="18" charset="0"/>
                        </a:rPr>
                        <a:t>(1.05)</a:t>
                      </a:r>
                      <a:r>
                        <a:rPr lang="en-CA" sz="2000" kern="100" baseline="30000">
                          <a:effectLst/>
                          <a:latin typeface="Calibri" panose="020F0502020204030204" pitchFamily="34" charset="0"/>
                          <a:ea typeface="Calibri" panose="020F0502020204030204" pitchFamily="34" charset="0"/>
                          <a:cs typeface="Times New Roman" panose="02020603050405020304" pitchFamily="18" charset="0"/>
                        </a:rPr>
                        <a:t>3</a:t>
                      </a:r>
                      <a:endParaRPr lang="en-CA"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CA" sz="2000" kern="100">
                          <a:effectLst/>
                          <a:latin typeface="Calibri" panose="020F0502020204030204" pitchFamily="34" charset="0"/>
                          <a:ea typeface="Calibri" panose="020F0502020204030204" pitchFamily="34" charset="0"/>
                          <a:cs typeface="Times New Roman" panose="02020603050405020304" pitchFamily="18" charset="0"/>
                        </a:rPr>
                        <a:t>231525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97574664"/>
                  </a:ext>
                </a:extLst>
              </a:tr>
              <a:tr h="413400">
                <a:tc>
                  <a:txBody>
                    <a:bodyPr/>
                    <a:lstStyle/>
                    <a:p>
                      <a:pPr>
                        <a:buNone/>
                      </a:pPr>
                      <a:r>
                        <a:rPr lang="en-CA" sz="2000" kern="100">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CA" sz="2000" kern="100">
                          <a:effectLst/>
                          <a:latin typeface="Calibri" panose="020F0502020204030204" pitchFamily="34" charset="0"/>
                          <a:ea typeface="Calibri" panose="020F0502020204030204" pitchFamily="34" charset="0"/>
                          <a:cs typeface="Times New Roman" panose="02020603050405020304" pitchFamily="18" charset="0"/>
                        </a:rPr>
                        <a:t>200000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CA" sz="2000" kern="100" dirty="0">
                          <a:effectLst/>
                          <a:latin typeface="Calibri" panose="020F0502020204030204" pitchFamily="34" charset="0"/>
                          <a:ea typeface="Calibri" panose="020F0502020204030204" pitchFamily="34" charset="0"/>
                          <a:cs typeface="Times New Roman" panose="02020603050405020304" pitchFamily="18" charset="0"/>
                        </a:rPr>
                        <a:t>(1.05)</a:t>
                      </a:r>
                      <a:r>
                        <a:rPr lang="en-CA" sz="2000" kern="100" baseline="30000" dirty="0">
                          <a:effectLst/>
                          <a:latin typeface="Calibri" panose="020F0502020204030204" pitchFamily="34" charset="0"/>
                          <a:ea typeface="Calibri" panose="020F0502020204030204" pitchFamily="34" charset="0"/>
                          <a:cs typeface="Times New Roman" panose="02020603050405020304" pitchFamily="18" charset="0"/>
                        </a:rPr>
                        <a:t>4</a:t>
                      </a:r>
                      <a:endParaRPr lang="en-CA"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buNone/>
                      </a:pPr>
                      <a:r>
                        <a:rPr lang="en-CA" sz="2000" kern="100" dirty="0">
                          <a:effectLst/>
                          <a:latin typeface="Calibri" panose="020F0502020204030204" pitchFamily="34" charset="0"/>
                          <a:ea typeface="Calibri" panose="020F0502020204030204" pitchFamily="34" charset="0"/>
                          <a:cs typeface="Times New Roman" panose="02020603050405020304" pitchFamily="18" charset="0"/>
                        </a:rPr>
                        <a:t>243101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63417554"/>
                  </a:ext>
                </a:extLst>
              </a:tr>
            </a:tbl>
          </a:graphicData>
        </a:graphic>
      </p:graphicFrame>
      <p:sp>
        <p:nvSpPr>
          <p:cNvPr id="5" name="Rectangle 1">
            <a:extLst>
              <a:ext uri="{FF2B5EF4-FFF2-40B4-BE49-F238E27FC236}">
                <a16:creationId xmlns:a16="http://schemas.microsoft.com/office/drawing/2014/main" id="{E6E12087-5D60-77DA-364B-238FB469500F}"/>
              </a:ext>
            </a:extLst>
          </p:cNvPr>
          <p:cNvSpPr>
            <a:spLocks noChangeArrowheads="1"/>
          </p:cNvSpPr>
          <p:nvPr/>
        </p:nvSpPr>
        <p:spPr bwMode="auto">
          <a:xfrm>
            <a:off x="1033272" y="-3526256"/>
            <a:ext cx="4590288" cy="7509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CA" altLang="en-US"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CA" altLang="en-US"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CA" altLang="en-US"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CA" altLang="en-US"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CA" altLang="en-US"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CA" altLang="en-US"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CA" altLang="en-US"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CA" altLang="en-US"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CA" altLang="en-US"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CA" altLang="en-US"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CA" altLang="en-US"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CA" altLang="en-US"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CA" altLang="en-US"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CA" altLang="en-US"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CA" altLang="en-US"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CA" altLang="en-US"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CA" altLang="en-US" sz="1100"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CA" altLang="en-US" dirty="0">
                <a:latin typeface="Calibri" panose="020F0502020204030204" pitchFamily="34" charset="0"/>
                <a:ea typeface="Calibri" panose="020F0502020204030204" pitchFamily="34" charset="0"/>
                <a:cs typeface="Times New Roman" panose="02020603050405020304" pitchFamily="18" charset="0"/>
              </a:rPr>
              <a:t>Solution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CA" altLang="en-US"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CA"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Inflation free rate of interest(I’)=6%</a:t>
            </a:r>
            <a:endParaRPr kumimoji="0" lang="en-CA"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CA" altLang="en-US"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Inflation rate(f) = 5%</a:t>
            </a:r>
            <a:endParaRPr kumimoji="0" lang="en-CA"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CA"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642009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ED89B-CD99-03DF-50BD-9CBE0891B234}"/>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0E4F93A-CE41-4584-AC88-182DDAD143D9}"/>
              </a:ext>
            </a:extLst>
          </p:cNvPr>
          <p:cNvSpPr>
            <a:spLocks noGrp="1"/>
          </p:cNvSpPr>
          <p:nvPr>
            <p:ph idx="1"/>
          </p:nvPr>
        </p:nvSpPr>
        <p:spPr>
          <a:xfrm>
            <a:off x="210312" y="1825625"/>
            <a:ext cx="11777472" cy="4351338"/>
          </a:xfrm>
        </p:spPr>
        <p:txBody>
          <a:bodyPr/>
          <a:lstStyle/>
          <a:p>
            <a:pPr>
              <a:buNone/>
            </a:pPr>
            <a:r>
              <a:rPr lang="en-CA" sz="2800" kern="100" dirty="0">
                <a:effectLst/>
                <a:latin typeface="Calibri" panose="020F0502020204030204" pitchFamily="34" charset="0"/>
                <a:ea typeface="Calibri" panose="020F0502020204030204" pitchFamily="34" charset="0"/>
                <a:cs typeface="Times New Roman" panose="02020603050405020304" pitchFamily="18" charset="0"/>
              </a:rPr>
              <a:t>The market interest rate will be </a:t>
            </a:r>
          </a:p>
          <a:p>
            <a:pPr>
              <a:buNone/>
            </a:pPr>
            <a:r>
              <a:rPr lang="en-CA" sz="2800" kern="100" dirty="0">
                <a:effectLst/>
                <a:latin typeface="Calibri" panose="020F0502020204030204" pitchFamily="34" charset="0"/>
                <a:ea typeface="Calibri" panose="020F0502020204030204" pitchFamily="34" charset="0"/>
                <a:cs typeface="Times New Roman" panose="02020603050405020304" pitchFamily="18" charset="0"/>
              </a:rPr>
              <a:t>1+</a:t>
            </a:r>
            <a:r>
              <a:rPr lang="en-CA" sz="2800" i="1" kern="100" dirty="0">
                <a:effectLst/>
                <a:latin typeface="Calibri" panose="020F0502020204030204" pitchFamily="34" charset="0"/>
                <a:ea typeface="Calibri" panose="020F0502020204030204" pitchFamily="34" charset="0"/>
                <a:cs typeface="Times New Roman" panose="02020603050405020304" pitchFamily="18" charset="0"/>
              </a:rPr>
              <a:t>i</a:t>
            </a:r>
            <a:r>
              <a:rPr lang="en-CA" sz="2800" kern="100" dirty="0">
                <a:effectLst/>
                <a:latin typeface="Calibri" panose="020F0502020204030204" pitchFamily="34" charset="0"/>
                <a:ea typeface="Calibri" panose="020F0502020204030204" pitchFamily="34" charset="0"/>
                <a:cs typeface="Times New Roman" panose="02020603050405020304" pitchFamily="18" charset="0"/>
              </a:rPr>
              <a:t>=(1+</a:t>
            </a:r>
            <a:r>
              <a:rPr lang="en-CA" sz="2800" i="1" kern="100" dirty="0">
                <a:effectLst/>
                <a:latin typeface="Calibri" panose="020F0502020204030204" pitchFamily="34" charset="0"/>
                <a:ea typeface="Calibri" panose="020F0502020204030204" pitchFamily="34" charset="0"/>
                <a:cs typeface="Times New Roman" panose="02020603050405020304" pitchFamily="18" charset="0"/>
              </a:rPr>
              <a:t>i</a:t>
            </a:r>
            <a:r>
              <a:rPr lang="en-CA" sz="2800" kern="100" dirty="0">
                <a:effectLst/>
                <a:latin typeface="Calibri" panose="020F0502020204030204" pitchFamily="34" charset="0"/>
                <a:ea typeface="Calibri" panose="020F0502020204030204" pitchFamily="34" charset="0"/>
                <a:cs typeface="Times New Roman" panose="02020603050405020304" pitchFamily="18" charset="0"/>
              </a:rPr>
              <a:t>′)(1+</a:t>
            </a:r>
            <a:r>
              <a:rPr lang="en-CA" sz="2800" i="1" kern="100" dirty="0">
                <a:effectLst/>
                <a:latin typeface="Calibri" panose="020F0502020204030204" pitchFamily="34" charset="0"/>
                <a:ea typeface="Calibri" panose="020F0502020204030204" pitchFamily="34" charset="0"/>
                <a:cs typeface="Times New Roman" panose="02020603050405020304" pitchFamily="18" charset="0"/>
              </a:rPr>
              <a:t>f</a:t>
            </a:r>
            <a:r>
              <a:rPr lang="en-CA" sz="2800" kern="100" dirty="0">
                <a:effectLst/>
                <a:latin typeface="Calibri" panose="020F0502020204030204" pitchFamily="34" charset="0"/>
                <a:ea typeface="Calibri" panose="020F0502020204030204" pitchFamily="34" charset="0"/>
                <a:cs typeface="Times New Roman" panose="02020603050405020304" pitchFamily="18" charset="0"/>
              </a:rPr>
              <a:t>)</a:t>
            </a:r>
          </a:p>
          <a:p>
            <a:pPr>
              <a:buNone/>
            </a:pPr>
            <a:r>
              <a:rPr lang="en-CA" sz="2800" kern="100" dirty="0" err="1">
                <a:effectLst/>
                <a:latin typeface="Calibri" panose="020F0502020204030204" pitchFamily="34" charset="0"/>
                <a:ea typeface="Calibri" panose="020F0502020204030204" pitchFamily="34" charset="0"/>
                <a:cs typeface="Times New Roman" panose="02020603050405020304" pitchFamily="18" charset="0"/>
              </a:rPr>
              <a:t>i</a:t>
            </a:r>
            <a:r>
              <a:rPr lang="en-CA" sz="2800" kern="100" dirty="0">
                <a:effectLst/>
                <a:latin typeface="Calibri" panose="020F0502020204030204" pitchFamily="34" charset="0"/>
                <a:ea typeface="Calibri" panose="020F0502020204030204" pitchFamily="34" charset="0"/>
                <a:cs typeface="Times New Roman" panose="02020603050405020304" pitchFamily="18" charset="0"/>
              </a:rPr>
              <a:t>= (1.06x1.05)-1</a:t>
            </a:r>
          </a:p>
          <a:p>
            <a:pPr>
              <a:buNone/>
            </a:pPr>
            <a:r>
              <a:rPr lang="en-CA" sz="2800" kern="100" dirty="0">
                <a:effectLst/>
                <a:latin typeface="Calibri" panose="020F0502020204030204" pitchFamily="34" charset="0"/>
                <a:ea typeface="Calibri" panose="020F0502020204030204" pitchFamily="34" charset="0"/>
                <a:cs typeface="Times New Roman" panose="02020603050405020304" pitchFamily="18" charset="0"/>
              </a:rPr>
              <a:t>=11.3%</a:t>
            </a:r>
          </a:p>
          <a:p>
            <a:pPr>
              <a:buNone/>
            </a:pPr>
            <a:r>
              <a:rPr lang="en-CA" sz="2800" kern="100" dirty="0">
                <a:effectLst/>
                <a:latin typeface="Calibri" panose="020F0502020204030204" pitchFamily="34" charset="0"/>
                <a:ea typeface="Calibri" panose="020F0502020204030204" pitchFamily="34" charset="0"/>
                <a:cs typeface="Times New Roman" panose="02020603050405020304" pitchFamily="18" charset="0"/>
              </a:rPr>
              <a:t>The present equivalent cost will be, </a:t>
            </a:r>
          </a:p>
          <a:p>
            <a:r>
              <a:rPr lang="en-CA" sz="2800" kern="100" dirty="0">
                <a:effectLst/>
                <a:latin typeface="Calibri" panose="020F0502020204030204" pitchFamily="34" charset="0"/>
                <a:ea typeface="Calibri" panose="020F0502020204030204" pitchFamily="34" charset="0"/>
                <a:cs typeface="Times New Roman" panose="02020603050405020304" pitchFamily="18" charset="0"/>
              </a:rPr>
              <a:t>Pw of actual cost (11.3</a:t>
            </a:r>
            <a:r>
              <a:rPr lang="en-CA" sz="2800" kern="100">
                <a:effectLst/>
                <a:latin typeface="Calibri" panose="020F0502020204030204" pitchFamily="34" charset="0"/>
                <a:ea typeface="Calibri" panose="020F0502020204030204" pitchFamily="34" charset="0"/>
                <a:cs typeface="Times New Roman" panose="02020603050405020304" pitchFamily="18" charset="0"/>
              </a:rPr>
              <a:t>)= 210000/1.113</a:t>
            </a:r>
            <a:r>
              <a:rPr lang="en-CA" sz="2800" kern="100" baseline="30000">
                <a:effectLst/>
                <a:latin typeface="Calibri" panose="020F0502020204030204" pitchFamily="34" charset="0"/>
                <a:ea typeface="Calibri" panose="020F0502020204030204" pitchFamily="34" charset="0"/>
                <a:cs typeface="Times New Roman" panose="02020603050405020304" pitchFamily="18" charset="0"/>
              </a:rPr>
              <a:t>1</a:t>
            </a:r>
            <a:r>
              <a:rPr lang="en-CA" sz="2800" kern="100">
                <a:effectLst/>
                <a:latin typeface="Calibri" panose="020F0502020204030204" pitchFamily="34" charset="0"/>
                <a:ea typeface="Calibri" panose="020F0502020204030204" pitchFamily="34" charset="0"/>
                <a:cs typeface="Times New Roman" panose="02020603050405020304" pitchFamily="18" charset="0"/>
              </a:rPr>
              <a:t>+220500/1.113</a:t>
            </a:r>
            <a:r>
              <a:rPr lang="en-CA" sz="2800" kern="100" baseline="30000">
                <a:effectLst/>
                <a:latin typeface="Calibri" panose="020F0502020204030204" pitchFamily="34" charset="0"/>
                <a:ea typeface="Calibri" panose="020F0502020204030204" pitchFamily="34" charset="0"/>
                <a:cs typeface="Times New Roman" panose="02020603050405020304" pitchFamily="18" charset="0"/>
              </a:rPr>
              <a:t>2</a:t>
            </a:r>
            <a:r>
              <a:rPr lang="en-CA" sz="2800" kern="100">
                <a:effectLst/>
                <a:latin typeface="Calibri" panose="020F0502020204030204" pitchFamily="34" charset="0"/>
                <a:ea typeface="Calibri" panose="020F0502020204030204" pitchFamily="34" charset="0"/>
                <a:cs typeface="Times New Roman" panose="02020603050405020304" pitchFamily="18" charset="0"/>
              </a:rPr>
              <a:t>+231525/1.113</a:t>
            </a:r>
            <a:r>
              <a:rPr lang="en-CA" sz="2800" kern="100" baseline="30000">
                <a:effectLst/>
                <a:latin typeface="Calibri" panose="020F0502020204030204" pitchFamily="34" charset="0"/>
                <a:ea typeface="Calibri" panose="020F0502020204030204" pitchFamily="34" charset="0"/>
                <a:cs typeface="Times New Roman" panose="02020603050405020304" pitchFamily="18" charset="0"/>
              </a:rPr>
              <a:t>3</a:t>
            </a:r>
            <a:r>
              <a:rPr lang="en-CA" sz="2800" kern="100">
                <a:effectLst/>
                <a:latin typeface="Calibri" panose="020F0502020204030204" pitchFamily="34" charset="0"/>
                <a:ea typeface="Calibri" panose="020F0502020204030204" pitchFamily="34" charset="0"/>
                <a:cs typeface="Times New Roman" panose="02020603050405020304" pitchFamily="18" charset="0"/>
              </a:rPr>
              <a:t>+243101/1.113</a:t>
            </a:r>
            <a:r>
              <a:rPr lang="en-CA" sz="2800" kern="100" baseline="30000">
                <a:effectLst/>
                <a:latin typeface="Calibri" panose="020F0502020204030204" pitchFamily="34" charset="0"/>
                <a:ea typeface="Calibri" panose="020F0502020204030204" pitchFamily="34" charset="0"/>
                <a:cs typeface="Times New Roman" panose="02020603050405020304" pitchFamily="18" charset="0"/>
              </a:rPr>
              <a:t>4</a:t>
            </a:r>
            <a:r>
              <a:rPr lang="en-CA" sz="2800" kern="100">
                <a:effectLst/>
                <a:latin typeface="Calibri" panose="020F0502020204030204" pitchFamily="34" charset="0"/>
                <a:ea typeface="Calibri" panose="020F0502020204030204" pitchFamily="34" charset="0"/>
                <a:cs typeface="Times New Roman" panose="02020603050405020304" pitchFamily="18" charset="0"/>
              </a:rPr>
              <a:t>=693020</a:t>
            </a:r>
            <a:endParaRPr lang="en-CA"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spTree>
    <p:extLst>
      <p:ext uri="{BB962C8B-B14F-4D97-AF65-F5344CB8AC3E}">
        <p14:creationId xmlns:p14="http://schemas.microsoft.com/office/powerpoint/2010/main" val="873028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67AEA-C696-C84D-1A62-0B903119EDF0}"/>
              </a:ext>
            </a:extLst>
          </p:cNvPr>
          <p:cNvSpPr>
            <a:spLocks noGrp="1"/>
          </p:cNvSpPr>
          <p:nvPr>
            <p:ph type="title"/>
          </p:nvPr>
        </p:nvSpPr>
        <p:spPr>
          <a:xfrm>
            <a:off x="838200" y="365125"/>
            <a:ext cx="10515600" cy="402971"/>
          </a:xfrm>
        </p:spPr>
        <p:txBody>
          <a:bodyPr>
            <a:normAutofit fontScale="90000"/>
          </a:bodyPr>
          <a:lstStyle/>
          <a:p>
            <a:endParaRPr lang="en-CA" dirty="0"/>
          </a:p>
        </p:txBody>
      </p:sp>
      <p:pic>
        <p:nvPicPr>
          <p:cNvPr id="4" name="Content Placeholder 3">
            <a:extLst>
              <a:ext uri="{FF2B5EF4-FFF2-40B4-BE49-F238E27FC236}">
                <a16:creationId xmlns:a16="http://schemas.microsoft.com/office/drawing/2014/main" id="{9554B8D8-4207-E831-5266-619CBF38FEC6}"/>
              </a:ext>
            </a:extLst>
          </p:cNvPr>
          <p:cNvPicPr>
            <a:picLocks noGrp="1" noChangeAspect="1"/>
          </p:cNvPicPr>
          <p:nvPr>
            <p:ph idx="1"/>
          </p:nvPr>
        </p:nvPicPr>
        <p:blipFill>
          <a:blip r:embed="rId2"/>
          <a:stretch>
            <a:fillRect/>
          </a:stretch>
        </p:blipFill>
        <p:spPr>
          <a:xfrm>
            <a:off x="540774" y="1088136"/>
            <a:ext cx="10515600" cy="4969955"/>
          </a:xfrm>
          <a:prstGeom prst="rect">
            <a:avLst/>
          </a:prstGeom>
        </p:spPr>
      </p:pic>
    </p:spTree>
    <p:extLst>
      <p:ext uri="{BB962C8B-B14F-4D97-AF65-F5344CB8AC3E}">
        <p14:creationId xmlns:p14="http://schemas.microsoft.com/office/powerpoint/2010/main" val="3240111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984DA-8716-F3A7-CA16-C0E2C222830C}"/>
              </a:ext>
            </a:extLst>
          </p:cNvPr>
          <p:cNvSpPr>
            <a:spLocks noGrp="1"/>
          </p:cNvSpPr>
          <p:nvPr>
            <p:ph type="title"/>
          </p:nvPr>
        </p:nvSpPr>
        <p:spPr>
          <a:xfrm>
            <a:off x="838200" y="365126"/>
            <a:ext cx="10515600" cy="315912"/>
          </a:xfrm>
        </p:spPr>
        <p:txBody>
          <a:bodyPr>
            <a:normAutofit fontScale="90000"/>
          </a:bodyPr>
          <a:lstStyle/>
          <a:p>
            <a:endParaRPr lang="en-CA" dirty="0"/>
          </a:p>
        </p:txBody>
      </p:sp>
      <p:pic>
        <p:nvPicPr>
          <p:cNvPr id="4" name="Content Placeholder 3">
            <a:extLst>
              <a:ext uri="{FF2B5EF4-FFF2-40B4-BE49-F238E27FC236}">
                <a16:creationId xmlns:a16="http://schemas.microsoft.com/office/drawing/2014/main" id="{60AA6D90-281F-B4AD-4C29-93832AF53BC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9224" y="1024128"/>
            <a:ext cx="10853928" cy="5152835"/>
          </a:xfrm>
          <a:prstGeom prst="rect">
            <a:avLst/>
          </a:prstGeom>
          <a:noFill/>
          <a:ln>
            <a:noFill/>
          </a:ln>
        </p:spPr>
      </p:pic>
    </p:spTree>
    <p:extLst>
      <p:ext uri="{BB962C8B-B14F-4D97-AF65-F5344CB8AC3E}">
        <p14:creationId xmlns:p14="http://schemas.microsoft.com/office/powerpoint/2010/main" val="2524150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89224-E876-E4FA-AA14-7B99086762E8}"/>
              </a:ext>
            </a:extLst>
          </p:cNvPr>
          <p:cNvSpPr>
            <a:spLocks noGrp="1"/>
          </p:cNvSpPr>
          <p:nvPr>
            <p:ph type="title"/>
          </p:nvPr>
        </p:nvSpPr>
        <p:spPr/>
        <p:txBody>
          <a:bodyPr/>
          <a:lstStyle/>
          <a:p>
            <a:endParaRPr lang="en-CA"/>
          </a:p>
        </p:txBody>
      </p:sp>
      <p:pic>
        <p:nvPicPr>
          <p:cNvPr id="4" name="Content Placeholder 3">
            <a:extLst>
              <a:ext uri="{FF2B5EF4-FFF2-40B4-BE49-F238E27FC236}">
                <a16:creationId xmlns:a16="http://schemas.microsoft.com/office/drawing/2014/main" id="{78A26C6E-626A-6240-E14D-83408AFE7B96}"/>
              </a:ext>
            </a:extLst>
          </p:cNvPr>
          <p:cNvPicPr>
            <a:picLocks noGrp="1" noChangeAspect="1"/>
          </p:cNvPicPr>
          <p:nvPr>
            <p:ph idx="1"/>
          </p:nvPr>
        </p:nvPicPr>
        <p:blipFill>
          <a:blip r:embed="rId2"/>
          <a:stretch>
            <a:fillRect/>
          </a:stretch>
        </p:blipFill>
        <p:spPr>
          <a:xfrm>
            <a:off x="1207008" y="1825625"/>
            <a:ext cx="9619488" cy="4351338"/>
          </a:xfrm>
          <a:prstGeom prst="rect">
            <a:avLst/>
          </a:prstGeom>
        </p:spPr>
      </p:pic>
    </p:spTree>
    <p:extLst>
      <p:ext uri="{BB962C8B-B14F-4D97-AF65-F5344CB8AC3E}">
        <p14:creationId xmlns:p14="http://schemas.microsoft.com/office/powerpoint/2010/main" val="2515345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TotalTime>
  <Words>1404</Words>
  <Application>Microsoft Office PowerPoint</Application>
  <PresentationFormat>Widescreen</PresentationFormat>
  <Paragraphs>115</Paragraphs>
  <Slides>18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Calibri</vt:lpstr>
      <vt:lpstr>Calibri Light</vt:lpstr>
      <vt:lpstr>Courier New</vt:lpstr>
      <vt:lpstr>KaTeX_Math</vt:lpstr>
      <vt:lpstr>Segoe UI</vt:lpstr>
      <vt:lpstr>Symbol</vt:lpstr>
      <vt:lpstr>Times New Roman</vt:lpstr>
      <vt:lpstr>Office Theme</vt:lpstr>
      <vt:lpstr>Inflation </vt:lpstr>
      <vt:lpstr>PowerPoint Presentation</vt:lpstr>
      <vt:lpstr>PowerPoint Presentation</vt:lpstr>
      <vt:lpstr>PowerPoint Presentation</vt:lpstr>
      <vt:lpstr>PowerPoint Presentation</vt:lpstr>
      <vt:lpstr>Producer Price Index (PPI) </vt:lpstr>
      <vt:lpstr>3. Wholesale Price Index (WPI) </vt:lpstr>
      <vt:lpstr>4. GDP Deflator (Gross Domestic Product Deflator) </vt:lpstr>
      <vt:lpstr> </vt:lpstr>
      <vt:lpstr>PowerPoint Presentation</vt:lpstr>
      <vt:lpstr>PowerPoint Presentation</vt:lpstr>
      <vt:lpstr>Market and inflation free interest rates </vt:lpstr>
      <vt:lpstr>PowerPoint Presentation</vt:lpstr>
      <vt:lpstr> Some numerical question  Example:1, The annual fuel cost required to operate a small solid waste treatment plant are projected to be Rs 200000 without considering any future inflation. The best estimate indicates that the annual inflation free interest rate I’ will be 6% and the general inflation rate f will be 5%. If the plant has the remaining useful life of four years, what is the present equivalent of its fuel costs? Use actual dollar analysis.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Sulav Cooperative</dc:creator>
  <cp:lastModifiedBy>Sulav Cooperative</cp:lastModifiedBy>
  <cp:revision>10</cp:revision>
  <dcterms:created xsi:type="dcterms:W3CDTF">2025-06-26T12:01:00Z</dcterms:created>
  <dcterms:modified xsi:type="dcterms:W3CDTF">2026-02-04T01:45:59Z</dcterms:modified>
</cp:coreProperties>
</file>