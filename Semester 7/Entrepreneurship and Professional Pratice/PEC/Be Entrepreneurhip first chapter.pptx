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04"/>
  </p:notesMasterIdLst>
  <p:sldIdLst>
    <p:sldId id="256" r:id="rId3"/>
    <p:sldId id="405" r:id="rId4"/>
    <p:sldId id="257" r:id="rId5"/>
    <p:sldId id="258" r:id="rId6"/>
    <p:sldId id="406" r:id="rId7"/>
    <p:sldId id="407" r:id="rId8"/>
    <p:sldId id="408" r:id="rId9"/>
    <p:sldId id="409" r:id="rId10"/>
    <p:sldId id="410" r:id="rId11"/>
    <p:sldId id="411" r:id="rId12"/>
    <p:sldId id="412" r:id="rId13"/>
    <p:sldId id="414" r:id="rId14"/>
    <p:sldId id="413" r:id="rId15"/>
    <p:sldId id="265" r:id="rId16"/>
    <p:sldId id="266" r:id="rId17"/>
    <p:sldId id="267" r:id="rId18"/>
    <p:sldId id="268" r:id="rId19"/>
    <p:sldId id="269" r:id="rId20"/>
    <p:sldId id="270" r:id="rId21"/>
    <p:sldId id="271" r:id="rId22"/>
    <p:sldId id="272" r:id="rId23"/>
    <p:sldId id="342" r:id="rId24"/>
    <p:sldId id="273" r:id="rId25"/>
    <p:sldId id="274" r:id="rId26"/>
    <p:sldId id="275" r:id="rId27"/>
    <p:sldId id="276" r:id="rId28"/>
    <p:sldId id="277" r:id="rId29"/>
    <p:sldId id="278" r:id="rId30"/>
    <p:sldId id="280" r:id="rId31"/>
    <p:sldId id="281" r:id="rId32"/>
    <p:sldId id="282" r:id="rId33"/>
    <p:sldId id="283" r:id="rId34"/>
    <p:sldId id="284" r:id="rId35"/>
    <p:sldId id="285" r:id="rId36"/>
    <p:sldId id="286" r:id="rId37"/>
    <p:sldId id="419" r:id="rId38"/>
    <p:sldId id="420" r:id="rId39"/>
    <p:sldId id="421" r:id="rId40"/>
    <p:sldId id="422" r:id="rId41"/>
    <p:sldId id="423" r:id="rId42"/>
    <p:sldId id="344" r:id="rId43"/>
    <p:sldId id="424" r:id="rId44"/>
    <p:sldId id="425" r:id="rId45"/>
    <p:sldId id="426" r:id="rId46"/>
    <p:sldId id="427" r:id="rId47"/>
    <p:sldId id="428" r:id="rId48"/>
    <p:sldId id="345" r:id="rId49"/>
    <p:sldId id="429" r:id="rId50"/>
    <p:sldId id="418" r:id="rId51"/>
    <p:sldId id="417" r:id="rId52"/>
    <p:sldId id="346" r:id="rId53"/>
    <p:sldId id="434" r:id="rId54"/>
    <p:sldId id="430" r:id="rId55"/>
    <p:sldId id="431" r:id="rId56"/>
    <p:sldId id="432" r:id="rId57"/>
    <p:sldId id="433" r:id="rId58"/>
    <p:sldId id="435" r:id="rId59"/>
    <p:sldId id="347" r:id="rId60"/>
    <p:sldId id="348" r:id="rId61"/>
    <p:sldId id="287" r:id="rId62"/>
    <p:sldId id="288" r:id="rId63"/>
    <p:sldId id="289" r:id="rId64"/>
    <p:sldId id="290" r:id="rId65"/>
    <p:sldId id="291" r:id="rId66"/>
    <p:sldId id="292" r:id="rId67"/>
    <p:sldId id="293" r:id="rId68"/>
    <p:sldId id="294" r:id="rId69"/>
    <p:sldId id="295" r:id="rId70"/>
    <p:sldId id="296" r:id="rId71"/>
    <p:sldId id="297" r:id="rId72"/>
    <p:sldId id="298" r:id="rId73"/>
    <p:sldId id="299" r:id="rId74"/>
    <p:sldId id="300" r:id="rId75"/>
    <p:sldId id="301" r:id="rId76"/>
    <p:sldId id="302" r:id="rId77"/>
    <p:sldId id="349" r:id="rId78"/>
    <p:sldId id="350" r:id="rId79"/>
    <p:sldId id="303" r:id="rId80"/>
    <p:sldId id="447" r:id="rId81"/>
    <p:sldId id="304" r:id="rId82"/>
    <p:sldId id="351" r:id="rId83"/>
    <p:sldId id="336" r:id="rId84"/>
    <p:sldId id="337" r:id="rId85"/>
    <p:sldId id="338" r:id="rId86"/>
    <p:sldId id="339" r:id="rId87"/>
    <p:sldId id="340" r:id="rId88"/>
    <p:sldId id="341" r:id="rId89"/>
    <p:sldId id="415" r:id="rId90"/>
    <p:sldId id="416" r:id="rId91"/>
    <p:sldId id="436" r:id="rId92"/>
    <p:sldId id="437" r:id="rId93"/>
    <p:sldId id="438" r:id="rId94"/>
    <p:sldId id="439" r:id="rId95"/>
    <p:sldId id="440" r:id="rId96"/>
    <p:sldId id="448" r:id="rId97"/>
    <p:sldId id="441" r:id="rId98"/>
    <p:sldId id="442" r:id="rId99"/>
    <p:sldId id="443" r:id="rId100"/>
    <p:sldId id="444" r:id="rId101"/>
    <p:sldId id="445" r:id="rId102"/>
    <p:sldId id="446" r:id="rId10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07" Type="http://schemas.openxmlformats.org/officeDocument/2006/relationships/theme" Target="theme/theme1.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BD2C80-DEDE-48CE-8AE7-BED055167D21}" type="datetimeFigureOut">
              <a:rPr lang="en-CA" smtClean="0"/>
              <a:t>2025-11-17</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6A5253-0C48-4EB2-BF3D-9E0032E3BE9A}" type="slidenum">
              <a:rPr lang="en-CA" smtClean="0"/>
              <a:t>‹#›</a:t>
            </a:fld>
            <a:endParaRPr lang="en-CA"/>
          </a:p>
        </p:txBody>
      </p:sp>
    </p:spTree>
    <p:extLst>
      <p:ext uri="{BB962C8B-B14F-4D97-AF65-F5344CB8AC3E}">
        <p14:creationId xmlns:p14="http://schemas.microsoft.com/office/powerpoint/2010/main" val="4060655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i-IN" dirty="0"/>
              <a:t>धैर्य र दृढता भनेको जति कठिन परिस्थिति आए पनि हार नमान्ने, हिम्मत नहार्ने र निरन्तर प्रयास गर्ने गुण हो।</a:t>
            </a:r>
            <a:endParaRPr lang="en-CA" dirty="0"/>
          </a:p>
        </p:txBody>
      </p:sp>
      <p:sp>
        <p:nvSpPr>
          <p:cNvPr id="4" name="Slide Number Placeholder 3"/>
          <p:cNvSpPr>
            <a:spLocks noGrp="1"/>
          </p:cNvSpPr>
          <p:nvPr>
            <p:ph type="sldNum" sz="quarter" idx="5"/>
          </p:nvPr>
        </p:nvSpPr>
        <p:spPr/>
        <p:txBody>
          <a:bodyPr/>
          <a:lstStyle/>
          <a:p>
            <a:fld id="{1C6A5253-0C48-4EB2-BF3D-9E0032E3BE9A}" type="slidenum">
              <a:rPr lang="en-CA" smtClean="0"/>
              <a:t>31</a:t>
            </a:fld>
            <a:endParaRPr lang="en-CA"/>
          </a:p>
        </p:txBody>
      </p:sp>
    </p:spTree>
    <p:extLst>
      <p:ext uri="{BB962C8B-B14F-4D97-AF65-F5344CB8AC3E}">
        <p14:creationId xmlns:p14="http://schemas.microsoft.com/office/powerpoint/2010/main" val="3857732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9FB47-37F7-5179-13C5-D0F1D414A8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631A0237-E371-0D77-1E9E-176C3A09F2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3DD2FEEE-271B-C6CB-CB77-9F27DECB1D74}"/>
              </a:ext>
            </a:extLst>
          </p:cNvPr>
          <p:cNvSpPr>
            <a:spLocks noGrp="1"/>
          </p:cNvSpPr>
          <p:nvPr>
            <p:ph type="dt" sz="half" idx="10"/>
          </p:nvPr>
        </p:nvSpPr>
        <p:spPr/>
        <p:txBody>
          <a:bodyPr/>
          <a:lstStyle/>
          <a:p>
            <a:fld id="{0D93F580-2238-40FF-ACB4-31017778D1F1}" type="datetimeFigureOut">
              <a:rPr lang="en-CA" smtClean="0"/>
              <a:t>2025-11-17</a:t>
            </a:fld>
            <a:endParaRPr lang="en-CA"/>
          </a:p>
        </p:txBody>
      </p:sp>
      <p:sp>
        <p:nvSpPr>
          <p:cNvPr id="5" name="Footer Placeholder 4">
            <a:extLst>
              <a:ext uri="{FF2B5EF4-FFF2-40B4-BE49-F238E27FC236}">
                <a16:creationId xmlns:a16="http://schemas.microsoft.com/office/drawing/2014/main" id="{FF602D52-5651-1560-8477-A3A1BDC93B5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D306E29-9050-D502-26B2-2D5884AAAE5B}"/>
              </a:ext>
            </a:extLst>
          </p:cNvPr>
          <p:cNvSpPr>
            <a:spLocks noGrp="1"/>
          </p:cNvSpPr>
          <p:nvPr>
            <p:ph type="sldNum" sz="quarter" idx="12"/>
          </p:nvPr>
        </p:nvSpPr>
        <p:spPr/>
        <p:txBody>
          <a:bodyPr/>
          <a:lstStyle/>
          <a:p>
            <a:fld id="{3824DE8D-69AC-4BB1-AAB5-73B916FF7631}" type="slidenum">
              <a:rPr lang="en-CA" smtClean="0"/>
              <a:t>‹#›</a:t>
            </a:fld>
            <a:endParaRPr lang="en-CA"/>
          </a:p>
        </p:txBody>
      </p:sp>
    </p:spTree>
    <p:extLst>
      <p:ext uri="{BB962C8B-B14F-4D97-AF65-F5344CB8AC3E}">
        <p14:creationId xmlns:p14="http://schemas.microsoft.com/office/powerpoint/2010/main" val="2597248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1D2FC-3A75-8A36-F4ED-9F0910EE4237}"/>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F9817B9-0773-C40B-631A-C5C849FBDA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31EEB1D-C725-7227-3D10-AB282E104416}"/>
              </a:ext>
            </a:extLst>
          </p:cNvPr>
          <p:cNvSpPr>
            <a:spLocks noGrp="1"/>
          </p:cNvSpPr>
          <p:nvPr>
            <p:ph type="dt" sz="half" idx="10"/>
          </p:nvPr>
        </p:nvSpPr>
        <p:spPr/>
        <p:txBody>
          <a:bodyPr/>
          <a:lstStyle/>
          <a:p>
            <a:fld id="{0D93F580-2238-40FF-ACB4-31017778D1F1}" type="datetimeFigureOut">
              <a:rPr lang="en-CA" smtClean="0"/>
              <a:t>2025-11-17</a:t>
            </a:fld>
            <a:endParaRPr lang="en-CA"/>
          </a:p>
        </p:txBody>
      </p:sp>
      <p:sp>
        <p:nvSpPr>
          <p:cNvPr id="5" name="Footer Placeholder 4">
            <a:extLst>
              <a:ext uri="{FF2B5EF4-FFF2-40B4-BE49-F238E27FC236}">
                <a16:creationId xmlns:a16="http://schemas.microsoft.com/office/drawing/2014/main" id="{623A5368-BA72-A10E-2B41-4C2B0BD25CB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2925740-C2C8-6EEC-7A04-5FDA5D00FAA7}"/>
              </a:ext>
            </a:extLst>
          </p:cNvPr>
          <p:cNvSpPr>
            <a:spLocks noGrp="1"/>
          </p:cNvSpPr>
          <p:nvPr>
            <p:ph type="sldNum" sz="quarter" idx="12"/>
          </p:nvPr>
        </p:nvSpPr>
        <p:spPr/>
        <p:txBody>
          <a:bodyPr/>
          <a:lstStyle/>
          <a:p>
            <a:fld id="{3824DE8D-69AC-4BB1-AAB5-73B916FF7631}" type="slidenum">
              <a:rPr lang="en-CA" smtClean="0"/>
              <a:t>‹#›</a:t>
            </a:fld>
            <a:endParaRPr lang="en-CA"/>
          </a:p>
        </p:txBody>
      </p:sp>
    </p:spTree>
    <p:extLst>
      <p:ext uri="{BB962C8B-B14F-4D97-AF65-F5344CB8AC3E}">
        <p14:creationId xmlns:p14="http://schemas.microsoft.com/office/powerpoint/2010/main" val="3663647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02EF1-8979-4986-178F-93E2D4E07A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86589628-B3D0-0F86-F09F-2E5E424829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C431C5-85A9-3857-8727-46F61715E148}"/>
              </a:ext>
            </a:extLst>
          </p:cNvPr>
          <p:cNvSpPr>
            <a:spLocks noGrp="1"/>
          </p:cNvSpPr>
          <p:nvPr>
            <p:ph type="dt" sz="half" idx="10"/>
          </p:nvPr>
        </p:nvSpPr>
        <p:spPr/>
        <p:txBody>
          <a:bodyPr/>
          <a:lstStyle/>
          <a:p>
            <a:fld id="{0D93F580-2238-40FF-ACB4-31017778D1F1}" type="datetimeFigureOut">
              <a:rPr lang="en-CA" smtClean="0"/>
              <a:t>2025-11-17</a:t>
            </a:fld>
            <a:endParaRPr lang="en-CA"/>
          </a:p>
        </p:txBody>
      </p:sp>
      <p:sp>
        <p:nvSpPr>
          <p:cNvPr id="5" name="Footer Placeholder 4">
            <a:extLst>
              <a:ext uri="{FF2B5EF4-FFF2-40B4-BE49-F238E27FC236}">
                <a16:creationId xmlns:a16="http://schemas.microsoft.com/office/drawing/2014/main" id="{3C3791A9-0FFA-916C-D943-8139AF88BB0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87285DF-7D30-F434-E3DF-8A8F1433BA8F}"/>
              </a:ext>
            </a:extLst>
          </p:cNvPr>
          <p:cNvSpPr>
            <a:spLocks noGrp="1"/>
          </p:cNvSpPr>
          <p:nvPr>
            <p:ph type="sldNum" sz="quarter" idx="12"/>
          </p:nvPr>
        </p:nvSpPr>
        <p:spPr/>
        <p:txBody>
          <a:bodyPr/>
          <a:lstStyle/>
          <a:p>
            <a:fld id="{3824DE8D-69AC-4BB1-AAB5-73B916FF7631}" type="slidenum">
              <a:rPr lang="en-CA" smtClean="0"/>
              <a:t>‹#›</a:t>
            </a:fld>
            <a:endParaRPr lang="en-CA"/>
          </a:p>
        </p:txBody>
      </p:sp>
    </p:spTree>
    <p:extLst>
      <p:ext uri="{BB962C8B-B14F-4D97-AF65-F5344CB8AC3E}">
        <p14:creationId xmlns:p14="http://schemas.microsoft.com/office/powerpoint/2010/main" val="4180015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EC534-A1BA-AC4C-98E1-C1AB1973D559}"/>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378B08DC-A0CC-1975-98B3-821190A7F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14220089-50B8-1962-6CB4-6A77283C1C2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BCC06087-2116-9293-169D-A4318B03F7D7}"/>
              </a:ext>
            </a:extLst>
          </p:cNvPr>
          <p:cNvSpPr>
            <a:spLocks noGrp="1"/>
          </p:cNvSpPr>
          <p:nvPr>
            <p:ph type="dt" sz="half" idx="10"/>
          </p:nvPr>
        </p:nvSpPr>
        <p:spPr/>
        <p:txBody>
          <a:bodyPr/>
          <a:lstStyle/>
          <a:p>
            <a:fld id="{0D93F580-2238-40FF-ACB4-31017778D1F1}" type="datetimeFigureOut">
              <a:rPr lang="en-CA" smtClean="0"/>
              <a:t>2025-11-17</a:t>
            </a:fld>
            <a:endParaRPr lang="en-CA"/>
          </a:p>
        </p:txBody>
      </p:sp>
      <p:sp>
        <p:nvSpPr>
          <p:cNvPr id="6" name="Footer Placeholder 5">
            <a:extLst>
              <a:ext uri="{FF2B5EF4-FFF2-40B4-BE49-F238E27FC236}">
                <a16:creationId xmlns:a16="http://schemas.microsoft.com/office/drawing/2014/main" id="{126CEFDB-DFB3-1DE0-A1F8-52807A47754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F273148-6547-9368-7FCE-871B2157DFA9}"/>
              </a:ext>
            </a:extLst>
          </p:cNvPr>
          <p:cNvSpPr>
            <a:spLocks noGrp="1"/>
          </p:cNvSpPr>
          <p:nvPr>
            <p:ph type="sldNum" sz="quarter" idx="12"/>
          </p:nvPr>
        </p:nvSpPr>
        <p:spPr/>
        <p:txBody>
          <a:bodyPr/>
          <a:lstStyle/>
          <a:p>
            <a:fld id="{3824DE8D-69AC-4BB1-AAB5-73B916FF7631}" type="slidenum">
              <a:rPr lang="en-CA" smtClean="0"/>
              <a:t>‹#›</a:t>
            </a:fld>
            <a:endParaRPr lang="en-CA"/>
          </a:p>
        </p:txBody>
      </p:sp>
    </p:spTree>
    <p:extLst>
      <p:ext uri="{BB962C8B-B14F-4D97-AF65-F5344CB8AC3E}">
        <p14:creationId xmlns:p14="http://schemas.microsoft.com/office/powerpoint/2010/main" val="2374317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AF8AD-10E3-8431-33F7-6FC03FA7A0B5}"/>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F73F95BB-4F1F-7365-79BE-5AA90C290E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6A0C06-C294-24FF-23DA-0BE1117E01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6C9C7E71-DDB6-ED31-3C38-C71CD005AE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4EE243-A690-9614-0AD4-D56D772192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5FBEA933-C43D-480E-1F0D-68F2A1428FB8}"/>
              </a:ext>
            </a:extLst>
          </p:cNvPr>
          <p:cNvSpPr>
            <a:spLocks noGrp="1"/>
          </p:cNvSpPr>
          <p:nvPr>
            <p:ph type="dt" sz="half" idx="10"/>
          </p:nvPr>
        </p:nvSpPr>
        <p:spPr/>
        <p:txBody>
          <a:bodyPr/>
          <a:lstStyle/>
          <a:p>
            <a:fld id="{0D93F580-2238-40FF-ACB4-31017778D1F1}" type="datetimeFigureOut">
              <a:rPr lang="en-CA" smtClean="0"/>
              <a:t>2025-11-17</a:t>
            </a:fld>
            <a:endParaRPr lang="en-CA"/>
          </a:p>
        </p:txBody>
      </p:sp>
      <p:sp>
        <p:nvSpPr>
          <p:cNvPr id="8" name="Footer Placeholder 7">
            <a:extLst>
              <a:ext uri="{FF2B5EF4-FFF2-40B4-BE49-F238E27FC236}">
                <a16:creationId xmlns:a16="http://schemas.microsoft.com/office/drawing/2014/main" id="{C23B0B01-5260-EA80-0F8D-5B6864E56F2D}"/>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EFF54C24-1FFD-B35D-092C-329CE9ADDB45}"/>
              </a:ext>
            </a:extLst>
          </p:cNvPr>
          <p:cNvSpPr>
            <a:spLocks noGrp="1"/>
          </p:cNvSpPr>
          <p:nvPr>
            <p:ph type="sldNum" sz="quarter" idx="12"/>
          </p:nvPr>
        </p:nvSpPr>
        <p:spPr/>
        <p:txBody>
          <a:bodyPr/>
          <a:lstStyle/>
          <a:p>
            <a:fld id="{3824DE8D-69AC-4BB1-AAB5-73B916FF7631}" type="slidenum">
              <a:rPr lang="en-CA" smtClean="0"/>
              <a:t>‹#›</a:t>
            </a:fld>
            <a:endParaRPr lang="en-CA"/>
          </a:p>
        </p:txBody>
      </p:sp>
    </p:spTree>
    <p:extLst>
      <p:ext uri="{BB962C8B-B14F-4D97-AF65-F5344CB8AC3E}">
        <p14:creationId xmlns:p14="http://schemas.microsoft.com/office/powerpoint/2010/main" val="2644032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6F558-821C-182D-ED31-735C36F1ECAC}"/>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A0384331-8B09-DB87-DE45-A83E41620B5C}"/>
              </a:ext>
            </a:extLst>
          </p:cNvPr>
          <p:cNvSpPr>
            <a:spLocks noGrp="1"/>
          </p:cNvSpPr>
          <p:nvPr>
            <p:ph type="dt" sz="half" idx="10"/>
          </p:nvPr>
        </p:nvSpPr>
        <p:spPr/>
        <p:txBody>
          <a:bodyPr/>
          <a:lstStyle/>
          <a:p>
            <a:fld id="{0D93F580-2238-40FF-ACB4-31017778D1F1}" type="datetimeFigureOut">
              <a:rPr lang="en-CA" smtClean="0"/>
              <a:t>2025-11-17</a:t>
            </a:fld>
            <a:endParaRPr lang="en-CA"/>
          </a:p>
        </p:txBody>
      </p:sp>
      <p:sp>
        <p:nvSpPr>
          <p:cNvPr id="4" name="Footer Placeholder 3">
            <a:extLst>
              <a:ext uri="{FF2B5EF4-FFF2-40B4-BE49-F238E27FC236}">
                <a16:creationId xmlns:a16="http://schemas.microsoft.com/office/drawing/2014/main" id="{F243DBE4-0C56-6556-1A54-DFDB11EAC327}"/>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A020103D-8D9E-11B9-82D8-73E108E91C47}"/>
              </a:ext>
            </a:extLst>
          </p:cNvPr>
          <p:cNvSpPr>
            <a:spLocks noGrp="1"/>
          </p:cNvSpPr>
          <p:nvPr>
            <p:ph type="sldNum" sz="quarter" idx="12"/>
          </p:nvPr>
        </p:nvSpPr>
        <p:spPr/>
        <p:txBody>
          <a:bodyPr/>
          <a:lstStyle/>
          <a:p>
            <a:fld id="{3824DE8D-69AC-4BB1-AAB5-73B916FF7631}" type="slidenum">
              <a:rPr lang="en-CA" smtClean="0"/>
              <a:t>‹#›</a:t>
            </a:fld>
            <a:endParaRPr lang="en-CA"/>
          </a:p>
        </p:txBody>
      </p:sp>
    </p:spTree>
    <p:extLst>
      <p:ext uri="{BB962C8B-B14F-4D97-AF65-F5344CB8AC3E}">
        <p14:creationId xmlns:p14="http://schemas.microsoft.com/office/powerpoint/2010/main" val="2183982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52D8E2-DD40-3723-06C1-92C5BC39DC01}"/>
              </a:ext>
            </a:extLst>
          </p:cNvPr>
          <p:cNvSpPr>
            <a:spLocks noGrp="1"/>
          </p:cNvSpPr>
          <p:nvPr>
            <p:ph type="dt" sz="half" idx="10"/>
          </p:nvPr>
        </p:nvSpPr>
        <p:spPr/>
        <p:txBody>
          <a:bodyPr/>
          <a:lstStyle/>
          <a:p>
            <a:fld id="{0D93F580-2238-40FF-ACB4-31017778D1F1}" type="datetimeFigureOut">
              <a:rPr lang="en-CA" smtClean="0"/>
              <a:t>2025-11-17</a:t>
            </a:fld>
            <a:endParaRPr lang="en-CA"/>
          </a:p>
        </p:txBody>
      </p:sp>
      <p:sp>
        <p:nvSpPr>
          <p:cNvPr id="3" name="Footer Placeholder 2">
            <a:extLst>
              <a:ext uri="{FF2B5EF4-FFF2-40B4-BE49-F238E27FC236}">
                <a16:creationId xmlns:a16="http://schemas.microsoft.com/office/drawing/2014/main" id="{3AD45785-D0BE-6313-AEEF-DD9DAFC1492B}"/>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9E8ED7B4-28E6-24DA-CD20-81100214A38A}"/>
              </a:ext>
            </a:extLst>
          </p:cNvPr>
          <p:cNvSpPr>
            <a:spLocks noGrp="1"/>
          </p:cNvSpPr>
          <p:nvPr>
            <p:ph type="sldNum" sz="quarter" idx="12"/>
          </p:nvPr>
        </p:nvSpPr>
        <p:spPr/>
        <p:txBody>
          <a:bodyPr/>
          <a:lstStyle/>
          <a:p>
            <a:fld id="{3824DE8D-69AC-4BB1-AAB5-73B916FF7631}" type="slidenum">
              <a:rPr lang="en-CA" smtClean="0"/>
              <a:t>‹#›</a:t>
            </a:fld>
            <a:endParaRPr lang="en-CA"/>
          </a:p>
        </p:txBody>
      </p:sp>
    </p:spTree>
    <p:extLst>
      <p:ext uri="{BB962C8B-B14F-4D97-AF65-F5344CB8AC3E}">
        <p14:creationId xmlns:p14="http://schemas.microsoft.com/office/powerpoint/2010/main" val="2929608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7343C-C2E8-5CA0-CC5A-F429579F8B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059E137F-208C-0568-4C68-234220F91F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5D89B4D8-67BB-3F37-E431-0C801D85BA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37D25D-06C9-ABFD-B48F-D4D15E7DA065}"/>
              </a:ext>
            </a:extLst>
          </p:cNvPr>
          <p:cNvSpPr>
            <a:spLocks noGrp="1"/>
          </p:cNvSpPr>
          <p:nvPr>
            <p:ph type="dt" sz="half" idx="10"/>
          </p:nvPr>
        </p:nvSpPr>
        <p:spPr/>
        <p:txBody>
          <a:bodyPr/>
          <a:lstStyle/>
          <a:p>
            <a:fld id="{0D93F580-2238-40FF-ACB4-31017778D1F1}" type="datetimeFigureOut">
              <a:rPr lang="en-CA" smtClean="0"/>
              <a:t>2025-11-17</a:t>
            </a:fld>
            <a:endParaRPr lang="en-CA"/>
          </a:p>
        </p:txBody>
      </p:sp>
      <p:sp>
        <p:nvSpPr>
          <p:cNvPr id="6" name="Footer Placeholder 5">
            <a:extLst>
              <a:ext uri="{FF2B5EF4-FFF2-40B4-BE49-F238E27FC236}">
                <a16:creationId xmlns:a16="http://schemas.microsoft.com/office/drawing/2014/main" id="{FFB66C54-DB95-7444-90E8-D7F495E0518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F126F29-A0A7-2F68-684B-B3B85FD518C6}"/>
              </a:ext>
            </a:extLst>
          </p:cNvPr>
          <p:cNvSpPr>
            <a:spLocks noGrp="1"/>
          </p:cNvSpPr>
          <p:nvPr>
            <p:ph type="sldNum" sz="quarter" idx="12"/>
          </p:nvPr>
        </p:nvSpPr>
        <p:spPr/>
        <p:txBody>
          <a:bodyPr/>
          <a:lstStyle/>
          <a:p>
            <a:fld id="{3824DE8D-69AC-4BB1-AAB5-73B916FF7631}" type="slidenum">
              <a:rPr lang="en-CA" smtClean="0"/>
              <a:t>‹#›</a:t>
            </a:fld>
            <a:endParaRPr lang="en-CA"/>
          </a:p>
        </p:txBody>
      </p:sp>
    </p:spTree>
    <p:extLst>
      <p:ext uri="{BB962C8B-B14F-4D97-AF65-F5344CB8AC3E}">
        <p14:creationId xmlns:p14="http://schemas.microsoft.com/office/powerpoint/2010/main" val="344428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74E8-665F-1EFB-1F49-E88F46CDCF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BAAE1CF5-5598-776F-C6C2-A69B5A21F8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EDEC7212-7CE7-77D0-DCB5-BA52914CBF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C1EDCE-409E-7E23-1774-97DA861A1117}"/>
              </a:ext>
            </a:extLst>
          </p:cNvPr>
          <p:cNvSpPr>
            <a:spLocks noGrp="1"/>
          </p:cNvSpPr>
          <p:nvPr>
            <p:ph type="dt" sz="half" idx="10"/>
          </p:nvPr>
        </p:nvSpPr>
        <p:spPr/>
        <p:txBody>
          <a:bodyPr/>
          <a:lstStyle/>
          <a:p>
            <a:fld id="{0D93F580-2238-40FF-ACB4-31017778D1F1}" type="datetimeFigureOut">
              <a:rPr lang="en-CA" smtClean="0"/>
              <a:t>2025-11-17</a:t>
            </a:fld>
            <a:endParaRPr lang="en-CA"/>
          </a:p>
        </p:txBody>
      </p:sp>
      <p:sp>
        <p:nvSpPr>
          <p:cNvPr id="6" name="Footer Placeholder 5">
            <a:extLst>
              <a:ext uri="{FF2B5EF4-FFF2-40B4-BE49-F238E27FC236}">
                <a16:creationId xmlns:a16="http://schemas.microsoft.com/office/drawing/2014/main" id="{554D4561-FF8E-E506-FEED-DE5FE86C151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1089BEA-3E1F-2AF4-B45F-0316661D28E3}"/>
              </a:ext>
            </a:extLst>
          </p:cNvPr>
          <p:cNvSpPr>
            <a:spLocks noGrp="1"/>
          </p:cNvSpPr>
          <p:nvPr>
            <p:ph type="sldNum" sz="quarter" idx="12"/>
          </p:nvPr>
        </p:nvSpPr>
        <p:spPr/>
        <p:txBody>
          <a:bodyPr/>
          <a:lstStyle/>
          <a:p>
            <a:fld id="{3824DE8D-69AC-4BB1-AAB5-73B916FF7631}" type="slidenum">
              <a:rPr lang="en-CA" smtClean="0"/>
              <a:t>‹#›</a:t>
            </a:fld>
            <a:endParaRPr lang="en-CA"/>
          </a:p>
        </p:txBody>
      </p:sp>
    </p:spTree>
    <p:extLst>
      <p:ext uri="{BB962C8B-B14F-4D97-AF65-F5344CB8AC3E}">
        <p14:creationId xmlns:p14="http://schemas.microsoft.com/office/powerpoint/2010/main" val="1130629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D35E4-263A-4A01-ADF7-9CC4065D6E35}"/>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2101BD58-A9D5-A84F-D55A-AAAB0846C5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D2718B8-D24C-1142-5736-69103647042C}"/>
              </a:ext>
            </a:extLst>
          </p:cNvPr>
          <p:cNvSpPr>
            <a:spLocks noGrp="1"/>
          </p:cNvSpPr>
          <p:nvPr>
            <p:ph type="dt" sz="half" idx="10"/>
          </p:nvPr>
        </p:nvSpPr>
        <p:spPr/>
        <p:txBody>
          <a:bodyPr/>
          <a:lstStyle/>
          <a:p>
            <a:fld id="{0D93F580-2238-40FF-ACB4-31017778D1F1}" type="datetimeFigureOut">
              <a:rPr lang="en-CA" smtClean="0"/>
              <a:t>2025-11-17</a:t>
            </a:fld>
            <a:endParaRPr lang="en-CA"/>
          </a:p>
        </p:txBody>
      </p:sp>
      <p:sp>
        <p:nvSpPr>
          <p:cNvPr id="5" name="Footer Placeholder 4">
            <a:extLst>
              <a:ext uri="{FF2B5EF4-FFF2-40B4-BE49-F238E27FC236}">
                <a16:creationId xmlns:a16="http://schemas.microsoft.com/office/drawing/2014/main" id="{AAB828A4-2F28-2E01-AA3E-B135793BDF2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5431251-A990-2354-5C01-81562703D13D}"/>
              </a:ext>
            </a:extLst>
          </p:cNvPr>
          <p:cNvSpPr>
            <a:spLocks noGrp="1"/>
          </p:cNvSpPr>
          <p:nvPr>
            <p:ph type="sldNum" sz="quarter" idx="12"/>
          </p:nvPr>
        </p:nvSpPr>
        <p:spPr/>
        <p:txBody>
          <a:bodyPr/>
          <a:lstStyle/>
          <a:p>
            <a:fld id="{3824DE8D-69AC-4BB1-AAB5-73B916FF7631}" type="slidenum">
              <a:rPr lang="en-CA" smtClean="0"/>
              <a:t>‹#›</a:t>
            </a:fld>
            <a:endParaRPr lang="en-CA"/>
          </a:p>
        </p:txBody>
      </p:sp>
    </p:spTree>
    <p:extLst>
      <p:ext uri="{BB962C8B-B14F-4D97-AF65-F5344CB8AC3E}">
        <p14:creationId xmlns:p14="http://schemas.microsoft.com/office/powerpoint/2010/main" val="4228570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CBA641-52C8-0127-6166-65797CE321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77E780D5-8B9C-31D5-169D-EE86874406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F4C44BD-0AC9-8A6C-F5EC-F65DE34673FF}"/>
              </a:ext>
            </a:extLst>
          </p:cNvPr>
          <p:cNvSpPr>
            <a:spLocks noGrp="1"/>
          </p:cNvSpPr>
          <p:nvPr>
            <p:ph type="dt" sz="half" idx="10"/>
          </p:nvPr>
        </p:nvSpPr>
        <p:spPr/>
        <p:txBody>
          <a:bodyPr/>
          <a:lstStyle/>
          <a:p>
            <a:fld id="{0D93F580-2238-40FF-ACB4-31017778D1F1}" type="datetimeFigureOut">
              <a:rPr lang="en-CA" smtClean="0"/>
              <a:t>2025-11-17</a:t>
            </a:fld>
            <a:endParaRPr lang="en-CA"/>
          </a:p>
        </p:txBody>
      </p:sp>
      <p:sp>
        <p:nvSpPr>
          <p:cNvPr id="5" name="Footer Placeholder 4">
            <a:extLst>
              <a:ext uri="{FF2B5EF4-FFF2-40B4-BE49-F238E27FC236}">
                <a16:creationId xmlns:a16="http://schemas.microsoft.com/office/drawing/2014/main" id="{56CE2BF4-53A4-6328-A41E-20B7B2B1233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DB53381-6930-9BE2-024A-A301FE5A9D5B}"/>
              </a:ext>
            </a:extLst>
          </p:cNvPr>
          <p:cNvSpPr>
            <a:spLocks noGrp="1"/>
          </p:cNvSpPr>
          <p:nvPr>
            <p:ph type="sldNum" sz="quarter" idx="12"/>
          </p:nvPr>
        </p:nvSpPr>
        <p:spPr/>
        <p:txBody>
          <a:bodyPr/>
          <a:lstStyle/>
          <a:p>
            <a:fld id="{3824DE8D-69AC-4BB1-AAB5-73B916FF7631}" type="slidenum">
              <a:rPr lang="en-CA" smtClean="0"/>
              <a:t>‹#›</a:t>
            </a:fld>
            <a:endParaRPr lang="en-CA"/>
          </a:p>
        </p:txBody>
      </p:sp>
    </p:spTree>
    <p:extLst>
      <p:ext uri="{BB962C8B-B14F-4D97-AF65-F5344CB8AC3E}">
        <p14:creationId xmlns:p14="http://schemas.microsoft.com/office/powerpoint/2010/main" val="14381400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379693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816875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518759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151765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194337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55632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554737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359475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218207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965119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66541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9E6F80-1417-5CA7-00AA-0A578661C8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3C939E27-E2F4-2E2E-1A27-FB1E325040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4D9A8B2-9C93-63EB-CC6C-11764E3797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93F580-2238-40FF-ACB4-31017778D1F1}" type="datetimeFigureOut">
              <a:rPr lang="en-CA" smtClean="0"/>
              <a:t>2025-11-17</a:t>
            </a:fld>
            <a:endParaRPr lang="en-CA"/>
          </a:p>
        </p:txBody>
      </p:sp>
      <p:sp>
        <p:nvSpPr>
          <p:cNvPr id="5" name="Footer Placeholder 4">
            <a:extLst>
              <a:ext uri="{FF2B5EF4-FFF2-40B4-BE49-F238E27FC236}">
                <a16:creationId xmlns:a16="http://schemas.microsoft.com/office/drawing/2014/main" id="{93518ED3-2A77-5536-F012-2529EC5483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5D937138-6767-AC2D-AE1D-5901EB4766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24DE8D-69AC-4BB1-AAB5-73B916FF7631}" type="slidenum">
              <a:rPr lang="en-CA" smtClean="0"/>
              <a:t>‹#›</a:t>
            </a:fld>
            <a:endParaRPr lang="en-CA"/>
          </a:p>
        </p:txBody>
      </p:sp>
    </p:spTree>
    <p:extLst>
      <p:ext uri="{BB962C8B-B14F-4D97-AF65-F5344CB8AC3E}">
        <p14:creationId xmlns:p14="http://schemas.microsoft.com/office/powerpoint/2010/main" val="39601513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11/17/2025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7562277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28CFD-B973-79B8-1D28-8BDE6814EDFF}"/>
              </a:ext>
            </a:extLst>
          </p:cNvPr>
          <p:cNvSpPr>
            <a:spLocks noGrp="1"/>
          </p:cNvSpPr>
          <p:nvPr>
            <p:ph type="ctrTitle"/>
          </p:nvPr>
        </p:nvSpPr>
        <p:spPr>
          <a:xfrm>
            <a:off x="1" y="1122363"/>
            <a:ext cx="12005186" cy="1316037"/>
          </a:xfrm>
        </p:spPr>
        <p:txBody>
          <a:bodyPr>
            <a:normAutofit fontScale="90000"/>
          </a:bodyPr>
          <a:lstStyle/>
          <a:p>
            <a:r>
              <a:rPr lang="en-US" dirty="0"/>
              <a:t>Entrepreneurship and Professional Practice </a:t>
            </a:r>
            <a:endParaRPr lang="en-CA" dirty="0"/>
          </a:p>
        </p:txBody>
      </p:sp>
      <p:sp>
        <p:nvSpPr>
          <p:cNvPr id="3" name="Subtitle 2">
            <a:extLst>
              <a:ext uri="{FF2B5EF4-FFF2-40B4-BE49-F238E27FC236}">
                <a16:creationId xmlns:a16="http://schemas.microsoft.com/office/drawing/2014/main" id="{29918157-D00C-9A2F-5654-891383430671}"/>
              </a:ext>
            </a:extLst>
          </p:cNvPr>
          <p:cNvSpPr>
            <a:spLocks noGrp="1"/>
          </p:cNvSpPr>
          <p:nvPr>
            <p:ph type="subTitle" idx="1"/>
          </p:nvPr>
        </p:nvSpPr>
        <p:spPr/>
        <p:txBody>
          <a:bodyPr/>
          <a:lstStyle/>
          <a:p>
            <a:r>
              <a:rPr lang="en-US" dirty="0"/>
              <a:t>All Theory, 6 chapters </a:t>
            </a:r>
            <a:endParaRPr lang="en-CA" dirty="0"/>
          </a:p>
        </p:txBody>
      </p:sp>
    </p:spTree>
    <p:extLst>
      <p:ext uri="{BB962C8B-B14F-4D97-AF65-F5344CB8AC3E}">
        <p14:creationId xmlns:p14="http://schemas.microsoft.com/office/powerpoint/2010/main" val="689940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63672-379E-6FF4-4B0E-E926693306E7}"/>
              </a:ext>
            </a:extLst>
          </p:cNvPr>
          <p:cNvSpPr>
            <a:spLocks noGrp="1"/>
          </p:cNvSpPr>
          <p:nvPr>
            <p:ph type="title"/>
          </p:nvPr>
        </p:nvSpPr>
        <p:spPr>
          <a:xfrm>
            <a:off x="609600" y="274638"/>
            <a:ext cx="10972800" cy="374586"/>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8931296F-794E-AF25-7E2A-161708488AF2}"/>
              </a:ext>
            </a:extLst>
          </p:cNvPr>
          <p:cNvSpPr>
            <a:spLocks noGrp="1"/>
          </p:cNvSpPr>
          <p:nvPr>
            <p:ph idx="1"/>
          </p:nvPr>
        </p:nvSpPr>
        <p:spPr>
          <a:xfrm>
            <a:off x="609600" y="923545"/>
            <a:ext cx="10972800" cy="5202620"/>
          </a:xfrm>
        </p:spPr>
        <p:txBody>
          <a:bodyPr>
            <a:normAutofit/>
          </a:bodyPr>
          <a:lstStyle/>
          <a:p>
            <a:r>
              <a:rPr lang="en-US" dirty="0"/>
              <a:t>Laxman Baral </a:t>
            </a:r>
          </a:p>
          <a:p>
            <a:r>
              <a:rPr lang="en-US" dirty="0"/>
              <a:t>Pokhara 6, </a:t>
            </a:r>
            <a:r>
              <a:rPr lang="en-US" dirty="0" err="1"/>
              <a:t>Jarebar</a:t>
            </a:r>
            <a:endParaRPr lang="en-US" dirty="0"/>
          </a:p>
          <a:p>
            <a:r>
              <a:rPr lang="en-US" dirty="0"/>
              <a:t>“Teaching at PEC for the past 13 years.” </a:t>
            </a:r>
          </a:p>
          <a:p>
            <a:r>
              <a:rPr lang="en-US" dirty="0"/>
              <a:t>- BE Computer, </a:t>
            </a:r>
          </a:p>
          <a:p>
            <a:pPr marL="0" indent="0">
              <a:buNone/>
            </a:pPr>
            <a:r>
              <a:rPr lang="en-US" dirty="0"/>
              <a:t>    -BEIT, </a:t>
            </a:r>
          </a:p>
          <a:p>
            <a:pPr marL="0" indent="0">
              <a:buNone/>
            </a:pPr>
            <a:r>
              <a:rPr lang="en-US" dirty="0"/>
              <a:t>    -BE Civil, </a:t>
            </a:r>
          </a:p>
          <a:p>
            <a:pPr marL="0" indent="0">
              <a:buNone/>
            </a:pPr>
            <a:r>
              <a:rPr lang="en-US" dirty="0"/>
              <a:t>    -Master, Construction Management </a:t>
            </a:r>
          </a:p>
          <a:p>
            <a:pPr marL="0" indent="0">
              <a:buNone/>
            </a:pPr>
            <a:r>
              <a:rPr lang="en-US" dirty="0"/>
              <a:t>     9856065002</a:t>
            </a:r>
            <a:endParaRPr lang="en-CA" dirty="0"/>
          </a:p>
        </p:txBody>
      </p:sp>
    </p:spTree>
    <p:extLst>
      <p:ext uri="{BB962C8B-B14F-4D97-AF65-F5344CB8AC3E}">
        <p14:creationId xmlns:p14="http://schemas.microsoft.com/office/powerpoint/2010/main" val="4171210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950F8-4522-8DE1-CFAC-9C8D3C396B85}"/>
              </a:ext>
            </a:extLst>
          </p:cNvPr>
          <p:cNvSpPr>
            <a:spLocks noGrp="1"/>
          </p:cNvSpPr>
          <p:nvPr>
            <p:ph type="title"/>
          </p:nvPr>
        </p:nvSpPr>
        <p:spPr>
          <a:xfrm>
            <a:off x="365760" y="365125"/>
            <a:ext cx="11439144" cy="1325563"/>
          </a:xfrm>
        </p:spPr>
        <p:txBody>
          <a:bodyPr/>
          <a:lstStyle/>
          <a:p>
            <a:r>
              <a:rPr lang="en-US" dirty="0"/>
              <a:t>First Chapter </a:t>
            </a:r>
            <a:br>
              <a:rPr lang="en-US" dirty="0"/>
            </a:br>
            <a:r>
              <a:rPr lang="en-US" dirty="0"/>
              <a:t>Introduction to Entrepreneurship </a:t>
            </a:r>
            <a:endParaRPr lang="en-CA" dirty="0"/>
          </a:p>
        </p:txBody>
      </p:sp>
      <p:sp>
        <p:nvSpPr>
          <p:cNvPr id="3" name="Content Placeholder 2">
            <a:extLst>
              <a:ext uri="{FF2B5EF4-FFF2-40B4-BE49-F238E27FC236}">
                <a16:creationId xmlns:a16="http://schemas.microsoft.com/office/drawing/2014/main" id="{6BE6F15E-04F9-CBAE-CFB0-E706C5C4BCC8}"/>
              </a:ext>
            </a:extLst>
          </p:cNvPr>
          <p:cNvSpPr>
            <a:spLocks noGrp="1"/>
          </p:cNvSpPr>
          <p:nvPr>
            <p:ph idx="1"/>
          </p:nvPr>
        </p:nvSpPr>
        <p:spPr>
          <a:xfrm>
            <a:off x="530352" y="1825624"/>
            <a:ext cx="11274552" cy="4822063"/>
          </a:xfrm>
        </p:spPr>
        <p:txBody>
          <a:bodyPr/>
          <a:lstStyle/>
          <a:p>
            <a:r>
              <a:rPr lang="en-US" dirty="0"/>
              <a:t>Fundamentals of entrepreneurship </a:t>
            </a:r>
          </a:p>
          <a:p>
            <a:r>
              <a:rPr lang="en-US" dirty="0"/>
              <a:t>Definition of entrepreneurship </a:t>
            </a:r>
          </a:p>
          <a:p>
            <a:r>
              <a:rPr lang="en-CA" dirty="0"/>
              <a:t>Key terminologies: startup, enterprise, entrepreneur, entrepreneurial attitude, intention, and behaviour </a:t>
            </a:r>
          </a:p>
          <a:p>
            <a:r>
              <a:rPr lang="en-CA" dirty="0"/>
              <a:t>Comparison: entrepreneurship Vs employment </a:t>
            </a:r>
          </a:p>
          <a:p>
            <a:r>
              <a:rPr lang="en-CA" dirty="0"/>
              <a:t>Enterprise lifecycle </a:t>
            </a:r>
          </a:p>
          <a:p>
            <a:r>
              <a:rPr lang="en-CA" dirty="0"/>
              <a:t>Role, importance and challenges of entrepreneur </a:t>
            </a:r>
          </a:p>
          <a:p>
            <a:r>
              <a:rPr lang="en-CA" dirty="0"/>
              <a:t>Emerging technologies, trends of global and local startups. </a:t>
            </a:r>
          </a:p>
          <a:p>
            <a:endParaRPr lang="en-CA" dirty="0"/>
          </a:p>
        </p:txBody>
      </p:sp>
    </p:spTree>
    <p:extLst>
      <p:ext uri="{BB962C8B-B14F-4D97-AF65-F5344CB8AC3E}">
        <p14:creationId xmlns:p14="http://schemas.microsoft.com/office/powerpoint/2010/main" val="1067801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F8F00-C2FB-9326-F539-5ECA3797C0F2}"/>
              </a:ext>
            </a:extLst>
          </p:cNvPr>
          <p:cNvSpPr>
            <a:spLocks noGrp="1"/>
          </p:cNvSpPr>
          <p:nvPr>
            <p:ph type="title"/>
          </p:nvPr>
        </p:nvSpPr>
        <p:spPr/>
        <p:txBody>
          <a:bodyPr/>
          <a:lstStyle/>
          <a:p>
            <a:r>
              <a:rPr lang="en-US" dirty="0"/>
              <a:t>Meaning of entrepreneurship </a:t>
            </a:r>
            <a:endParaRPr lang="en-CA" dirty="0"/>
          </a:p>
        </p:txBody>
      </p:sp>
      <p:sp>
        <p:nvSpPr>
          <p:cNvPr id="3" name="Content Placeholder 2">
            <a:extLst>
              <a:ext uri="{FF2B5EF4-FFF2-40B4-BE49-F238E27FC236}">
                <a16:creationId xmlns:a16="http://schemas.microsoft.com/office/drawing/2014/main" id="{0062FF47-D4C5-E4BD-B24C-AA2893217A2A}"/>
              </a:ext>
            </a:extLst>
          </p:cNvPr>
          <p:cNvSpPr>
            <a:spLocks noGrp="1"/>
          </p:cNvSpPr>
          <p:nvPr>
            <p:ph idx="1"/>
          </p:nvPr>
        </p:nvSpPr>
        <p:spPr/>
        <p:txBody>
          <a:bodyPr>
            <a:normAutofit fontScale="92500"/>
          </a:bodyPr>
          <a:lstStyle/>
          <a:p>
            <a:r>
              <a:rPr lang="en-US" dirty="0"/>
              <a:t>Entrepreneurship is the process of creating, developing, and managing a new business venture to generate profit. It involves creativity and innovation, risk taking, and the ability to identify and grab opportunities. </a:t>
            </a:r>
          </a:p>
          <a:p>
            <a:r>
              <a:rPr lang="en-US" dirty="0"/>
              <a:t>Entrepreneurship refers to the process of identifying, developing, and bringing to life innovative ideas or business opportunities to create value and address needs in the market. It involves </a:t>
            </a:r>
          </a:p>
          <a:p>
            <a:r>
              <a:rPr lang="en-US" dirty="0"/>
              <a:t>taking risks, </a:t>
            </a:r>
          </a:p>
          <a:p>
            <a:r>
              <a:rPr lang="en-US" dirty="0"/>
              <a:t>mobilizing resources, </a:t>
            </a:r>
          </a:p>
          <a:p>
            <a:r>
              <a:rPr lang="en-US" dirty="0"/>
              <a:t>and building ventures to generate profit, solve problems and achieve social impact.</a:t>
            </a:r>
          </a:p>
        </p:txBody>
      </p:sp>
    </p:spTree>
    <p:extLst>
      <p:ext uri="{BB962C8B-B14F-4D97-AF65-F5344CB8AC3E}">
        <p14:creationId xmlns:p14="http://schemas.microsoft.com/office/powerpoint/2010/main" val="240718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F5C44-1E79-CF47-7E43-F434E9964E66}"/>
              </a:ext>
            </a:extLst>
          </p:cNvPr>
          <p:cNvSpPr>
            <a:spLocks noGrp="1"/>
          </p:cNvSpPr>
          <p:nvPr>
            <p:ph type="title"/>
          </p:nvPr>
        </p:nvSpPr>
        <p:spPr/>
        <p:txBody>
          <a:bodyPr/>
          <a:lstStyle/>
          <a:p>
            <a:r>
              <a:rPr lang="en-US" dirty="0"/>
              <a:t>Nature/Features of Entrepreneurship </a:t>
            </a:r>
            <a:endParaRPr lang="en-CA" dirty="0"/>
          </a:p>
        </p:txBody>
      </p:sp>
      <p:sp>
        <p:nvSpPr>
          <p:cNvPr id="3" name="Content Placeholder 2">
            <a:extLst>
              <a:ext uri="{FF2B5EF4-FFF2-40B4-BE49-F238E27FC236}">
                <a16:creationId xmlns:a16="http://schemas.microsoft.com/office/drawing/2014/main" id="{C7F4875E-C6D3-E228-7F4C-ACC9FA3E47A6}"/>
              </a:ext>
            </a:extLst>
          </p:cNvPr>
          <p:cNvSpPr>
            <a:spLocks noGrp="1"/>
          </p:cNvSpPr>
          <p:nvPr>
            <p:ph idx="1"/>
          </p:nvPr>
        </p:nvSpPr>
        <p:spPr/>
        <p:txBody>
          <a:bodyPr/>
          <a:lstStyle/>
          <a:p>
            <a:r>
              <a:rPr lang="en-US" dirty="0"/>
              <a:t>Entrepreneurship involves not only the process that leads to the establishment of a business entity but also the expansion and development of established business for long duration of time. The following are the common features of entrepreneurship. </a:t>
            </a:r>
            <a:endParaRPr lang="en-CA" dirty="0"/>
          </a:p>
        </p:txBody>
      </p:sp>
    </p:spTree>
    <p:extLst>
      <p:ext uri="{BB962C8B-B14F-4D97-AF65-F5344CB8AC3E}">
        <p14:creationId xmlns:p14="http://schemas.microsoft.com/office/powerpoint/2010/main" val="1570677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3AB8D-0523-F117-A304-C5D587901995}"/>
              </a:ext>
            </a:extLst>
          </p:cNvPr>
          <p:cNvSpPr>
            <a:spLocks noGrp="1"/>
          </p:cNvSpPr>
          <p:nvPr>
            <p:ph type="title"/>
          </p:nvPr>
        </p:nvSpPr>
        <p:spPr/>
        <p:txBody>
          <a:bodyPr/>
          <a:lstStyle/>
          <a:p>
            <a:r>
              <a:rPr lang="en-US" dirty="0"/>
              <a:t>Establishment of new ventures </a:t>
            </a:r>
            <a:endParaRPr lang="en-CA" dirty="0"/>
          </a:p>
        </p:txBody>
      </p:sp>
      <p:sp>
        <p:nvSpPr>
          <p:cNvPr id="3" name="Content Placeholder 2">
            <a:extLst>
              <a:ext uri="{FF2B5EF4-FFF2-40B4-BE49-F238E27FC236}">
                <a16:creationId xmlns:a16="http://schemas.microsoft.com/office/drawing/2014/main" id="{768008D7-532A-6FDA-4B68-F13DCA526AE2}"/>
              </a:ext>
            </a:extLst>
          </p:cNvPr>
          <p:cNvSpPr>
            <a:spLocks noGrp="1"/>
          </p:cNvSpPr>
          <p:nvPr>
            <p:ph idx="1"/>
          </p:nvPr>
        </p:nvSpPr>
        <p:spPr/>
        <p:txBody>
          <a:bodyPr/>
          <a:lstStyle/>
          <a:p>
            <a:r>
              <a:rPr lang="en-US" dirty="0"/>
              <a:t>Entrepreneurship involves all the activities necessary for establishing and operating new business ventures. They involve generation of business idea, development of feasibility, formulation of plan, management of resources, implementation of plan, solution of problems etc. The main motive of establishing ventures is to earn profit and wealth through maximization of volume of business. For this purpose, the entrepreneur needs use of managerial skills to mobilize resources to bring a business project into realization. </a:t>
            </a:r>
            <a:endParaRPr lang="en-CA" dirty="0"/>
          </a:p>
        </p:txBody>
      </p:sp>
    </p:spTree>
    <p:extLst>
      <p:ext uri="{BB962C8B-B14F-4D97-AF65-F5344CB8AC3E}">
        <p14:creationId xmlns:p14="http://schemas.microsoft.com/office/powerpoint/2010/main" val="336456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20E72-F16C-EDA0-8975-DFC3C484852C}"/>
              </a:ext>
            </a:extLst>
          </p:cNvPr>
          <p:cNvSpPr>
            <a:spLocks noGrp="1"/>
          </p:cNvSpPr>
          <p:nvPr>
            <p:ph type="title"/>
          </p:nvPr>
        </p:nvSpPr>
        <p:spPr>
          <a:xfrm>
            <a:off x="838200" y="365125"/>
            <a:ext cx="10515600" cy="430403"/>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DA3E3B7E-0298-72B3-14F2-F62968FF01DF}"/>
              </a:ext>
            </a:extLst>
          </p:cNvPr>
          <p:cNvSpPr>
            <a:spLocks noGrp="1"/>
          </p:cNvSpPr>
          <p:nvPr>
            <p:ph idx="1"/>
          </p:nvPr>
        </p:nvSpPr>
        <p:spPr>
          <a:xfrm>
            <a:off x="838200" y="1106424"/>
            <a:ext cx="10515600" cy="5386451"/>
          </a:xfrm>
        </p:spPr>
        <p:txBody>
          <a:bodyPr>
            <a:normAutofit/>
          </a:bodyPr>
          <a:lstStyle/>
          <a:p>
            <a:pPr algn="l" rtl="0">
              <a:spcAft>
                <a:spcPts val="1200"/>
              </a:spcAft>
              <a:buNone/>
            </a:pPr>
            <a:r>
              <a:rPr lang="en-US" b="1" i="0" dirty="0">
                <a:solidFill>
                  <a:srgbClr val="1B1C1D"/>
                </a:solidFill>
                <a:effectLst/>
                <a:latin typeface="Google Sans Flex"/>
              </a:rPr>
              <a:t>Related to innovation:</a:t>
            </a:r>
            <a:r>
              <a:rPr lang="en-US" b="0" i="0" dirty="0">
                <a:solidFill>
                  <a:srgbClr val="1B1C1D"/>
                </a:solidFill>
                <a:effectLst/>
                <a:latin typeface="Google Sans Flex"/>
              </a:rPr>
              <a:t> Innovation of new idea, concept and knowledge is an important component of entrepreneurship. Innovation refers to the generation of new idea for starting a new business for earning profit and wealth. It can be in the form of </a:t>
            </a:r>
            <a:r>
              <a:rPr lang="en-US" b="1" i="0" dirty="0">
                <a:solidFill>
                  <a:srgbClr val="1B1C1D"/>
                </a:solidFill>
                <a:effectLst/>
                <a:latin typeface="Google Sans Flex"/>
              </a:rPr>
              <a:t>product, process or services</a:t>
            </a:r>
            <a:r>
              <a:rPr lang="en-US" b="0" i="0" dirty="0">
                <a:solidFill>
                  <a:srgbClr val="1B1C1D"/>
                </a:solidFill>
                <a:effectLst/>
                <a:latin typeface="Google Sans Flex"/>
              </a:rPr>
              <a:t>. Innovation of new model car, replacing manual work with automation, </a:t>
            </a:r>
            <a:r>
              <a:rPr lang="en-US" b="1" i="0" dirty="0">
                <a:solidFill>
                  <a:srgbClr val="1B1C1D"/>
                </a:solidFill>
                <a:effectLst/>
                <a:latin typeface="Google Sans Flex"/>
              </a:rPr>
              <a:t>use of robots for services</a:t>
            </a:r>
            <a:r>
              <a:rPr lang="en-US" b="0" i="0" dirty="0">
                <a:solidFill>
                  <a:srgbClr val="1B1C1D"/>
                </a:solidFill>
                <a:effectLst/>
                <a:latin typeface="Google Sans Flex"/>
              </a:rPr>
              <a:t> etc. are the examples of innovation. For example, Microsoft company has become one of the world's biggest company only due to innovation of new computer operating software i.e. </a:t>
            </a:r>
            <a:r>
              <a:rPr lang="en-US" b="1" i="0" dirty="0">
                <a:solidFill>
                  <a:srgbClr val="1B1C1D"/>
                </a:solidFill>
                <a:effectLst/>
                <a:latin typeface="Google Sans Flex"/>
              </a:rPr>
              <a:t>Microsoft Window</a:t>
            </a:r>
            <a:r>
              <a:rPr lang="en-US" b="0" i="0" dirty="0">
                <a:solidFill>
                  <a:srgbClr val="1B1C1D"/>
                </a:solidFill>
                <a:effectLst/>
                <a:latin typeface="Google Sans Flex"/>
              </a:rPr>
              <a:t>.</a:t>
            </a:r>
          </a:p>
          <a:p>
            <a:pPr algn="l" rtl="0">
              <a:buNone/>
            </a:pPr>
            <a:br>
              <a:rPr lang="en-US" b="0" i="0" dirty="0">
                <a:solidFill>
                  <a:srgbClr val="1B1C1D"/>
                </a:solidFill>
                <a:effectLst/>
                <a:latin typeface="Google Sans Flex"/>
              </a:rPr>
            </a:br>
            <a:endParaRPr lang="en-US" b="0" i="0" dirty="0">
              <a:solidFill>
                <a:srgbClr val="1B1C1D"/>
              </a:solidFill>
              <a:effectLst/>
              <a:latin typeface="Google Sans Flex"/>
            </a:endParaRPr>
          </a:p>
          <a:p>
            <a:endParaRPr lang="en-CA" dirty="0"/>
          </a:p>
        </p:txBody>
      </p:sp>
    </p:spTree>
    <p:extLst>
      <p:ext uri="{BB962C8B-B14F-4D97-AF65-F5344CB8AC3E}">
        <p14:creationId xmlns:p14="http://schemas.microsoft.com/office/powerpoint/2010/main" val="1042457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13265-3B44-DB81-2C29-5658DFB6C1FF}"/>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EB9007CE-A679-768B-5646-355996AB3BCB}"/>
              </a:ext>
            </a:extLst>
          </p:cNvPr>
          <p:cNvSpPr>
            <a:spLocks noGrp="1"/>
          </p:cNvSpPr>
          <p:nvPr>
            <p:ph idx="1"/>
          </p:nvPr>
        </p:nvSpPr>
        <p:spPr/>
        <p:txBody>
          <a:bodyPr>
            <a:normAutofit fontScale="92500"/>
          </a:bodyPr>
          <a:lstStyle/>
          <a:p>
            <a:pPr>
              <a:spcAft>
                <a:spcPts val="1200"/>
              </a:spcAft>
              <a:buNone/>
            </a:pPr>
            <a:r>
              <a:rPr lang="en-US" b="1" dirty="0">
                <a:solidFill>
                  <a:srgbClr val="1B1C1D"/>
                </a:solidFill>
                <a:latin typeface="Google Sans Flex"/>
              </a:rPr>
              <a:t>Dedication and hard work:</a:t>
            </a:r>
            <a:r>
              <a:rPr lang="en-US" dirty="0">
                <a:solidFill>
                  <a:srgbClr val="1B1C1D"/>
                </a:solidFill>
                <a:latin typeface="Google Sans Flex"/>
              </a:rPr>
              <a:t> Full dedication and hard work of entrepreneurs is essential for entrepreneurship development. Entrepreneurs generate new venture for doing business to earn profit and wealth. However, there is possibility of </a:t>
            </a:r>
            <a:r>
              <a:rPr lang="en-US" b="1" dirty="0">
                <a:solidFill>
                  <a:srgbClr val="1B1C1D"/>
                </a:solidFill>
                <a:latin typeface="Google Sans Flex"/>
              </a:rPr>
              <a:t>loss of business due to change in internal and external factors</a:t>
            </a:r>
            <a:r>
              <a:rPr lang="en-US" dirty="0">
                <a:solidFill>
                  <a:srgbClr val="1B1C1D"/>
                </a:solidFill>
                <a:latin typeface="Google Sans Flex"/>
              </a:rPr>
              <a:t>. Business activities of an enterprise can be affected if any unexpected change is occurred in business environment. Therefore, entrepreneurs must be dedicated to their jobs and should do hard work for the success of new ventures. The success of new enterprise means adding value and status of entrepreneurs. </a:t>
            </a:r>
          </a:p>
          <a:p>
            <a:pPr>
              <a:buNone/>
            </a:pPr>
            <a:br>
              <a:rPr lang="en-US" dirty="0">
                <a:solidFill>
                  <a:srgbClr val="1B1C1D"/>
                </a:solidFill>
                <a:latin typeface="Google Sans Flex"/>
              </a:rPr>
            </a:br>
            <a:endParaRPr lang="en-US" dirty="0">
              <a:solidFill>
                <a:srgbClr val="1B1C1D"/>
              </a:solidFill>
              <a:latin typeface="Google Sans Flex"/>
            </a:endParaRPr>
          </a:p>
          <a:p>
            <a:endParaRPr lang="en-CA" dirty="0"/>
          </a:p>
        </p:txBody>
      </p:sp>
    </p:spTree>
    <p:extLst>
      <p:ext uri="{BB962C8B-B14F-4D97-AF65-F5344CB8AC3E}">
        <p14:creationId xmlns:p14="http://schemas.microsoft.com/office/powerpoint/2010/main" val="2075150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C326A-EA72-4960-3EF4-19E8D118DB8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2C5BCE2-8C2D-71E4-DAEA-5A39A38D4E43}"/>
              </a:ext>
            </a:extLst>
          </p:cNvPr>
          <p:cNvSpPr>
            <a:spLocks noGrp="1"/>
          </p:cNvSpPr>
          <p:nvPr>
            <p:ph idx="1"/>
          </p:nvPr>
        </p:nvSpPr>
        <p:spPr/>
        <p:txBody>
          <a:bodyPr/>
          <a:lstStyle/>
          <a:p>
            <a:r>
              <a:rPr lang="en-US" b="1" dirty="0">
                <a:solidFill>
                  <a:srgbClr val="1B1C1D"/>
                </a:solidFill>
                <a:latin typeface="Google Sans Flex"/>
              </a:rPr>
              <a:t>Assumption of risk:</a:t>
            </a:r>
            <a:r>
              <a:rPr lang="en-US" dirty="0">
                <a:solidFill>
                  <a:srgbClr val="1B1C1D"/>
                </a:solidFill>
                <a:latin typeface="Google Sans Flex"/>
              </a:rPr>
              <a:t> Entrepreneurs need to assume certain level of </a:t>
            </a:r>
            <a:r>
              <a:rPr lang="en-US" b="1" dirty="0">
                <a:solidFill>
                  <a:srgbClr val="1B1C1D"/>
                </a:solidFill>
                <a:latin typeface="Google Sans Flex"/>
              </a:rPr>
              <a:t>risk</a:t>
            </a:r>
            <a:r>
              <a:rPr lang="en-US" dirty="0">
                <a:solidFill>
                  <a:srgbClr val="1B1C1D"/>
                </a:solidFill>
                <a:latin typeface="Google Sans Flex"/>
              </a:rPr>
              <a:t> for establishing new ventures such as </a:t>
            </a:r>
            <a:r>
              <a:rPr lang="en-US" b="1" dirty="0">
                <a:solidFill>
                  <a:srgbClr val="1B1C1D"/>
                </a:solidFill>
                <a:latin typeface="Google Sans Flex"/>
              </a:rPr>
              <a:t>financial risk, career risk, social risk and psychological risk</a:t>
            </a:r>
            <a:r>
              <a:rPr lang="en-US" dirty="0">
                <a:solidFill>
                  <a:srgbClr val="1B1C1D"/>
                </a:solidFill>
                <a:latin typeface="Google Sans Flex"/>
              </a:rPr>
              <a:t>. They establish new enterprise for earning profit but there is possibility of loss in business which can create </a:t>
            </a:r>
            <a:r>
              <a:rPr lang="en-US" b="1" dirty="0">
                <a:solidFill>
                  <a:srgbClr val="1B1C1D"/>
                </a:solidFill>
                <a:latin typeface="Google Sans Flex"/>
              </a:rPr>
              <a:t>financial risk</a:t>
            </a:r>
            <a:r>
              <a:rPr lang="en-US" dirty="0">
                <a:solidFill>
                  <a:srgbClr val="1B1C1D"/>
                </a:solidFill>
                <a:latin typeface="Google Sans Flex"/>
              </a:rPr>
              <a:t>. They devote energetic life time for operating new venture which can create </a:t>
            </a:r>
            <a:r>
              <a:rPr lang="en-US" b="1" dirty="0">
                <a:solidFill>
                  <a:srgbClr val="1B1C1D"/>
                </a:solidFill>
                <a:latin typeface="Google Sans Flex"/>
              </a:rPr>
              <a:t>career risk</a:t>
            </a:r>
            <a:r>
              <a:rPr lang="en-US" dirty="0">
                <a:solidFill>
                  <a:srgbClr val="1B1C1D"/>
                </a:solidFill>
                <a:latin typeface="Google Sans Flex"/>
              </a:rPr>
              <a:t> if business becomes failure. There is the possibility of risk on social status and prestige. It can provide impact on </a:t>
            </a:r>
            <a:r>
              <a:rPr lang="en-US" b="1" dirty="0">
                <a:solidFill>
                  <a:srgbClr val="1B1C1D"/>
                </a:solidFill>
                <a:latin typeface="Google Sans Flex"/>
              </a:rPr>
              <a:t>value, belief, attitude and standard</a:t>
            </a:r>
            <a:r>
              <a:rPr lang="en-US" dirty="0">
                <a:solidFill>
                  <a:srgbClr val="1B1C1D"/>
                </a:solidFill>
                <a:latin typeface="Google Sans Flex"/>
              </a:rPr>
              <a:t> of the entrepreneurs if business is unable to achieve its objectives.</a:t>
            </a:r>
          </a:p>
          <a:p>
            <a:endParaRPr lang="en-CA" dirty="0"/>
          </a:p>
        </p:txBody>
      </p:sp>
    </p:spTree>
    <p:extLst>
      <p:ext uri="{BB962C8B-B14F-4D97-AF65-F5344CB8AC3E}">
        <p14:creationId xmlns:p14="http://schemas.microsoft.com/office/powerpoint/2010/main" val="3903178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5EADC-B758-7BF2-9DE6-6D0B8018CB4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0961E64-84FE-29B9-C512-A4B63EEBBDCC}"/>
              </a:ext>
            </a:extLst>
          </p:cNvPr>
          <p:cNvSpPr>
            <a:spLocks noGrp="1"/>
          </p:cNvSpPr>
          <p:nvPr>
            <p:ph idx="1"/>
          </p:nvPr>
        </p:nvSpPr>
        <p:spPr/>
        <p:txBody>
          <a:bodyPr>
            <a:normAutofit/>
          </a:bodyPr>
          <a:lstStyle/>
          <a:p>
            <a:pPr algn="l" rtl="0">
              <a:spcAft>
                <a:spcPts val="1200"/>
              </a:spcAft>
              <a:buNone/>
            </a:pPr>
            <a:r>
              <a:rPr lang="en-US" b="1" i="0" dirty="0">
                <a:solidFill>
                  <a:srgbClr val="1B1C1D"/>
                </a:solidFill>
                <a:effectLst/>
                <a:latin typeface="Google Sans Flex"/>
              </a:rPr>
              <a:t> Involvement and achievement:</a:t>
            </a:r>
            <a:r>
              <a:rPr lang="en-US" b="0" i="0" dirty="0">
                <a:solidFill>
                  <a:srgbClr val="1B1C1D"/>
                </a:solidFill>
                <a:effectLst/>
                <a:latin typeface="Google Sans Flex"/>
              </a:rPr>
              <a:t> Desire for </a:t>
            </a:r>
            <a:r>
              <a:rPr lang="en-US" b="1" i="0" dirty="0">
                <a:solidFill>
                  <a:srgbClr val="1B1C1D"/>
                </a:solidFill>
                <a:effectLst/>
                <a:latin typeface="Google Sans Flex"/>
              </a:rPr>
              <a:t>involvement and achievement</a:t>
            </a:r>
            <a:r>
              <a:rPr lang="en-US" b="0" i="0" dirty="0">
                <a:solidFill>
                  <a:srgbClr val="1B1C1D"/>
                </a:solidFill>
                <a:effectLst/>
                <a:latin typeface="Google Sans Flex"/>
              </a:rPr>
              <a:t> from inner part of heart and mind of entrepreneurs is necessary for entrepreneurship development. They must have willingness to involve in business based on their </a:t>
            </a:r>
            <a:r>
              <a:rPr lang="en-US" b="1" i="0" dirty="0">
                <a:solidFill>
                  <a:srgbClr val="1B1C1D"/>
                </a:solidFill>
                <a:effectLst/>
                <a:latin typeface="Google Sans Flex"/>
              </a:rPr>
              <a:t>interest, skill and knowledge</a:t>
            </a:r>
            <a:r>
              <a:rPr lang="en-US" b="0" i="0" dirty="0">
                <a:solidFill>
                  <a:srgbClr val="1B1C1D"/>
                </a:solidFill>
                <a:effectLst/>
                <a:latin typeface="Google Sans Flex"/>
              </a:rPr>
              <a:t>. The set up of new venture is not so difficult task but its successful operation for long time is the major concern of entrepreneurs. They need to devote full effort and efficiency for successful operation of newly established business enterprise.</a:t>
            </a:r>
          </a:p>
          <a:p>
            <a:pPr algn="l" rtl="0">
              <a:buNone/>
            </a:pPr>
            <a:br>
              <a:rPr lang="en-US" b="0" i="0" dirty="0">
                <a:solidFill>
                  <a:srgbClr val="1B1C1D"/>
                </a:solidFill>
                <a:effectLst/>
                <a:latin typeface="Google Sans Flex"/>
              </a:rPr>
            </a:br>
            <a:endParaRPr lang="en-US" b="0" i="0" dirty="0">
              <a:solidFill>
                <a:srgbClr val="1B1C1D"/>
              </a:solidFill>
              <a:effectLst/>
              <a:latin typeface="Google Sans Flex"/>
            </a:endParaRPr>
          </a:p>
          <a:p>
            <a:pPr marL="0" indent="0">
              <a:buNone/>
            </a:pPr>
            <a:endParaRPr lang="en-CA" dirty="0"/>
          </a:p>
        </p:txBody>
      </p:sp>
    </p:spTree>
    <p:extLst>
      <p:ext uri="{BB962C8B-B14F-4D97-AF65-F5344CB8AC3E}">
        <p14:creationId xmlns:p14="http://schemas.microsoft.com/office/powerpoint/2010/main" val="3576391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F4F75-F2F4-9266-3C25-D335D408094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1422BCD1-6134-F164-DDA1-4516267F47B1}"/>
              </a:ext>
            </a:extLst>
          </p:cNvPr>
          <p:cNvSpPr>
            <a:spLocks noGrp="1"/>
          </p:cNvSpPr>
          <p:nvPr>
            <p:ph idx="1"/>
          </p:nvPr>
        </p:nvSpPr>
        <p:spPr/>
        <p:txBody>
          <a:bodyPr>
            <a:normAutofit fontScale="92500" lnSpcReduction="10000"/>
          </a:bodyPr>
          <a:lstStyle/>
          <a:p>
            <a:pPr>
              <a:spcAft>
                <a:spcPts val="1200"/>
              </a:spcAft>
              <a:buNone/>
            </a:pPr>
            <a:r>
              <a:rPr lang="en-US" b="1" dirty="0">
                <a:solidFill>
                  <a:srgbClr val="1B1C1D"/>
                </a:solidFill>
                <a:latin typeface="Google Sans Flex"/>
              </a:rPr>
              <a:t> Expectation of reward:</a:t>
            </a:r>
            <a:r>
              <a:rPr lang="en-US" dirty="0">
                <a:solidFill>
                  <a:srgbClr val="1B1C1D"/>
                </a:solidFill>
                <a:latin typeface="Google Sans Flex"/>
              </a:rPr>
              <a:t> The </a:t>
            </a:r>
            <a:r>
              <a:rPr lang="en-US" b="1" dirty="0">
                <a:solidFill>
                  <a:srgbClr val="1B1C1D"/>
                </a:solidFill>
                <a:latin typeface="Google Sans Flex"/>
              </a:rPr>
              <a:t>expectation of reward</a:t>
            </a:r>
            <a:r>
              <a:rPr lang="en-US" dirty="0">
                <a:solidFill>
                  <a:srgbClr val="1B1C1D"/>
                </a:solidFill>
                <a:latin typeface="Google Sans Flex"/>
              </a:rPr>
              <a:t> is the main reason of establishment of business venture. The rewards involve both </a:t>
            </a:r>
            <a:r>
              <a:rPr lang="en-US" b="1" dirty="0">
                <a:solidFill>
                  <a:srgbClr val="1B1C1D"/>
                </a:solidFill>
                <a:latin typeface="Google Sans Flex"/>
              </a:rPr>
              <a:t>financial reward</a:t>
            </a:r>
            <a:r>
              <a:rPr lang="en-US" dirty="0">
                <a:solidFill>
                  <a:srgbClr val="1B1C1D"/>
                </a:solidFill>
                <a:latin typeface="Google Sans Flex"/>
              </a:rPr>
              <a:t> and </a:t>
            </a:r>
            <a:r>
              <a:rPr lang="en-US" b="1" dirty="0">
                <a:solidFill>
                  <a:srgbClr val="1B1C1D"/>
                </a:solidFill>
                <a:latin typeface="Google Sans Flex"/>
              </a:rPr>
              <a:t>non financial reward</a:t>
            </a:r>
            <a:r>
              <a:rPr lang="en-US" dirty="0">
                <a:solidFill>
                  <a:srgbClr val="1B1C1D"/>
                </a:solidFill>
                <a:latin typeface="Google Sans Flex"/>
              </a:rPr>
              <a:t>. The </a:t>
            </a:r>
            <a:r>
              <a:rPr lang="en-US" b="1" dirty="0">
                <a:solidFill>
                  <a:srgbClr val="1B1C1D"/>
                </a:solidFill>
                <a:latin typeface="Google Sans Flex"/>
              </a:rPr>
              <a:t>financial reward</a:t>
            </a:r>
            <a:r>
              <a:rPr lang="en-US" dirty="0">
                <a:solidFill>
                  <a:srgbClr val="1B1C1D"/>
                </a:solidFill>
                <a:latin typeface="Google Sans Flex"/>
              </a:rPr>
              <a:t> involves earning </a:t>
            </a:r>
            <a:r>
              <a:rPr lang="en-US" b="1" dirty="0">
                <a:solidFill>
                  <a:srgbClr val="1B1C1D"/>
                </a:solidFill>
                <a:latin typeface="Google Sans Flex"/>
              </a:rPr>
              <a:t>profit and wealth through maximization of volume of business</a:t>
            </a:r>
            <a:r>
              <a:rPr lang="en-US" dirty="0">
                <a:solidFill>
                  <a:srgbClr val="1B1C1D"/>
                </a:solidFill>
                <a:latin typeface="Google Sans Flex"/>
              </a:rPr>
              <a:t>. Financial reward is essential for survival, expansion and diversification of business. </a:t>
            </a:r>
            <a:r>
              <a:rPr lang="en-US" b="1" dirty="0">
                <a:solidFill>
                  <a:srgbClr val="1B1C1D"/>
                </a:solidFill>
                <a:latin typeface="Google Sans Flex"/>
              </a:rPr>
              <a:t>Non-financial reward</a:t>
            </a:r>
            <a:r>
              <a:rPr lang="en-US" dirty="0">
                <a:solidFill>
                  <a:srgbClr val="1B1C1D"/>
                </a:solidFill>
                <a:latin typeface="Google Sans Flex"/>
              </a:rPr>
              <a:t> involves maintaining </a:t>
            </a:r>
            <a:r>
              <a:rPr lang="en-US" b="1" dirty="0">
                <a:solidFill>
                  <a:srgbClr val="1B1C1D"/>
                </a:solidFill>
                <a:latin typeface="Google Sans Flex"/>
              </a:rPr>
              <a:t>status, prestige, standard and value in the society</a:t>
            </a:r>
            <a:r>
              <a:rPr lang="en-US" dirty="0">
                <a:solidFill>
                  <a:srgbClr val="1B1C1D"/>
                </a:solidFill>
                <a:latin typeface="Google Sans Flex"/>
              </a:rPr>
              <a:t>. Entrepreneurs provide employment opportunity, pay tax to the government, and participate in various social welfare activities which help to maintain prestige in the society.</a:t>
            </a:r>
          </a:p>
          <a:p>
            <a:pPr>
              <a:buNone/>
            </a:pPr>
            <a:br>
              <a:rPr lang="en-US" dirty="0">
                <a:solidFill>
                  <a:srgbClr val="1B1C1D"/>
                </a:solidFill>
                <a:latin typeface="Google Sans Flex"/>
              </a:rPr>
            </a:br>
            <a:endParaRPr lang="en-US" dirty="0">
              <a:solidFill>
                <a:srgbClr val="1B1C1D"/>
              </a:solidFill>
              <a:latin typeface="Google Sans Flex"/>
            </a:endParaRPr>
          </a:p>
          <a:p>
            <a:pPr>
              <a:spcAft>
                <a:spcPts val="1200"/>
              </a:spcAft>
              <a:buNone/>
            </a:pPr>
            <a:r>
              <a:rPr lang="en-US" b="1" dirty="0">
                <a:solidFill>
                  <a:srgbClr val="1B1C1D"/>
                </a:solidFill>
                <a:latin typeface="Google Sans Flex"/>
              </a:rPr>
              <a:t> </a:t>
            </a:r>
            <a:endParaRPr lang="en-CA" dirty="0"/>
          </a:p>
        </p:txBody>
      </p:sp>
    </p:spTree>
    <p:extLst>
      <p:ext uri="{BB962C8B-B14F-4D97-AF65-F5344CB8AC3E}">
        <p14:creationId xmlns:p14="http://schemas.microsoft.com/office/powerpoint/2010/main" val="1387048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C3C43-3738-4C4F-D8C1-FAFFDD03837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05AA9C0-0AAC-1D95-EC4C-CD629C74047E}"/>
              </a:ext>
            </a:extLst>
          </p:cNvPr>
          <p:cNvSpPr>
            <a:spLocks noGrp="1"/>
          </p:cNvSpPr>
          <p:nvPr>
            <p:ph idx="1"/>
          </p:nvPr>
        </p:nvSpPr>
        <p:spPr/>
        <p:txBody>
          <a:bodyPr>
            <a:normAutofit lnSpcReduction="10000"/>
          </a:bodyPr>
          <a:lstStyle/>
          <a:p>
            <a:r>
              <a:rPr lang="en-US" b="1" dirty="0"/>
              <a:t>Best use of opportunity</a:t>
            </a:r>
            <a:r>
              <a:rPr lang="en-US" dirty="0"/>
              <a:t>: The main concern of entrepreneurship is the best use of opportunity created by changing external environment of the society and business. The external environmental factors are changeable and changing environment provides both opportunity and threat for business activities. For example, when government has enacted new business rule it involves both opportunity and threat. Entrepreneurs should focus on opportunity that is created by changing external environment and use such opportunity for maximization of volume of business, earning profit and wealth.</a:t>
            </a:r>
          </a:p>
          <a:p>
            <a:pPr marL="0" indent="0">
              <a:buNone/>
            </a:pPr>
            <a:br>
              <a:rPr lang="en-US" dirty="0"/>
            </a:br>
            <a:endParaRPr lang="en-US" dirty="0"/>
          </a:p>
          <a:p>
            <a:endParaRPr lang="en-CA" dirty="0"/>
          </a:p>
        </p:txBody>
      </p:sp>
    </p:spTree>
    <p:extLst>
      <p:ext uri="{BB962C8B-B14F-4D97-AF65-F5344CB8AC3E}">
        <p14:creationId xmlns:p14="http://schemas.microsoft.com/office/powerpoint/2010/main" val="2407089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37DE4-9E32-480B-FCEC-88938B3A70A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79704083-B81B-C2F2-6B30-411404A1E255}"/>
              </a:ext>
            </a:extLst>
          </p:cNvPr>
          <p:cNvSpPr>
            <a:spLocks noGrp="1"/>
          </p:cNvSpPr>
          <p:nvPr>
            <p:ph idx="1"/>
          </p:nvPr>
        </p:nvSpPr>
        <p:spPr/>
        <p:txBody>
          <a:bodyPr/>
          <a:lstStyle/>
          <a:p>
            <a:pPr marL="0" indent="0">
              <a:buNone/>
            </a:pPr>
            <a:r>
              <a:rPr lang="en-US" b="1" dirty="0"/>
              <a:t>Create value</a:t>
            </a:r>
            <a:r>
              <a:rPr lang="en-US" dirty="0"/>
              <a:t>: Entrepreneurship involves creativity and innovation that leads towards establishing new business venture. It refers to the capacity and willingness of an entrepreneur to develop, organize and manage a business venture along with any of its risks in order to make a profit. Entrepreneurs introduce new concept, idea, knowledge in terms of products and services. It supports to add value not only to owners but also to all the stakeholders including society at large.</a:t>
            </a:r>
          </a:p>
          <a:p>
            <a:endParaRPr lang="en-CA" dirty="0"/>
          </a:p>
        </p:txBody>
      </p:sp>
    </p:spTree>
    <p:extLst>
      <p:ext uri="{BB962C8B-B14F-4D97-AF65-F5344CB8AC3E}">
        <p14:creationId xmlns:p14="http://schemas.microsoft.com/office/powerpoint/2010/main" val="340113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D9887-37DB-F671-8C0E-99075B457F41}"/>
              </a:ext>
            </a:extLst>
          </p:cNvPr>
          <p:cNvSpPr>
            <a:spLocks noGrp="1"/>
          </p:cNvSpPr>
          <p:nvPr>
            <p:ph type="title"/>
          </p:nvPr>
        </p:nvSpPr>
        <p:spPr>
          <a:xfrm>
            <a:off x="838200" y="365125"/>
            <a:ext cx="10515600" cy="490281"/>
          </a:xfrm>
        </p:spPr>
        <p:txBody>
          <a:bodyPr>
            <a:normAutofit fontScale="90000"/>
          </a:bodyPr>
          <a:lstStyle/>
          <a:p>
            <a:r>
              <a:rPr lang="en-US" dirty="0"/>
              <a:t>Startup </a:t>
            </a:r>
            <a:endParaRPr lang="en-CA" dirty="0"/>
          </a:p>
        </p:txBody>
      </p:sp>
      <p:sp>
        <p:nvSpPr>
          <p:cNvPr id="3" name="Content Placeholder 2">
            <a:extLst>
              <a:ext uri="{FF2B5EF4-FFF2-40B4-BE49-F238E27FC236}">
                <a16:creationId xmlns:a16="http://schemas.microsoft.com/office/drawing/2014/main" id="{696B9DF3-589F-6131-E134-256072DC7D80}"/>
              </a:ext>
            </a:extLst>
          </p:cNvPr>
          <p:cNvSpPr>
            <a:spLocks noGrp="1"/>
          </p:cNvSpPr>
          <p:nvPr>
            <p:ph idx="1"/>
          </p:nvPr>
        </p:nvSpPr>
        <p:spPr>
          <a:xfrm>
            <a:off x="838200" y="1081548"/>
            <a:ext cx="10515600" cy="5095415"/>
          </a:xfrm>
        </p:spPr>
        <p:txBody>
          <a:bodyPr>
            <a:normAutofit/>
          </a:bodyPr>
          <a:lstStyle/>
          <a:p>
            <a:pPr marL="0" indent="0">
              <a:buNone/>
            </a:pPr>
            <a:r>
              <a:rPr lang="en-US" dirty="0"/>
              <a:t>A startup is a young company that is in the early stages of its development. It is typically started by one or more entrepreneurs who have an innovative idea for a product or service. Startups are characterized by their high growth potential, their focus on innovation, and their willingness to take risks.</a:t>
            </a:r>
          </a:p>
          <a:p>
            <a:pPr marL="0" indent="0">
              <a:buNone/>
            </a:pPr>
            <a:r>
              <a:rPr lang="en-US" dirty="0"/>
              <a:t>Startups are often funded by venture capital firms or angel investors. They may also receive funding from government grants or crowdfunding campaigns. Once a startup has secured funding, it can begin to develop its product or service and build its customer base.</a:t>
            </a:r>
          </a:p>
          <a:p>
            <a:pPr marL="0" indent="0">
              <a:buNone/>
            </a:pPr>
            <a:r>
              <a:rPr lang="en-US" dirty="0"/>
              <a:t>Startups face many challenges, including high failure rates, intense competition, and the need to raise capital. However, those that are successful can have a significant impact on the economy and society.</a:t>
            </a:r>
          </a:p>
        </p:txBody>
      </p:sp>
    </p:spTree>
    <p:extLst>
      <p:ext uri="{BB962C8B-B14F-4D97-AF65-F5344CB8AC3E}">
        <p14:creationId xmlns:p14="http://schemas.microsoft.com/office/powerpoint/2010/main" val="2165905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7CE0F-3F5B-17A3-CC8D-A43B3D5332F7}"/>
              </a:ext>
            </a:extLst>
          </p:cNvPr>
          <p:cNvSpPr>
            <a:spLocks noGrp="1"/>
          </p:cNvSpPr>
          <p:nvPr>
            <p:ph type="title"/>
          </p:nvPr>
        </p:nvSpPr>
        <p:spPr>
          <a:xfrm>
            <a:off x="838200" y="365125"/>
            <a:ext cx="10515600" cy="567563"/>
          </a:xfrm>
        </p:spPr>
        <p:txBody>
          <a:bodyPr>
            <a:normAutofit fontScale="90000"/>
          </a:bodyPr>
          <a:lstStyle/>
          <a:p>
            <a:pPr marL="228600" marR="0" lvl="0" indent="-228600" defTabSz="914400" rtl="0" eaLnBrk="1" fontAlgn="auto" latinLnBrk="0" hangingPunct="1">
              <a:lnSpc>
                <a:spcPct val="90000"/>
              </a:lnSpc>
              <a:spcBef>
                <a:spcPts val="1000"/>
              </a:spcBef>
              <a:spcAft>
                <a:spcPts val="0"/>
              </a:spcAft>
              <a:tabLst/>
              <a:defRPr/>
            </a:pPr>
            <a:b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Here are some of the key characteristics of startups:</a:t>
            </a:r>
            <a:b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br>
            <a:endParaRPr lang="en-CA" b="1" dirty="0"/>
          </a:p>
        </p:txBody>
      </p:sp>
      <p:sp>
        <p:nvSpPr>
          <p:cNvPr id="3" name="Content Placeholder 2">
            <a:extLst>
              <a:ext uri="{FF2B5EF4-FFF2-40B4-BE49-F238E27FC236}">
                <a16:creationId xmlns:a16="http://schemas.microsoft.com/office/drawing/2014/main" id="{7E8E66BE-B265-C5EE-EE67-5A4B43CB00CB}"/>
              </a:ext>
            </a:extLst>
          </p:cNvPr>
          <p:cNvSpPr>
            <a:spLocks noGrp="1"/>
          </p:cNvSpPr>
          <p:nvPr>
            <p:ph idx="1"/>
          </p:nvPr>
        </p:nvSpPr>
        <p:spPr>
          <a:xfrm>
            <a:off x="838200" y="1197864"/>
            <a:ext cx="10515600" cy="4979099"/>
          </a:xfrm>
        </p:spPr>
        <p:txBody>
          <a:bodyPr>
            <a:normAutofit/>
          </a:bodyPr>
          <a:lstStyle/>
          <a:p>
            <a:r>
              <a:rPr lang="en-US" dirty="0"/>
              <a:t>Innovation: Startups are focused on creating new products or services that solve problems or meet unmet needs.</a:t>
            </a:r>
          </a:p>
          <a:p>
            <a:r>
              <a:rPr lang="en-US" dirty="0"/>
              <a:t> Scalability: Startups have the potential to grow rapidly and achieve significant scale.</a:t>
            </a:r>
          </a:p>
          <a:p>
            <a:r>
              <a:rPr lang="en-US" dirty="0"/>
              <a:t> Risk-taking: Startups are willing to take risks in order to achieve their goals.</a:t>
            </a:r>
          </a:p>
          <a:p>
            <a:r>
              <a:rPr lang="en-US" dirty="0"/>
              <a:t>Agility: Startups are able to adapt quickly to changing market conditions.</a:t>
            </a:r>
          </a:p>
          <a:p>
            <a:pPr marL="0" indent="0">
              <a:buNone/>
            </a:pPr>
            <a:r>
              <a:rPr lang="en-US" dirty="0"/>
              <a:t>Startups play an important role in the economy by creating jobs, driving innovation, and generating economic growth. They are also a source of new ideas and technologies that can improve our lives. </a:t>
            </a:r>
          </a:p>
          <a:p>
            <a:endParaRPr lang="en-CA" dirty="0"/>
          </a:p>
        </p:txBody>
      </p:sp>
    </p:spTree>
    <p:extLst>
      <p:ext uri="{BB962C8B-B14F-4D97-AF65-F5344CB8AC3E}">
        <p14:creationId xmlns:p14="http://schemas.microsoft.com/office/powerpoint/2010/main" val="31162478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D3561-3E9C-3137-908F-4581CCFEB085}"/>
              </a:ext>
            </a:extLst>
          </p:cNvPr>
          <p:cNvSpPr>
            <a:spLocks noGrp="1"/>
          </p:cNvSpPr>
          <p:nvPr>
            <p:ph type="title"/>
          </p:nvPr>
        </p:nvSpPr>
        <p:spPr/>
        <p:txBody>
          <a:bodyPr/>
          <a:lstStyle/>
          <a:p>
            <a:r>
              <a:rPr lang="en-US" dirty="0"/>
              <a:t>Meaning of Enterprise</a:t>
            </a:r>
            <a:endParaRPr lang="en-CA" dirty="0"/>
          </a:p>
        </p:txBody>
      </p:sp>
      <p:sp>
        <p:nvSpPr>
          <p:cNvPr id="3" name="Content Placeholder 2">
            <a:extLst>
              <a:ext uri="{FF2B5EF4-FFF2-40B4-BE49-F238E27FC236}">
                <a16:creationId xmlns:a16="http://schemas.microsoft.com/office/drawing/2014/main" id="{E8A1C9C8-3353-8D74-D785-466A99E88FAD}"/>
              </a:ext>
            </a:extLst>
          </p:cNvPr>
          <p:cNvSpPr>
            <a:spLocks noGrp="1"/>
          </p:cNvSpPr>
          <p:nvPr>
            <p:ph idx="1"/>
          </p:nvPr>
        </p:nvSpPr>
        <p:spPr/>
        <p:txBody>
          <a:bodyPr>
            <a:normAutofit/>
          </a:bodyPr>
          <a:lstStyle/>
          <a:p>
            <a:r>
              <a:rPr lang="en-US" dirty="0"/>
              <a:t>The term enterprise refers to a business or organization that is established to carry out commercial, industrial, or professional activities. It is often associated with innovation, initiative, and the willingness to take risks in pursuit of a goal.</a:t>
            </a:r>
          </a:p>
        </p:txBody>
      </p:sp>
    </p:spTree>
    <p:extLst>
      <p:ext uri="{BB962C8B-B14F-4D97-AF65-F5344CB8AC3E}">
        <p14:creationId xmlns:p14="http://schemas.microsoft.com/office/powerpoint/2010/main" val="12892273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F4B97-B32F-A99E-EED5-3D93E01108F9}"/>
              </a:ext>
            </a:extLst>
          </p:cNvPr>
          <p:cNvSpPr>
            <a:spLocks noGrp="1"/>
          </p:cNvSpPr>
          <p:nvPr>
            <p:ph type="title"/>
          </p:nvPr>
        </p:nvSpPr>
        <p:spPr>
          <a:xfrm>
            <a:off x="838200" y="777240"/>
            <a:ext cx="10515600" cy="913448"/>
          </a:xfrm>
        </p:spPr>
        <p:txBody>
          <a:bodyPr>
            <a:normAutofit fontScale="90000"/>
          </a:bodyPr>
          <a:lstStyle/>
          <a:p>
            <a:r>
              <a:rPr lang="en-US" dirty="0"/>
              <a:t>Key Features of an Enterprise:</a:t>
            </a:r>
            <a:br>
              <a:rPr lang="en-US" dirty="0"/>
            </a:br>
            <a:endParaRPr lang="en-CA" dirty="0"/>
          </a:p>
        </p:txBody>
      </p:sp>
      <p:sp>
        <p:nvSpPr>
          <p:cNvPr id="3" name="Content Placeholder 2">
            <a:extLst>
              <a:ext uri="{FF2B5EF4-FFF2-40B4-BE49-F238E27FC236}">
                <a16:creationId xmlns:a16="http://schemas.microsoft.com/office/drawing/2014/main" id="{C69CB015-97AC-9FB5-C381-BB4EF6DD8E9D}"/>
              </a:ext>
            </a:extLst>
          </p:cNvPr>
          <p:cNvSpPr>
            <a:spLocks noGrp="1"/>
          </p:cNvSpPr>
          <p:nvPr>
            <p:ph idx="1"/>
          </p:nvPr>
        </p:nvSpPr>
        <p:spPr/>
        <p:txBody>
          <a:bodyPr>
            <a:normAutofit/>
          </a:bodyPr>
          <a:lstStyle/>
          <a:p>
            <a:r>
              <a:rPr lang="en-US" dirty="0"/>
              <a:t>1. Business Activity: Involves the production, distribution, or provision of goods and services.</a:t>
            </a:r>
          </a:p>
          <a:p>
            <a:r>
              <a:rPr lang="en-US" dirty="0"/>
              <a:t>2. Entrepreneurship: Driven by individuals or groups who take the initiative to organize resources and create value.</a:t>
            </a:r>
          </a:p>
          <a:p>
            <a:endParaRPr lang="en-CA" dirty="0"/>
          </a:p>
        </p:txBody>
      </p:sp>
    </p:spTree>
    <p:extLst>
      <p:ext uri="{BB962C8B-B14F-4D97-AF65-F5344CB8AC3E}">
        <p14:creationId xmlns:p14="http://schemas.microsoft.com/office/powerpoint/2010/main" val="2830873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60F5A-5180-ABF9-B0FC-08E81CF1260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92D568C-7A87-A5E9-D8EF-25E51D718AF9}"/>
              </a:ext>
            </a:extLst>
          </p:cNvPr>
          <p:cNvSpPr>
            <a:spLocks noGrp="1"/>
          </p:cNvSpPr>
          <p:nvPr>
            <p:ph idx="1"/>
          </p:nvPr>
        </p:nvSpPr>
        <p:spPr/>
        <p:txBody>
          <a:bodyPr/>
          <a:lstStyle/>
          <a:p>
            <a:r>
              <a:rPr lang="en-US" dirty="0"/>
              <a:t>3. Risk-Taking: Operates in uncertain environments, taking calculated risks to achieve goals.</a:t>
            </a:r>
          </a:p>
          <a:p>
            <a:r>
              <a:rPr lang="en-US" dirty="0"/>
              <a:t>4. Profit Orientation: Most enterprises aim to generate profit, although social enterprises prioritize societal impact.</a:t>
            </a:r>
          </a:p>
          <a:p>
            <a:r>
              <a:rPr lang="en-US" dirty="0"/>
              <a:t>5. Organizational Structure: Includes systems, processes, and people working together to achieve objectives.</a:t>
            </a:r>
          </a:p>
          <a:p>
            <a:pPr marL="0" indent="0">
              <a:buNone/>
            </a:pPr>
            <a:r>
              <a:rPr lang="en-US" dirty="0"/>
              <a:t>An enterprise can range from a small startup to a large multinational corporation. It plays a vital role in economic development, innovation, and job creation</a:t>
            </a:r>
          </a:p>
          <a:p>
            <a:endParaRPr lang="en-CA" dirty="0"/>
          </a:p>
        </p:txBody>
      </p:sp>
    </p:spTree>
    <p:extLst>
      <p:ext uri="{BB962C8B-B14F-4D97-AF65-F5344CB8AC3E}">
        <p14:creationId xmlns:p14="http://schemas.microsoft.com/office/powerpoint/2010/main" val="2814800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6B84E-C9BB-0812-7F1D-AB7B7D3686DC}"/>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B2CED7C0-C8E9-436F-C444-FE3BC50B1F6C}"/>
              </a:ext>
            </a:extLst>
          </p:cNvPr>
          <p:cNvSpPr>
            <a:spLocks noGrp="1"/>
          </p:cNvSpPr>
          <p:nvPr>
            <p:ph idx="1"/>
          </p:nvPr>
        </p:nvSpPr>
        <p:spPr>
          <a:xfrm>
            <a:off x="838200" y="832104"/>
            <a:ext cx="10515600" cy="5843016"/>
          </a:xfrm>
        </p:spPr>
        <p:txBody>
          <a:bodyPr>
            <a:normAutofit fontScale="70000" lnSpcReduction="20000"/>
          </a:bodyPr>
          <a:lstStyle/>
          <a:p>
            <a:r>
              <a:rPr lang="en-US" dirty="0"/>
              <a:t>Here's a breakdown of the key differences between enterprises and startups:</a:t>
            </a:r>
          </a:p>
          <a:p>
            <a:r>
              <a:rPr lang="en-US" dirty="0"/>
              <a:t>Startups</a:t>
            </a:r>
          </a:p>
          <a:p>
            <a:r>
              <a:rPr lang="en-US" dirty="0"/>
              <a:t> Age: Young and newly established.</a:t>
            </a:r>
          </a:p>
          <a:p>
            <a:r>
              <a:rPr lang="en-US" dirty="0"/>
              <a:t>  Size: Small team, often less than 50 people.</a:t>
            </a:r>
          </a:p>
          <a:p>
            <a:r>
              <a:rPr lang="en-US" dirty="0"/>
              <a:t>  Focus: Innovation, rapid growth, and disrupting existing markets.</a:t>
            </a:r>
          </a:p>
          <a:p>
            <a:r>
              <a:rPr lang="en-US" dirty="0"/>
              <a:t> Funding: Venture capital, angel investors, crowdfunding.</a:t>
            </a:r>
          </a:p>
          <a:p>
            <a:pPr marL="0" indent="0">
              <a:buNone/>
            </a:pPr>
            <a:r>
              <a:rPr lang="en-US" b="1" dirty="0"/>
              <a:t>Venture Capital (VC)</a:t>
            </a:r>
          </a:p>
          <a:p>
            <a:pPr marL="0" indent="0">
              <a:buNone/>
            </a:pPr>
            <a:r>
              <a:rPr lang="en-US" dirty="0"/>
              <a:t>  Professional funds that invest in high-growth startups with the potential for massive returns, in exchange for equity (ownership).</a:t>
            </a:r>
          </a:p>
          <a:p>
            <a:pPr marL="0" indent="0">
              <a:buNone/>
            </a:pPr>
            <a:r>
              <a:rPr lang="en-US" b="1" dirty="0"/>
              <a:t>    Angel Investors</a:t>
            </a:r>
          </a:p>
          <a:p>
            <a:pPr marL="0" indent="0">
              <a:buNone/>
            </a:pPr>
            <a:r>
              <a:rPr lang="en-US" b="1" dirty="0"/>
              <a:t>     </a:t>
            </a:r>
            <a:r>
              <a:rPr lang="en-US" dirty="0"/>
              <a:t>Affluent individuals (often successful entrepreneurs themselves) who invest their personal money in early-stage startups.</a:t>
            </a:r>
          </a:p>
          <a:p>
            <a:pPr marL="0" indent="0">
              <a:buNone/>
            </a:pPr>
            <a:r>
              <a:rPr lang="en-US" b="1" dirty="0"/>
              <a:t>Crowdfunding</a:t>
            </a:r>
          </a:p>
          <a:p>
            <a:pPr marL="0" indent="0">
              <a:buNone/>
            </a:pPr>
            <a:r>
              <a:rPr lang="en-US" b="1" dirty="0"/>
              <a:t>      </a:t>
            </a:r>
            <a:r>
              <a:rPr lang="en-US" dirty="0"/>
              <a:t>Raising small amounts of money from a large number of people, typically via online platforms.</a:t>
            </a:r>
          </a:p>
          <a:p>
            <a:r>
              <a:rPr lang="en-US" dirty="0"/>
              <a:t>  Risk: High risk, high reward.</a:t>
            </a:r>
          </a:p>
          <a:p>
            <a:r>
              <a:rPr lang="en-US" dirty="0"/>
              <a:t>  Structure: Flexible and adaptable.</a:t>
            </a:r>
          </a:p>
          <a:p>
            <a:r>
              <a:rPr lang="en-US" dirty="0"/>
              <a:t>  Culture: Entrepreneurial and risk-taking.</a:t>
            </a:r>
          </a:p>
          <a:p>
            <a:r>
              <a:rPr lang="en-US" dirty="0"/>
              <a:t>  Market: emerging markets.</a:t>
            </a:r>
          </a:p>
          <a:p>
            <a:pPr marL="0" indent="0">
              <a:buNone/>
            </a:pPr>
            <a:endParaRPr lang="en-US" dirty="0"/>
          </a:p>
        </p:txBody>
      </p:sp>
    </p:spTree>
    <p:extLst>
      <p:ext uri="{BB962C8B-B14F-4D97-AF65-F5344CB8AC3E}">
        <p14:creationId xmlns:p14="http://schemas.microsoft.com/office/powerpoint/2010/main" val="3941153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9E355-8ECC-C40F-F488-BFCEB8DD3B9E}"/>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B3263FB-650E-AC1D-3236-2AF20F85EEC0}"/>
              </a:ext>
            </a:extLst>
          </p:cNvPr>
          <p:cNvSpPr>
            <a:spLocks noGrp="1"/>
          </p:cNvSpPr>
          <p:nvPr>
            <p:ph idx="1"/>
          </p:nvPr>
        </p:nvSpPr>
        <p:spPr/>
        <p:txBody>
          <a:bodyPr>
            <a:normAutofit lnSpcReduction="10000"/>
          </a:bodyPr>
          <a:lstStyle/>
          <a:p>
            <a:r>
              <a:rPr lang="en-US" dirty="0"/>
              <a:t>Enterprises</a:t>
            </a:r>
          </a:p>
          <a:p>
            <a:r>
              <a:rPr lang="en-US" dirty="0"/>
              <a:t> Age: Established and well-established.</a:t>
            </a:r>
          </a:p>
          <a:p>
            <a:r>
              <a:rPr lang="en-US" dirty="0"/>
              <a:t>  Size: Large teams, often thousands of employees.</a:t>
            </a:r>
          </a:p>
          <a:p>
            <a:r>
              <a:rPr lang="en-US" dirty="0"/>
              <a:t>  Focus: Stability, efficiency, and maintaining market share.</a:t>
            </a:r>
          </a:p>
          <a:p>
            <a:r>
              <a:rPr lang="en-US" dirty="0"/>
              <a:t>  Funding: Bank loans, retained earnings, stock offerings.</a:t>
            </a:r>
          </a:p>
          <a:p>
            <a:r>
              <a:rPr lang="en-US" dirty="0"/>
              <a:t>  Risk: Lower risk, lower reward.</a:t>
            </a:r>
          </a:p>
          <a:p>
            <a:r>
              <a:rPr lang="en-US" dirty="0"/>
              <a:t>  Structure: Hierarchical and bureaucratic.</a:t>
            </a:r>
          </a:p>
          <a:p>
            <a:r>
              <a:rPr lang="en-US" dirty="0"/>
              <a:t>  Culture: Conservative, process-oriented, and risk-averse.</a:t>
            </a:r>
          </a:p>
          <a:p>
            <a:r>
              <a:rPr lang="en-US" dirty="0"/>
              <a:t>  Market: Broad and established markets.</a:t>
            </a:r>
          </a:p>
          <a:p>
            <a:endParaRPr lang="en-CA" dirty="0"/>
          </a:p>
        </p:txBody>
      </p:sp>
    </p:spTree>
    <p:extLst>
      <p:ext uri="{BB962C8B-B14F-4D97-AF65-F5344CB8AC3E}">
        <p14:creationId xmlns:p14="http://schemas.microsoft.com/office/powerpoint/2010/main" val="36702808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F24C5-0994-3E00-87BD-29621D1D0EFF}"/>
              </a:ext>
            </a:extLst>
          </p:cNvPr>
          <p:cNvSpPr>
            <a:spLocks noGrp="1"/>
          </p:cNvSpPr>
          <p:nvPr>
            <p:ph type="title"/>
          </p:nvPr>
        </p:nvSpPr>
        <p:spPr>
          <a:xfrm>
            <a:off x="838200" y="365125"/>
            <a:ext cx="10515600" cy="521843"/>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22DD4CD1-87F5-121A-8060-8898329EE3D7}"/>
              </a:ext>
            </a:extLst>
          </p:cNvPr>
          <p:cNvSpPr>
            <a:spLocks noGrp="1"/>
          </p:cNvSpPr>
          <p:nvPr>
            <p:ph idx="1"/>
          </p:nvPr>
        </p:nvSpPr>
        <p:spPr>
          <a:xfrm>
            <a:off x="838200" y="1005840"/>
            <a:ext cx="10515600" cy="5171123"/>
          </a:xfrm>
        </p:spPr>
        <p:txBody>
          <a:bodyPr>
            <a:normAutofit fontScale="92500" lnSpcReduction="20000"/>
          </a:bodyPr>
          <a:lstStyle/>
          <a:p>
            <a:r>
              <a:rPr lang="en-US" dirty="0"/>
              <a:t>  Examples: Coca-Cola, Microsoft, Apple</a:t>
            </a:r>
          </a:p>
          <a:p>
            <a:r>
              <a:rPr lang="en-US" dirty="0"/>
              <a:t>Similarities</a:t>
            </a:r>
          </a:p>
          <a:p>
            <a:r>
              <a:rPr lang="en-US" dirty="0"/>
              <a:t>  Both aim to generate profit and grow.</a:t>
            </a:r>
          </a:p>
          <a:p>
            <a:r>
              <a:rPr lang="en-US" dirty="0"/>
              <a:t>  Both require strong leadership and management.</a:t>
            </a:r>
          </a:p>
          <a:p>
            <a:r>
              <a:rPr lang="en-US" dirty="0"/>
              <a:t> Both need to adapt to changing market conditions.</a:t>
            </a:r>
          </a:p>
          <a:p>
            <a:r>
              <a:rPr lang="en-US" dirty="0"/>
              <a:t>In essence:</a:t>
            </a:r>
          </a:p>
          <a:p>
            <a:r>
              <a:rPr lang="en-US" dirty="0"/>
              <a:t>  Startups: Focus on innovation and disruption, often with limited resources.</a:t>
            </a:r>
          </a:p>
          <a:p>
            <a:r>
              <a:rPr lang="en-US" dirty="0"/>
              <a:t>  Enterprises: Focus on stability, efficiency, and maintaining market dominance, often with extensive resources.</a:t>
            </a:r>
          </a:p>
          <a:p>
            <a:r>
              <a:rPr lang="en-US" dirty="0"/>
              <a:t>While startups and enterprises have distinct characteristics, they can interact and influence each other. For example, successful startups can grow into large enterprises, and large enterprises can invest in and acquire startups to drive innovation.</a:t>
            </a:r>
          </a:p>
          <a:p>
            <a:endParaRPr lang="en-CA" dirty="0"/>
          </a:p>
        </p:txBody>
      </p:sp>
    </p:spTree>
    <p:extLst>
      <p:ext uri="{BB962C8B-B14F-4D97-AF65-F5344CB8AC3E}">
        <p14:creationId xmlns:p14="http://schemas.microsoft.com/office/powerpoint/2010/main" val="27138517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FC090-7829-3EAB-2748-7ED962F64FEE}"/>
              </a:ext>
            </a:extLst>
          </p:cNvPr>
          <p:cNvSpPr>
            <a:spLocks noGrp="1"/>
          </p:cNvSpPr>
          <p:nvPr>
            <p:ph type="title"/>
          </p:nvPr>
        </p:nvSpPr>
        <p:spPr/>
        <p:txBody>
          <a:bodyPr/>
          <a:lstStyle/>
          <a:p>
            <a:r>
              <a:rPr lang="en-US" dirty="0"/>
              <a:t>Who is an entrepreneur? </a:t>
            </a:r>
            <a:endParaRPr lang="en-CA" dirty="0"/>
          </a:p>
        </p:txBody>
      </p:sp>
      <p:sp>
        <p:nvSpPr>
          <p:cNvPr id="3" name="Content Placeholder 2">
            <a:extLst>
              <a:ext uri="{FF2B5EF4-FFF2-40B4-BE49-F238E27FC236}">
                <a16:creationId xmlns:a16="http://schemas.microsoft.com/office/drawing/2014/main" id="{93782A7C-58F7-192D-16AB-8082A38F4DA8}"/>
              </a:ext>
            </a:extLst>
          </p:cNvPr>
          <p:cNvSpPr>
            <a:spLocks noGrp="1"/>
          </p:cNvSpPr>
          <p:nvPr>
            <p:ph idx="1"/>
          </p:nvPr>
        </p:nvSpPr>
        <p:spPr/>
        <p:txBody>
          <a:bodyPr/>
          <a:lstStyle/>
          <a:p>
            <a:r>
              <a:rPr lang="en-US" dirty="0"/>
              <a:t>An entrepreneur is a person who starts, organizes, and manages a business—often taking  financial risks—with the goal of earning a profit or bringing new ideas to life.</a:t>
            </a:r>
          </a:p>
          <a:p>
            <a:endParaRPr lang="en-US" dirty="0"/>
          </a:p>
          <a:p>
            <a:r>
              <a:rPr lang="en-US" dirty="0"/>
              <a:t>An entrepreneur is someone who identifies an opportunity, develops a plan, gathers resources (like money, people, and materials), and takes the initiative to build and grow a business.</a:t>
            </a:r>
          </a:p>
          <a:p>
            <a:endParaRPr lang="en-CA" dirty="0"/>
          </a:p>
        </p:txBody>
      </p:sp>
    </p:spTree>
    <p:extLst>
      <p:ext uri="{BB962C8B-B14F-4D97-AF65-F5344CB8AC3E}">
        <p14:creationId xmlns:p14="http://schemas.microsoft.com/office/powerpoint/2010/main" val="634129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F2CDB-F558-1D85-77F0-64FD3EAFA923}"/>
              </a:ext>
            </a:extLst>
          </p:cNvPr>
          <p:cNvSpPr>
            <a:spLocks noGrp="1"/>
          </p:cNvSpPr>
          <p:nvPr>
            <p:ph type="title"/>
          </p:nvPr>
        </p:nvSpPr>
        <p:spPr/>
        <p:txBody>
          <a:bodyPr/>
          <a:lstStyle/>
          <a:p>
            <a:r>
              <a:rPr lang="en-US" dirty="0"/>
              <a:t>Types of entrepreneurs </a:t>
            </a:r>
            <a:endParaRPr lang="en-CA" dirty="0"/>
          </a:p>
        </p:txBody>
      </p:sp>
      <p:sp>
        <p:nvSpPr>
          <p:cNvPr id="3" name="Content Placeholder 2">
            <a:extLst>
              <a:ext uri="{FF2B5EF4-FFF2-40B4-BE49-F238E27FC236}">
                <a16:creationId xmlns:a16="http://schemas.microsoft.com/office/drawing/2014/main" id="{962BC739-3C67-A1BF-E4E1-BCD81EC4E2B7}"/>
              </a:ext>
            </a:extLst>
          </p:cNvPr>
          <p:cNvSpPr>
            <a:spLocks noGrp="1"/>
          </p:cNvSpPr>
          <p:nvPr>
            <p:ph idx="1"/>
          </p:nvPr>
        </p:nvSpPr>
        <p:spPr>
          <a:xfrm>
            <a:off x="838200" y="1825625"/>
            <a:ext cx="10515600" cy="4771820"/>
          </a:xfrm>
        </p:spPr>
        <p:txBody>
          <a:bodyPr>
            <a:normAutofit/>
          </a:bodyPr>
          <a:lstStyle/>
          <a:p>
            <a:r>
              <a:rPr lang="en-US" dirty="0"/>
              <a:t>Entrepreneurs are people who start and run businesses. There are many different types of entrepreneurs, each with their own unique skills and goals.</a:t>
            </a:r>
          </a:p>
          <a:p>
            <a:endParaRPr lang="en-US" dirty="0"/>
          </a:p>
          <a:p>
            <a:r>
              <a:rPr lang="en-US" dirty="0"/>
              <a:t>Entrepreneurs can be categorized into several types based on their approach, goals, and the nature of their ventures. Here are some common types:</a:t>
            </a:r>
            <a:endParaRPr lang="en-CA" dirty="0"/>
          </a:p>
        </p:txBody>
      </p:sp>
    </p:spTree>
    <p:extLst>
      <p:ext uri="{BB962C8B-B14F-4D97-AF65-F5344CB8AC3E}">
        <p14:creationId xmlns:p14="http://schemas.microsoft.com/office/powerpoint/2010/main" val="1184451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84C38-6B1C-5B43-1DA6-88419A535AA8}"/>
              </a:ext>
            </a:extLst>
          </p:cNvPr>
          <p:cNvSpPr>
            <a:spLocks noGrp="1"/>
          </p:cNvSpPr>
          <p:nvPr>
            <p:ph type="title"/>
          </p:nvPr>
        </p:nvSpPr>
        <p:spPr>
          <a:xfrm>
            <a:off x="838200" y="365125"/>
            <a:ext cx="10515600" cy="50355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7037576D-FE2A-3119-5D9F-7F107DD6487A}"/>
              </a:ext>
            </a:extLst>
          </p:cNvPr>
          <p:cNvSpPr>
            <a:spLocks noGrp="1"/>
          </p:cNvSpPr>
          <p:nvPr>
            <p:ph idx="1"/>
          </p:nvPr>
        </p:nvSpPr>
        <p:spPr>
          <a:xfrm>
            <a:off x="566928" y="1380744"/>
            <a:ext cx="11210544" cy="4796219"/>
          </a:xfrm>
        </p:spPr>
        <p:txBody>
          <a:bodyPr/>
          <a:lstStyle/>
          <a:p>
            <a:r>
              <a:rPr lang="en-US" b="1" dirty="0"/>
              <a:t>1. Innovative Entrepreneurs</a:t>
            </a:r>
          </a:p>
          <a:p>
            <a:pPr>
              <a:buFont typeface="Arial" panose="020B0604020202020204" pitchFamily="34" charset="0"/>
              <a:buChar char="•"/>
            </a:pPr>
            <a:r>
              <a:rPr lang="en-US" dirty="0"/>
              <a:t>Focus on introducing new ideas, products, or technologies to the market.</a:t>
            </a:r>
          </a:p>
          <a:p>
            <a:pPr marL="0" indent="0">
              <a:buNone/>
            </a:pPr>
            <a:r>
              <a:rPr lang="en-US" dirty="0"/>
              <a:t>  Often associated with startups and disruptive innovations.</a:t>
            </a:r>
          </a:p>
          <a:p>
            <a:pPr marL="0" indent="0">
              <a:buNone/>
            </a:pPr>
            <a:r>
              <a:rPr lang="en-US" dirty="0"/>
              <a:t>  Disruptive innovation means a new idea, product, or technology that changes the way an industry or market works — often by replacing older methods or products with something simpler, cheaper, or more effective.</a:t>
            </a:r>
          </a:p>
          <a:p>
            <a:pPr marL="0" indent="0">
              <a:buNone/>
            </a:pPr>
            <a:r>
              <a:rPr lang="en-US" dirty="0"/>
              <a:t>Example: Elon Musk (Tesla, SpaceX).</a:t>
            </a:r>
          </a:p>
          <a:p>
            <a:endParaRPr lang="en-CA" dirty="0"/>
          </a:p>
        </p:txBody>
      </p:sp>
    </p:spTree>
    <p:extLst>
      <p:ext uri="{BB962C8B-B14F-4D97-AF65-F5344CB8AC3E}">
        <p14:creationId xmlns:p14="http://schemas.microsoft.com/office/powerpoint/2010/main" val="42490830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E0C60-2233-0478-4E91-FC7E17BD3E1F}"/>
              </a:ext>
            </a:extLst>
          </p:cNvPr>
          <p:cNvSpPr>
            <a:spLocks noGrp="1"/>
          </p:cNvSpPr>
          <p:nvPr>
            <p:ph type="title"/>
          </p:nvPr>
        </p:nvSpPr>
        <p:spPr>
          <a:xfrm>
            <a:off x="838200" y="-662782"/>
            <a:ext cx="10515600" cy="1325563"/>
          </a:xfrm>
        </p:spPr>
        <p:txBody>
          <a:bodyPr/>
          <a:lstStyle/>
          <a:p>
            <a:endParaRPr lang="en-CA" dirty="0"/>
          </a:p>
        </p:txBody>
      </p:sp>
      <p:sp>
        <p:nvSpPr>
          <p:cNvPr id="3" name="Content Placeholder 2">
            <a:extLst>
              <a:ext uri="{FF2B5EF4-FFF2-40B4-BE49-F238E27FC236}">
                <a16:creationId xmlns:a16="http://schemas.microsoft.com/office/drawing/2014/main" id="{4DC41F19-9799-1A3A-80FC-EE23C1618BA3}"/>
              </a:ext>
            </a:extLst>
          </p:cNvPr>
          <p:cNvSpPr>
            <a:spLocks noGrp="1"/>
          </p:cNvSpPr>
          <p:nvPr>
            <p:ph idx="1"/>
          </p:nvPr>
        </p:nvSpPr>
        <p:spPr>
          <a:xfrm>
            <a:off x="466344" y="855406"/>
            <a:ext cx="11274552" cy="5889523"/>
          </a:xfrm>
        </p:spPr>
        <p:txBody>
          <a:bodyPr>
            <a:normAutofit/>
          </a:bodyPr>
          <a:lstStyle/>
          <a:p>
            <a:r>
              <a:rPr lang="en-US" b="1" dirty="0"/>
              <a:t>2. Social Entrepreneurs</a:t>
            </a:r>
          </a:p>
          <a:p>
            <a:pPr marL="0" indent="0">
              <a:buNone/>
            </a:pPr>
            <a:r>
              <a:rPr lang="en-US" dirty="0"/>
              <a:t>Aim to solve societal or environmental problems through their ventures.</a:t>
            </a:r>
          </a:p>
          <a:p>
            <a:pPr marL="0" indent="0">
              <a:buNone/>
            </a:pPr>
            <a:r>
              <a:rPr lang="en-US" dirty="0"/>
              <a:t>Focus on social impact rather than just profit.</a:t>
            </a:r>
          </a:p>
          <a:p>
            <a:pPr marL="0" indent="0">
              <a:buNone/>
            </a:pPr>
            <a:r>
              <a:rPr lang="en-US" dirty="0"/>
              <a:t>Example: Muhammad Yunus (Grameen Bank). Bangladesh </a:t>
            </a:r>
          </a:p>
          <a:p>
            <a:r>
              <a:rPr lang="en-US" b="1" dirty="0"/>
              <a:t>3. Serial Entrepreneurs</a:t>
            </a:r>
          </a:p>
          <a:p>
            <a:pPr marL="0" indent="0">
              <a:buNone/>
            </a:pPr>
            <a:r>
              <a:rPr lang="en-US" dirty="0"/>
              <a:t>Continuously start and manage multiple businesses over their career.</a:t>
            </a:r>
          </a:p>
          <a:p>
            <a:pPr marL="0" indent="0">
              <a:buNone/>
            </a:pPr>
            <a:r>
              <a:rPr lang="en-US" dirty="0"/>
              <a:t>Often thrive on the challenge of building new ventures.</a:t>
            </a:r>
          </a:p>
          <a:p>
            <a:pPr marL="0" indent="0">
              <a:buNone/>
            </a:pPr>
            <a:r>
              <a:rPr lang="en-US" dirty="0"/>
              <a:t>Example: Chaudhari Group, </a:t>
            </a:r>
          </a:p>
          <a:p>
            <a:endParaRPr lang="en-CA" dirty="0"/>
          </a:p>
        </p:txBody>
      </p:sp>
    </p:spTree>
    <p:extLst>
      <p:ext uri="{BB962C8B-B14F-4D97-AF65-F5344CB8AC3E}">
        <p14:creationId xmlns:p14="http://schemas.microsoft.com/office/powerpoint/2010/main" val="3585097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1F34E-6588-33CE-F379-706E48F4ACE1}"/>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D505B8E1-F495-5A32-5521-06E34EF49937}"/>
              </a:ext>
            </a:extLst>
          </p:cNvPr>
          <p:cNvSpPr>
            <a:spLocks noGrp="1"/>
          </p:cNvSpPr>
          <p:nvPr>
            <p:ph idx="1"/>
          </p:nvPr>
        </p:nvSpPr>
        <p:spPr/>
        <p:txBody>
          <a:bodyPr>
            <a:normAutofit lnSpcReduction="10000"/>
          </a:bodyPr>
          <a:lstStyle/>
          <a:p>
            <a:r>
              <a:rPr lang="en-US" b="1" dirty="0"/>
              <a:t>4. Small Business Entrepreneurs</a:t>
            </a:r>
          </a:p>
          <a:p>
            <a:pPr marL="0" indent="0">
              <a:buNone/>
            </a:pPr>
            <a:r>
              <a:rPr lang="en-US" dirty="0"/>
              <a:t>Start and manage local or small-scale businesses for steady income.</a:t>
            </a:r>
          </a:p>
          <a:p>
            <a:pPr marL="0" indent="0">
              <a:buNone/>
            </a:pPr>
            <a:r>
              <a:rPr lang="en-US" dirty="0"/>
              <a:t>Typically focus on a specific place or community.</a:t>
            </a:r>
          </a:p>
          <a:p>
            <a:pPr marL="0" indent="0">
              <a:buNone/>
            </a:pPr>
            <a:r>
              <a:rPr lang="en-US" dirty="0"/>
              <a:t>Example: A family-run bakery or local coffee shop owner.</a:t>
            </a:r>
          </a:p>
          <a:p>
            <a:r>
              <a:rPr lang="en-US" b="1" dirty="0"/>
              <a:t>5. Scalable Startup Entrepreneurs</a:t>
            </a:r>
          </a:p>
          <a:p>
            <a:pPr>
              <a:buFont typeface="Arial" panose="020B0604020202020204" pitchFamily="34" charset="0"/>
              <a:buChar char="•"/>
            </a:pPr>
            <a:r>
              <a:rPr lang="en-US" dirty="0"/>
              <a:t>Create businesses designed to grow quickly, often through venture capital or other investments.</a:t>
            </a:r>
          </a:p>
          <a:p>
            <a:pPr>
              <a:buFont typeface="Arial" panose="020B0604020202020204" pitchFamily="34" charset="0"/>
              <a:buChar char="•"/>
            </a:pPr>
            <a:r>
              <a:rPr lang="en-US" dirty="0"/>
              <a:t>Aim for high growth and large market impact.</a:t>
            </a:r>
          </a:p>
          <a:p>
            <a:pPr>
              <a:buFont typeface="Arial" panose="020B0604020202020204" pitchFamily="34" charset="0"/>
              <a:buChar char="•"/>
            </a:pPr>
            <a:r>
              <a:rPr lang="en-US" dirty="0"/>
              <a:t>Example: Jeff Bezos (Amazon).</a:t>
            </a:r>
          </a:p>
          <a:p>
            <a:endParaRPr lang="en-CA" dirty="0"/>
          </a:p>
        </p:txBody>
      </p:sp>
    </p:spTree>
    <p:extLst>
      <p:ext uri="{BB962C8B-B14F-4D97-AF65-F5344CB8AC3E}">
        <p14:creationId xmlns:p14="http://schemas.microsoft.com/office/powerpoint/2010/main" val="1934881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E8CC2-B471-BF2C-DAD0-C03633994461}"/>
              </a:ext>
            </a:extLst>
          </p:cNvPr>
          <p:cNvSpPr>
            <a:spLocks noGrp="1"/>
          </p:cNvSpPr>
          <p:nvPr>
            <p:ph type="title"/>
          </p:nvPr>
        </p:nvSpPr>
        <p:spPr>
          <a:xfrm>
            <a:off x="838200" y="365125"/>
            <a:ext cx="10515600" cy="165817"/>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901E8026-C90F-5B65-CFD7-99ACF6C50AA5}"/>
              </a:ext>
            </a:extLst>
          </p:cNvPr>
          <p:cNvSpPr>
            <a:spLocks noGrp="1"/>
          </p:cNvSpPr>
          <p:nvPr>
            <p:ph idx="1"/>
          </p:nvPr>
        </p:nvSpPr>
        <p:spPr>
          <a:xfrm>
            <a:off x="838200" y="668594"/>
            <a:ext cx="10847832" cy="5508369"/>
          </a:xfrm>
        </p:spPr>
        <p:txBody>
          <a:bodyPr>
            <a:normAutofit/>
          </a:bodyPr>
          <a:lstStyle/>
          <a:p>
            <a:r>
              <a:rPr lang="en-US" b="1" dirty="0"/>
              <a:t>6. Lifestyle Entrepreneurs</a:t>
            </a:r>
          </a:p>
          <a:p>
            <a:pPr>
              <a:buFont typeface="Arial" panose="020B0604020202020204" pitchFamily="34" charset="0"/>
              <a:buChar char="•"/>
            </a:pPr>
            <a:r>
              <a:rPr lang="en-US" dirty="0"/>
              <a:t>Build businesses around their personal passions or hobbies.</a:t>
            </a:r>
          </a:p>
          <a:p>
            <a:pPr>
              <a:buFont typeface="Arial" panose="020B0604020202020204" pitchFamily="34" charset="0"/>
              <a:buChar char="•"/>
            </a:pPr>
            <a:r>
              <a:rPr lang="en-US" dirty="0"/>
              <a:t>Seek to maintain a work-life balance rather than just maximize profits.</a:t>
            </a:r>
          </a:p>
          <a:p>
            <a:pPr>
              <a:buFont typeface="Arial" panose="020B0604020202020204" pitchFamily="34" charset="0"/>
              <a:buChar char="•"/>
            </a:pPr>
            <a:r>
              <a:rPr lang="en-US" dirty="0"/>
              <a:t>Example: A travel blogger or fitness coach who monetizes their passion.</a:t>
            </a:r>
          </a:p>
          <a:p>
            <a:r>
              <a:rPr lang="en-US" b="1" dirty="0"/>
              <a:t>7. Intrapreneurs</a:t>
            </a:r>
          </a:p>
          <a:p>
            <a:r>
              <a:rPr lang="en-US" dirty="0"/>
              <a:t>An </a:t>
            </a:r>
            <a:r>
              <a:rPr lang="en-US" b="1" dirty="0"/>
              <a:t>intrapreneur</a:t>
            </a:r>
            <a:r>
              <a:rPr lang="en-US" dirty="0"/>
              <a:t> is an employee within a large organization who is given the freedom and resources to act like an entrepreneur. They focus on </a:t>
            </a:r>
            <a:r>
              <a:rPr lang="en-US" b="1" dirty="0"/>
              <a:t>innovation</a:t>
            </a:r>
            <a:r>
              <a:rPr lang="en-US" dirty="0"/>
              <a:t>—developing new ideas, products, services, or processes—from </a:t>
            </a:r>
            <a:r>
              <a:rPr lang="en-US" i="1" dirty="0"/>
              <a:t>within</a:t>
            </a:r>
            <a:r>
              <a:rPr lang="en-US" dirty="0"/>
              <a:t> the established company framework.</a:t>
            </a:r>
          </a:p>
          <a:p>
            <a:pPr>
              <a:buFont typeface="Arial" panose="020B0604020202020204" pitchFamily="34" charset="0"/>
              <a:buChar char="•"/>
            </a:pPr>
            <a:r>
              <a:rPr lang="en-US" dirty="0"/>
              <a:t>Example: Employees who developed Gmail within Google.</a:t>
            </a:r>
          </a:p>
          <a:p>
            <a:endParaRPr lang="en-CA" dirty="0"/>
          </a:p>
        </p:txBody>
      </p:sp>
    </p:spTree>
    <p:extLst>
      <p:ext uri="{BB962C8B-B14F-4D97-AF65-F5344CB8AC3E}">
        <p14:creationId xmlns:p14="http://schemas.microsoft.com/office/powerpoint/2010/main" val="2537065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FDA21-9B6E-05F9-DAE0-14FA6721E378}"/>
              </a:ext>
            </a:extLst>
          </p:cNvPr>
          <p:cNvSpPr>
            <a:spLocks noGrp="1"/>
          </p:cNvSpPr>
          <p:nvPr>
            <p:ph type="title"/>
          </p:nvPr>
        </p:nvSpPr>
        <p:spPr>
          <a:xfrm>
            <a:off x="838200" y="365126"/>
            <a:ext cx="10515600" cy="205146"/>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05ED1773-4F11-8E8D-B2A0-2A6958671101}"/>
              </a:ext>
            </a:extLst>
          </p:cNvPr>
          <p:cNvSpPr>
            <a:spLocks noGrp="1"/>
          </p:cNvSpPr>
          <p:nvPr>
            <p:ph idx="1"/>
          </p:nvPr>
        </p:nvSpPr>
        <p:spPr>
          <a:xfrm>
            <a:off x="838200" y="570272"/>
            <a:ext cx="10515600" cy="6086167"/>
          </a:xfrm>
        </p:spPr>
        <p:txBody>
          <a:bodyPr>
            <a:normAutofit/>
          </a:bodyPr>
          <a:lstStyle/>
          <a:p>
            <a:r>
              <a:rPr lang="en-US" b="1" dirty="0"/>
              <a:t>8. Tech Entrepreneurs</a:t>
            </a:r>
          </a:p>
          <a:p>
            <a:pPr marL="0" indent="0">
              <a:buNone/>
            </a:pPr>
            <a:r>
              <a:rPr lang="en-US" dirty="0"/>
              <a:t>Specialize in creating technology-based products or services.</a:t>
            </a:r>
          </a:p>
          <a:p>
            <a:pPr marL="0" indent="0">
              <a:buNone/>
            </a:pPr>
            <a:r>
              <a:rPr lang="en-US" dirty="0"/>
              <a:t>Often linked to the software, hardware, or digital industries.</a:t>
            </a:r>
          </a:p>
          <a:p>
            <a:pPr marL="0" indent="0">
              <a:buNone/>
            </a:pPr>
            <a:r>
              <a:rPr lang="en-US" dirty="0"/>
              <a:t>Example: Mark Zuckerberg (Meta, formerly Facebook).</a:t>
            </a:r>
          </a:p>
          <a:p>
            <a:r>
              <a:rPr lang="en-US" b="1" dirty="0"/>
              <a:t>9. Eco Entrepreneurs (Green Entrepreneurs)</a:t>
            </a:r>
          </a:p>
          <a:p>
            <a:pPr marL="0" indent="0">
              <a:buNone/>
            </a:pPr>
            <a:r>
              <a:rPr lang="en-US" dirty="0"/>
              <a:t>Focus on environmentally sustainable products and services.</a:t>
            </a:r>
          </a:p>
          <a:p>
            <a:pPr marL="0" indent="0">
              <a:buNone/>
            </a:pPr>
            <a:r>
              <a:rPr lang="en-US" dirty="0"/>
              <a:t>Promote eco-friendly practices and solutions.</a:t>
            </a:r>
          </a:p>
          <a:p>
            <a:pPr marL="0" indent="0">
              <a:buNone/>
            </a:pPr>
            <a:r>
              <a:rPr lang="en-US" dirty="0"/>
              <a:t>Example: Yvon Chouinard (Patagonia). (</a:t>
            </a:r>
            <a:r>
              <a:rPr lang="en-US" dirty="0" err="1">
                <a:latin typeface="Preeti" pitchFamily="2" charset="0"/>
              </a:rPr>
              <a:t>Oef</a:t>
            </a:r>
            <a:r>
              <a:rPr lang="en-US" dirty="0">
                <a:latin typeface="Preeti" pitchFamily="2" charset="0"/>
              </a:rPr>
              <a:t> ;f]Ogf8{_</a:t>
            </a:r>
            <a:endParaRPr lang="en-US" dirty="0"/>
          </a:p>
          <a:p>
            <a:pPr marL="0" indent="0">
              <a:buNone/>
            </a:pPr>
            <a:r>
              <a:rPr lang="en-US" b="0" i="0" dirty="0">
                <a:solidFill>
                  <a:srgbClr val="0F1115"/>
                </a:solidFill>
                <a:effectLst/>
                <a:latin typeface="quote-cjk-patch"/>
              </a:rPr>
              <a:t>(Yvon Chouinard, the founder of Patagonia, is renowned for his legendary rock-climbing career and for building </a:t>
            </a:r>
            <a:r>
              <a:rPr lang="en-US" dirty="0">
                <a:solidFill>
                  <a:srgbClr val="0F1115"/>
                </a:solidFill>
                <a:latin typeface="quote-cjk-patch"/>
              </a:rPr>
              <a:t>a multi-billion Yvon Chouinard </a:t>
            </a:r>
            <a:r>
              <a:rPr lang="en-US" b="0" i="0" dirty="0">
                <a:solidFill>
                  <a:srgbClr val="0F1115"/>
                </a:solidFill>
                <a:effectLst/>
                <a:latin typeface="quote-cjk-patch"/>
              </a:rPr>
              <a:t>dollar company that defies conventional business practices by placing environmental and social responsibility at its core)</a:t>
            </a:r>
            <a:endParaRPr lang="en-CA" dirty="0"/>
          </a:p>
        </p:txBody>
      </p:sp>
    </p:spTree>
    <p:extLst>
      <p:ext uri="{BB962C8B-B14F-4D97-AF65-F5344CB8AC3E}">
        <p14:creationId xmlns:p14="http://schemas.microsoft.com/office/powerpoint/2010/main" val="7388838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D3D53-0449-B1AD-94F8-34FA90914C8B}"/>
              </a:ext>
            </a:extLst>
          </p:cNvPr>
          <p:cNvSpPr>
            <a:spLocks noGrp="1"/>
          </p:cNvSpPr>
          <p:nvPr>
            <p:ph type="title"/>
          </p:nvPr>
        </p:nvSpPr>
        <p:spPr/>
        <p:txBody>
          <a:bodyPr/>
          <a:lstStyle/>
          <a:p>
            <a:r>
              <a:rPr lang="en-US" dirty="0"/>
              <a:t>Characteristics of Entrepreneurs </a:t>
            </a:r>
            <a:endParaRPr lang="en-CA" dirty="0"/>
          </a:p>
        </p:txBody>
      </p:sp>
      <p:sp>
        <p:nvSpPr>
          <p:cNvPr id="3" name="Content Placeholder 2">
            <a:extLst>
              <a:ext uri="{FF2B5EF4-FFF2-40B4-BE49-F238E27FC236}">
                <a16:creationId xmlns:a16="http://schemas.microsoft.com/office/drawing/2014/main" id="{7E733253-1EFB-15F0-F7CE-291DF80B87D7}"/>
              </a:ext>
            </a:extLst>
          </p:cNvPr>
          <p:cNvSpPr>
            <a:spLocks noGrp="1"/>
          </p:cNvSpPr>
          <p:nvPr>
            <p:ph idx="1"/>
          </p:nvPr>
        </p:nvSpPr>
        <p:spPr/>
        <p:txBody>
          <a:bodyPr>
            <a:normAutofit/>
          </a:bodyPr>
          <a:lstStyle/>
          <a:p>
            <a:r>
              <a:rPr lang="en-US" dirty="0"/>
              <a:t>Entrepreneurs possess unique traits and characteristics that enable them to identify opportunities, take risks, and build successful ventures. Here are some key characteristics of entrepreneurs:</a:t>
            </a:r>
          </a:p>
          <a:p>
            <a:endParaRPr lang="en-US" dirty="0"/>
          </a:p>
          <a:p>
            <a:r>
              <a:rPr lang="en-US" dirty="0"/>
              <a:t>1. Visionary :Thinking Ability to see opportunities where others might see challenges. Clearly defined goals and a strong sense of purpose.</a:t>
            </a:r>
            <a:endParaRPr lang="en-CA" dirty="0"/>
          </a:p>
        </p:txBody>
      </p:sp>
    </p:spTree>
    <p:extLst>
      <p:ext uri="{BB962C8B-B14F-4D97-AF65-F5344CB8AC3E}">
        <p14:creationId xmlns:p14="http://schemas.microsoft.com/office/powerpoint/2010/main" val="26886831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79662-CA40-E662-809F-6620E7D0550E}"/>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6A18735-189D-BE59-694D-78316B757445}"/>
              </a:ext>
            </a:extLst>
          </p:cNvPr>
          <p:cNvSpPr>
            <a:spLocks noGrp="1"/>
          </p:cNvSpPr>
          <p:nvPr>
            <p:ph idx="1"/>
          </p:nvPr>
        </p:nvSpPr>
        <p:spPr/>
        <p:txBody>
          <a:bodyPr>
            <a:normAutofit/>
          </a:bodyPr>
          <a:lstStyle/>
          <a:p>
            <a:r>
              <a:rPr lang="en-US" dirty="0"/>
              <a:t>2. Risk-Taking: Willingness to take calculated risks. Comfortable navigating uncertainty and making decisions with limited information.</a:t>
            </a:r>
          </a:p>
          <a:p>
            <a:endParaRPr lang="en-US" dirty="0"/>
          </a:p>
          <a:p>
            <a:r>
              <a:rPr lang="en-US" dirty="0"/>
              <a:t>3. Innovation and Creativity :Ability to think outside the box and come up with new ideas or solutions. Adapting to changing circumstances with creativity.</a:t>
            </a:r>
            <a:endParaRPr lang="en-CA" dirty="0"/>
          </a:p>
        </p:txBody>
      </p:sp>
    </p:spTree>
    <p:extLst>
      <p:ext uri="{BB962C8B-B14F-4D97-AF65-F5344CB8AC3E}">
        <p14:creationId xmlns:p14="http://schemas.microsoft.com/office/powerpoint/2010/main" val="34716665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F340D-2804-7A20-BC6D-48D6C441B5A6}"/>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448A007-0158-3FF3-AA9F-DE2D0803A1C1}"/>
              </a:ext>
            </a:extLst>
          </p:cNvPr>
          <p:cNvSpPr>
            <a:spLocks noGrp="1"/>
          </p:cNvSpPr>
          <p:nvPr>
            <p:ph idx="1"/>
          </p:nvPr>
        </p:nvSpPr>
        <p:spPr/>
        <p:txBody>
          <a:bodyPr>
            <a:normAutofit/>
          </a:bodyPr>
          <a:lstStyle/>
          <a:p>
            <a:r>
              <a:rPr lang="en-US" dirty="0"/>
              <a:t>4. Resilience and Perseverance :Staying committed despite setbacks, failures, or challenges. Mental strength to overcome obstacles and learn from mistakes.</a:t>
            </a:r>
          </a:p>
          <a:p>
            <a:endParaRPr lang="en-US" dirty="0"/>
          </a:p>
          <a:p>
            <a:r>
              <a:rPr lang="en-US" dirty="0"/>
              <a:t>5. Self-Motivation: Driven by intrinsic goals and a passion for their vision. Proactive and disciplined in pursuing their objectives.</a:t>
            </a:r>
            <a:endParaRPr lang="en-CA" dirty="0"/>
          </a:p>
        </p:txBody>
      </p:sp>
    </p:spTree>
    <p:extLst>
      <p:ext uri="{BB962C8B-B14F-4D97-AF65-F5344CB8AC3E}">
        <p14:creationId xmlns:p14="http://schemas.microsoft.com/office/powerpoint/2010/main" val="1452732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F1B47-797F-0821-1B51-857F165E67FE}"/>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F3B3DCE-F401-D0D8-4E3B-253321964063}"/>
              </a:ext>
            </a:extLst>
          </p:cNvPr>
          <p:cNvSpPr>
            <a:spLocks noGrp="1"/>
          </p:cNvSpPr>
          <p:nvPr>
            <p:ph idx="1"/>
          </p:nvPr>
        </p:nvSpPr>
        <p:spPr/>
        <p:txBody>
          <a:bodyPr>
            <a:normAutofit/>
          </a:bodyPr>
          <a:lstStyle/>
          <a:p>
            <a:r>
              <a:rPr lang="en-US" dirty="0"/>
              <a:t>6. Strong Leadership Skills: Ability to inspire and guide a team toward achieving common goals. Effective communication and decision-making skills.</a:t>
            </a:r>
          </a:p>
          <a:p>
            <a:endParaRPr lang="en-US" dirty="0"/>
          </a:p>
          <a:p>
            <a:r>
              <a:rPr lang="en-US" dirty="0"/>
              <a:t>7. Adaptability and Flexibility :Responding effectively to market changes, customer needs, and unforeseen circumstances. </a:t>
            </a:r>
            <a:endParaRPr lang="en-CA" dirty="0"/>
          </a:p>
        </p:txBody>
      </p:sp>
    </p:spTree>
    <p:extLst>
      <p:ext uri="{BB962C8B-B14F-4D97-AF65-F5344CB8AC3E}">
        <p14:creationId xmlns:p14="http://schemas.microsoft.com/office/powerpoint/2010/main" val="26533932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B658A-D13A-A59C-0893-7EAF367C9ECD}"/>
              </a:ext>
            </a:extLst>
          </p:cNvPr>
          <p:cNvSpPr>
            <a:spLocks noGrp="1"/>
          </p:cNvSpPr>
          <p:nvPr>
            <p:ph type="title"/>
          </p:nvPr>
        </p:nvSpPr>
        <p:spPr>
          <a:xfrm>
            <a:off x="838200" y="365125"/>
            <a:ext cx="10515600" cy="220091"/>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8421ABD7-627A-40BD-2464-EDB72CF5EE28}"/>
              </a:ext>
            </a:extLst>
          </p:cNvPr>
          <p:cNvSpPr>
            <a:spLocks noGrp="1"/>
          </p:cNvSpPr>
          <p:nvPr>
            <p:ph idx="1"/>
          </p:nvPr>
        </p:nvSpPr>
        <p:spPr>
          <a:xfrm>
            <a:off x="347472" y="877824"/>
            <a:ext cx="11622024" cy="5615051"/>
          </a:xfrm>
        </p:spPr>
        <p:txBody>
          <a:bodyPr>
            <a:normAutofit/>
          </a:bodyPr>
          <a:lstStyle/>
          <a:p>
            <a:r>
              <a:rPr lang="en-US" dirty="0"/>
              <a:t>8. Networking Skills : Building and maintaining valuable relationships with mentors, investors, and peers. Leveraging connections to access resources and opportunities.</a:t>
            </a:r>
          </a:p>
          <a:p>
            <a:pPr marL="0" indent="0">
              <a:buNone/>
            </a:pPr>
            <a:endParaRPr lang="en-US" dirty="0"/>
          </a:p>
          <a:p>
            <a:r>
              <a:rPr lang="en-US" dirty="0"/>
              <a:t>9. Problem-Solving Ability: Identifying issues quickly and developing practical solutions. Analytical thinking to address challenges effectively.</a:t>
            </a:r>
            <a:endParaRPr lang="en-CA" dirty="0"/>
          </a:p>
        </p:txBody>
      </p:sp>
    </p:spTree>
    <p:extLst>
      <p:ext uri="{BB962C8B-B14F-4D97-AF65-F5344CB8AC3E}">
        <p14:creationId xmlns:p14="http://schemas.microsoft.com/office/powerpoint/2010/main" val="32533204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7F2B3-7403-FBB2-5B36-4995DC2CD0C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9B41DDA1-6D9F-FF10-A1E6-F8EBCC9F0C8B}"/>
              </a:ext>
            </a:extLst>
          </p:cNvPr>
          <p:cNvSpPr>
            <a:spLocks noGrp="1"/>
          </p:cNvSpPr>
          <p:nvPr>
            <p:ph idx="1"/>
          </p:nvPr>
        </p:nvSpPr>
        <p:spPr/>
        <p:txBody>
          <a:bodyPr>
            <a:normAutofit/>
          </a:bodyPr>
          <a:lstStyle/>
          <a:p>
            <a:r>
              <a:rPr lang="en-US" dirty="0"/>
              <a:t>10. Time Management and Organization: Prioritizing tasks and managing resources efficiently. Balancing short-term goals with long-term strategies.</a:t>
            </a:r>
          </a:p>
          <a:p>
            <a:pPr marL="0" indent="0">
              <a:buNone/>
            </a:pPr>
            <a:endParaRPr lang="en-US" dirty="0"/>
          </a:p>
        </p:txBody>
      </p:sp>
    </p:spTree>
    <p:extLst>
      <p:ext uri="{BB962C8B-B14F-4D97-AF65-F5344CB8AC3E}">
        <p14:creationId xmlns:p14="http://schemas.microsoft.com/office/powerpoint/2010/main" val="38140160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AB815-B03D-B475-AF18-E37F1FC7C269}"/>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4615A24-94F4-46BD-0FB6-6FD273ED48AB}"/>
              </a:ext>
            </a:extLst>
          </p:cNvPr>
          <p:cNvSpPr>
            <a:spLocks noGrp="1"/>
          </p:cNvSpPr>
          <p:nvPr>
            <p:ph idx="1"/>
          </p:nvPr>
        </p:nvSpPr>
        <p:spPr/>
        <p:txBody>
          <a:bodyPr/>
          <a:lstStyle/>
          <a:p>
            <a:r>
              <a:rPr lang="en-US" dirty="0"/>
              <a:t>11. Financial Knowledge: Understanding the financial aspects of running a business, such as budgeting, cash flow, and funding. Making informed decisions to ensure sustainability and profitability.</a:t>
            </a:r>
          </a:p>
          <a:p>
            <a:endParaRPr lang="en-US" dirty="0"/>
          </a:p>
          <a:p>
            <a:r>
              <a:rPr lang="en-US" dirty="0"/>
              <a:t>12. Customer-Centric Approach: Focusing on understanding and meeting customer needs. Building relationships and delivering value to clients or users. </a:t>
            </a:r>
            <a:endParaRPr lang="en-CA" dirty="0"/>
          </a:p>
        </p:txBody>
      </p:sp>
    </p:spTree>
    <p:extLst>
      <p:ext uri="{BB962C8B-B14F-4D97-AF65-F5344CB8AC3E}">
        <p14:creationId xmlns:p14="http://schemas.microsoft.com/office/powerpoint/2010/main" val="27007012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B4E03-3EE5-4810-CB62-836605D2A81F}"/>
              </a:ext>
            </a:extLst>
          </p:cNvPr>
          <p:cNvSpPr>
            <a:spLocks noGrp="1"/>
          </p:cNvSpPr>
          <p:nvPr>
            <p:ph type="title"/>
          </p:nvPr>
        </p:nvSpPr>
        <p:spPr/>
        <p:txBody>
          <a:bodyPr/>
          <a:lstStyle/>
          <a:p>
            <a:r>
              <a:rPr lang="en-US" dirty="0"/>
              <a:t>Or You can write in the following way</a:t>
            </a:r>
            <a:endParaRPr lang="en-CA" dirty="0"/>
          </a:p>
        </p:txBody>
      </p:sp>
      <p:sp>
        <p:nvSpPr>
          <p:cNvPr id="3" name="Content Placeholder 2">
            <a:extLst>
              <a:ext uri="{FF2B5EF4-FFF2-40B4-BE49-F238E27FC236}">
                <a16:creationId xmlns:a16="http://schemas.microsoft.com/office/drawing/2014/main" id="{6D692F0F-E950-BA88-3F79-29A95416A769}"/>
              </a:ext>
            </a:extLst>
          </p:cNvPr>
          <p:cNvSpPr>
            <a:spLocks noGrp="1"/>
          </p:cNvSpPr>
          <p:nvPr>
            <p:ph idx="1"/>
          </p:nvPr>
        </p:nvSpPr>
        <p:spPr>
          <a:xfrm>
            <a:off x="838200" y="1825624"/>
            <a:ext cx="10515600" cy="4820981"/>
          </a:xfrm>
        </p:spPr>
        <p:txBody>
          <a:bodyPr>
            <a:normAutofit fontScale="85000" lnSpcReduction="20000"/>
          </a:bodyPr>
          <a:lstStyle/>
          <a:p>
            <a:r>
              <a:rPr lang="en-US" b="1" dirty="0"/>
              <a:t>1. Innovation</a:t>
            </a:r>
          </a:p>
          <a:p>
            <a:r>
              <a:rPr lang="en-US" dirty="0"/>
              <a:t>An entrepreneur is often characterized by their ability to think creatively and bring new ideas to life. They identify gaps in the market and introduce unique products, services, or processes to solve problems in unique ways. Innovation is what differentiates successful entrepreneurs from others — it allows them to create value, stay competitive, and adapt to changing customer needs or industry trends.</a:t>
            </a:r>
            <a:br>
              <a:rPr lang="en-US" dirty="0"/>
            </a:br>
            <a:endParaRPr lang="en-US" dirty="0"/>
          </a:p>
          <a:p>
            <a:r>
              <a:rPr lang="en-US" b="1" dirty="0"/>
              <a:t>2. Risk-Taking</a:t>
            </a:r>
          </a:p>
          <a:p>
            <a:r>
              <a:rPr lang="en-US" dirty="0"/>
              <a:t>Entrepreneurs are willing to take calculated risks to achieve their goals. Starting and running a business always involves uncertainty — financial, market-related, or operational. However, rather than avoiding risks, entrepreneurs analyze potential outcomes and make informed decisions. Their courage to take risks, combined with their ability to manage and minimize them, is essential for success.</a:t>
            </a:r>
            <a:br>
              <a:rPr lang="en-US" dirty="0"/>
            </a:br>
            <a:endParaRPr lang="en-US" dirty="0"/>
          </a:p>
          <a:p>
            <a:endParaRPr lang="en-CA" dirty="0"/>
          </a:p>
        </p:txBody>
      </p:sp>
    </p:spTree>
    <p:extLst>
      <p:ext uri="{BB962C8B-B14F-4D97-AF65-F5344CB8AC3E}">
        <p14:creationId xmlns:p14="http://schemas.microsoft.com/office/powerpoint/2010/main" val="40044417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9C09A-FE6E-715C-A18C-FB7DDFDA238D}"/>
              </a:ext>
            </a:extLst>
          </p:cNvPr>
          <p:cNvSpPr>
            <a:spLocks noGrp="1"/>
          </p:cNvSpPr>
          <p:nvPr>
            <p:ph type="title"/>
          </p:nvPr>
        </p:nvSpPr>
        <p:spPr>
          <a:xfrm>
            <a:off x="838200" y="365125"/>
            <a:ext cx="10515600" cy="46078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0CB277B9-6F1F-61BF-A958-FC6DE7F4BBFD}"/>
              </a:ext>
            </a:extLst>
          </p:cNvPr>
          <p:cNvSpPr>
            <a:spLocks noGrp="1"/>
          </p:cNvSpPr>
          <p:nvPr>
            <p:ph idx="1"/>
          </p:nvPr>
        </p:nvSpPr>
        <p:spPr>
          <a:xfrm>
            <a:off x="838200" y="1032387"/>
            <a:ext cx="10515600" cy="5144576"/>
          </a:xfrm>
        </p:spPr>
        <p:txBody>
          <a:bodyPr>
            <a:normAutofit fontScale="85000" lnSpcReduction="20000"/>
          </a:bodyPr>
          <a:lstStyle/>
          <a:p>
            <a:r>
              <a:rPr lang="en-US" b="1" dirty="0"/>
              <a:t>3. Vision</a:t>
            </a:r>
          </a:p>
          <a:p>
            <a:r>
              <a:rPr lang="en-US" dirty="0"/>
              <a:t>A strong vision is one of the most defining features of an entrepreneur. They have a clear understanding of what they want to achieve and how to get there. This vision helps them set long-term goals, inspire others, and make strategic decisions. It also keeps them focused and motivated, even when faced with challenges or setbacks.</a:t>
            </a:r>
            <a:br>
              <a:rPr lang="en-US" dirty="0"/>
            </a:br>
            <a:endParaRPr lang="en-US" dirty="0"/>
          </a:p>
          <a:p>
            <a:r>
              <a:rPr lang="en-US" b="1" dirty="0"/>
              <a:t>4. Leadership</a:t>
            </a:r>
          </a:p>
          <a:p>
            <a:r>
              <a:rPr lang="en-US" dirty="0"/>
              <a:t>Entrepreneurs are natural leaders who guide their teams toward achieving business objectives. They motivate, inspire, and build trust among employees, partners, and investors. Good leadership involves effective communication, decision-making, and the ability to delegate tasks wisely. A successful entrepreneur knows how to bring out the best in people and create a positive, goal-oriented work culture.</a:t>
            </a:r>
          </a:p>
          <a:p>
            <a:br>
              <a:rPr lang="en-US" dirty="0"/>
            </a:br>
            <a:endParaRPr lang="en-US" dirty="0"/>
          </a:p>
          <a:p>
            <a:endParaRPr lang="en-CA" dirty="0"/>
          </a:p>
        </p:txBody>
      </p:sp>
    </p:spTree>
    <p:extLst>
      <p:ext uri="{BB962C8B-B14F-4D97-AF65-F5344CB8AC3E}">
        <p14:creationId xmlns:p14="http://schemas.microsoft.com/office/powerpoint/2010/main" val="15332976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DE0CE-311D-44A9-63EC-00D5726102C1}"/>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1F40895-7D58-2322-7B91-79711E49F86F}"/>
              </a:ext>
            </a:extLst>
          </p:cNvPr>
          <p:cNvSpPr>
            <a:spLocks noGrp="1"/>
          </p:cNvSpPr>
          <p:nvPr>
            <p:ph idx="1"/>
          </p:nvPr>
        </p:nvSpPr>
        <p:spPr/>
        <p:txBody>
          <a:bodyPr>
            <a:normAutofit fontScale="85000" lnSpcReduction="20000"/>
          </a:bodyPr>
          <a:lstStyle/>
          <a:p>
            <a:r>
              <a:rPr lang="en-US" b="1" dirty="0"/>
              <a:t>5. Determination and Perseverance</a:t>
            </a:r>
          </a:p>
          <a:p>
            <a:r>
              <a:rPr lang="en-US" dirty="0"/>
              <a:t>Perseverance is a hallmark of entrepreneurship. Entrepreneurs often face numerous obstacles — financial difficulties, competition, or even failure. What sets them apart is their determination to keep going despite setbacks. They see challenges as opportunities to learn and grow, which helps them build resilience and ultimately succeed in the long run.</a:t>
            </a:r>
            <a:br>
              <a:rPr lang="en-US" dirty="0"/>
            </a:br>
            <a:endParaRPr lang="en-US" dirty="0"/>
          </a:p>
          <a:p>
            <a:r>
              <a:rPr lang="en-US" b="1" dirty="0"/>
              <a:t>6. Decision-Making Ability</a:t>
            </a:r>
          </a:p>
          <a:p>
            <a:r>
              <a:rPr lang="en-US" dirty="0"/>
              <a:t>Entrepreneurs must make quick and effective decisions, often under pressure and with limited information. This skill requires analytical thinking, confidence, and intuition. The ability to weigh pros and cons, consider risks, and choose the best course of action is crucial in navigating the uncertain business environment.</a:t>
            </a:r>
          </a:p>
          <a:p>
            <a:br>
              <a:rPr lang="en-US" dirty="0"/>
            </a:br>
            <a:endParaRPr lang="en-US" dirty="0"/>
          </a:p>
          <a:p>
            <a:endParaRPr lang="en-CA" dirty="0"/>
          </a:p>
        </p:txBody>
      </p:sp>
    </p:spTree>
    <p:extLst>
      <p:ext uri="{BB962C8B-B14F-4D97-AF65-F5344CB8AC3E}">
        <p14:creationId xmlns:p14="http://schemas.microsoft.com/office/powerpoint/2010/main" val="20405105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890C5-9DFD-FEAF-7855-5B87B3B8EE60}"/>
              </a:ext>
            </a:extLst>
          </p:cNvPr>
          <p:cNvSpPr>
            <a:spLocks noGrp="1"/>
          </p:cNvSpPr>
          <p:nvPr>
            <p:ph type="title"/>
          </p:nvPr>
        </p:nvSpPr>
        <p:spPr>
          <a:xfrm>
            <a:off x="838200" y="365125"/>
            <a:ext cx="10515600" cy="46078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0408ED20-8CE5-6D35-D066-417B5E98421D}"/>
              </a:ext>
            </a:extLst>
          </p:cNvPr>
          <p:cNvSpPr>
            <a:spLocks noGrp="1"/>
          </p:cNvSpPr>
          <p:nvPr>
            <p:ph idx="1"/>
          </p:nvPr>
        </p:nvSpPr>
        <p:spPr>
          <a:xfrm>
            <a:off x="838200" y="1307690"/>
            <a:ext cx="10515600" cy="4869273"/>
          </a:xfrm>
        </p:spPr>
        <p:txBody>
          <a:bodyPr>
            <a:normAutofit fontScale="92500" lnSpcReduction="20000"/>
          </a:bodyPr>
          <a:lstStyle/>
          <a:p>
            <a:r>
              <a:rPr lang="en-US" b="1" dirty="0"/>
              <a:t>7. Self-Confidence</a:t>
            </a:r>
          </a:p>
          <a:p>
            <a:r>
              <a:rPr lang="en-US" dirty="0"/>
              <a:t>Confidence allows entrepreneurs to trust their ideas, make bold moves, and convince others — such as investors, customers, and employees — to believe in their vision. Self-confidence also helps them handle criticism, recover from failure, and continue to pursue their goals with determination.</a:t>
            </a:r>
            <a:br>
              <a:rPr lang="en-US" dirty="0"/>
            </a:br>
            <a:endParaRPr lang="en-US" dirty="0"/>
          </a:p>
          <a:p>
            <a:r>
              <a:rPr lang="en-US" b="1" dirty="0"/>
              <a:t>8. Adaptability and Flexibility</a:t>
            </a:r>
          </a:p>
          <a:p>
            <a:r>
              <a:rPr lang="en-US" dirty="0"/>
              <a:t>In a rapidly changing world, adaptability is essential. Entrepreneurs must be open to new ideas, willing to change strategies, and ready to embrace new technologies or market shifts. This flexibility allows them to stay relevant and competitive in dynamic environments.</a:t>
            </a:r>
          </a:p>
          <a:p>
            <a:br>
              <a:rPr lang="en-US" dirty="0"/>
            </a:br>
            <a:endParaRPr lang="en-US" dirty="0"/>
          </a:p>
          <a:p>
            <a:endParaRPr lang="en-CA" dirty="0"/>
          </a:p>
        </p:txBody>
      </p:sp>
    </p:spTree>
    <p:extLst>
      <p:ext uri="{BB962C8B-B14F-4D97-AF65-F5344CB8AC3E}">
        <p14:creationId xmlns:p14="http://schemas.microsoft.com/office/powerpoint/2010/main" val="19534418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4A4D3-CBCD-3C83-008B-FA8E386BC30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7FA876C-43D4-3BC2-341D-7DB8F264B0A8}"/>
              </a:ext>
            </a:extLst>
          </p:cNvPr>
          <p:cNvSpPr>
            <a:spLocks noGrp="1"/>
          </p:cNvSpPr>
          <p:nvPr>
            <p:ph idx="1"/>
          </p:nvPr>
        </p:nvSpPr>
        <p:spPr>
          <a:xfrm>
            <a:off x="838200" y="1825625"/>
            <a:ext cx="10515600" cy="4830814"/>
          </a:xfrm>
        </p:spPr>
        <p:txBody>
          <a:bodyPr>
            <a:normAutofit lnSpcReduction="10000"/>
          </a:bodyPr>
          <a:lstStyle/>
          <a:p>
            <a:r>
              <a:rPr lang="en-US" b="1" dirty="0"/>
              <a:t>9. Goal-Oriented Mindset</a:t>
            </a:r>
          </a:p>
          <a:p>
            <a:r>
              <a:rPr lang="en-US" dirty="0"/>
              <a:t>Successful entrepreneurs are highly focused on setting and achieving goals. They plan strategically, track their progress, and continuously work toward measurable objectives. This results-oriented approach helps them maintain direction, make efficient use of resources, and ensure business growth.</a:t>
            </a:r>
          </a:p>
          <a:p>
            <a:r>
              <a:rPr lang="en-US" b="1" dirty="0"/>
              <a:t>10. Networking Skills</a:t>
            </a:r>
          </a:p>
          <a:p>
            <a:r>
              <a:rPr lang="en-US" dirty="0"/>
              <a:t>Building strong professional relationships is vital for an entrepreneur’s success. Networking helps them gain access to valuable resources, advice, partnerships, and opportunities. Entrepreneurs use their connections to learn from others, collaborate, and expand their reach in the market.</a:t>
            </a:r>
          </a:p>
          <a:p>
            <a:endParaRPr lang="en-CA" dirty="0"/>
          </a:p>
        </p:txBody>
      </p:sp>
    </p:spTree>
    <p:extLst>
      <p:ext uri="{BB962C8B-B14F-4D97-AF65-F5344CB8AC3E}">
        <p14:creationId xmlns:p14="http://schemas.microsoft.com/office/powerpoint/2010/main" val="36694255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0F57E-8909-75E4-5277-8D87B44F25D4}"/>
              </a:ext>
            </a:extLst>
          </p:cNvPr>
          <p:cNvSpPr>
            <a:spLocks noGrp="1"/>
          </p:cNvSpPr>
          <p:nvPr>
            <p:ph type="title"/>
          </p:nvPr>
        </p:nvSpPr>
        <p:spPr>
          <a:xfrm>
            <a:off x="838200" y="512064"/>
            <a:ext cx="10515600" cy="557784"/>
          </a:xfrm>
        </p:spPr>
        <p:txBody>
          <a:bodyPr>
            <a:normAutofit fontScale="90000"/>
          </a:bodyPr>
          <a:lstStyle/>
          <a:p>
            <a:pPr marL="228600" marR="0" lvl="0" indent="-228600" defTabSz="914400" rtl="0" eaLnBrk="1" fontAlgn="auto" latinLnBrk="0" hangingPunct="1">
              <a:lnSpc>
                <a:spcPct val="90000"/>
              </a:lnSpc>
              <a:spcBef>
                <a:spcPts val="1000"/>
              </a:spcBef>
              <a:spcAft>
                <a:spcPts val="0"/>
              </a:spcAft>
              <a:tabLst/>
              <a:defRPr/>
            </a:pPr>
            <a:br>
              <a:rPr kumimoji="0" lang="en-US" sz="2200" b="1"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2200" b="1" i="0" u="none" strike="noStrike" kern="1200" cap="none" spc="0" normalizeH="0" baseline="0" noProof="0" dirty="0">
                <a:ln>
                  <a:noFill/>
                </a:ln>
                <a:solidFill>
                  <a:prstClr val="black"/>
                </a:solidFill>
                <a:effectLst/>
                <a:uLnTx/>
                <a:uFillTx/>
                <a:latin typeface="Calibri" panose="020F0502020204030204"/>
                <a:ea typeface="+mn-ea"/>
                <a:cs typeface="+mn-cs"/>
              </a:rPr>
              <a:t>1. Entrepreneurial Attitude</a:t>
            </a:r>
            <a:br>
              <a:rPr kumimoji="0" lang="en-US" sz="2200" b="1" i="0" u="none" strike="noStrike" kern="1200" cap="none" spc="0" normalizeH="0" baseline="0" noProof="0" dirty="0">
                <a:ln>
                  <a:noFill/>
                </a:ln>
                <a:solidFill>
                  <a:prstClr val="black"/>
                </a:solidFill>
                <a:effectLst/>
                <a:uLnTx/>
                <a:uFillTx/>
                <a:latin typeface="Calibri" panose="020F0502020204030204"/>
                <a:ea typeface="+mn-ea"/>
                <a:cs typeface="+mn-cs"/>
              </a:rPr>
            </a:br>
            <a:endParaRPr lang="en-CA" dirty="0"/>
          </a:p>
        </p:txBody>
      </p:sp>
      <p:sp>
        <p:nvSpPr>
          <p:cNvPr id="3" name="Content Placeholder 2">
            <a:extLst>
              <a:ext uri="{FF2B5EF4-FFF2-40B4-BE49-F238E27FC236}">
                <a16:creationId xmlns:a16="http://schemas.microsoft.com/office/drawing/2014/main" id="{FF47D92D-0EF0-0CF4-E885-9378D27A6B9D}"/>
              </a:ext>
            </a:extLst>
          </p:cNvPr>
          <p:cNvSpPr>
            <a:spLocks noGrp="1"/>
          </p:cNvSpPr>
          <p:nvPr>
            <p:ph idx="1"/>
          </p:nvPr>
        </p:nvSpPr>
        <p:spPr>
          <a:xfrm>
            <a:off x="838200" y="1152144"/>
            <a:ext cx="10515600" cy="5024819"/>
          </a:xfrm>
        </p:spPr>
        <p:txBody>
          <a:bodyPr>
            <a:normAutofit/>
          </a:bodyPr>
          <a:lstStyle/>
          <a:p>
            <a:pPr marL="0" indent="0">
              <a:buNone/>
            </a:pPr>
            <a:r>
              <a:rPr kumimoji="0" lang="en-US" sz="2400" i="0" u="none" strike="noStrike" kern="1200" cap="none" spc="0" normalizeH="0" baseline="0" noProof="0" dirty="0">
                <a:ln>
                  <a:noFill/>
                </a:ln>
                <a:solidFill>
                  <a:prstClr val="black"/>
                </a:solidFill>
                <a:effectLst/>
                <a:uLnTx/>
                <a:uFillTx/>
                <a:latin typeface="Calibri" panose="020F0502020204030204"/>
                <a:ea typeface="+mj-ea"/>
                <a:cs typeface="+mj-cs"/>
              </a:rPr>
              <a:t>Entrepreneurial Attitude </a:t>
            </a:r>
            <a:r>
              <a:rPr lang="en-US" dirty="0"/>
              <a:t>refers to an individual's personal perception, beliefs, and evaluations towards entrepreneurship as a desirable and viable career path.</a:t>
            </a:r>
          </a:p>
          <a:p>
            <a:pPr marL="0" indent="0">
              <a:buNone/>
            </a:pPr>
            <a:r>
              <a:rPr lang="en-US" dirty="0"/>
              <a:t>It is a set of positive or negative feelings, perceptions, and opinions about being an entrepreneur.</a:t>
            </a:r>
          </a:p>
          <a:p>
            <a:endParaRPr lang="en-CA" dirty="0"/>
          </a:p>
        </p:txBody>
      </p:sp>
    </p:spTree>
    <p:extLst>
      <p:ext uri="{BB962C8B-B14F-4D97-AF65-F5344CB8AC3E}">
        <p14:creationId xmlns:p14="http://schemas.microsoft.com/office/powerpoint/2010/main" val="34337840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14ED7-4977-5603-DD4A-C940DCFF83DC}"/>
              </a:ext>
            </a:extLst>
          </p:cNvPr>
          <p:cNvSpPr>
            <a:spLocks noGrp="1"/>
          </p:cNvSpPr>
          <p:nvPr>
            <p:ph type="title"/>
          </p:nvPr>
        </p:nvSpPr>
        <p:spPr/>
        <p:txBody>
          <a:bodyPr>
            <a:normAutofit/>
          </a:bodyPr>
          <a:lstStyle/>
          <a:p>
            <a:r>
              <a:rPr lang="en-US" sz="3600" dirty="0"/>
              <a:t>Following are the </a:t>
            </a:r>
            <a:r>
              <a:rPr lang="en-CA" sz="3600" dirty="0"/>
              <a:t>key characteristics </a:t>
            </a:r>
            <a:r>
              <a:rPr lang="en-US" sz="3600" dirty="0"/>
              <a:t>of </a:t>
            </a:r>
            <a:r>
              <a:rPr lang="en-US" sz="3600" dirty="0">
                <a:solidFill>
                  <a:prstClr val="black"/>
                </a:solidFill>
                <a:latin typeface="Calibri" panose="020F0502020204030204"/>
              </a:rPr>
              <a:t>Entrepreneurial Attitude</a:t>
            </a:r>
            <a:endParaRPr lang="en-CA" sz="3600" dirty="0"/>
          </a:p>
        </p:txBody>
      </p:sp>
      <p:sp>
        <p:nvSpPr>
          <p:cNvPr id="3" name="Content Placeholder 2">
            <a:extLst>
              <a:ext uri="{FF2B5EF4-FFF2-40B4-BE49-F238E27FC236}">
                <a16:creationId xmlns:a16="http://schemas.microsoft.com/office/drawing/2014/main" id="{963A625A-8E23-706C-71A0-F8907AC196A6}"/>
              </a:ext>
            </a:extLst>
          </p:cNvPr>
          <p:cNvSpPr>
            <a:spLocks noGrp="1"/>
          </p:cNvSpPr>
          <p:nvPr>
            <p:ph idx="1"/>
          </p:nvPr>
        </p:nvSpPr>
        <p:spPr/>
        <p:txBody>
          <a:bodyPr>
            <a:normAutofit fontScale="77500" lnSpcReduction="20000"/>
          </a:bodyPr>
          <a:lstStyle/>
          <a:p>
            <a:r>
              <a:rPr lang="en-US" b="1" dirty="0"/>
              <a:t>1. Positive Thinking</a:t>
            </a:r>
          </a:p>
          <a:p>
            <a:r>
              <a:rPr lang="en-US" dirty="0"/>
              <a:t>An entrepreneurial attitude starts with a positive mindset. Entrepreneurs believe in their ability to create opportunities even in challenging situations. They view problems as chances to innovate rather than as obstacles. This optimism helps them stay motivated, inspire others, and maintain focus on their goals, even when faced with setbacks or failures.</a:t>
            </a:r>
            <a:br>
              <a:rPr lang="en-US" dirty="0"/>
            </a:br>
            <a:endParaRPr lang="en-US" dirty="0"/>
          </a:p>
          <a:p>
            <a:r>
              <a:rPr lang="en-US" b="1" dirty="0"/>
              <a:t>2. Proactiveness</a:t>
            </a:r>
          </a:p>
          <a:p>
            <a:r>
              <a:rPr lang="en-US" dirty="0"/>
              <a:t>Entrepreneurs don’t wait for things to happen — they make them happen. A proactive attitude means taking initiative, anticipating problems, and finding solutions before they arise. This quality allows entrepreneurs to stay ahead of competitors and adapt quickly to changing market conditions. Being proactive is essential for identifying  business opportunities early.</a:t>
            </a:r>
          </a:p>
          <a:p>
            <a:pPr marL="0" indent="0">
              <a:buNone/>
            </a:pPr>
            <a:br>
              <a:rPr lang="en-US" dirty="0"/>
            </a:br>
            <a:endParaRPr lang="en-US" dirty="0"/>
          </a:p>
          <a:p>
            <a:endParaRPr lang="en-CA" dirty="0"/>
          </a:p>
        </p:txBody>
      </p:sp>
    </p:spTree>
    <p:extLst>
      <p:ext uri="{BB962C8B-B14F-4D97-AF65-F5344CB8AC3E}">
        <p14:creationId xmlns:p14="http://schemas.microsoft.com/office/powerpoint/2010/main" val="6616128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8C2E7-9BD4-1C85-331B-4C53FF9F04F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4CAE379-A4D6-EC54-665F-B8DE3F3FC676}"/>
              </a:ext>
            </a:extLst>
          </p:cNvPr>
          <p:cNvSpPr>
            <a:spLocks noGrp="1"/>
          </p:cNvSpPr>
          <p:nvPr>
            <p:ph idx="1"/>
          </p:nvPr>
        </p:nvSpPr>
        <p:spPr/>
        <p:txBody>
          <a:bodyPr>
            <a:normAutofit fontScale="77500" lnSpcReduction="20000"/>
          </a:bodyPr>
          <a:lstStyle/>
          <a:p>
            <a:r>
              <a:rPr lang="en-US" b="1" dirty="0"/>
              <a:t>3. Responsibility</a:t>
            </a:r>
          </a:p>
          <a:p>
            <a:r>
              <a:rPr lang="en-US" dirty="0"/>
              <a:t>Entrepreneurs take full ownership of their actions and decisions. They accept accountability for both success and failure, understanding that their choices directly impact their business, employees, and customers. This sense of responsibility builds trust, strengthens leadership credibility, and fosters a culture of reliability within the organization.</a:t>
            </a:r>
          </a:p>
          <a:p>
            <a:pPr marL="0" indent="0">
              <a:buNone/>
            </a:pPr>
            <a:endParaRPr lang="en-US" dirty="0"/>
          </a:p>
          <a:p>
            <a:r>
              <a:rPr lang="en-US" b="1" dirty="0"/>
              <a:t>4. Risk-Taking</a:t>
            </a:r>
          </a:p>
          <a:p>
            <a:r>
              <a:rPr lang="en-US" dirty="0"/>
              <a:t>A key part of an entrepreneurial attitude is the willingness to take calculated risks. Entrepreneurs understand that success often requires stepping out of their comfort zones. They assess potential risks carefully, make informed decisions, and accept uncertainty as part of the journey. This mindset helps them innovate and grow their ventures with confidence.</a:t>
            </a:r>
          </a:p>
          <a:p>
            <a:br>
              <a:rPr lang="en-US" dirty="0"/>
            </a:br>
            <a:endParaRPr lang="en-US" dirty="0"/>
          </a:p>
          <a:p>
            <a:endParaRPr lang="en-CA" dirty="0"/>
          </a:p>
        </p:txBody>
      </p:sp>
    </p:spTree>
    <p:extLst>
      <p:ext uri="{BB962C8B-B14F-4D97-AF65-F5344CB8AC3E}">
        <p14:creationId xmlns:p14="http://schemas.microsoft.com/office/powerpoint/2010/main" val="13178199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6D0D5-8F3A-10B9-5994-093C89A4ED4E}"/>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BAA3FAA5-26DD-C036-4A09-050D8287369A}"/>
              </a:ext>
            </a:extLst>
          </p:cNvPr>
          <p:cNvSpPr>
            <a:spLocks noGrp="1"/>
          </p:cNvSpPr>
          <p:nvPr>
            <p:ph idx="1"/>
          </p:nvPr>
        </p:nvSpPr>
        <p:spPr>
          <a:xfrm>
            <a:off x="838200" y="865240"/>
            <a:ext cx="10515600" cy="5311724"/>
          </a:xfrm>
        </p:spPr>
        <p:txBody>
          <a:bodyPr>
            <a:normAutofit fontScale="92500" lnSpcReduction="20000"/>
          </a:bodyPr>
          <a:lstStyle/>
          <a:p>
            <a:r>
              <a:rPr lang="en-US" b="1" dirty="0"/>
              <a:t>5. Perseverance and Resilience</a:t>
            </a:r>
          </a:p>
          <a:p>
            <a:r>
              <a:rPr lang="en-US" dirty="0"/>
              <a:t>Entrepreneurs possess a strong sense of determination and the ability to recover from setbacks. Failure is seen as a learning experience rather than an endpoint. Resilience allows them to handle rejection, adapt strategies, and keep motivated toward their vision despite obstacles. Perseverance ensures that they continue working toward their goals until success is achieved.</a:t>
            </a:r>
            <a:br>
              <a:rPr lang="en-US" dirty="0"/>
            </a:br>
            <a:endParaRPr lang="en-US" dirty="0"/>
          </a:p>
          <a:p>
            <a:r>
              <a:rPr lang="en-US" b="1" dirty="0"/>
              <a:t>6. Creativity and Innovation</a:t>
            </a:r>
          </a:p>
          <a:p>
            <a:r>
              <a:rPr lang="en-US" dirty="0"/>
              <a:t>An entrepreneurial attitude thrives on creativity — the ability to think differently and develop new ideas or approaches. Entrepreneurs continuously seek better ways to deliver value, solve problems, and improve products or services. Innovation not only helps businesses stand out in the market but also drives long-term growth and competitiveness.</a:t>
            </a:r>
          </a:p>
          <a:p>
            <a:br>
              <a:rPr lang="en-US" dirty="0"/>
            </a:br>
            <a:endParaRPr lang="en-US" dirty="0"/>
          </a:p>
          <a:p>
            <a:endParaRPr lang="en-CA" dirty="0"/>
          </a:p>
        </p:txBody>
      </p:sp>
    </p:spTree>
    <p:extLst>
      <p:ext uri="{BB962C8B-B14F-4D97-AF65-F5344CB8AC3E}">
        <p14:creationId xmlns:p14="http://schemas.microsoft.com/office/powerpoint/2010/main" val="5023087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A51D2-0C37-1E01-A9DD-B569E9E2F26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26952B9-DF5D-BE7E-2BD0-59298623FD2B}"/>
              </a:ext>
            </a:extLst>
          </p:cNvPr>
          <p:cNvSpPr>
            <a:spLocks noGrp="1"/>
          </p:cNvSpPr>
          <p:nvPr>
            <p:ph idx="1"/>
          </p:nvPr>
        </p:nvSpPr>
        <p:spPr/>
        <p:txBody>
          <a:bodyPr>
            <a:normAutofit fontScale="85000" lnSpcReduction="20000"/>
          </a:bodyPr>
          <a:lstStyle/>
          <a:p>
            <a:r>
              <a:rPr lang="en-US" b="1" dirty="0"/>
              <a:t>7. Goal Orientation</a:t>
            </a:r>
          </a:p>
          <a:p>
            <a:r>
              <a:rPr lang="en-US" dirty="0"/>
              <a:t>Entrepreneurs are highly focused on achieving specific objectives. They set clear, measurable goals and develop action plans to reach them. This goal-oriented mindset ensures that they remain organized, productive, and motivated. It also allows them to track progress and make necessary adjustments to stay aligned with their vision.</a:t>
            </a:r>
          </a:p>
          <a:p>
            <a:pPr marL="0" indent="0">
              <a:buNone/>
            </a:pPr>
            <a:endParaRPr lang="en-US" dirty="0"/>
          </a:p>
          <a:p>
            <a:r>
              <a:rPr lang="en-US" b="1" dirty="0"/>
              <a:t>8. Adaptability and Flexibility</a:t>
            </a:r>
          </a:p>
          <a:p>
            <a:r>
              <a:rPr lang="en-US" dirty="0"/>
              <a:t>Entrepreneurs operate in dynamic environments where change is constant. Having an adaptable attitude allows them to adjust strategies quickly, grip new technologies, and respond effectively to market shifts. Flexibility ensures they can focus when needed and turn challenges into opportunities.</a:t>
            </a:r>
          </a:p>
          <a:p>
            <a:br>
              <a:rPr lang="en-US" dirty="0"/>
            </a:br>
            <a:endParaRPr lang="en-US" dirty="0"/>
          </a:p>
          <a:p>
            <a:endParaRPr lang="en-CA" dirty="0"/>
          </a:p>
        </p:txBody>
      </p:sp>
    </p:spTree>
    <p:extLst>
      <p:ext uri="{BB962C8B-B14F-4D97-AF65-F5344CB8AC3E}">
        <p14:creationId xmlns:p14="http://schemas.microsoft.com/office/powerpoint/2010/main" val="17071018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A909C-681A-E542-6E18-70C0870E801D}"/>
              </a:ext>
            </a:extLst>
          </p:cNvPr>
          <p:cNvSpPr>
            <a:spLocks noGrp="1"/>
          </p:cNvSpPr>
          <p:nvPr>
            <p:ph type="title"/>
          </p:nvPr>
        </p:nvSpPr>
        <p:spPr>
          <a:xfrm>
            <a:off x="838200" y="365126"/>
            <a:ext cx="10515600" cy="834410"/>
          </a:xfrm>
        </p:spPr>
        <p:txBody>
          <a:bodyPr/>
          <a:lstStyle/>
          <a:p>
            <a:endParaRPr lang="en-CA" dirty="0"/>
          </a:p>
        </p:txBody>
      </p:sp>
      <p:sp>
        <p:nvSpPr>
          <p:cNvPr id="3" name="Content Placeholder 2">
            <a:extLst>
              <a:ext uri="{FF2B5EF4-FFF2-40B4-BE49-F238E27FC236}">
                <a16:creationId xmlns:a16="http://schemas.microsoft.com/office/drawing/2014/main" id="{7FB54E9E-613E-6CBF-0696-9C3619786584}"/>
              </a:ext>
            </a:extLst>
          </p:cNvPr>
          <p:cNvSpPr>
            <a:spLocks noGrp="1"/>
          </p:cNvSpPr>
          <p:nvPr>
            <p:ph idx="1"/>
          </p:nvPr>
        </p:nvSpPr>
        <p:spPr>
          <a:xfrm>
            <a:off x="838200" y="1307690"/>
            <a:ext cx="10515600" cy="4869273"/>
          </a:xfrm>
        </p:spPr>
        <p:txBody>
          <a:bodyPr>
            <a:normAutofit fontScale="92500" lnSpcReduction="10000"/>
          </a:bodyPr>
          <a:lstStyle/>
          <a:p>
            <a:r>
              <a:rPr lang="en-US" b="1" dirty="0"/>
              <a:t>9. Self-Confidence</a:t>
            </a:r>
          </a:p>
          <a:p>
            <a:r>
              <a:rPr lang="en-US" dirty="0"/>
              <a:t>Confidence is essential for entrepreneurs to believe in their vision and convince others to support it. A confident entrepreneur can make bold decisions, handle uncertainty, and influence investors, employees, and customers. Self-confidence also fuels perseverance and motivates them to keep pushing forward despite difficulties.</a:t>
            </a:r>
          </a:p>
          <a:p>
            <a:pPr marL="0" indent="0">
              <a:buNone/>
            </a:pPr>
            <a:endParaRPr lang="en-US" dirty="0"/>
          </a:p>
          <a:p>
            <a:r>
              <a:rPr lang="en-US" b="1" dirty="0"/>
              <a:t>10. Visionary Thinking</a:t>
            </a:r>
          </a:p>
          <a:p>
            <a:r>
              <a:rPr lang="en-US" dirty="0"/>
              <a:t>Entrepreneurs possess a forward-thinking mindset. They don’t just focus on short-term gains; instead, they look at the bigger picture and foresee future possibilities. Their visionary attitude helps them set long-term goals, innovate strategically, and lead others toward a shared mission.</a:t>
            </a:r>
          </a:p>
          <a:p>
            <a:endParaRPr lang="en-CA" dirty="0"/>
          </a:p>
        </p:txBody>
      </p:sp>
    </p:spTree>
    <p:extLst>
      <p:ext uri="{BB962C8B-B14F-4D97-AF65-F5344CB8AC3E}">
        <p14:creationId xmlns:p14="http://schemas.microsoft.com/office/powerpoint/2010/main" val="23012853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AC572-845C-E06D-E536-E09E5697B5D6}"/>
              </a:ext>
            </a:extLst>
          </p:cNvPr>
          <p:cNvSpPr>
            <a:spLocks noGrp="1"/>
          </p:cNvSpPr>
          <p:nvPr>
            <p:ph type="title"/>
          </p:nvPr>
        </p:nvSpPr>
        <p:spPr>
          <a:xfrm>
            <a:off x="838200" y="594360"/>
            <a:ext cx="10515600" cy="868680"/>
          </a:xfrm>
        </p:spPr>
        <p:txBody>
          <a:bodyPr>
            <a:normAutofit fontScale="90000"/>
          </a:bodyPr>
          <a:lstStyle/>
          <a:p>
            <a:pPr marL="228600" marR="0" lvl="0" indent="-228600" defTabSz="914400" rtl="0" eaLnBrk="1" fontAlgn="auto" latinLnBrk="0" hangingPunct="1">
              <a:lnSpc>
                <a:spcPct val="90000"/>
              </a:lnSpc>
              <a:spcBef>
                <a:spcPts val="1000"/>
              </a:spcBef>
              <a:spcAft>
                <a:spcPts val="0"/>
              </a:spcAft>
              <a:tabLst/>
              <a:defRPr/>
            </a:pPr>
            <a:r>
              <a:rPr kumimoji="0" lang="en-US" sz="3100" b="1" i="0" u="none" strike="noStrike" kern="1200" cap="none" spc="0" normalizeH="0" baseline="0" noProof="0" dirty="0">
                <a:ln>
                  <a:noFill/>
                </a:ln>
                <a:solidFill>
                  <a:prstClr val="black"/>
                </a:solidFill>
                <a:effectLst/>
                <a:uLnTx/>
                <a:uFillTx/>
                <a:latin typeface="Calibri" panose="020F0502020204030204"/>
                <a:ea typeface="+mn-ea"/>
                <a:cs typeface="+mn-cs"/>
              </a:rPr>
              <a:t> Entrepreneurial Intention</a:t>
            </a:r>
            <a:b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br>
            <a:endParaRPr lang="en-CA" dirty="0"/>
          </a:p>
        </p:txBody>
      </p:sp>
      <p:sp>
        <p:nvSpPr>
          <p:cNvPr id="3" name="Content Placeholder 2">
            <a:extLst>
              <a:ext uri="{FF2B5EF4-FFF2-40B4-BE49-F238E27FC236}">
                <a16:creationId xmlns:a16="http://schemas.microsoft.com/office/drawing/2014/main" id="{2E01E3DC-B1B2-AF49-E130-41794D44F0AF}"/>
              </a:ext>
            </a:extLst>
          </p:cNvPr>
          <p:cNvSpPr>
            <a:spLocks noGrp="1"/>
          </p:cNvSpPr>
          <p:nvPr>
            <p:ph idx="1"/>
          </p:nvPr>
        </p:nvSpPr>
        <p:spPr>
          <a:xfrm>
            <a:off x="838200" y="978408"/>
            <a:ext cx="10515600" cy="5198555"/>
          </a:xfrm>
        </p:spPr>
        <p:txBody>
          <a:bodyPr>
            <a:normAutofit/>
          </a:bodyPr>
          <a:lstStyle/>
          <a:p>
            <a:endParaRPr lang="en-CA" dirty="0"/>
          </a:p>
          <a:p>
            <a:r>
              <a:rPr lang="en-US" b="1" dirty="0"/>
              <a:t>Entrepreneurial intention</a:t>
            </a:r>
            <a:r>
              <a:rPr lang="en-US" dirty="0"/>
              <a:t> refers to a person’s cons</a:t>
            </a:r>
          </a:p>
          <a:p>
            <a:r>
              <a:rPr lang="en-US" dirty="0" err="1"/>
              <a:t>cious</a:t>
            </a:r>
            <a:r>
              <a:rPr lang="en-US" dirty="0"/>
              <a:t> mindset, motivation, or plan to start a new business or venture. It is often studied in entrepreneurship, psychology, and business education to understand what drives someone to become an entrepreneur.</a:t>
            </a:r>
            <a:endParaRPr lang="en-CA" dirty="0"/>
          </a:p>
          <a:p>
            <a:r>
              <a:rPr lang="en-CA" dirty="0"/>
              <a:t>When an individual is motivated to work as an entrepreneur it is considered the intention to act entrepreneurially. It refers to influence in behaviour and activities of individual to become an entrepreneur. It is said that stronger the intention of individual tends to effective performance. Acting entrepreneurially is concerned with establishing and operating an enterprise for earning profit and wealth. </a:t>
            </a:r>
          </a:p>
          <a:p>
            <a:pPr marL="0" indent="0">
              <a:buNone/>
            </a:pPr>
            <a:endParaRPr lang="en-CA" dirty="0"/>
          </a:p>
        </p:txBody>
      </p:sp>
    </p:spTree>
    <p:extLst>
      <p:ext uri="{BB962C8B-B14F-4D97-AF65-F5344CB8AC3E}">
        <p14:creationId xmlns:p14="http://schemas.microsoft.com/office/powerpoint/2010/main" val="36333111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694A0-CD82-3373-807A-6E275589A86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E209C9F-71BD-281A-C4F1-268620CE5703}"/>
              </a:ext>
            </a:extLst>
          </p:cNvPr>
          <p:cNvSpPr>
            <a:spLocks noGrp="1"/>
          </p:cNvSpPr>
          <p:nvPr>
            <p:ph idx="1"/>
          </p:nvPr>
        </p:nvSpPr>
        <p:spPr/>
        <p:txBody>
          <a:bodyPr/>
          <a:lstStyle/>
          <a:p>
            <a:r>
              <a:rPr lang="en-US" b="1" dirty="0"/>
              <a:t>Entrepreneurial intention</a:t>
            </a:r>
            <a:r>
              <a:rPr lang="en-US" dirty="0"/>
              <a:t> refers to an individual’s conscious and deliberate desire to start a new business or engage in entrepreneurial activities in the future. It reflects how strongly a person plans or expects to become an entrepreneur. In other words, it is the mental commitment that comes </a:t>
            </a:r>
            <a:r>
              <a:rPr lang="en-US" b="1" dirty="0"/>
              <a:t>before</a:t>
            </a:r>
            <a:r>
              <a:rPr lang="en-US" dirty="0"/>
              <a:t> the actual creation of a business.</a:t>
            </a:r>
          </a:p>
          <a:p>
            <a:r>
              <a:rPr lang="en-US" dirty="0"/>
              <a:t>Entrepreneurial intention is important because </a:t>
            </a:r>
            <a:r>
              <a:rPr lang="en-US" b="1" dirty="0"/>
              <a:t>entrepreneurship does not happen by accident</a:t>
            </a:r>
            <a:r>
              <a:rPr lang="en-US" dirty="0"/>
              <a:t>—it begins with a person forming the idea, motivation, and decision to start a venture. Researchers often study entrepreneurial intention to understand why some individuals choose entrepreneurship while others do not.</a:t>
            </a:r>
          </a:p>
          <a:p>
            <a:endParaRPr lang="en-CA" dirty="0"/>
          </a:p>
        </p:txBody>
      </p:sp>
    </p:spTree>
    <p:extLst>
      <p:ext uri="{BB962C8B-B14F-4D97-AF65-F5344CB8AC3E}">
        <p14:creationId xmlns:p14="http://schemas.microsoft.com/office/powerpoint/2010/main" val="11716950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93F57-7DE8-50E5-8E5F-444B8061BD3F}"/>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1300F91-49EF-8C6B-A0D6-052D954C8A84}"/>
              </a:ext>
            </a:extLst>
          </p:cNvPr>
          <p:cNvSpPr>
            <a:spLocks noGrp="1"/>
          </p:cNvSpPr>
          <p:nvPr>
            <p:ph idx="1"/>
          </p:nvPr>
        </p:nvSpPr>
        <p:spPr/>
        <p:txBody>
          <a:bodyPr/>
          <a:lstStyle/>
          <a:p>
            <a:r>
              <a:rPr lang="en-CA" dirty="0"/>
              <a:t>It is concerned with involving in various activities such as using qualities of leadership, managerial capabilities, and decision making in order to establish and operate a business enterprise. When any project is perceived to be feasible and desirable then intention of an individual is converted into strong action for accomplishment of project. Feasible projects are practical and achievable through entrepreneurial resources and desirable projects add value to the society when it is completed.</a:t>
            </a:r>
          </a:p>
          <a:p>
            <a:endParaRPr lang="en-CA" dirty="0"/>
          </a:p>
        </p:txBody>
      </p:sp>
    </p:spTree>
    <p:extLst>
      <p:ext uri="{BB962C8B-B14F-4D97-AF65-F5344CB8AC3E}">
        <p14:creationId xmlns:p14="http://schemas.microsoft.com/office/powerpoint/2010/main" val="39263683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4EF7E-D5D9-9423-92A5-3F1958354E2D}"/>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DA24014-2F58-A210-73CF-8037E1AFA1C0}"/>
              </a:ext>
            </a:extLst>
          </p:cNvPr>
          <p:cNvSpPr>
            <a:spLocks noGrp="1"/>
          </p:cNvSpPr>
          <p:nvPr>
            <p:ph idx="1"/>
          </p:nvPr>
        </p:nvSpPr>
        <p:spPr/>
        <p:txBody>
          <a:bodyPr/>
          <a:lstStyle/>
          <a:p>
            <a:r>
              <a:rPr lang="en-CA" dirty="0"/>
              <a:t>Individuals have stronger intentions to act when taking action is perceived to be feasible and desirable. As the general rule, the stronger the intention to engage in behavior, the more likely should be its performance. Entrepreneurial intention of individuals is represented by their willingness to try and use of effort for accomplishment business projects through effective implementation of plan. They always intent to pursue new opportunities such as introduction of new product, modification of existing products, enter into new market, innovation of new working procedures so that entrepreneurial activities can be improved.</a:t>
            </a:r>
          </a:p>
          <a:p>
            <a:endParaRPr lang="en-CA" dirty="0"/>
          </a:p>
        </p:txBody>
      </p:sp>
    </p:spTree>
    <p:extLst>
      <p:ext uri="{BB962C8B-B14F-4D97-AF65-F5344CB8AC3E}">
        <p14:creationId xmlns:p14="http://schemas.microsoft.com/office/powerpoint/2010/main" val="9479363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8CF40-0B3E-6E13-D8FB-8F06C9CC4E6C}"/>
              </a:ext>
            </a:extLst>
          </p:cNvPr>
          <p:cNvSpPr>
            <a:spLocks noGrp="1"/>
          </p:cNvSpPr>
          <p:nvPr>
            <p:ph type="title"/>
          </p:nvPr>
        </p:nvSpPr>
        <p:spPr>
          <a:xfrm>
            <a:off x="975360" y="461581"/>
            <a:ext cx="10515600" cy="1009651"/>
          </a:xfrm>
        </p:spPr>
        <p:txBody>
          <a:bodyPr>
            <a:normAutofit fontScale="90000"/>
          </a:bodyPr>
          <a:lstStyle/>
          <a:p>
            <a:pPr marL="228600" marR="0" lvl="0" indent="-228600" defTabSz="914400" rtl="0" eaLnBrk="1" fontAlgn="auto" latinLnBrk="0" hangingPunct="1">
              <a:lnSpc>
                <a:spcPct val="90000"/>
              </a:lnSpc>
              <a:spcBef>
                <a:spcPts val="1000"/>
              </a:spcBef>
              <a:spcAft>
                <a:spcPts val="0"/>
              </a:spcAft>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Entrepreneurial Behavior</a:t>
            </a:r>
            <a:b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br>
            <a:endParaRPr lang="en-CA" dirty="0"/>
          </a:p>
        </p:txBody>
      </p:sp>
      <p:sp>
        <p:nvSpPr>
          <p:cNvPr id="3" name="Content Placeholder 2">
            <a:extLst>
              <a:ext uri="{FF2B5EF4-FFF2-40B4-BE49-F238E27FC236}">
                <a16:creationId xmlns:a16="http://schemas.microsoft.com/office/drawing/2014/main" id="{D3979C97-2C56-56FF-5D3B-B58AA03ADD48}"/>
              </a:ext>
            </a:extLst>
          </p:cNvPr>
          <p:cNvSpPr>
            <a:spLocks noGrp="1"/>
          </p:cNvSpPr>
          <p:nvPr>
            <p:ph idx="1"/>
          </p:nvPr>
        </p:nvSpPr>
        <p:spPr>
          <a:xfrm>
            <a:off x="310896" y="1133856"/>
            <a:ext cx="11042904" cy="5486400"/>
          </a:xfrm>
        </p:spPr>
        <p:txBody>
          <a:bodyPr>
            <a:normAutofit/>
          </a:bodyPr>
          <a:lstStyle/>
          <a:p>
            <a:r>
              <a:rPr lang="en-US" dirty="0"/>
              <a:t>Entrepreneurial behavior refers to the set of actions, decisions, and practices that individuals engage in to identify opportunities, create value, and build or grow a business. It involves not just the intention to be an entrepreneur but the actual behaviors that demonstrate creativity, initiative, risk-taking, and problem-solving.</a:t>
            </a:r>
          </a:p>
          <a:p>
            <a:endParaRPr lang="en-CA" dirty="0"/>
          </a:p>
        </p:txBody>
      </p:sp>
    </p:spTree>
    <p:extLst>
      <p:ext uri="{BB962C8B-B14F-4D97-AF65-F5344CB8AC3E}">
        <p14:creationId xmlns:p14="http://schemas.microsoft.com/office/powerpoint/2010/main" val="11944412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318B0-D542-AB12-5BA1-E5FB17C2BB96}"/>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BDCFF92-7E70-6CB4-8F9D-31C604D74809}"/>
              </a:ext>
            </a:extLst>
          </p:cNvPr>
          <p:cNvSpPr>
            <a:spLocks noGrp="1"/>
          </p:cNvSpPr>
          <p:nvPr>
            <p:ph idx="1"/>
          </p:nvPr>
        </p:nvSpPr>
        <p:spPr/>
        <p:txBody>
          <a:bodyPr>
            <a:normAutofit lnSpcReduction="10000"/>
          </a:bodyPr>
          <a:lstStyle/>
          <a:p>
            <a:r>
              <a:rPr lang="en-US" dirty="0"/>
              <a:t>This is the action and execution. It refers to the concrete steps and activities involved in creating a new business venture.</a:t>
            </a:r>
          </a:p>
          <a:p>
            <a:r>
              <a:rPr lang="en-US" dirty="0"/>
              <a:t>What it is: The observable actions of starting a business. It moves from planning and thinking to doing.</a:t>
            </a:r>
          </a:p>
          <a:p>
            <a:pPr marL="0" indent="0">
              <a:buNone/>
            </a:pPr>
            <a:r>
              <a:rPr lang="en-US" dirty="0"/>
              <a:t> This includes a wide range of behaviors, such as:</a:t>
            </a:r>
          </a:p>
          <a:p>
            <a:pPr marL="0" indent="0">
              <a:buNone/>
            </a:pPr>
            <a:r>
              <a:rPr lang="en-US" dirty="0"/>
              <a:t>Market research, writing a business plan, securing funding, developing a prototype, registering the company.</a:t>
            </a:r>
          </a:p>
          <a:p>
            <a:pPr lvl="1"/>
            <a:r>
              <a:rPr lang="en-US" dirty="0"/>
              <a:t>New Venture Management: Hiring first employees, making first sales, establishing operational processes.</a:t>
            </a:r>
          </a:p>
          <a:p>
            <a:pPr lvl="1"/>
            <a:r>
              <a:rPr lang="en-US" dirty="0"/>
              <a:t>Growth Activities: Scaling the business, entering new markets, seeking further investment.</a:t>
            </a:r>
          </a:p>
          <a:p>
            <a:endParaRPr lang="en-CA" dirty="0"/>
          </a:p>
        </p:txBody>
      </p:sp>
    </p:spTree>
    <p:extLst>
      <p:ext uri="{BB962C8B-B14F-4D97-AF65-F5344CB8AC3E}">
        <p14:creationId xmlns:p14="http://schemas.microsoft.com/office/powerpoint/2010/main" val="452551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A2962-DE74-0366-FDFE-7A8C12B0C5E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28E6451-C02F-AC2D-579F-A31CE62B05E8}"/>
              </a:ext>
            </a:extLst>
          </p:cNvPr>
          <p:cNvSpPr>
            <a:spLocks noGrp="1"/>
          </p:cNvSpPr>
          <p:nvPr>
            <p:ph idx="1"/>
          </p:nvPr>
        </p:nvSpPr>
        <p:spPr/>
        <p:txBody>
          <a:bodyPr>
            <a:normAutofit fontScale="92500" lnSpcReduction="10000"/>
          </a:bodyPr>
          <a:lstStyle/>
          <a:p>
            <a:r>
              <a:rPr lang="en-US" b="1" dirty="0"/>
              <a:t>Key Features of Entrepreneurial Behavior</a:t>
            </a:r>
          </a:p>
          <a:p>
            <a:r>
              <a:rPr lang="en-US" b="1" dirty="0"/>
              <a:t>1. Opportunity Recognition</a:t>
            </a:r>
          </a:p>
          <a:p>
            <a:r>
              <a:rPr lang="en-US" dirty="0"/>
              <a:t>Identifying gaps in the market, unmet needs, or innovative ideas that can be turned into products or services.</a:t>
            </a:r>
          </a:p>
          <a:p>
            <a:r>
              <a:rPr lang="en-US" b="1" dirty="0"/>
              <a:t>2. Proactiveness</a:t>
            </a:r>
          </a:p>
          <a:p>
            <a:r>
              <a:rPr lang="en-US" dirty="0"/>
              <a:t>Taking initiative rather than waiting for events to happen. Entrepreneurs act early to gain an advantage.</a:t>
            </a:r>
          </a:p>
          <a:p>
            <a:r>
              <a:rPr lang="en-US" b="1" dirty="0"/>
              <a:t>3. Risk-Taking</a:t>
            </a:r>
          </a:p>
          <a:p>
            <a:r>
              <a:rPr lang="en-US" dirty="0"/>
              <a:t>Willingness to take calculated risks, whether financial, social, or personal, to pursue new ventures.</a:t>
            </a:r>
          </a:p>
          <a:p>
            <a:endParaRPr lang="en-CA" dirty="0"/>
          </a:p>
        </p:txBody>
      </p:sp>
    </p:spTree>
    <p:extLst>
      <p:ext uri="{BB962C8B-B14F-4D97-AF65-F5344CB8AC3E}">
        <p14:creationId xmlns:p14="http://schemas.microsoft.com/office/powerpoint/2010/main" val="5015414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5018E-1E87-F379-D11B-32C48C89DD24}"/>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4080DC1-5FC9-6FCC-D380-F3B5F05F609D}"/>
              </a:ext>
            </a:extLst>
          </p:cNvPr>
          <p:cNvSpPr>
            <a:spLocks noGrp="1"/>
          </p:cNvSpPr>
          <p:nvPr>
            <p:ph idx="1"/>
          </p:nvPr>
        </p:nvSpPr>
        <p:spPr/>
        <p:txBody>
          <a:bodyPr>
            <a:normAutofit/>
          </a:bodyPr>
          <a:lstStyle/>
          <a:p>
            <a:r>
              <a:rPr lang="en-US" b="1" dirty="0"/>
              <a:t>4. Innovation and Creativity</a:t>
            </a:r>
          </a:p>
          <a:p>
            <a:r>
              <a:rPr lang="en-US" dirty="0"/>
              <a:t>Developing new ideas, improving existing solutions, experimenting with different approaches.</a:t>
            </a:r>
          </a:p>
          <a:p>
            <a:r>
              <a:rPr lang="en-US" b="1" dirty="0"/>
              <a:t>5. Problem-Solving Ability</a:t>
            </a:r>
          </a:p>
          <a:p>
            <a:r>
              <a:rPr lang="en-US" dirty="0"/>
              <a:t>Entrepreneurs tackle challenges with creative solutions and adapt to changing circumstances.</a:t>
            </a:r>
          </a:p>
          <a:p>
            <a:r>
              <a:rPr lang="en-US" b="1" dirty="0"/>
              <a:t>6. Perseverance and Resilience</a:t>
            </a:r>
          </a:p>
          <a:p>
            <a:r>
              <a:rPr lang="en-US" dirty="0"/>
              <a:t>Entrepreneurial behavior involves staying determined despite failures, obstacles, or setbacks.</a:t>
            </a:r>
          </a:p>
          <a:p>
            <a:endParaRPr lang="en-CA" dirty="0"/>
          </a:p>
        </p:txBody>
      </p:sp>
    </p:spTree>
    <p:extLst>
      <p:ext uri="{BB962C8B-B14F-4D97-AF65-F5344CB8AC3E}">
        <p14:creationId xmlns:p14="http://schemas.microsoft.com/office/powerpoint/2010/main" val="14033348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53957-D329-C31B-60CE-7CB9B324F911}"/>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C736E15-198A-28E5-D674-80D968511701}"/>
              </a:ext>
            </a:extLst>
          </p:cNvPr>
          <p:cNvSpPr>
            <a:spLocks noGrp="1"/>
          </p:cNvSpPr>
          <p:nvPr>
            <p:ph idx="1"/>
          </p:nvPr>
        </p:nvSpPr>
        <p:spPr/>
        <p:txBody>
          <a:bodyPr>
            <a:normAutofit/>
          </a:bodyPr>
          <a:lstStyle/>
          <a:p>
            <a:r>
              <a:rPr lang="en-US" b="1" dirty="0"/>
              <a:t>7. Resource Management</a:t>
            </a:r>
          </a:p>
          <a:p>
            <a:r>
              <a:rPr lang="en-US" dirty="0"/>
              <a:t>Ability to mobilize financial, human, and material resources effectively.</a:t>
            </a:r>
          </a:p>
          <a:p>
            <a:r>
              <a:rPr lang="en-US" b="1" dirty="0"/>
              <a:t>8. Decision-Making Skills</a:t>
            </a:r>
          </a:p>
          <a:p>
            <a:r>
              <a:rPr lang="en-US" dirty="0"/>
              <a:t>Entrepreneurs make timely and strategic decisions in uncertain environments.</a:t>
            </a:r>
          </a:p>
          <a:p>
            <a:endParaRPr lang="en-CA" dirty="0"/>
          </a:p>
        </p:txBody>
      </p:sp>
    </p:spTree>
    <p:extLst>
      <p:ext uri="{BB962C8B-B14F-4D97-AF65-F5344CB8AC3E}">
        <p14:creationId xmlns:p14="http://schemas.microsoft.com/office/powerpoint/2010/main" val="16404415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0825A-E296-ECEB-FF1F-5AE11D555BAC}"/>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BD1175BF-4292-A011-C77F-3C3B3731C34E}"/>
              </a:ext>
            </a:extLst>
          </p:cNvPr>
          <p:cNvSpPr>
            <a:spLocks noGrp="1"/>
          </p:cNvSpPr>
          <p:nvPr>
            <p:ph idx="1"/>
          </p:nvPr>
        </p:nvSpPr>
        <p:spPr>
          <a:xfrm>
            <a:off x="838200" y="1042416"/>
            <a:ext cx="10515600" cy="5134547"/>
          </a:xfrm>
        </p:spPr>
        <p:txBody>
          <a:bodyPr/>
          <a:lstStyle/>
          <a:p>
            <a:r>
              <a:rPr lang="en-US" b="1" dirty="0"/>
              <a:t>9. Value Creation</a:t>
            </a:r>
          </a:p>
          <a:p>
            <a:r>
              <a:rPr lang="en-US" dirty="0"/>
              <a:t>Actions aimed at generating economic or social value for customers, communities, or markets.</a:t>
            </a:r>
          </a:p>
          <a:p>
            <a:r>
              <a:rPr lang="en-US" b="1" dirty="0"/>
              <a:t>10. Networking and Collaboration</a:t>
            </a:r>
          </a:p>
          <a:p>
            <a:r>
              <a:rPr lang="en-US" dirty="0"/>
              <a:t>Building relationships with customers, partners, suppliers, and mentors to support business growth.</a:t>
            </a:r>
          </a:p>
          <a:p>
            <a:endParaRPr lang="en-CA" dirty="0"/>
          </a:p>
        </p:txBody>
      </p:sp>
    </p:spTree>
    <p:extLst>
      <p:ext uri="{BB962C8B-B14F-4D97-AF65-F5344CB8AC3E}">
        <p14:creationId xmlns:p14="http://schemas.microsoft.com/office/powerpoint/2010/main" val="11149068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831E8-C828-5E8F-D038-5BD704B72770}"/>
              </a:ext>
            </a:extLst>
          </p:cNvPr>
          <p:cNvSpPr>
            <a:spLocks noGrp="1"/>
          </p:cNvSpPr>
          <p:nvPr>
            <p:ph type="title"/>
          </p:nvPr>
        </p:nvSpPr>
        <p:spPr/>
        <p:txBody>
          <a:bodyPr>
            <a:noAutofit/>
          </a:bodyPr>
          <a:lstStyle/>
          <a:p>
            <a:r>
              <a:rPr lang="en-US" altLang="en-US" sz="3200" b="1" dirty="0">
                <a:latin typeface="Arial" panose="020B0604020202020204" pitchFamily="34" charset="0"/>
              </a:rPr>
              <a:t>Difference Between Entrepreneurial Intention and Entrepreneurial Behavior</a:t>
            </a:r>
            <a:br>
              <a:rPr lang="en-US" altLang="en-US" sz="3200" b="1" dirty="0">
                <a:latin typeface="Arial" panose="020B0604020202020204" pitchFamily="34" charset="0"/>
              </a:rPr>
            </a:br>
            <a:endParaRPr lang="en-CA" sz="3200" dirty="0"/>
          </a:p>
        </p:txBody>
      </p:sp>
      <p:graphicFrame>
        <p:nvGraphicFramePr>
          <p:cNvPr id="4" name="Content Placeholder 3">
            <a:extLst>
              <a:ext uri="{FF2B5EF4-FFF2-40B4-BE49-F238E27FC236}">
                <a16:creationId xmlns:a16="http://schemas.microsoft.com/office/drawing/2014/main" id="{43B8F66A-065D-0E6A-A3D6-B52923486AE8}"/>
              </a:ext>
            </a:extLst>
          </p:cNvPr>
          <p:cNvGraphicFramePr>
            <a:graphicFrameLocks noGrp="1"/>
          </p:cNvGraphicFramePr>
          <p:nvPr>
            <p:ph idx="1"/>
            <p:extLst>
              <p:ext uri="{D42A27DB-BD31-4B8C-83A1-F6EECF244321}">
                <p14:modId xmlns:p14="http://schemas.microsoft.com/office/powerpoint/2010/main" val="2500035145"/>
              </p:ext>
            </p:extLst>
          </p:nvPr>
        </p:nvGraphicFramePr>
        <p:xfrm>
          <a:off x="838200" y="3086894"/>
          <a:ext cx="10515600" cy="1828800"/>
        </p:xfrm>
        <a:graphic>
          <a:graphicData uri="http://schemas.openxmlformats.org/drawingml/2006/table">
            <a:tbl>
              <a:tblPr/>
              <a:tblGrid>
                <a:gridCol w="5257800">
                  <a:extLst>
                    <a:ext uri="{9D8B030D-6E8A-4147-A177-3AD203B41FA5}">
                      <a16:colId xmlns:a16="http://schemas.microsoft.com/office/drawing/2014/main" val="2803205341"/>
                    </a:ext>
                  </a:extLst>
                </a:gridCol>
                <a:gridCol w="5257800">
                  <a:extLst>
                    <a:ext uri="{9D8B030D-6E8A-4147-A177-3AD203B41FA5}">
                      <a16:colId xmlns:a16="http://schemas.microsoft.com/office/drawing/2014/main" val="341354648"/>
                    </a:ext>
                  </a:extLst>
                </a:gridCol>
              </a:tblGrid>
              <a:tr h="0">
                <a:tc>
                  <a:txBody>
                    <a:bodyPr/>
                    <a:lstStyle/>
                    <a:p>
                      <a:pPr>
                        <a:buNone/>
                      </a:pPr>
                      <a:r>
                        <a:rPr lang="en-CA" b="1" dirty="0"/>
                        <a:t>Entrepreneurial Intention</a:t>
                      </a:r>
                      <a:endParaRPr lang="en-CA" dirty="0"/>
                    </a:p>
                  </a:txBody>
                  <a:tcPr anchor="ctr">
                    <a:lnL>
                      <a:noFill/>
                    </a:lnL>
                    <a:lnR>
                      <a:noFill/>
                    </a:lnR>
                    <a:lnT>
                      <a:noFill/>
                    </a:lnT>
                    <a:lnB>
                      <a:noFill/>
                    </a:lnB>
                    <a:noFill/>
                  </a:tcPr>
                </a:tc>
                <a:tc>
                  <a:txBody>
                    <a:bodyPr/>
                    <a:lstStyle/>
                    <a:p>
                      <a:pPr>
                        <a:buNone/>
                      </a:pPr>
                      <a:r>
                        <a:rPr lang="en-CA" b="1"/>
                        <a:t>Entrepreneurial Behavior</a:t>
                      </a:r>
                      <a:endParaRPr lang="en-CA"/>
                    </a:p>
                  </a:txBody>
                  <a:tcPr anchor="ctr">
                    <a:lnL>
                      <a:noFill/>
                    </a:lnL>
                    <a:lnR>
                      <a:noFill/>
                    </a:lnR>
                    <a:lnT>
                      <a:noFill/>
                    </a:lnT>
                    <a:lnB>
                      <a:noFill/>
                    </a:lnB>
                    <a:noFill/>
                  </a:tcPr>
                </a:tc>
                <a:extLst>
                  <a:ext uri="{0D108BD9-81ED-4DB2-BD59-A6C34878D82A}">
                    <a16:rowId xmlns:a16="http://schemas.microsoft.com/office/drawing/2014/main" val="1141083710"/>
                  </a:ext>
                </a:extLst>
              </a:tr>
              <a:tr h="0">
                <a:tc>
                  <a:txBody>
                    <a:bodyPr/>
                    <a:lstStyle/>
                    <a:p>
                      <a:pPr>
                        <a:buNone/>
                      </a:pPr>
                      <a:r>
                        <a:rPr lang="en-US" dirty="0"/>
                        <a:t>A mindset or plan to start a business</a:t>
                      </a:r>
                    </a:p>
                  </a:txBody>
                  <a:tcPr anchor="ctr">
                    <a:lnL>
                      <a:noFill/>
                    </a:lnL>
                    <a:lnR>
                      <a:noFill/>
                    </a:lnR>
                    <a:lnT>
                      <a:noFill/>
                    </a:lnT>
                    <a:lnB>
                      <a:noFill/>
                    </a:lnB>
                    <a:noFill/>
                  </a:tcPr>
                </a:tc>
                <a:tc>
                  <a:txBody>
                    <a:bodyPr/>
                    <a:lstStyle/>
                    <a:p>
                      <a:pPr>
                        <a:buNone/>
                      </a:pPr>
                      <a:r>
                        <a:rPr lang="en-US"/>
                        <a:t>Actual actions taken to start or run a business</a:t>
                      </a:r>
                    </a:p>
                  </a:txBody>
                  <a:tcPr anchor="ctr">
                    <a:lnL>
                      <a:noFill/>
                    </a:lnL>
                    <a:lnR>
                      <a:noFill/>
                    </a:lnR>
                    <a:lnT>
                      <a:noFill/>
                    </a:lnT>
                    <a:lnB>
                      <a:noFill/>
                    </a:lnB>
                    <a:noFill/>
                  </a:tcPr>
                </a:tc>
                <a:extLst>
                  <a:ext uri="{0D108BD9-81ED-4DB2-BD59-A6C34878D82A}">
                    <a16:rowId xmlns:a16="http://schemas.microsoft.com/office/drawing/2014/main" val="3474995308"/>
                  </a:ext>
                </a:extLst>
              </a:tr>
              <a:tr h="0">
                <a:tc>
                  <a:txBody>
                    <a:bodyPr/>
                    <a:lstStyle/>
                    <a:p>
                      <a:pPr>
                        <a:buNone/>
                      </a:pPr>
                      <a:r>
                        <a:rPr lang="en-CA" dirty="0"/>
                        <a:t>Cognitive and motivational</a:t>
                      </a:r>
                    </a:p>
                  </a:txBody>
                  <a:tcPr anchor="ctr">
                    <a:lnL>
                      <a:noFill/>
                    </a:lnL>
                    <a:lnR>
                      <a:noFill/>
                    </a:lnR>
                    <a:lnT>
                      <a:noFill/>
                    </a:lnT>
                    <a:lnB>
                      <a:noFill/>
                    </a:lnB>
                    <a:noFill/>
                  </a:tcPr>
                </a:tc>
                <a:tc>
                  <a:txBody>
                    <a:bodyPr/>
                    <a:lstStyle/>
                    <a:p>
                      <a:pPr>
                        <a:buNone/>
                      </a:pPr>
                      <a:r>
                        <a:rPr lang="en-CA"/>
                        <a:t>Practical and action-oriented</a:t>
                      </a:r>
                    </a:p>
                  </a:txBody>
                  <a:tcPr anchor="ctr">
                    <a:lnL>
                      <a:noFill/>
                    </a:lnL>
                    <a:lnR>
                      <a:noFill/>
                    </a:lnR>
                    <a:lnT>
                      <a:noFill/>
                    </a:lnT>
                    <a:lnB>
                      <a:noFill/>
                    </a:lnB>
                    <a:noFill/>
                  </a:tcPr>
                </a:tc>
                <a:extLst>
                  <a:ext uri="{0D108BD9-81ED-4DB2-BD59-A6C34878D82A}">
                    <a16:rowId xmlns:a16="http://schemas.microsoft.com/office/drawing/2014/main" val="1001450611"/>
                  </a:ext>
                </a:extLst>
              </a:tr>
              <a:tr h="0">
                <a:tc>
                  <a:txBody>
                    <a:bodyPr/>
                    <a:lstStyle/>
                    <a:p>
                      <a:pPr>
                        <a:buNone/>
                      </a:pPr>
                      <a:r>
                        <a:rPr lang="en-CA"/>
                        <a:t>Exists before behaviour occurs</a:t>
                      </a:r>
                    </a:p>
                  </a:txBody>
                  <a:tcPr anchor="ctr">
                    <a:lnL>
                      <a:noFill/>
                    </a:lnL>
                    <a:lnR>
                      <a:noFill/>
                    </a:lnR>
                    <a:lnT>
                      <a:noFill/>
                    </a:lnT>
                    <a:lnB>
                      <a:noFill/>
                    </a:lnB>
                    <a:noFill/>
                  </a:tcPr>
                </a:tc>
                <a:tc>
                  <a:txBody>
                    <a:bodyPr/>
                    <a:lstStyle/>
                    <a:p>
                      <a:pPr>
                        <a:buNone/>
                      </a:pPr>
                      <a:r>
                        <a:rPr lang="en-CA"/>
                        <a:t>Visible through entrepreneurial activities</a:t>
                      </a:r>
                    </a:p>
                  </a:txBody>
                  <a:tcPr anchor="ctr">
                    <a:lnL>
                      <a:noFill/>
                    </a:lnL>
                    <a:lnR>
                      <a:noFill/>
                    </a:lnR>
                    <a:lnT>
                      <a:noFill/>
                    </a:lnT>
                    <a:lnB>
                      <a:noFill/>
                    </a:lnB>
                    <a:noFill/>
                  </a:tcPr>
                </a:tc>
                <a:extLst>
                  <a:ext uri="{0D108BD9-81ED-4DB2-BD59-A6C34878D82A}">
                    <a16:rowId xmlns:a16="http://schemas.microsoft.com/office/drawing/2014/main" val="1098110597"/>
                  </a:ext>
                </a:extLst>
              </a:tr>
              <a:tr h="0">
                <a:tc>
                  <a:txBody>
                    <a:bodyPr/>
                    <a:lstStyle/>
                    <a:p>
                      <a:pPr>
                        <a:buNone/>
                      </a:pPr>
                      <a:r>
                        <a:rPr lang="en-US" dirty="0"/>
                        <a:t>Based on attitudes and intention models</a:t>
                      </a:r>
                    </a:p>
                  </a:txBody>
                  <a:tcPr anchor="ctr">
                    <a:lnL>
                      <a:noFill/>
                    </a:lnL>
                    <a:lnR>
                      <a:noFill/>
                    </a:lnR>
                    <a:lnT>
                      <a:noFill/>
                    </a:lnT>
                    <a:lnB>
                      <a:noFill/>
                    </a:lnB>
                    <a:noFill/>
                  </a:tcPr>
                </a:tc>
                <a:tc>
                  <a:txBody>
                    <a:bodyPr/>
                    <a:lstStyle/>
                    <a:p>
                      <a:pPr>
                        <a:buNone/>
                      </a:pPr>
                      <a:r>
                        <a:rPr lang="en-CA" dirty="0"/>
                        <a:t>Based on observable entrepreneurial practices</a:t>
                      </a:r>
                    </a:p>
                  </a:txBody>
                  <a:tcPr anchor="ctr">
                    <a:lnL>
                      <a:noFill/>
                    </a:lnL>
                    <a:lnR>
                      <a:noFill/>
                    </a:lnR>
                    <a:lnT>
                      <a:noFill/>
                    </a:lnT>
                    <a:lnB>
                      <a:noFill/>
                    </a:lnB>
                    <a:noFill/>
                  </a:tcPr>
                </a:tc>
                <a:extLst>
                  <a:ext uri="{0D108BD9-81ED-4DB2-BD59-A6C34878D82A}">
                    <a16:rowId xmlns:a16="http://schemas.microsoft.com/office/drawing/2014/main" val="89055990"/>
                  </a:ext>
                </a:extLst>
              </a:tr>
            </a:tbl>
          </a:graphicData>
        </a:graphic>
      </p:graphicFrame>
      <p:sp>
        <p:nvSpPr>
          <p:cNvPr id="5" name="Rectangle 1">
            <a:extLst>
              <a:ext uri="{FF2B5EF4-FFF2-40B4-BE49-F238E27FC236}">
                <a16:creationId xmlns:a16="http://schemas.microsoft.com/office/drawing/2014/main" id="{BBC3B581-ADA5-25B4-EDEA-E4872AC81F2E}"/>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921424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11E17-931D-C52C-EDC5-E63FFE80C1F4}"/>
              </a:ext>
            </a:extLst>
          </p:cNvPr>
          <p:cNvSpPr>
            <a:spLocks noGrp="1"/>
          </p:cNvSpPr>
          <p:nvPr>
            <p:ph type="title"/>
          </p:nvPr>
        </p:nvSpPr>
        <p:spPr/>
        <p:txBody>
          <a:bodyPr/>
          <a:lstStyle/>
          <a:p>
            <a:pPr marL="0" marR="0" lvl="0" indent="0" defTabSz="914400" rtl="0" eaLnBrk="0" fontAlgn="base" latinLnBrk="0" hangingPunct="0">
              <a:lnSpc>
                <a:spcPct val="100000"/>
              </a:lnSpc>
              <a:spcBef>
                <a:spcPct val="0"/>
              </a:spcBef>
              <a:spcAft>
                <a:spcPct val="0"/>
              </a:spcAft>
              <a:tabLst/>
              <a:defRPr/>
            </a:pPr>
            <a:r>
              <a:rPr lang="en-US" altLang="en-US" sz="1800" b="1" dirty="0">
                <a:solidFill>
                  <a:prstClr val="black"/>
                </a:solidFill>
                <a:latin typeface="Arial" panose="020B0604020202020204" pitchFamily="34" charset="0"/>
                <a:ea typeface="+mn-ea"/>
                <a:cs typeface="+mn-cs"/>
              </a:rPr>
              <a:t>C</a:t>
            </a:r>
            <a:r>
              <a:rPr kumimoji="0" lang="en-US" altLang="en-US" sz="1800" b="1"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omparison</a:t>
            </a:r>
            <a:r>
              <a:rPr kumimoji="0" lang="en-US" alt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between Entrepreneurship and Employment</a:t>
            </a: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across key aspects </a:t>
            </a:r>
            <a:b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br>
            <a:endParaRPr lang="en-CA" dirty="0"/>
          </a:p>
        </p:txBody>
      </p:sp>
      <p:graphicFrame>
        <p:nvGraphicFramePr>
          <p:cNvPr id="4" name="Content Placeholder 3">
            <a:extLst>
              <a:ext uri="{FF2B5EF4-FFF2-40B4-BE49-F238E27FC236}">
                <a16:creationId xmlns:a16="http://schemas.microsoft.com/office/drawing/2014/main" id="{3A7B704E-7237-8692-9FE2-A6C9F87D93E0}"/>
              </a:ext>
            </a:extLst>
          </p:cNvPr>
          <p:cNvGraphicFramePr>
            <a:graphicFrameLocks noGrp="1"/>
          </p:cNvGraphicFramePr>
          <p:nvPr>
            <p:ph idx="1"/>
            <p:extLst>
              <p:ext uri="{D42A27DB-BD31-4B8C-83A1-F6EECF244321}">
                <p14:modId xmlns:p14="http://schemas.microsoft.com/office/powerpoint/2010/main" val="3483816598"/>
              </p:ext>
            </p:extLst>
          </p:nvPr>
        </p:nvGraphicFramePr>
        <p:xfrm>
          <a:off x="100584" y="1088136"/>
          <a:ext cx="11987784" cy="6891180"/>
        </p:xfrm>
        <a:graphic>
          <a:graphicData uri="http://schemas.openxmlformats.org/drawingml/2006/table">
            <a:tbl>
              <a:tblPr/>
              <a:tblGrid>
                <a:gridCol w="2356377">
                  <a:extLst>
                    <a:ext uri="{9D8B030D-6E8A-4147-A177-3AD203B41FA5}">
                      <a16:colId xmlns:a16="http://schemas.microsoft.com/office/drawing/2014/main" val="2489168264"/>
                    </a:ext>
                  </a:extLst>
                </a:gridCol>
                <a:gridCol w="5635479">
                  <a:extLst>
                    <a:ext uri="{9D8B030D-6E8A-4147-A177-3AD203B41FA5}">
                      <a16:colId xmlns:a16="http://schemas.microsoft.com/office/drawing/2014/main" val="1171157256"/>
                    </a:ext>
                  </a:extLst>
                </a:gridCol>
                <a:gridCol w="3995928">
                  <a:extLst>
                    <a:ext uri="{9D8B030D-6E8A-4147-A177-3AD203B41FA5}">
                      <a16:colId xmlns:a16="http://schemas.microsoft.com/office/drawing/2014/main" val="848857087"/>
                    </a:ext>
                  </a:extLst>
                </a:gridCol>
              </a:tblGrid>
              <a:tr h="259156">
                <a:tc>
                  <a:txBody>
                    <a:bodyPr/>
                    <a:lstStyle/>
                    <a:p>
                      <a:pPr>
                        <a:buNone/>
                      </a:pPr>
                      <a:r>
                        <a:rPr lang="en-CA" sz="1800" b="1"/>
                        <a:t>Aspect</a:t>
                      </a:r>
                      <a:endParaRPr lang="en-CA" sz="1800"/>
                    </a:p>
                  </a:txBody>
                  <a:tcPr marL="38507" marR="38507" marT="19254" marB="19254" anchor="ctr">
                    <a:lnL>
                      <a:noFill/>
                    </a:lnL>
                    <a:lnR>
                      <a:noFill/>
                    </a:lnR>
                    <a:lnT>
                      <a:noFill/>
                    </a:lnT>
                    <a:lnB>
                      <a:noFill/>
                    </a:lnB>
                    <a:noFill/>
                  </a:tcPr>
                </a:tc>
                <a:tc>
                  <a:txBody>
                    <a:bodyPr/>
                    <a:lstStyle/>
                    <a:p>
                      <a:pPr>
                        <a:buNone/>
                      </a:pPr>
                      <a:r>
                        <a:rPr lang="en-CA" sz="1800" b="1" dirty="0"/>
                        <a:t>Entrepreneurship</a:t>
                      </a:r>
                      <a:endParaRPr lang="en-CA" sz="1800" dirty="0"/>
                    </a:p>
                  </a:txBody>
                  <a:tcPr marL="38507" marR="38507" marT="19254" marB="19254" anchor="ctr">
                    <a:lnL>
                      <a:noFill/>
                    </a:lnL>
                    <a:lnR>
                      <a:noFill/>
                    </a:lnR>
                    <a:lnT>
                      <a:noFill/>
                    </a:lnT>
                    <a:lnB>
                      <a:noFill/>
                    </a:lnB>
                    <a:noFill/>
                  </a:tcPr>
                </a:tc>
                <a:tc>
                  <a:txBody>
                    <a:bodyPr/>
                    <a:lstStyle/>
                    <a:p>
                      <a:pPr>
                        <a:buNone/>
                      </a:pPr>
                      <a:r>
                        <a:rPr lang="en-CA" sz="1800" b="1" dirty="0"/>
                        <a:t>Employment</a:t>
                      </a:r>
                      <a:endParaRPr lang="en-CA" sz="1800" dirty="0"/>
                    </a:p>
                  </a:txBody>
                  <a:tcPr marL="38507" marR="38507" marT="19254" marB="19254" anchor="ctr">
                    <a:lnL>
                      <a:noFill/>
                    </a:lnL>
                    <a:lnR>
                      <a:noFill/>
                    </a:lnR>
                    <a:lnT>
                      <a:noFill/>
                    </a:lnT>
                    <a:lnB>
                      <a:noFill/>
                    </a:lnB>
                    <a:noFill/>
                  </a:tcPr>
                </a:tc>
                <a:extLst>
                  <a:ext uri="{0D108BD9-81ED-4DB2-BD59-A6C34878D82A}">
                    <a16:rowId xmlns:a16="http://schemas.microsoft.com/office/drawing/2014/main" val="2135350985"/>
                  </a:ext>
                </a:extLst>
              </a:tr>
              <a:tr h="713667">
                <a:tc>
                  <a:txBody>
                    <a:bodyPr/>
                    <a:lstStyle/>
                    <a:p>
                      <a:pPr>
                        <a:buNone/>
                      </a:pPr>
                      <a:r>
                        <a:rPr lang="en-CA" sz="1800" b="1" dirty="0"/>
                        <a:t>Definition</a:t>
                      </a:r>
                      <a:endParaRPr lang="en-CA" sz="1800" dirty="0"/>
                    </a:p>
                  </a:txBody>
                  <a:tcPr marL="38507" marR="38507" marT="19254" marB="19254" anchor="ctr">
                    <a:lnL>
                      <a:noFill/>
                    </a:lnL>
                    <a:lnR>
                      <a:noFill/>
                    </a:lnR>
                    <a:lnT>
                      <a:noFill/>
                    </a:lnT>
                    <a:lnB>
                      <a:noFill/>
                    </a:lnB>
                    <a:noFill/>
                  </a:tcPr>
                </a:tc>
                <a:tc>
                  <a:txBody>
                    <a:bodyPr/>
                    <a:lstStyle/>
                    <a:p>
                      <a:pPr>
                        <a:buNone/>
                      </a:pPr>
                      <a:r>
                        <a:rPr lang="en-US" sz="1800" dirty="0"/>
                        <a:t>The process of starting and running your own business or venture.</a:t>
                      </a:r>
                    </a:p>
                  </a:txBody>
                  <a:tcPr marL="38507" marR="38507" marT="19254" marB="19254" anchor="ctr">
                    <a:lnL>
                      <a:noFill/>
                    </a:lnL>
                    <a:lnR>
                      <a:noFill/>
                    </a:lnR>
                    <a:lnT>
                      <a:noFill/>
                    </a:lnT>
                    <a:lnB>
                      <a:noFill/>
                    </a:lnB>
                    <a:noFill/>
                  </a:tcPr>
                </a:tc>
                <a:tc>
                  <a:txBody>
                    <a:bodyPr/>
                    <a:lstStyle/>
                    <a:p>
                      <a:pPr>
                        <a:buNone/>
                      </a:pPr>
                      <a:r>
                        <a:rPr lang="en-US" sz="1800" dirty="0"/>
                        <a:t>Working for another person or organization in exchange for a salary or wages.</a:t>
                      </a:r>
                    </a:p>
                  </a:txBody>
                  <a:tcPr marL="38507" marR="38507" marT="19254" marB="19254" anchor="ctr">
                    <a:lnL>
                      <a:noFill/>
                    </a:lnL>
                    <a:lnR>
                      <a:noFill/>
                    </a:lnR>
                    <a:lnT>
                      <a:noFill/>
                    </a:lnT>
                    <a:lnB>
                      <a:noFill/>
                    </a:lnB>
                    <a:noFill/>
                  </a:tcPr>
                </a:tc>
                <a:extLst>
                  <a:ext uri="{0D108BD9-81ED-4DB2-BD59-A6C34878D82A}">
                    <a16:rowId xmlns:a16="http://schemas.microsoft.com/office/drawing/2014/main" val="3488975154"/>
                  </a:ext>
                </a:extLst>
              </a:tr>
              <a:tr h="486411">
                <a:tc>
                  <a:txBody>
                    <a:bodyPr/>
                    <a:lstStyle/>
                    <a:p>
                      <a:pPr>
                        <a:buNone/>
                      </a:pPr>
                      <a:r>
                        <a:rPr lang="en-CA" sz="1800" b="1"/>
                        <a:t>Nature of Work</a:t>
                      </a:r>
                      <a:endParaRPr lang="en-CA" sz="1800"/>
                    </a:p>
                  </a:txBody>
                  <a:tcPr marL="38507" marR="38507" marT="19254" marB="19254" anchor="ctr">
                    <a:lnL>
                      <a:noFill/>
                    </a:lnL>
                    <a:lnR>
                      <a:noFill/>
                    </a:lnR>
                    <a:lnT>
                      <a:noFill/>
                    </a:lnT>
                    <a:lnB>
                      <a:noFill/>
                    </a:lnB>
                    <a:noFill/>
                  </a:tcPr>
                </a:tc>
                <a:tc>
                  <a:txBody>
                    <a:bodyPr/>
                    <a:lstStyle/>
                    <a:p>
                      <a:pPr>
                        <a:buNone/>
                      </a:pPr>
                      <a:r>
                        <a:rPr lang="en-US" sz="1800" dirty="0"/>
                        <a:t>Self-directed — the entrepreneur creates and manages their own projects.</a:t>
                      </a:r>
                    </a:p>
                  </a:txBody>
                  <a:tcPr marL="38507" marR="38507" marT="19254" marB="19254" anchor="ctr">
                    <a:lnL>
                      <a:noFill/>
                    </a:lnL>
                    <a:lnR>
                      <a:noFill/>
                    </a:lnR>
                    <a:lnT>
                      <a:noFill/>
                    </a:lnT>
                    <a:lnB>
                      <a:noFill/>
                    </a:lnB>
                    <a:noFill/>
                  </a:tcPr>
                </a:tc>
                <a:tc>
                  <a:txBody>
                    <a:bodyPr/>
                    <a:lstStyle/>
                    <a:p>
                      <a:pPr>
                        <a:buNone/>
                      </a:pPr>
                      <a:r>
                        <a:rPr lang="en-US" sz="1800"/>
                        <a:t>Directed by employer — tasks and goals are assigned by superiors.</a:t>
                      </a:r>
                    </a:p>
                  </a:txBody>
                  <a:tcPr marL="38507" marR="38507" marT="19254" marB="19254" anchor="ctr">
                    <a:lnL>
                      <a:noFill/>
                    </a:lnL>
                    <a:lnR>
                      <a:noFill/>
                    </a:lnR>
                    <a:lnT>
                      <a:noFill/>
                    </a:lnT>
                    <a:lnB>
                      <a:noFill/>
                    </a:lnB>
                    <a:noFill/>
                  </a:tcPr>
                </a:tc>
                <a:extLst>
                  <a:ext uri="{0D108BD9-81ED-4DB2-BD59-A6C34878D82A}">
                    <a16:rowId xmlns:a16="http://schemas.microsoft.com/office/drawing/2014/main" val="1716013321"/>
                  </a:ext>
                </a:extLst>
              </a:tr>
              <a:tr h="486411">
                <a:tc>
                  <a:txBody>
                    <a:bodyPr/>
                    <a:lstStyle/>
                    <a:p>
                      <a:pPr>
                        <a:buNone/>
                      </a:pPr>
                      <a:r>
                        <a:rPr lang="en-CA" sz="1800" b="1" dirty="0"/>
                        <a:t>Risk</a:t>
                      </a:r>
                      <a:endParaRPr lang="en-CA" sz="1800" dirty="0"/>
                    </a:p>
                  </a:txBody>
                  <a:tcPr marL="38507" marR="38507" marT="19254" marB="19254" anchor="ctr">
                    <a:lnL>
                      <a:noFill/>
                    </a:lnL>
                    <a:lnR>
                      <a:noFill/>
                    </a:lnR>
                    <a:lnT>
                      <a:noFill/>
                    </a:lnT>
                    <a:lnB>
                      <a:noFill/>
                    </a:lnB>
                    <a:noFill/>
                  </a:tcPr>
                </a:tc>
                <a:tc>
                  <a:txBody>
                    <a:bodyPr/>
                    <a:lstStyle/>
                    <a:p>
                      <a:pPr>
                        <a:buNone/>
                      </a:pPr>
                      <a:r>
                        <a:rPr lang="en-US" sz="1800" dirty="0"/>
                        <a:t>High — entrepreneurs invest their own money, time, and reputation.</a:t>
                      </a:r>
                    </a:p>
                  </a:txBody>
                  <a:tcPr marL="38507" marR="38507" marT="19254" marB="19254" anchor="ctr">
                    <a:lnL>
                      <a:noFill/>
                    </a:lnL>
                    <a:lnR>
                      <a:noFill/>
                    </a:lnR>
                    <a:lnT>
                      <a:noFill/>
                    </a:lnT>
                    <a:lnB>
                      <a:noFill/>
                    </a:lnB>
                    <a:noFill/>
                  </a:tcPr>
                </a:tc>
                <a:tc>
                  <a:txBody>
                    <a:bodyPr/>
                    <a:lstStyle/>
                    <a:p>
                      <a:pPr>
                        <a:buNone/>
                      </a:pPr>
                      <a:r>
                        <a:rPr lang="en-US" sz="1800"/>
                        <a:t>Low — financial risk is borne by the employer, not the employee.</a:t>
                      </a:r>
                    </a:p>
                  </a:txBody>
                  <a:tcPr marL="38507" marR="38507" marT="19254" marB="19254" anchor="ctr">
                    <a:lnL>
                      <a:noFill/>
                    </a:lnL>
                    <a:lnR>
                      <a:noFill/>
                    </a:lnR>
                    <a:lnT>
                      <a:noFill/>
                    </a:lnT>
                    <a:lnB>
                      <a:noFill/>
                    </a:lnB>
                    <a:noFill/>
                  </a:tcPr>
                </a:tc>
                <a:extLst>
                  <a:ext uri="{0D108BD9-81ED-4DB2-BD59-A6C34878D82A}">
                    <a16:rowId xmlns:a16="http://schemas.microsoft.com/office/drawing/2014/main" val="542420818"/>
                  </a:ext>
                </a:extLst>
              </a:tr>
              <a:tr h="486411">
                <a:tc>
                  <a:txBody>
                    <a:bodyPr/>
                    <a:lstStyle/>
                    <a:p>
                      <a:pPr>
                        <a:buNone/>
                      </a:pPr>
                      <a:r>
                        <a:rPr lang="en-CA" sz="1800" b="1" dirty="0"/>
                        <a:t>Income</a:t>
                      </a:r>
                      <a:endParaRPr lang="en-CA" sz="1800" dirty="0"/>
                    </a:p>
                  </a:txBody>
                  <a:tcPr marL="38507" marR="38507" marT="19254" marB="19254" anchor="ctr">
                    <a:lnL>
                      <a:noFill/>
                    </a:lnL>
                    <a:lnR>
                      <a:noFill/>
                    </a:lnR>
                    <a:lnT>
                      <a:noFill/>
                    </a:lnT>
                    <a:lnB>
                      <a:noFill/>
                    </a:lnB>
                    <a:noFill/>
                  </a:tcPr>
                </a:tc>
                <a:tc>
                  <a:txBody>
                    <a:bodyPr/>
                    <a:lstStyle/>
                    <a:p>
                      <a:pPr>
                        <a:buNone/>
                      </a:pPr>
                      <a:r>
                        <a:rPr lang="en-US" sz="1800"/>
                        <a:t>Variable — depends on business performance; can be unlimited.</a:t>
                      </a:r>
                    </a:p>
                  </a:txBody>
                  <a:tcPr marL="38507" marR="38507" marT="19254" marB="19254" anchor="ctr">
                    <a:lnL>
                      <a:noFill/>
                    </a:lnL>
                    <a:lnR>
                      <a:noFill/>
                    </a:lnR>
                    <a:lnT>
                      <a:noFill/>
                    </a:lnT>
                    <a:lnB>
                      <a:noFill/>
                    </a:lnB>
                    <a:noFill/>
                  </a:tcPr>
                </a:tc>
                <a:tc>
                  <a:txBody>
                    <a:bodyPr/>
                    <a:lstStyle/>
                    <a:p>
                      <a:pPr>
                        <a:buNone/>
                      </a:pPr>
                      <a:r>
                        <a:rPr lang="en-US" sz="1800" dirty="0"/>
                        <a:t>Fixed — steady salary or wages with possible bonuses.</a:t>
                      </a:r>
                    </a:p>
                  </a:txBody>
                  <a:tcPr marL="38507" marR="38507" marT="19254" marB="19254" anchor="ctr">
                    <a:lnL>
                      <a:noFill/>
                    </a:lnL>
                    <a:lnR>
                      <a:noFill/>
                    </a:lnR>
                    <a:lnT>
                      <a:noFill/>
                    </a:lnT>
                    <a:lnB>
                      <a:noFill/>
                    </a:lnB>
                    <a:noFill/>
                  </a:tcPr>
                </a:tc>
                <a:extLst>
                  <a:ext uri="{0D108BD9-81ED-4DB2-BD59-A6C34878D82A}">
                    <a16:rowId xmlns:a16="http://schemas.microsoft.com/office/drawing/2014/main" val="2468835307"/>
                  </a:ext>
                </a:extLst>
              </a:tr>
              <a:tr h="486411">
                <a:tc>
                  <a:txBody>
                    <a:bodyPr/>
                    <a:lstStyle/>
                    <a:p>
                      <a:pPr>
                        <a:buNone/>
                      </a:pPr>
                      <a:r>
                        <a:rPr lang="en-CA" sz="1800" b="1" dirty="0"/>
                        <a:t>Decision-Making</a:t>
                      </a:r>
                      <a:endParaRPr lang="en-CA" sz="1800" dirty="0"/>
                    </a:p>
                  </a:txBody>
                  <a:tcPr marL="38507" marR="38507" marT="19254" marB="19254" anchor="ctr">
                    <a:lnL>
                      <a:noFill/>
                    </a:lnL>
                    <a:lnR>
                      <a:noFill/>
                    </a:lnR>
                    <a:lnT>
                      <a:noFill/>
                    </a:lnT>
                    <a:lnB>
                      <a:noFill/>
                    </a:lnB>
                    <a:noFill/>
                  </a:tcPr>
                </a:tc>
                <a:tc>
                  <a:txBody>
                    <a:bodyPr/>
                    <a:lstStyle/>
                    <a:p>
                      <a:pPr>
                        <a:buNone/>
                      </a:pPr>
                      <a:r>
                        <a:rPr lang="en-US" sz="1800" dirty="0"/>
                        <a:t>Independent — full control over business decisions.</a:t>
                      </a:r>
                    </a:p>
                  </a:txBody>
                  <a:tcPr marL="38507" marR="38507" marT="19254" marB="19254" anchor="ctr">
                    <a:lnL>
                      <a:noFill/>
                    </a:lnL>
                    <a:lnR>
                      <a:noFill/>
                    </a:lnR>
                    <a:lnT>
                      <a:noFill/>
                    </a:lnT>
                    <a:lnB>
                      <a:noFill/>
                    </a:lnB>
                    <a:noFill/>
                  </a:tcPr>
                </a:tc>
                <a:tc>
                  <a:txBody>
                    <a:bodyPr/>
                    <a:lstStyle/>
                    <a:p>
                      <a:pPr>
                        <a:buNone/>
                      </a:pPr>
                      <a:r>
                        <a:rPr lang="en-US" sz="1800"/>
                        <a:t>Limited — decisions are made within the scope of assigned duties.</a:t>
                      </a:r>
                    </a:p>
                  </a:txBody>
                  <a:tcPr marL="38507" marR="38507" marT="19254" marB="19254" anchor="ctr">
                    <a:lnL>
                      <a:noFill/>
                    </a:lnL>
                    <a:lnR>
                      <a:noFill/>
                    </a:lnR>
                    <a:lnT>
                      <a:noFill/>
                    </a:lnT>
                    <a:lnB>
                      <a:noFill/>
                    </a:lnB>
                    <a:noFill/>
                  </a:tcPr>
                </a:tc>
                <a:extLst>
                  <a:ext uri="{0D108BD9-81ED-4DB2-BD59-A6C34878D82A}">
                    <a16:rowId xmlns:a16="http://schemas.microsoft.com/office/drawing/2014/main" val="3737205361"/>
                  </a:ext>
                </a:extLst>
              </a:tr>
              <a:tr h="486411">
                <a:tc>
                  <a:txBody>
                    <a:bodyPr/>
                    <a:lstStyle/>
                    <a:p>
                      <a:pPr>
                        <a:buNone/>
                      </a:pPr>
                      <a:r>
                        <a:rPr lang="en-CA" sz="1800" b="1"/>
                        <a:t>Working Hours</a:t>
                      </a:r>
                      <a:endParaRPr lang="en-CA" sz="1800"/>
                    </a:p>
                  </a:txBody>
                  <a:tcPr marL="38507" marR="38507" marT="19254" marB="19254" anchor="ctr">
                    <a:lnL>
                      <a:noFill/>
                    </a:lnL>
                    <a:lnR>
                      <a:noFill/>
                    </a:lnR>
                    <a:lnT>
                      <a:noFill/>
                    </a:lnT>
                    <a:lnB>
                      <a:noFill/>
                    </a:lnB>
                    <a:noFill/>
                  </a:tcPr>
                </a:tc>
                <a:tc>
                  <a:txBody>
                    <a:bodyPr/>
                    <a:lstStyle/>
                    <a:p>
                      <a:pPr>
                        <a:buNone/>
                      </a:pPr>
                      <a:r>
                        <a:rPr lang="en-US" sz="1800" dirty="0"/>
                        <a:t>Flexible but often long and irregular.</a:t>
                      </a:r>
                    </a:p>
                  </a:txBody>
                  <a:tcPr marL="38507" marR="38507" marT="19254" marB="19254" anchor="ctr">
                    <a:lnL>
                      <a:noFill/>
                    </a:lnL>
                    <a:lnR>
                      <a:noFill/>
                    </a:lnR>
                    <a:lnT>
                      <a:noFill/>
                    </a:lnT>
                    <a:lnB>
                      <a:noFill/>
                    </a:lnB>
                    <a:noFill/>
                  </a:tcPr>
                </a:tc>
                <a:tc>
                  <a:txBody>
                    <a:bodyPr/>
                    <a:lstStyle/>
                    <a:p>
                      <a:pPr>
                        <a:buNone/>
                      </a:pPr>
                      <a:r>
                        <a:rPr lang="en-US" sz="1800" dirty="0"/>
                        <a:t>Fixed — typically standard working hours (e.g., 10–6).</a:t>
                      </a:r>
                    </a:p>
                  </a:txBody>
                  <a:tcPr marL="38507" marR="38507" marT="19254" marB="19254" anchor="ctr">
                    <a:lnL>
                      <a:noFill/>
                    </a:lnL>
                    <a:lnR>
                      <a:noFill/>
                    </a:lnR>
                    <a:lnT>
                      <a:noFill/>
                    </a:lnT>
                    <a:lnB>
                      <a:noFill/>
                    </a:lnB>
                    <a:noFill/>
                  </a:tcPr>
                </a:tc>
                <a:extLst>
                  <a:ext uri="{0D108BD9-81ED-4DB2-BD59-A6C34878D82A}">
                    <a16:rowId xmlns:a16="http://schemas.microsoft.com/office/drawing/2014/main" val="3301970057"/>
                  </a:ext>
                </a:extLst>
              </a:tr>
              <a:tr h="486411">
                <a:tc>
                  <a:txBody>
                    <a:bodyPr/>
                    <a:lstStyle/>
                    <a:p>
                      <a:pPr>
                        <a:buNone/>
                      </a:pPr>
                      <a:r>
                        <a:rPr lang="en-CA" sz="1800" b="1" dirty="0"/>
                        <a:t>Job Security</a:t>
                      </a:r>
                      <a:endParaRPr lang="en-CA" sz="1800" dirty="0"/>
                    </a:p>
                  </a:txBody>
                  <a:tcPr marL="38507" marR="38507" marT="19254" marB="19254" anchor="ctr">
                    <a:lnL>
                      <a:noFill/>
                    </a:lnL>
                    <a:lnR>
                      <a:noFill/>
                    </a:lnR>
                    <a:lnT>
                      <a:noFill/>
                    </a:lnT>
                    <a:lnB>
                      <a:noFill/>
                    </a:lnB>
                    <a:noFill/>
                  </a:tcPr>
                </a:tc>
                <a:tc>
                  <a:txBody>
                    <a:bodyPr/>
                    <a:lstStyle/>
                    <a:p>
                      <a:pPr>
                        <a:buNone/>
                      </a:pPr>
                      <a:r>
                        <a:rPr lang="en-US" sz="1800" dirty="0"/>
                        <a:t>Uncertain — success depends on market conditions and business success.</a:t>
                      </a:r>
                    </a:p>
                  </a:txBody>
                  <a:tcPr marL="38507" marR="38507" marT="19254" marB="19254" anchor="ctr">
                    <a:lnL>
                      <a:noFill/>
                    </a:lnL>
                    <a:lnR>
                      <a:noFill/>
                    </a:lnR>
                    <a:lnT>
                      <a:noFill/>
                    </a:lnT>
                    <a:lnB>
                      <a:noFill/>
                    </a:lnB>
                    <a:noFill/>
                  </a:tcPr>
                </a:tc>
                <a:tc>
                  <a:txBody>
                    <a:bodyPr/>
                    <a:lstStyle/>
                    <a:p>
                      <a:pPr>
                        <a:buNone/>
                      </a:pPr>
                      <a:r>
                        <a:rPr lang="en-US" sz="1800" dirty="0"/>
                        <a:t>Relatively stable — depends on company performance and employee performance.</a:t>
                      </a:r>
                    </a:p>
                  </a:txBody>
                  <a:tcPr marL="38507" marR="38507" marT="19254" marB="19254" anchor="ctr">
                    <a:lnL>
                      <a:noFill/>
                    </a:lnL>
                    <a:lnR>
                      <a:noFill/>
                    </a:lnR>
                    <a:lnT>
                      <a:noFill/>
                    </a:lnT>
                    <a:lnB>
                      <a:noFill/>
                    </a:lnB>
                    <a:noFill/>
                  </a:tcPr>
                </a:tc>
                <a:extLst>
                  <a:ext uri="{0D108BD9-81ED-4DB2-BD59-A6C34878D82A}">
                    <a16:rowId xmlns:a16="http://schemas.microsoft.com/office/drawing/2014/main" val="158103171"/>
                  </a:ext>
                </a:extLst>
              </a:tr>
              <a:tr h="486411">
                <a:tc>
                  <a:txBody>
                    <a:bodyPr/>
                    <a:lstStyle/>
                    <a:p>
                      <a:pPr>
                        <a:buNone/>
                      </a:pPr>
                      <a:r>
                        <a:rPr lang="en-CA" sz="1800" b="1" dirty="0"/>
                        <a:t>Creativity and Innovation</a:t>
                      </a:r>
                      <a:endParaRPr lang="en-CA" sz="1800" dirty="0"/>
                    </a:p>
                  </a:txBody>
                  <a:tcPr marL="38507" marR="38507" marT="19254" marB="19254" anchor="ctr">
                    <a:lnL>
                      <a:noFill/>
                    </a:lnL>
                    <a:lnR>
                      <a:noFill/>
                    </a:lnR>
                    <a:lnT>
                      <a:noFill/>
                    </a:lnT>
                    <a:lnB>
                      <a:noFill/>
                    </a:lnB>
                    <a:noFill/>
                  </a:tcPr>
                </a:tc>
                <a:tc>
                  <a:txBody>
                    <a:bodyPr/>
                    <a:lstStyle/>
                    <a:p>
                      <a:pPr>
                        <a:buNone/>
                      </a:pPr>
                      <a:r>
                        <a:rPr lang="en-US" sz="1800" dirty="0"/>
                        <a:t>High — entrepreneurs often innovate to create new products or services.</a:t>
                      </a:r>
                    </a:p>
                  </a:txBody>
                  <a:tcPr marL="38507" marR="38507" marT="19254" marB="19254" anchor="ctr">
                    <a:lnL>
                      <a:noFill/>
                    </a:lnL>
                    <a:lnR>
                      <a:noFill/>
                    </a:lnR>
                    <a:lnT>
                      <a:noFill/>
                    </a:lnT>
                    <a:lnB>
                      <a:noFill/>
                    </a:lnB>
                    <a:noFill/>
                  </a:tcPr>
                </a:tc>
                <a:tc>
                  <a:txBody>
                    <a:bodyPr/>
                    <a:lstStyle/>
                    <a:p>
                      <a:pPr>
                        <a:buNone/>
                      </a:pPr>
                      <a:r>
                        <a:rPr lang="en-US" sz="1800"/>
                        <a:t>Moderate — innovation is within job roles and company policies.</a:t>
                      </a:r>
                    </a:p>
                  </a:txBody>
                  <a:tcPr marL="38507" marR="38507" marT="19254" marB="19254" anchor="ctr">
                    <a:lnL>
                      <a:noFill/>
                    </a:lnL>
                    <a:lnR>
                      <a:noFill/>
                    </a:lnR>
                    <a:lnT>
                      <a:noFill/>
                    </a:lnT>
                    <a:lnB>
                      <a:noFill/>
                    </a:lnB>
                    <a:noFill/>
                  </a:tcPr>
                </a:tc>
                <a:extLst>
                  <a:ext uri="{0D108BD9-81ED-4DB2-BD59-A6C34878D82A}">
                    <a16:rowId xmlns:a16="http://schemas.microsoft.com/office/drawing/2014/main" val="1098888828"/>
                  </a:ext>
                </a:extLst>
              </a:tr>
              <a:tr h="355536">
                <a:tc>
                  <a:txBody>
                    <a:bodyPr/>
                    <a:lstStyle/>
                    <a:p>
                      <a:pPr>
                        <a:buNone/>
                      </a:pPr>
                      <a:endParaRPr lang="en-CA" sz="1800" dirty="0"/>
                    </a:p>
                  </a:txBody>
                  <a:tcPr marL="38507" marR="38507" marT="19254" marB="19254" anchor="ctr">
                    <a:lnL>
                      <a:noFill/>
                    </a:lnL>
                    <a:lnR>
                      <a:noFill/>
                    </a:lnR>
                    <a:lnT>
                      <a:noFill/>
                    </a:lnT>
                    <a:lnB>
                      <a:noFill/>
                    </a:lnB>
                    <a:noFill/>
                  </a:tcPr>
                </a:tc>
                <a:tc>
                  <a:txBody>
                    <a:bodyPr/>
                    <a:lstStyle/>
                    <a:p>
                      <a:pPr>
                        <a:buNone/>
                      </a:pPr>
                      <a:endParaRPr lang="en-US" sz="1800" dirty="0"/>
                    </a:p>
                  </a:txBody>
                  <a:tcPr marL="38507" marR="38507" marT="19254" marB="19254" anchor="ctr">
                    <a:lnL>
                      <a:noFill/>
                    </a:lnL>
                    <a:lnR>
                      <a:noFill/>
                    </a:lnR>
                    <a:lnT>
                      <a:noFill/>
                    </a:lnT>
                    <a:lnB>
                      <a:noFill/>
                    </a:lnB>
                    <a:noFill/>
                  </a:tcPr>
                </a:tc>
                <a:tc>
                  <a:txBody>
                    <a:bodyPr/>
                    <a:lstStyle/>
                    <a:p>
                      <a:pPr>
                        <a:buNone/>
                      </a:pPr>
                      <a:endParaRPr lang="en-US" sz="1800" dirty="0"/>
                    </a:p>
                  </a:txBody>
                  <a:tcPr marL="38507" marR="38507" marT="19254" marB="19254" anchor="ctr">
                    <a:lnL>
                      <a:noFill/>
                    </a:lnL>
                    <a:lnR>
                      <a:noFill/>
                    </a:lnR>
                    <a:lnT>
                      <a:noFill/>
                    </a:lnT>
                    <a:lnB>
                      <a:noFill/>
                    </a:lnB>
                    <a:noFill/>
                  </a:tcPr>
                </a:tc>
                <a:extLst>
                  <a:ext uri="{0D108BD9-81ED-4DB2-BD59-A6C34878D82A}">
                    <a16:rowId xmlns:a16="http://schemas.microsoft.com/office/drawing/2014/main" val="286929237"/>
                  </a:ext>
                </a:extLst>
              </a:tr>
              <a:tr h="259156">
                <a:tc>
                  <a:txBody>
                    <a:bodyPr/>
                    <a:lstStyle/>
                    <a:p>
                      <a:pPr>
                        <a:buNone/>
                      </a:pPr>
                      <a:endParaRPr lang="en-CA" sz="1800" dirty="0"/>
                    </a:p>
                  </a:txBody>
                  <a:tcPr marL="38507" marR="38507" marT="19254" marB="19254" anchor="ctr">
                    <a:lnL>
                      <a:noFill/>
                    </a:lnL>
                    <a:lnR>
                      <a:noFill/>
                    </a:lnR>
                    <a:lnT>
                      <a:noFill/>
                    </a:lnT>
                    <a:lnB>
                      <a:noFill/>
                    </a:lnB>
                    <a:noFill/>
                  </a:tcPr>
                </a:tc>
                <a:tc>
                  <a:txBody>
                    <a:bodyPr/>
                    <a:lstStyle/>
                    <a:p>
                      <a:pPr>
                        <a:buNone/>
                      </a:pPr>
                      <a:endParaRPr lang="en-US" sz="1800" dirty="0"/>
                    </a:p>
                  </a:txBody>
                  <a:tcPr marL="38507" marR="38507" marT="19254" marB="19254" anchor="ctr">
                    <a:lnL>
                      <a:noFill/>
                    </a:lnL>
                    <a:lnR>
                      <a:noFill/>
                    </a:lnR>
                    <a:lnT>
                      <a:noFill/>
                    </a:lnT>
                    <a:lnB>
                      <a:noFill/>
                    </a:lnB>
                    <a:noFill/>
                  </a:tcPr>
                </a:tc>
                <a:tc>
                  <a:txBody>
                    <a:bodyPr/>
                    <a:lstStyle/>
                    <a:p>
                      <a:pPr>
                        <a:buNone/>
                      </a:pPr>
                      <a:endParaRPr lang="en-US" sz="1800" dirty="0"/>
                    </a:p>
                  </a:txBody>
                  <a:tcPr marL="38507" marR="38507" marT="19254" marB="19254" anchor="ctr">
                    <a:lnL>
                      <a:noFill/>
                    </a:lnL>
                    <a:lnR>
                      <a:noFill/>
                    </a:lnR>
                    <a:lnT>
                      <a:noFill/>
                    </a:lnT>
                    <a:lnB>
                      <a:noFill/>
                    </a:lnB>
                    <a:noFill/>
                  </a:tcPr>
                </a:tc>
                <a:extLst>
                  <a:ext uri="{0D108BD9-81ED-4DB2-BD59-A6C34878D82A}">
                    <a16:rowId xmlns:a16="http://schemas.microsoft.com/office/drawing/2014/main" val="3939776465"/>
                  </a:ext>
                </a:extLst>
              </a:tr>
              <a:tr h="259156">
                <a:tc>
                  <a:txBody>
                    <a:bodyPr/>
                    <a:lstStyle/>
                    <a:p>
                      <a:pPr>
                        <a:buNone/>
                      </a:pPr>
                      <a:endParaRPr lang="en-CA" sz="1800"/>
                    </a:p>
                  </a:txBody>
                  <a:tcPr marL="38507" marR="38507" marT="19254" marB="19254" anchor="ctr">
                    <a:lnL>
                      <a:noFill/>
                    </a:lnL>
                    <a:lnR>
                      <a:noFill/>
                    </a:lnR>
                    <a:lnT>
                      <a:noFill/>
                    </a:lnT>
                    <a:lnB>
                      <a:noFill/>
                    </a:lnB>
                    <a:noFill/>
                  </a:tcPr>
                </a:tc>
                <a:tc>
                  <a:txBody>
                    <a:bodyPr/>
                    <a:lstStyle/>
                    <a:p>
                      <a:pPr>
                        <a:buNone/>
                      </a:pPr>
                      <a:endParaRPr lang="en-US" sz="1800" dirty="0"/>
                    </a:p>
                  </a:txBody>
                  <a:tcPr marL="38507" marR="38507" marT="19254" marB="19254" anchor="ctr">
                    <a:lnL>
                      <a:noFill/>
                    </a:lnL>
                    <a:lnR>
                      <a:noFill/>
                    </a:lnR>
                    <a:lnT>
                      <a:noFill/>
                    </a:lnT>
                    <a:lnB>
                      <a:noFill/>
                    </a:lnB>
                    <a:noFill/>
                  </a:tcPr>
                </a:tc>
                <a:tc>
                  <a:txBody>
                    <a:bodyPr/>
                    <a:lstStyle/>
                    <a:p>
                      <a:pPr>
                        <a:buNone/>
                      </a:pPr>
                      <a:endParaRPr lang="en-US" sz="1800" dirty="0"/>
                    </a:p>
                  </a:txBody>
                  <a:tcPr marL="38507" marR="38507" marT="19254" marB="19254" anchor="ctr">
                    <a:lnL>
                      <a:noFill/>
                    </a:lnL>
                    <a:lnR>
                      <a:noFill/>
                    </a:lnR>
                    <a:lnT>
                      <a:noFill/>
                    </a:lnT>
                    <a:lnB>
                      <a:noFill/>
                    </a:lnB>
                    <a:noFill/>
                  </a:tcPr>
                </a:tc>
                <a:extLst>
                  <a:ext uri="{0D108BD9-81ED-4DB2-BD59-A6C34878D82A}">
                    <a16:rowId xmlns:a16="http://schemas.microsoft.com/office/drawing/2014/main" val="2147007862"/>
                  </a:ext>
                </a:extLst>
              </a:tr>
              <a:tr h="259156">
                <a:tc>
                  <a:txBody>
                    <a:bodyPr/>
                    <a:lstStyle/>
                    <a:p>
                      <a:pPr>
                        <a:buNone/>
                      </a:pPr>
                      <a:endParaRPr lang="en-CA" sz="1800"/>
                    </a:p>
                  </a:txBody>
                  <a:tcPr marL="38507" marR="38507" marT="19254" marB="19254" anchor="ctr">
                    <a:lnL>
                      <a:noFill/>
                    </a:lnL>
                    <a:lnR>
                      <a:noFill/>
                    </a:lnR>
                    <a:lnT>
                      <a:noFill/>
                    </a:lnT>
                    <a:lnB>
                      <a:noFill/>
                    </a:lnB>
                    <a:noFill/>
                  </a:tcPr>
                </a:tc>
                <a:tc>
                  <a:txBody>
                    <a:bodyPr/>
                    <a:lstStyle/>
                    <a:p>
                      <a:pPr>
                        <a:buNone/>
                      </a:pPr>
                      <a:endParaRPr lang="en-US" sz="1800" dirty="0"/>
                    </a:p>
                  </a:txBody>
                  <a:tcPr marL="38507" marR="38507" marT="19254" marB="19254" anchor="ctr">
                    <a:lnL>
                      <a:noFill/>
                    </a:lnL>
                    <a:lnR>
                      <a:noFill/>
                    </a:lnR>
                    <a:lnT>
                      <a:noFill/>
                    </a:lnT>
                    <a:lnB>
                      <a:noFill/>
                    </a:lnB>
                    <a:noFill/>
                  </a:tcPr>
                </a:tc>
                <a:tc>
                  <a:txBody>
                    <a:bodyPr/>
                    <a:lstStyle/>
                    <a:p>
                      <a:pPr>
                        <a:buNone/>
                      </a:pPr>
                      <a:endParaRPr lang="en-US" sz="1800" dirty="0"/>
                    </a:p>
                  </a:txBody>
                  <a:tcPr marL="38507" marR="38507" marT="19254" marB="19254" anchor="ctr">
                    <a:lnL>
                      <a:noFill/>
                    </a:lnL>
                    <a:lnR>
                      <a:noFill/>
                    </a:lnR>
                    <a:lnT>
                      <a:noFill/>
                    </a:lnT>
                    <a:lnB>
                      <a:noFill/>
                    </a:lnB>
                    <a:noFill/>
                  </a:tcPr>
                </a:tc>
                <a:extLst>
                  <a:ext uri="{0D108BD9-81ED-4DB2-BD59-A6C34878D82A}">
                    <a16:rowId xmlns:a16="http://schemas.microsoft.com/office/drawing/2014/main" val="273563786"/>
                  </a:ext>
                </a:extLst>
              </a:tr>
              <a:tr h="259156">
                <a:tc>
                  <a:txBody>
                    <a:bodyPr/>
                    <a:lstStyle/>
                    <a:p>
                      <a:pPr>
                        <a:buNone/>
                      </a:pPr>
                      <a:endParaRPr lang="en-CA" sz="1800"/>
                    </a:p>
                  </a:txBody>
                  <a:tcPr marL="38507" marR="38507" marT="19254" marB="19254" anchor="ctr">
                    <a:lnL>
                      <a:noFill/>
                    </a:lnL>
                    <a:lnR>
                      <a:noFill/>
                    </a:lnR>
                    <a:lnT>
                      <a:noFill/>
                    </a:lnT>
                    <a:lnB>
                      <a:noFill/>
                    </a:lnB>
                    <a:noFill/>
                  </a:tcPr>
                </a:tc>
                <a:tc>
                  <a:txBody>
                    <a:bodyPr/>
                    <a:lstStyle/>
                    <a:p>
                      <a:pPr>
                        <a:buNone/>
                      </a:pPr>
                      <a:endParaRPr lang="en-US" sz="1800"/>
                    </a:p>
                  </a:txBody>
                  <a:tcPr marL="38507" marR="38507" marT="19254" marB="19254" anchor="ctr">
                    <a:lnL>
                      <a:noFill/>
                    </a:lnL>
                    <a:lnR>
                      <a:noFill/>
                    </a:lnR>
                    <a:lnT>
                      <a:noFill/>
                    </a:lnT>
                    <a:lnB>
                      <a:noFill/>
                    </a:lnB>
                    <a:noFill/>
                  </a:tcPr>
                </a:tc>
                <a:tc>
                  <a:txBody>
                    <a:bodyPr/>
                    <a:lstStyle/>
                    <a:p>
                      <a:pPr>
                        <a:buNone/>
                      </a:pPr>
                      <a:endParaRPr lang="en-US" sz="1800" dirty="0"/>
                    </a:p>
                  </a:txBody>
                  <a:tcPr marL="38507" marR="38507" marT="19254" marB="19254" anchor="ctr">
                    <a:lnL>
                      <a:noFill/>
                    </a:lnL>
                    <a:lnR>
                      <a:noFill/>
                    </a:lnR>
                    <a:lnT>
                      <a:noFill/>
                    </a:lnT>
                    <a:lnB>
                      <a:noFill/>
                    </a:lnB>
                    <a:noFill/>
                  </a:tcPr>
                </a:tc>
                <a:extLst>
                  <a:ext uri="{0D108BD9-81ED-4DB2-BD59-A6C34878D82A}">
                    <a16:rowId xmlns:a16="http://schemas.microsoft.com/office/drawing/2014/main" val="50691797"/>
                  </a:ext>
                </a:extLst>
              </a:tr>
            </a:tbl>
          </a:graphicData>
        </a:graphic>
      </p:graphicFrame>
    </p:spTree>
    <p:extLst>
      <p:ext uri="{BB962C8B-B14F-4D97-AF65-F5344CB8AC3E}">
        <p14:creationId xmlns:p14="http://schemas.microsoft.com/office/powerpoint/2010/main" val="11499728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C6898-969B-BF6E-C900-31FE97C292FC}"/>
              </a:ext>
            </a:extLst>
          </p:cNvPr>
          <p:cNvSpPr>
            <a:spLocks noGrp="1"/>
          </p:cNvSpPr>
          <p:nvPr>
            <p:ph type="title"/>
          </p:nvPr>
        </p:nvSpPr>
        <p:spPr>
          <a:xfrm>
            <a:off x="838200" y="1280160"/>
            <a:ext cx="10515600" cy="410528"/>
          </a:xfrm>
        </p:spPr>
        <p:txBody>
          <a:bodyPr>
            <a:normAutofit fontScale="90000"/>
          </a:bodyPr>
          <a:lstStyle/>
          <a:p>
            <a:pPr fontAlgn="ctr"/>
            <a:br>
              <a:rPr lang="en-CA" sz="3600" dirty="0"/>
            </a:br>
            <a:r>
              <a:rPr lang="en-CA" sz="3600" dirty="0"/>
              <a:t>                        Entrepreneurship                        Employment</a:t>
            </a:r>
            <a:br>
              <a:rPr lang="en-CA" dirty="0"/>
            </a:br>
            <a:endParaRPr lang="en-CA" dirty="0"/>
          </a:p>
        </p:txBody>
      </p:sp>
      <p:pic>
        <p:nvPicPr>
          <p:cNvPr id="5" name="Content Placeholder 4">
            <a:extLst>
              <a:ext uri="{FF2B5EF4-FFF2-40B4-BE49-F238E27FC236}">
                <a16:creationId xmlns:a16="http://schemas.microsoft.com/office/drawing/2014/main" id="{8CE5513D-32C6-2A3E-4749-449FF638B6EC}"/>
              </a:ext>
            </a:extLst>
          </p:cNvPr>
          <p:cNvPicPr>
            <a:picLocks noGrp="1" noChangeAspect="1"/>
          </p:cNvPicPr>
          <p:nvPr>
            <p:ph idx="1"/>
          </p:nvPr>
        </p:nvPicPr>
        <p:blipFill>
          <a:blip r:embed="rId2"/>
          <a:stretch>
            <a:fillRect/>
          </a:stretch>
        </p:blipFill>
        <p:spPr>
          <a:xfrm>
            <a:off x="902208" y="1618488"/>
            <a:ext cx="10515600" cy="2807208"/>
          </a:xfrm>
          <a:prstGeom prst="rect">
            <a:avLst/>
          </a:prstGeom>
        </p:spPr>
      </p:pic>
    </p:spTree>
    <p:extLst>
      <p:ext uri="{BB962C8B-B14F-4D97-AF65-F5344CB8AC3E}">
        <p14:creationId xmlns:p14="http://schemas.microsoft.com/office/powerpoint/2010/main" val="8151984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EC58B-5BF2-5AEE-20DD-F575051C8916}"/>
              </a:ext>
            </a:extLst>
          </p:cNvPr>
          <p:cNvSpPr>
            <a:spLocks noGrp="1"/>
          </p:cNvSpPr>
          <p:nvPr>
            <p:ph type="title"/>
          </p:nvPr>
        </p:nvSpPr>
        <p:spPr/>
        <p:txBody>
          <a:bodyPr/>
          <a:lstStyle/>
          <a:p>
            <a:r>
              <a:rPr lang="en-US" dirty="0"/>
              <a:t>Enterprise lifecycle </a:t>
            </a:r>
            <a:endParaRPr lang="en-CA" dirty="0"/>
          </a:p>
        </p:txBody>
      </p:sp>
      <p:sp>
        <p:nvSpPr>
          <p:cNvPr id="3" name="Content Placeholder 2">
            <a:extLst>
              <a:ext uri="{FF2B5EF4-FFF2-40B4-BE49-F238E27FC236}">
                <a16:creationId xmlns:a16="http://schemas.microsoft.com/office/drawing/2014/main" id="{1B152365-20C3-214D-5F50-7899F0A81F30}"/>
              </a:ext>
            </a:extLst>
          </p:cNvPr>
          <p:cNvSpPr>
            <a:spLocks noGrp="1"/>
          </p:cNvSpPr>
          <p:nvPr>
            <p:ph idx="1"/>
          </p:nvPr>
        </p:nvSpPr>
        <p:spPr/>
        <p:txBody>
          <a:bodyPr>
            <a:normAutofit/>
          </a:bodyPr>
          <a:lstStyle/>
          <a:p>
            <a:r>
              <a:rPr lang="en-US" dirty="0"/>
              <a:t>The </a:t>
            </a:r>
            <a:r>
              <a:rPr lang="en-US" b="1" dirty="0"/>
              <a:t>enterprise lifecycle</a:t>
            </a:r>
            <a:r>
              <a:rPr lang="en-US" dirty="0"/>
              <a:t> refers to the stages a business or organization goes through from its origin (beginning) to its eventual closure (ending) or transformation. This concept helps entrepreneurs, managers, and stakeholders understand how a business grows and the challenges and opportunities associated with each phase.</a:t>
            </a:r>
          </a:p>
          <a:p>
            <a:r>
              <a:rPr lang="en-US" b="1" dirty="0"/>
              <a:t>Stages of the Enterprise Lifecycle</a:t>
            </a:r>
          </a:p>
          <a:p>
            <a:pPr>
              <a:buFont typeface="+mj-lt"/>
              <a:buAutoNum type="arabicPeriod"/>
            </a:pPr>
            <a:r>
              <a:rPr lang="en-US" b="1" dirty="0"/>
              <a:t>Ideation/Concept Stage</a:t>
            </a:r>
            <a:endParaRPr lang="en-US" dirty="0"/>
          </a:p>
          <a:p>
            <a:pPr marL="457200" lvl="1" indent="0">
              <a:buNone/>
            </a:pPr>
            <a:r>
              <a:rPr lang="en-US" dirty="0"/>
              <a:t> Generating and validating a business idea.</a:t>
            </a:r>
          </a:p>
          <a:p>
            <a:pPr marL="457200" lvl="1" indent="0">
              <a:buNone/>
            </a:pPr>
            <a:r>
              <a:rPr lang="en-US" dirty="0"/>
              <a:t>Activities include market research, feasibility analysis, and drafting a business plan.</a:t>
            </a:r>
          </a:p>
          <a:p>
            <a:endParaRPr lang="en-CA" dirty="0"/>
          </a:p>
        </p:txBody>
      </p:sp>
    </p:spTree>
    <p:extLst>
      <p:ext uri="{BB962C8B-B14F-4D97-AF65-F5344CB8AC3E}">
        <p14:creationId xmlns:p14="http://schemas.microsoft.com/office/powerpoint/2010/main" val="2961562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40E26-6B92-D675-C197-42CEB02140CC}"/>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EBEA68F-514F-CB62-B496-BAB1A59ECA61}"/>
              </a:ext>
            </a:extLst>
          </p:cNvPr>
          <p:cNvSpPr>
            <a:spLocks noGrp="1"/>
          </p:cNvSpPr>
          <p:nvPr>
            <p:ph idx="1"/>
          </p:nvPr>
        </p:nvSpPr>
        <p:spPr/>
        <p:txBody>
          <a:bodyPr>
            <a:normAutofit lnSpcReduction="10000"/>
          </a:bodyPr>
          <a:lstStyle/>
          <a:p>
            <a:pPr marL="0" indent="0">
              <a:buNone/>
            </a:pPr>
            <a:r>
              <a:rPr lang="en-US" b="1" dirty="0"/>
              <a:t>2.Startup Stage</a:t>
            </a:r>
            <a:endParaRPr lang="en-US" dirty="0"/>
          </a:p>
          <a:p>
            <a:pPr marL="457200" lvl="1" indent="0">
              <a:buNone/>
            </a:pPr>
            <a:r>
              <a:rPr lang="en-US" dirty="0"/>
              <a:t> Launching the business.</a:t>
            </a:r>
          </a:p>
          <a:p>
            <a:pPr marL="457200" lvl="1" indent="0">
              <a:buNone/>
            </a:pPr>
            <a:r>
              <a:rPr lang="en-US" dirty="0"/>
              <a:t>Involves securing funding, developing the product/service, setting up operations, and entering the market.</a:t>
            </a:r>
          </a:p>
          <a:p>
            <a:pPr marL="457200" lvl="1" indent="0">
              <a:buNone/>
            </a:pPr>
            <a:r>
              <a:rPr lang="en-US" dirty="0"/>
              <a:t>Challenges include establishing a customer base, managing initial cash flow, and fine-tuning the business model.</a:t>
            </a:r>
          </a:p>
          <a:p>
            <a:pPr marL="0" indent="0">
              <a:buNone/>
            </a:pPr>
            <a:r>
              <a:rPr lang="en-US" b="1" dirty="0"/>
              <a:t>3.Growth Stage</a:t>
            </a:r>
            <a:endParaRPr lang="en-US" dirty="0"/>
          </a:p>
          <a:p>
            <a:pPr marL="457200" lvl="1" indent="0">
              <a:buNone/>
            </a:pPr>
            <a:r>
              <a:rPr lang="en-US" dirty="0"/>
              <a:t> Expanding operations and scaling the business.</a:t>
            </a:r>
          </a:p>
          <a:p>
            <a:pPr marL="457200" lvl="1" indent="0">
              <a:buNone/>
            </a:pPr>
            <a:r>
              <a:rPr lang="en-US" dirty="0"/>
              <a:t>Increased sales, revenue, and market share are primary goals.</a:t>
            </a:r>
          </a:p>
          <a:p>
            <a:pPr marL="457200" lvl="1" indent="0">
              <a:buNone/>
            </a:pPr>
            <a:r>
              <a:rPr lang="en-US" dirty="0"/>
              <a:t>Requires investments in infrastructure, staff, marketing, and technology.</a:t>
            </a:r>
          </a:p>
          <a:p>
            <a:pPr marL="457200" lvl="1" indent="0">
              <a:buNone/>
            </a:pPr>
            <a:r>
              <a:rPr lang="en-US" dirty="0"/>
              <a:t>Challenges include maintaining quality, managing resources, and competition.</a:t>
            </a:r>
          </a:p>
          <a:p>
            <a:endParaRPr lang="en-CA" dirty="0"/>
          </a:p>
        </p:txBody>
      </p:sp>
    </p:spTree>
    <p:extLst>
      <p:ext uri="{BB962C8B-B14F-4D97-AF65-F5344CB8AC3E}">
        <p14:creationId xmlns:p14="http://schemas.microsoft.com/office/powerpoint/2010/main" val="42666930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DA9F6-C1FF-34AD-63E6-18455565DA3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7918040E-5882-418C-C55E-CFF6DBB08D89}"/>
              </a:ext>
            </a:extLst>
          </p:cNvPr>
          <p:cNvSpPr>
            <a:spLocks noGrp="1"/>
          </p:cNvSpPr>
          <p:nvPr>
            <p:ph idx="1"/>
          </p:nvPr>
        </p:nvSpPr>
        <p:spPr/>
        <p:txBody>
          <a:bodyPr>
            <a:normAutofit lnSpcReduction="10000"/>
          </a:bodyPr>
          <a:lstStyle/>
          <a:p>
            <a:pPr marL="0" indent="0">
              <a:buNone/>
            </a:pPr>
            <a:r>
              <a:rPr lang="en-US" b="1" dirty="0"/>
              <a:t>4. Maturity Stage</a:t>
            </a:r>
            <a:endParaRPr lang="en-US" dirty="0"/>
          </a:p>
          <a:p>
            <a:pPr marL="457200" lvl="1" indent="0">
              <a:buNone/>
            </a:pPr>
            <a:r>
              <a:rPr lang="en-US" dirty="0"/>
              <a:t>Maintaining stability and maximizing profitability.</a:t>
            </a:r>
          </a:p>
          <a:p>
            <a:pPr marL="457200" lvl="1" indent="0">
              <a:buNone/>
            </a:pPr>
            <a:r>
              <a:rPr lang="en-US" dirty="0"/>
              <a:t>The business is well-established with a steady customer base and revenue.</a:t>
            </a:r>
          </a:p>
          <a:p>
            <a:pPr marL="457200" lvl="1" indent="0">
              <a:buNone/>
            </a:pPr>
            <a:r>
              <a:rPr lang="en-US" dirty="0"/>
              <a:t>Efforts are focused on process optimization, cost control, and possibly diversification.</a:t>
            </a:r>
          </a:p>
          <a:p>
            <a:pPr marL="457200" lvl="1" indent="0">
              <a:buNone/>
            </a:pPr>
            <a:r>
              <a:rPr lang="en-US" dirty="0"/>
              <a:t>Challenges include staying innovative and addressing market saturation.</a:t>
            </a:r>
          </a:p>
          <a:p>
            <a:pPr marL="0" indent="0">
              <a:buNone/>
            </a:pPr>
            <a:r>
              <a:rPr lang="en-US" b="1" dirty="0"/>
              <a:t>5.Expansion or Renewal Stage</a:t>
            </a:r>
            <a:r>
              <a:rPr lang="en-US" dirty="0"/>
              <a:t> (Optional)</a:t>
            </a:r>
          </a:p>
          <a:p>
            <a:pPr marL="457200" lvl="1" indent="0">
              <a:buNone/>
            </a:pPr>
            <a:r>
              <a:rPr lang="en-US" dirty="0"/>
              <a:t> Exploring new markets, products, or business models.</a:t>
            </a:r>
          </a:p>
          <a:p>
            <a:pPr marL="457200" lvl="1" indent="0">
              <a:buNone/>
            </a:pPr>
            <a:r>
              <a:rPr lang="en-US" dirty="0"/>
              <a:t>Businesses may decide to expand globally</a:t>
            </a:r>
          </a:p>
          <a:p>
            <a:pPr marL="457200" lvl="1" indent="0">
              <a:buNone/>
            </a:pPr>
            <a:r>
              <a:rPr lang="en-US" dirty="0"/>
              <a:t>Challenges include managing risk, maintaining focus, and allocating resources effectively.</a:t>
            </a:r>
          </a:p>
          <a:p>
            <a:endParaRPr lang="en-CA" dirty="0"/>
          </a:p>
        </p:txBody>
      </p:sp>
    </p:spTree>
    <p:extLst>
      <p:ext uri="{BB962C8B-B14F-4D97-AF65-F5344CB8AC3E}">
        <p14:creationId xmlns:p14="http://schemas.microsoft.com/office/powerpoint/2010/main" val="21306400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6EE4E-15FE-D6DC-C0D1-EC20BEEBEB86}"/>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E5E3829F-C22C-4440-3608-4E907F6BDEEF}"/>
              </a:ext>
            </a:extLst>
          </p:cNvPr>
          <p:cNvSpPr>
            <a:spLocks noGrp="1"/>
          </p:cNvSpPr>
          <p:nvPr>
            <p:ph idx="1"/>
          </p:nvPr>
        </p:nvSpPr>
        <p:spPr/>
        <p:txBody>
          <a:bodyPr>
            <a:normAutofit/>
          </a:bodyPr>
          <a:lstStyle/>
          <a:p>
            <a:pPr marL="0" indent="0">
              <a:buNone/>
            </a:pPr>
            <a:r>
              <a:rPr lang="en-US" b="1" dirty="0"/>
              <a:t>6.Decline or Exit Stage</a:t>
            </a:r>
            <a:endParaRPr lang="en-US" dirty="0"/>
          </a:p>
          <a:p>
            <a:pPr marL="457200" lvl="1" indent="0">
              <a:buNone/>
            </a:pPr>
            <a:r>
              <a:rPr lang="en-US" dirty="0"/>
              <a:t>Managing decline or planning an exit strategy.</a:t>
            </a:r>
          </a:p>
          <a:p>
            <a:pPr marL="457200" lvl="1" indent="0">
              <a:buNone/>
            </a:pPr>
            <a:r>
              <a:rPr lang="en-US" dirty="0"/>
              <a:t>Businesses may experience reduced demand, increased competition, or outdated models.</a:t>
            </a:r>
          </a:p>
          <a:p>
            <a:pPr marL="457200" lvl="1" indent="0">
              <a:buNone/>
            </a:pPr>
            <a:r>
              <a:rPr lang="en-US" dirty="0"/>
              <a:t>Options include restructuring, selling the business, merging, or liquidating.</a:t>
            </a:r>
          </a:p>
          <a:p>
            <a:pPr marL="457200" lvl="1" indent="0">
              <a:buNone/>
            </a:pPr>
            <a:r>
              <a:rPr lang="en-US" dirty="0"/>
              <a:t>If well-managed, decline can lead to transformation or a new lifecycle.</a:t>
            </a:r>
          </a:p>
          <a:p>
            <a:endParaRPr lang="en-CA" dirty="0"/>
          </a:p>
        </p:txBody>
      </p:sp>
    </p:spTree>
    <p:extLst>
      <p:ext uri="{BB962C8B-B14F-4D97-AF65-F5344CB8AC3E}">
        <p14:creationId xmlns:p14="http://schemas.microsoft.com/office/powerpoint/2010/main" val="327546718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8626B-A7F0-A8DE-B378-854544D001F5}"/>
              </a:ext>
            </a:extLst>
          </p:cNvPr>
          <p:cNvSpPr>
            <a:spLocks noGrp="1"/>
          </p:cNvSpPr>
          <p:nvPr>
            <p:ph type="title"/>
          </p:nvPr>
        </p:nvSpPr>
        <p:spPr>
          <a:xfrm>
            <a:off x="838200" y="188144"/>
            <a:ext cx="10515600" cy="391959"/>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48889ACE-D195-1944-2F7B-39064A5443F2}"/>
              </a:ext>
            </a:extLst>
          </p:cNvPr>
          <p:cNvSpPr>
            <a:spLocks noGrp="1"/>
          </p:cNvSpPr>
          <p:nvPr>
            <p:ph idx="1"/>
          </p:nvPr>
        </p:nvSpPr>
        <p:spPr>
          <a:xfrm>
            <a:off x="838200" y="816077"/>
            <a:ext cx="10515600" cy="5360886"/>
          </a:xfrm>
        </p:spPr>
        <p:txBody>
          <a:bodyPr/>
          <a:lstStyle/>
          <a:p>
            <a:r>
              <a:rPr lang="en-US" b="1" dirty="0"/>
              <a:t>Importance of the Enterprise Lifecycle</a:t>
            </a:r>
          </a:p>
          <a:p>
            <a:r>
              <a:rPr lang="en-US" dirty="0"/>
              <a:t>Understanding the enterprise lifecycle helps organizations:</a:t>
            </a:r>
          </a:p>
          <a:p>
            <a:pPr>
              <a:buFont typeface="Arial" panose="020B0604020202020204" pitchFamily="34" charset="0"/>
              <a:buChar char="•"/>
            </a:pPr>
            <a:r>
              <a:rPr lang="en-US" b="1" dirty="0"/>
              <a:t>Plan strategically</a:t>
            </a:r>
            <a:r>
              <a:rPr lang="en-US" dirty="0"/>
              <a:t> for growth and sustainability.</a:t>
            </a:r>
          </a:p>
          <a:p>
            <a:pPr>
              <a:buFont typeface="Arial" panose="020B0604020202020204" pitchFamily="34" charset="0"/>
              <a:buChar char="•"/>
            </a:pPr>
            <a:r>
              <a:rPr lang="en-US" dirty="0"/>
              <a:t>Anticipate </a:t>
            </a:r>
            <a:r>
              <a:rPr lang="en-US" b="1" dirty="0"/>
              <a:t>challenges</a:t>
            </a:r>
            <a:r>
              <a:rPr lang="en-US" dirty="0"/>
              <a:t> and </a:t>
            </a:r>
            <a:r>
              <a:rPr lang="en-US" b="1" dirty="0"/>
              <a:t>opportunities</a:t>
            </a:r>
            <a:r>
              <a:rPr lang="en-US" dirty="0"/>
              <a:t> at each stage.</a:t>
            </a:r>
          </a:p>
          <a:p>
            <a:pPr>
              <a:buFont typeface="Arial" panose="020B0604020202020204" pitchFamily="34" charset="0"/>
              <a:buChar char="•"/>
            </a:pPr>
            <a:r>
              <a:rPr lang="en-US" dirty="0"/>
              <a:t>Align resources, investments, and efforts with the lifecycle stage.</a:t>
            </a:r>
          </a:p>
          <a:p>
            <a:pPr>
              <a:buFont typeface="Arial" panose="020B0604020202020204" pitchFamily="34" charset="0"/>
              <a:buChar char="•"/>
            </a:pPr>
            <a:r>
              <a:rPr lang="en-US" dirty="0"/>
              <a:t>Design effective </a:t>
            </a:r>
            <a:r>
              <a:rPr lang="en-US" b="1" dirty="0"/>
              <a:t>exit strategies</a:t>
            </a:r>
            <a:r>
              <a:rPr lang="en-US" dirty="0"/>
              <a:t> or renewal plans.</a:t>
            </a:r>
          </a:p>
          <a:p>
            <a:r>
              <a:rPr lang="en-US" dirty="0"/>
              <a:t>Every enterprise is unique, and the duration and characteristics of each stage can vary significantly depending on the industry, market conditions, and the organization's management.</a:t>
            </a:r>
          </a:p>
          <a:p>
            <a:endParaRPr lang="en-CA" dirty="0"/>
          </a:p>
        </p:txBody>
      </p:sp>
    </p:spTree>
    <p:extLst>
      <p:ext uri="{BB962C8B-B14F-4D97-AF65-F5344CB8AC3E}">
        <p14:creationId xmlns:p14="http://schemas.microsoft.com/office/powerpoint/2010/main" val="8433797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50B74-1E75-F5A0-B0BA-F32495C519F0}"/>
              </a:ext>
            </a:extLst>
          </p:cNvPr>
          <p:cNvSpPr>
            <a:spLocks noGrp="1"/>
          </p:cNvSpPr>
          <p:nvPr>
            <p:ph type="title"/>
          </p:nvPr>
        </p:nvSpPr>
        <p:spPr/>
        <p:txBody>
          <a:bodyPr/>
          <a:lstStyle/>
          <a:p>
            <a:r>
              <a:rPr lang="en-US" dirty="0"/>
              <a:t>Role, Importance, and Challenges of Entrepreneurship</a:t>
            </a:r>
            <a:endParaRPr lang="en-CA" dirty="0"/>
          </a:p>
        </p:txBody>
      </p:sp>
      <p:sp>
        <p:nvSpPr>
          <p:cNvPr id="3" name="Content Placeholder 2">
            <a:extLst>
              <a:ext uri="{FF2B5EF4-FFF2-40B4-BE49-F238E27FC236}">
                <a16:creationId xmlns:a16="http://schemas.microsoft.com/office/drawing/2014/main" id="{2AEC7883-0D3D-CF40-75DE-626A4B97B993}"/>
              </a:ext>
            </a:extLst>
          </p:cNvPr>
          <p:cNvSpPr>
            <a:spLocks noGrp="1"/>
          </p:cNvSpPr>
          <p:nvPr>
            <p:ph idx="1"/>
          </p:nvPr>
        </p:nvSpPr>
        <p:spPr/>
        <p:txBody>
          <a:bodyPr>
            <a:normAutofit lnSpcReduction="10000"/>
          </a:bodyPr>
          <a:lstStyle/>
          <a:p>
            <a:r>
              <a:rPr lang="en-US" b="1" dirty="0"/>
              <a:t>Role of Entrepreneurship</a:t>
            </a:r>
          </a:p>
          <a:p>
            <a:pPr>
              <a:buFont typeface="+mj-lt"/>
              <a:buAutoNum type="arabicPeriod"/>
            </a:pPr>
            <a:r>
              <a:rPr lang="en-US" b="1" dirty="0"/>
              <a:t>Economic Growth</a:t>
            </a:r>
            <a:endParaRPr lang="en-US" dirty="0"/>
          </a:p>
          <a:p>
            <a:pPr marL="457200" lvl="1" indent="0">
              <a:buNone/>
            </a:pPr>
            <a:r>
              <a:rPr lang="en-US" dirty="0"/>
              <a:t>Entrepreneurs drive innovation, leading to the development of new industries, products, and services.</a:t>
            </a:r>
          </a:p>
          <a:p>
            <a:pPr marL="457200" lvl="1" indent="0">
              <a:buNone/>
            </a:pPr>
            <a:r>
              <a:rPr lang="en-US" dirty="0"/>
              <a:t>They contribute to GDP growth by creating businesses that generate income and tax revenue.</a:t>
            </a:r>
          </a:p>
          <a:p>
            <a:pPr>
              <a:buFont typeface="+mj-lt"/>
              <a:buAutoNum type="arabicPeriod"/>
            </a:pPr>
            <a:r>
              <a:rPr lang="en-US" b="1" dirty="0"/>
              <a:t>Job Creation</a:t>
            </a:r>
            <a:endParaRPr lang="en-US" dirty="0"/>
          </a:p>
          <a:p>
            <a:pPr marL="457200" lvl="1" indent="0">
              <a:buNone/>
            </a:pPr>
            <a:r>
              <a:rPr lang="en-US" dirty="0"/>
              <a:t>Entrepreneurs establish businesses that create direct and indirect employment opportunities.</a:t>
            </a:r>
          </a:p>
          <a:p>
            <a:pPr marL="457200" lvl="1" indent="0">
              <a:buNone/>
            </a:pPr>
            <a:r>
              <a:rPr lang="en-US" dirty="0"/>
              <a:t>Small and medium enterprises (SMEs) often employ a significant portion of the workforce.</a:t>
            </a:r>
          </a:p>
          <a:p>
            <a:endParaRPr lang="en-CA" dirty="0"/>
          </a:p>
        </p:txBody>
      </p:sp>
    </p:spTree>
    <p:extLst>
      <p:ext uri="{BB962C8B-B14F-4D97-AF65-F5344CB8AC3E}">
        <p14:creationId xmlns:p14="http://schemas.microsoft.com/office/powerpoint/2010/main" val="1580593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636E0-0A6C-22A3-08CE-849B57E6DFF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0C1DC5C-4E9A-6152-1E97-E8ABCABD23D7}"/>
              </a:ext>
            </a:extLst>
          </p:cNvPr>
          <p:cNvSpPr>
            <a:spLocks noGrp="1"/>
          </p:cNvSpPr>
          <p:nvPr>
            <p:ph idx="1"/>
          </p:nvPr>
        </p:nvSpPr>
        <p:spPr/>
        <p:txBody>
          <a:bodyPr>
            <a:normAutofit/>
          </a:bodyPr>
          <a:lstStyle/>
          <a:p>
            <a:pPr marL="0" indent="0">
              <a:buNone/>
            </a:pPr>
            <a:r>
              <a:rPr lang="en-US" b="1" dirty="0"/>
              <a:t>3.Innovation and Technology Advancement</a:t>
            </a:r>
            <a:endParaRPr lang="en-US" dirty="0"/>
          </a:p>
          <a:p>
            <a:pPr marL="457200" lvl="1" indent="0">
              <a:buNone/>
            </a:pPr>
            <a:r>
              <a:rPr lang="en-US" dirty="0"/>
              <a:t>Entrepreneurship fosters creativity and innovation, leading to new technologies and solutions to societal problems.</a:t>
            </a:r>
          </a:p>
          <a:p>
            <a:pPr marL="457200" lvl="1" indent="0">
              <a:buNone/>
            </a:pPr>
            <a:r>
              <a:rPr lang="en-US" dirty="0"/>
              <a:t>Helps improve productivity and efficiency across various industries.</a:t>
            </a:r>
          </a:p>
          <a:p>
            <a:pPr marL="0" indent="0">
              <a:buNone/>
            </a:pPr>
            <a:r>
              <a:rPr lang="en-US" b="1" dirty="0"/>
              <a:t>4. Improving Standards of Living</a:t>
            </a:r>
            <a:endParaRPr lang="en-US" dirty="0"/>
          </a:p>
          <a:p>
            <a:pPr marL="457200" lvl="1" indent="0">
              <a:buNone/>
            </a:pPr>
            <a:r>
              <a:rPr lang="en-US" dirty="0"/>
              <a:t>Entrepreneurs provide goods and services that enhance quality of life and address consumer needs.</a:t>
            </a:r>
          </a:p>
          <a:p>
            <a:pPr marL="457200" lvl="1" indent="0">
              <a:buNone/>
            </a:pPr>
            <a:r>
              <a:rPr lang="en-US" dirty="0"/>
              <a:t>They introduce competition, which leads to better products at lower prices.</a:t>
            </a:r>
          </a:p>
          <a:p>
            <a:endParaRPr lang="en-CA" dirty="0"/>
          </a:p>
        </p:txBody>
      </p:sp>
    </p:spTree>
    <p:extLst>
      <p:ext uri="{BB962C8B-B14F-4D97-AF65-F5344CB8AC3E}">
        <p14:creationId xmlns:p14="http://schemas.microsoft.com/office/powerpoint/2010/main" val="363291603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26296-97E7-DAFE-837F-C1B71B00C4C9}"/>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1BAB5C5-1E4A-62A7-A0D9-70E951993E5D}"/>
              </a:ext>
            </a:extLst>
          </p:cNvPr>
          <p:cNvSpPr>
            <a:spLocks noGrp="1"/>
          </p:cNvSpPr>
          <p:nvPr>
            <p:ph idx="1"/>
          </p:nvPr>
        </p:nvSpPr>
        <p:spPr/>
        <p:txBody>
          <a:bodyPr>
            <a:normAutofit fontScale="92500" lnSpcReduction="10000"/>
          </a:bodyPr>
          <a:lstStyle/>
          <a:p>
            <a:pPr marL="0" indent="0">
              <a:buNone/>
            </a:pPr>
            <a:r>
              <a:rPr lang="en-US" b="1" dirty="0"/>
              <a:t>5.Resource Utilization</a:t>
            </a:r>
            <a:endParaRPr lang="en-US" dirty="0"/>
          </a:p>
          <a:p>
            <a:pPr marL="457200" lvl="1" indent="0">
              <a:buNone/>
            </a:pPr>
            <a:r>
              <a:rPr lang="en-US" dirty="0"/>
              <a:t>Entrepreneurs identify and leverage underutilized resources, including natural, human, and capital resources.</a:t>
            </a:r>
          </a:p>
          <a:p>
            <a:pPr marL="457200" lvl="1" indent="0">
              <a:buNone/>
            </a:pPr>
            <a:r>
              <a:rPr lang="en-US" dirty="0"/>
              <a:t>Efficient use of resources drives economic efficiency and sustainability.</a:t>
            </a:r>
          </a:p>
          <a:p>
            <a:pPr marL="0" indent="0">
              <a:buNone/>
            </a:pPr>
            <a:r>
              <a:rPr lang="en-US" b="1" dirty="0"/>
              <a:t>6.Catalyst for Social Change</a:t>
            </a:r>
            <a:endParaRPr lang="en-US" dirty="0"/>
          </a:p>
          <a:p>
            <a:pPr marL="457200" lvl="1" indent="0">
              <a:buNone/>
            </a:pPr>
            <a:r>
              <a:rPr lang="en-US" dirty="0"/>
              <a:t>Social entrepreneurs focus on addressing societal issues, such as poverty, education, and healthcare.</a:t>
            </a:r>
          </a:p>
          <a:p>
            <a:pPr marL="457200" lvl="1" indent="0">
              <a:buNone/>
            </a:pPr>
            <a:r>
              <a:rPr lang="en-US" dirty="0"/>
              <a:t>They help reduce inequalities and improve community well-being.</a:t>
            </a:r>
          </a:p>
          <a:p>
            <a:pPr marL="0" indent="0">
              <a:buNone/>
            </a:pPr>
            <a:r>
              <a:rPr lang="en-US" b="1" dirty="0"/>
              <a:t>7.Encouraging Globalization</a:t>
            </a:r>
            <a:endParaRPr lang="en-US" dirty="0"/>
          </a:p>
          <a:p>
            <a:pPr marL="457200" lvl="1" indent="0">
              <a:buNone/>
            </a:pPr>
            <a:r>
              <a:rPr lang="en-US" dirty="0"/>
              <a:t>Entrepreneurs expand into international markets, promoting global trade and cultural exchange.</a:t>
            </a:r>
          </a:p>
          <a:p>
            <a:pPr marL="457200" lvl="1" indent="0">
              <a:buNone/>
            </a:pPr>
            <a:r>
              <a:rPr lang="en-US" dirty="0"/>
              <a:t>They connect local economies to the global market.</a:t>
            </a:r>
          </a:p>
          <a:p>
            <a:endParaRPr lang="en-CA" dirty="0"/>
          </a:p>
        </p:txBody>
      </p:sp>
    </p:spTree>
    <p:extLst>
      <p:ext uri="{BB962C8B-B14F-4D97-AF65-F5344CB8AC3E}">
        <p14:creationId xmlns:p14="http://schemas.microsoft.com/office/powerpoint/2010/main" val="33930883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41A94-D8A4-AFC5-5C77-71E9FEC54B52}"/>
              </a:ext>
            </a:extLst>
          </p:cNvPr>
          <p:cNvSpPr>
            <a:spLocks noGrp="1"/>
          </p:cNvSpPr>
          <p:nvPr>
            <p:ph type="title"/>
          </p:nvPr>
        </p:nvSpPr>
        <p:spPr/>
        <p:txBody>
          <a:bodyPr/>
          <a:lstStyle/>
          <a:p>
            <a:r>
              <a:rPr lang="en-US" b="1" dirty="0"/>
              <a:t>Importance of Entrepreneurship</a:t>
            </a:r>
            <a:br>
              <a:rPr lang="en-US" b="1" dirty="0"/>
            </a:br>
            <a:endParaRPr lang="en-CA" dirty="0"/>
          </a:p>
        </p:txBody>
      </p:sp>
      <p:sp>
        <p:nvSpPr>
          <p:cNvPr id="3" name="Content Placeholder 2">
            <a:extLst>
              <a:ext uri="{FF2B5EF4-FFF2-40B4-BE49-F238E27FC236}">
                <a16:creationId xmlns:a16="http://schemas.microsoft.com/office/drawing/2014/main" id="{26B5516D-C28F-2D26-00B9-613AE6BBD07A}"/>
              </a:ext>
            </a:extLst>
          </p:cNvPr>
          <p:cNvSpPr>
            <a:spLocks noGrp="1"/>
          </p:cNvSpPr>
          <p:nvPr>
            <p:ph idx="1"/>
          </p:nvPr>
        </p:nvSpPr>
        <p:spPr/>
        <p:txBody>
          <a:bodyPr>
            <a:normAutofit/>
          </a:bodyPr>
          <a:lstStyle/>
          <a:p>
            <a:pPr>
              <a:buFont typeface="+mj-lt"/>
              <a:buAutoNum type="arabicPeriod"/>
            </a:pPr>
            <a:r>
              <a:rPr lang="en-US" b="1" dirty="0"/>
              <a:t>Driving Innovation</a:t>
            </a:r>
            <a:endParaRPr lang="en-US" dirty="0"/>
          </a:p>
          <a:p>
            <a:pPr marL="457200" lvl="1" indent="0">
              <a:buNone/>
            </a:pPr>
            <a:r>
              <a:rPr lang="en-US" dirty="0"/>
              <a:t>Entrepreneurship plays a crucial role in solving complex problems through creative solutions.</a:t>
            </a:r>
          </a:p>
          <a:p>
            <a:pPr marL="457200" lvl="1" indent="0">
              <a:buNone/>
            </a:pPr>
            <a:r>
              <a:rPr lang="en-US" dirty="0"/>
              <a:t>Startups and new businesses often lead disruptive changes in industries.</a:t>
            </a:r>
          </a:p>
          <a:p>
            <a:pPr>
              <a:buFont typeface="+mj-lt"/>
              <a:buAutoNum type="arabicPeriod"/>
            </a:pPr>
            <a:r>
              <a:rPr lang="en-US" b="1" dirty="0"/>
              <a:t>Boosting Economic Development</a:t>
            </a:r>
            <a:endParaRPr lang="en-US" dirty="0"/>
          </a:p>
          <a:p>
            <a:pPr marL="457200" lvl="1" indent="0">
              <a:buNone/>
            </a:pPr>
            <a:r>
              <a:rPr lang="en-US" dirty="0"/>
              <a:t>Entrepreneurship is a key driver of economic development, especially in emerging economies. Pays taxes to the government, creates job and reduce unemployment problem in the country. </a:t>
            </a:r>
          </a:p>
          <a:p>
            <a:pPr marL="457200" lvl="1" indent="0">
              <a:buNone/>
            </a:pPr>
            <a:r>
              <a:rPr lang="en-US" dirty="0"/>
              <a:t>It fosters industrialization and diversification of the economy.</a:t>
            </a:r>
          </a:p>
          <a:p>
            <a:endParaRPr lang="en-CA" dirty="0"/>
          </a:p>
        </p:txBody>
      </p:sp>
    </p:spTree>
    <p:extLst>
      <p:ext uri="{BB962C8B-B14F-4D97-AF65-F5344CB8AC3E}">
        <p14:creationId xmlns:p14="http://schemas.microsoft.com/office/powerpoint/2010/main" val="29299490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DFF4C-9916-7910-066C-0045BC59C98F}"/>
              </a:ext>
            </a:extLst>
          </p:cNvPr>
          <p:cNvSpPr>
            <a:spLocks noGrp="1"/>
          </p:cNvSpPr>
          <p:nvPr>
            <p:ph type="title"/>
          </p:nvPr>
        </p:nvSpPr>
        <p:spPr>
          <a:xfrm>
            <a:off x="838200" y="365125"/>
            <a:ext cx="10515600" cy="401791"/>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A2615E1B-4FDB-04DE-E27B-557765CEAD08}"/>
              </a:ext>
            </a:extLst>
          </p:cNvPr>
          <p:cNvSpPr>
            <a:spLocks noGrp="1"/>
          </p:cNvSpPr>
          <p:nvPr>
            <p:ph idx="1"/>
          </p:nvPr>
        </p:nvSpPr>
        <p:spPr>
          <a:xfrm>
            <a:off x="838200" y="1130710"/>
            <a:ext cx="10515600" cy="5046253"/>
          </a:xfrm>
        </p:spPr>
        <p:txBody>
          <a:bodyPr>
            <a:normAutofit/>
          </a:bodyPr>
          <a:lstStyle/>
          <a:p>
            <a:pPr marL="0" indent="0">
              <a:buNone/>
            </a:pPr>
            <a:r>
              <a:rPr lang="en-US" b="1" dirty="0"/>
              <a:t>3.Promoting Independence</a:t>
            </a:r>
            <a:endParaRPr lang="en-US" dirty="0"/>
          </a:p>
          <a:p>
            <a:pPr marL="457200" lvl="1" indent="0">
              <a:buNone/>
            </a:pPr>
            <a:r>
              <a:rPr lang="en-US" dirty="0"/>
              <a:t>Entrepreneurs reduce dependence on government or large corporations by creating self-sustaining businesses.</a:t>
            </a:r>
          </a:p>
          <a:p>
            <a:pPr marL="457200" lvl="1" indent="0">
              <a:buNone/>
            </a:pPr>
            <a:r>
              <a:rPr lang="en-US" dirty="0"/>
              <a:t>They empower individuals and communities by fostering independence.</a:t>
            </a:r>
          </a:p>
          <a:p>
            <a:pPr marL="0" indent="0">
              <a:buNone/>
            </a:pPr>
            <a:r>
              <a:rPr lang="en-US" b="1" dirty="0"/>
              <a:t>4.Developing Human Capital</a:t>
            </a:r>
            <a:endParaRPr lang="en-US" dirty="0"/>
          </a:p>
          <a:p>
            <a:pPr marL="457200" lvl="1" indent="0">
              <a:buNone/>
            </a:pPr>
            <a:r>
              <a:rPr lang="en-US" dirty="0"/>
              <a:t>Entrepreneurship provides opportunities for skill development, leadership, and personal growth.</a:t>
            </a:r>
          </a:p>
          <a:p>
            <a:pPr marL="457200" lvl="1" indent="0">
              <a:buNone/>
            </a:pPr>
            <a:r>
              <a:rPr lang="en-US" dirty="0"/>
              <a:t>Employees and founders alike gain experience that benefits the broader economy.</a:t>
            </a:r>
          </a:p>
          <a:p>
            <a:endParaRPr lang="en-CA" dirty="0"/>
          </a:p>
        </p:txBody>
      </p:sp>
    </p:spTree>
    <p:extLst>
      <p:ext uri="{BB962C8B-B14F-4D97-AF65-F5344CB8AC3E}">
        <p14:creationId xmlns:p14="http://schemas.microsoft.com/office/powerpoint/2010/main" val="37048001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96AD4-6F5D-9BDC-2719-2B7401A29246}"/>
              </a:ext>
            </a:extLst>
          </p:cNvPr>
          <p:cNvSpPr>
            <a:spLocks noGrp="1"/>
          </p:cNvSpPr>
          <p:nvPr>
            <p:ph type="title"/>
          </p:nvPr>
        </p:nvSpPr>
        <p:spPr>
          <a:xfrm>
            <a:off x="838200" y="365126"/>
            <a:ext cx="10515600" cy="214978"/>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A1FD41B6-EBBD-0141-BFAA-8E93E6055CEA}"/>
              </a:ext>
            </a:extLst>
          </p:cNvPr>
          <p:cNvSpPr>
            <a:spLocks noGrp="1"/>
          </p:cNvSpPr>
          <p:nvPr>
            <p:ph idx="1"/>
          </p:nvPr>
        </p:nvSpPr>
        <p:spPr>
          <a:xfrm>
            <a:off x="838200" y="1209368"/>
            <a:ext cx="10515600" cy="4967595"/>
          </a:xfrm>
        </p:spPr>
        <p:txBody>
          <a:bodyPr/>
          <a:lstStyle/>
          <a:p>
            <a:pPr marL="0" indent="0">
              <a:buNone/>
            </a:pPr>
            <a:r>
              <a:rPr lang="en-US" b="1" dirty="0"/>
              <a:t>5.Encouraging Competition</a:t>
            </a:r>
            <a:endParaRPr lang="en-US" dirty="0"/>
          </a:p>
          <a:p>
            <a:pPr marL="457200" lvl="1" indent="0">
              <a:buNone/>
            </a:pPr>
            <a:r>
              <a:rPr lang="en-US" dirty="0"/>
              <a:t>Entrepreneurs introduce competition, driving established companies to innovate and improve.</a:t>
            </a:r>
          </a:p>
          <a:p>
            <a:pPr marL="457200" lvl="1" indent="0">
              <a:buNone/>
            </a:pPr>
            <a:r>
              <a:rPr lang="en-US" dirty="0"/>
              <a:t>Healthy competition benefits consumers through better choices and pricing.</a:t>
            </a:r>
          </a:p>
          <a:p>
            <a:pPr marL="0" indent="0">
              <a:buNone/>
            </a:pPr>
            <a:r>
              <a:rPr lang="en-US" b="1" dirty="0"/>
              <a:t>6.Inspiring Others</a:t>
            </a:r>
            <a:endParaRPr lang="en-US" dirty="0"/>
          </a:p>
          <a:p>
            <a:pPr marL="457200" lvl="1" indent="0">
              <a:buNone/>
            </a:pPr>
            <a:r>
              <a:rPr lang="en-US" dirty="0"/>
              <a:t>Successful entrepreneurs serve as role models, encouraging others to pursue their ideas and goals.</a:t>
            </a:r>
          </a:p>
          <a:p>
            <a:pPr marL="457200" lvl="1" indent="0">
              <a:buNone/>
            </a:pPr>
            <a:r>
              <a:rPr lang="en-US" dirty="0"/>
              <a:t>They contribute to a culture of entrepreneurship in society.</a:t>
            </a:r>
          </a:p>
          <a:p>
            <a:endParaRPr lang="en-CA" dirty="0"/>
          </a:p>
        </p:txBody>
      </p:sp>
    </p:spTree>
    <p:extLst>
      <p:ext uri="{BB962C8B-B14F-4D97-AF65-F5344CB8AC3E}">
        <p14:creationId xmlns:p14="http://schemas.microsoft.com/office/powerpoint/2010/main" val="102038316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53747-0DE5-EADF-009D-A2FC68D6270F}"/>
              </a:ext>
            </a:extLst>
          </p:cNvPr>
          <p:cNvSpPr>
            <a:spLocks noGrp="1"/>
          </p:cNvSpPr>
          <p:nvPr>
            <p:ph type="title"/>
          </p:nvPr>
        </p:nvSpPr>
        <p:spPr>
          <a:xfrm>
            <a:off x="838200" y="681037"/>
            <a:ext cx="10515600" cy="1009651"/>
          </a:xfrm>
        </p:spPr>
        <p:txBody>
          <a:bodyPr>
            <a:normAutofit fontScale="90000"/>
          </a:bodyPr>
          <a:lstStyle/>
          <a:p>
            <a:pPr marL="228600" marR="0" lvl="0" indent="-228600" defTabSz="914400" rtl="0" eaLnBrk="1" fontAlgn="auto" latinLnBrk="0" hangingPunct="1">
              <a:lnSpc>
                <a:spcPct val="90000"/>
              </a:lnSpc>
              <a:spcBef>
                <a:spcPts val="1000"/>
              </a:spcBef>
              <a:spcAft>
                <a:spcPts val="0"/>
              </a:spcAft>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Challenges of Entrepreneurship</a:t>
            </a:r>
            <a:b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br>
            <a:endParaRPr lang="en-CA" dirty="0"/>
          </a:p>
        </p:txBody>
      </p:sp>
      <p:sp>
        <p:nvSpPr>
          <p:cNvPr id="3" name="Content Placeholder 2">
            <a:extLst>
              <a:ext uri="{FF2B5EF4-FFF2-40B4-BE49-F238E27FC236}">
                <a16:creationId xmlns:a16="http://schemas.microsoft.com/office/drawing/2014/main" id="{8466CA01-AE78-1ED5-4AB9-2205E1DE43FB}"/>
              </a:ext>
            </a:extLst>
          </p:cNvPr>
          <p:cNvSpPr>
            <a:spLocks noGrp="1"/>
          </p:cNvSpPr>
          <p:nvPr>
            <p:ph idx="1"/>
          </p:nvPr>
        </p:nvSpPr>
        <p:spPr>
          <a:xfrm>
            <a:off x="838200" y="1386348"/>
            <a:ext cx="10515600" cy="4790615"/>
          </a:xfrm>
        </p:spPr>
        <p:txBody>
          <a:bodyPr>
            <a:normAutofit/>
          </a:bodyPr>
          <a:lstStyle/>
          <a:p>
            <a:pPr>
              <a:buFont typeface="+mj-lt"/>
              <a:buAutoNum type="arabicPeriod"/>
            </a:pPr>
            <a:r>
              <a:rPr lang="en-US" b="1" dirty="0"/>
              <a:t>Financial Challenges</a:t>
            </a:r>
            <a:endParaRPr lang="en-US" dirty="0"/>
          </a:p>
          <a:p>
            <a:pPr marL="457200" lvl="1" indent="0">
              <a:buNone/>
            </a:pPr>
            <a:r>
              <a:rPr lang="en-US" dirty="0"/>
              <a:t>Difficulty in securing funding or investment, particularly for startups.</a:t>
            </a:r>
          </a:p>
          <a:p>
            <a:pPr marL="457200" lvl="1" indent="0">
              <a:buNone/>
            </a:pPr>
            <a:r>
              <a:rPr lang="en-US" dirty="0"/>
              <a:t>Managing cash flow and financial stability during the early stages.</a:t>
            </a:r>
          </a:p>
          <a:p>
            <a:pPr>
              <a:buFont typeface="+mj-lt"/>
              <a:buAutoNum type="arabicPeriod"/>
            </a:pPr>
            <a:r>
              <a:rPr lang="en-US" b="1" dirty="0"/>
              <a:t>Market Competition</a:t>
            </a:r>
            <a:endParaRPr lang="en-US" dirty="0"/>
          </a:p>
          <a:p>
            <a:pPr marL="457200" lvl="1" indent="0">
              <a:buNone/>
            </a:pPr>
            <a:r>
              <a:rPr lang="en-US" dirty="0"/>
              <a:t>Competing with established businesses and adapting to rapidly changing market dynamics is very challenging task. </a:t>
            </a:r>
          </a:p>
          <a:p>
            <a:endParaRPr lang="en-CA" dirty="0"/>
          </a:p>
        </p:txBody>
      </p:sp>
    </p:spTree>
    <p:extLst>
      <p:ext uri="{BB962C8B-B14F-4D97-AF65-F5344CB8AC3E}">
        <p14:creationId xmlns:p14="http://schemas.microsoft.com/office/powerpoint/2010/main" val="27053029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79514-8169-B328-6D6B-1B468798F82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4CB9D09-7D44-CA7F-6CF2-5A292D7DC172}"/>
              </a:ext>
            </a:extLst>
          </p:cNvPr>
          <p:cNvSpPr>
            <a:spLocks noGrp="1"/>
          </p:cNvSpPr>
          <p:nvPr>
            <p:ph idx="1"/>
          </p:nvPr>
        </p:nvSpPr>
        <p:spPr/>
        <p:txBody>
          <a:bodyPr>
            <a:normAutofit/>
          </a:bodyPr>
          <a:lstStyle/>
          <a:p>
            <a:pPr marL="0" indent="0">
              <a:buNone/>
            </a:pPr>
            <a:r>
              <a:rPr lang="en-US" b="1" dirty="0"/>
              <a:t>3.Risk and Uncertainty</a:t>
            </a:r>
            <a:endParaRPr lang="en-US" dirty="0"/>
          </a:p>
          <a:p>
            <a:pPr marL="457200" lvl="1" indent="0">
              <a:buNone/>
            </a:pPr>
            <a:r>
              <a:rPr lang="en-US" dirty="0"/>
              <a:t>High levels of risk, including market, operational, and financial risks.</a:t>
            </a:r>
          </a:p>
          <a:p>
            <a:pPr marL="457200" lvl="1" indent="0">
              <a:buNone/>
            </a:pPr>
            <a:r>
              <a:rPr lang="en-US" dirty="0"/>
              <a:t>Unpredictable outcomes and potential business failures.</a:t>
            </a:r>
          </a:p>
          <a:p>
            <a:pPr marL="0" indent="0">
              <a:buNone/>
            </a:pPr>
            <a:r>
              <a:rPr lang="en-US" b="1" dirty="0"/>
              <a:t>4.Work-Life Balance</a:t>
            </a:r>
            <a:endParaRPr lang="en-US" dirty="0"/>
          </a:p>
          <a:p>
            <a:pPr marL="457200" lvl="1" indent="0">
              <a:buNone/>
            </a:pPr>
            <a:r>
              <a:rPr lang="en-US" dirty="0"/>
              <a:t>Long working hours and high stress can lead to stress.</a:t>
            </a:r>
          </a:p>
          <a:p>
            <a:pPr marL="457200" lvl="1" indent="0">
              <a:buNone/>
            </a:pPr>
            <a:r>
              <a:rPr lang="en-US" dirty="0"/>
              <a:t>Maintaining a balance between personal and professional life is often challenging.</a:t>
            </a:r>
          </a:p>
          <a:p>
            <a:pPr marL="0" indent="0">
              <a:buNone/>
            </a:pPr>
            <a:r>
              <a:rPr lang="en-US" b="1" dirty="0"/>
              <a:t>5.Skill and Knowledge Gaps</a:t>
            </a:r>
            <a:endParaRPr lang="en-US" dirty="0"/>
          </a:p>
          <a:p>
            <a:pPr marL="457200" lvl="1" indent="0">
              <a:buNone/>
            </a:pPr>
            <a:r>
              <a:rPr lang="en-US" dirty="0"/>
              <a:t>Entrepreneurs may lack expertise in areas such as finance, marketing, or operations.</a:t>
            </a:r>
          </a:p>
          <a:p>
            <a:endParaRPr lang="en-CA" dirty="0"/>
          </a:p>
        </p:txBody>
      </p:sp>
    </p:spTree>
    <p:extLst>
      <p:ext uri="{BB962C8B-B14F-4D97-AF65-F5344CB8AC3E}">
        <p14:creationId xmlns:p14="http://schemas.microsoft.com/office/powerpoint/2010/main" val="1290393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E70CE-483C-D621-623C-012BC052E9D1}"/>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1E2F6F9-1187-819C-6940-4436E7E14685}"/>
              </a:ext>
            </a:extLst>
          </p:cNvPr>
          <p:cNvSpPr>
            <a:spLocks noGrp="1"/>
          </p:cNvSpPr>
          <p:nvPr>
            <p:ph idx="1"/>
          </p:nvPr>
        </p:nvSpPr>
        <p:spPr/>
        <p:txBody>
          <a:bodyPr>
            <a:normAutofit lnSpcReduction="10000"/>
          </a:bodyPr>
          <a:lstStyle/>
          <a:p>
            <a:pPr marL="0" indent="0">
              <a:buNone/>
            </a:pPr>
            <a:r>
              <a:rPr lang="en-US" b="1" dirty="0"/>
              <a:t>6.Regulatory and Legal Barriers</a:t>
            </a:r>
            <a:endParaRPr lang="en-US" dirty="0"/>
          </a:p>
          <a:p>
            <a:pPr marL="457200" lvl="1" indent="0">
              <a:buNone/>
            </a:pPr>
            <a:r>
              <a:rPr lang="en-US" dirty="0"/>
              <a:t>Navigating complex regulatory frameworks and compliance requirements.</a:t>
            </a:r>
          </a:p>
          <a:p>
            <a:pPr marL="457200" lvl="1" indent="0">
              <a:buNone/>
            </a:pPr>
            <a:r>
              <a:rPr lang="en-US" dirty="0"/>
              <a:t>Dealing with bureaucratic hurdles and corruption in some regions.</a:t>
            </a:r>
          </a:p>
          <a:p>
            <a:pPr marL="0" indent="0">
              <a:buNone/>
            </a:pPr>
            <a:r>
              <a:rPr lang="en-US" b="1" dirty="0"/>
              <a:t>7.Building a Reliable Team</a:t>
            </a:r>
            <a:endParaRPr lang="en-US" dirty="0"/>
          </a:p>
          <a:p>
            <a:pPr marL="457200" lvl="1" indent="0">
              <a:buNone/>
            </a:pPr>
            <a:r>
              <a:rPr lang="en-US" dirty="0"/>
              <a:t>Recruiting, training, and retaining skilled employees in a competitive job market.</a:t>
            </a:r>
          </a:p>
          <a:p>
            <a:pPr marL="457200" lvl="1" indent="0">
              <a:buNone/>
            </a:pPr>
            <a:r>
              <a:rPr lang="en-US" dirty="0"/>
              <a:t>Establishing a positive organizational culture.</a:t>
            </a:r>
          </a:p>
          <a:p>
            <a:pPr marL="0" indent="0">
              <a:buNone/>
            </a:pPr>
            <a:r>
              <a:rPr lang="en-US" b="1" dirty="0"/>
              <a:t>8. Adapting to Technological Changes</a:t>
            </a:r>
            <a:endParaRPr lang="en-US" dirty="0"/>
          </a:p>
          <a:p>
            <a:pPr marL="457200" lvl="1" indent="0">
              <a:buNone/>
            </a:pPr>
            <a:r>
              <a:rPr lang="en-US" dirty="0"/>
              <a:t>Keeping up with rapid advancements in technology and integrating them effectively.</a:t>
            </a:r>
          </a:p>
          <a:p>
            <a:pPr marL="457200" lvl="1" indent="0">
              <a:buNone/>
            </a:pPr>
            <a:r>
              <a:rPr lang="en-US" dirty="0"/>
              <a:t>Managing costs associated with adopting new technologies.</a:t>
            </a:r>
          </a:p>
          <a:p>
            <a:endParaRPr lang="en-CA" dirty="0"/>
          </a:p>
        </p:txBody>
      </p:sp>
    </p:spTree>
    <p:extLst>
      <p:ext uri="{BB962C8B-B14F-4D97-AF65-F5344CB8AC3E}">
        <p14:creationId xmlns:p14="http://schemas.microsoft.com/office/powerpoint/2010/main" val="10822980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BEB38-510A-965F-FB37-9977780A304C}"/>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1B2FCC64-71A2-B4D3-90A4-49C85FA873A3}"/>
              </a:ext>
            </a:extLst>
          </p:cNvPr>
          <p:cNvSpPr>
            <a:spLocks noGrp="1"/>
          </p:cNvSpPr>
          <p:nvPr>
            <p:ph idx="1"/>
          </p:nvPr>
        </p:nvSpPr>
        <p:spPr/>
        <p:txBody>
          <a:bodyPr/>
          <a:lstStyle/>
          <a:p>
            <a:pPr marL="0" indent="0">
              <a:buNone/>
            </a:pPr>
            <a:r>
              <a:rPr lang="en-US" b="1" dirty="0"/>
              <a:t>9.Access to Markets</a:t>
            </a:r>
            <a:endParaRPr lang="en-US" dirty="0"/>
          </a:p>
          <a:p>
            <a:pPr marL="457200" lvl="1" indent="0">
              <a:buNone/>
            </a:pPr>
            <a:r>
              <a:rPr lang="en-US" dirty="0"/>
              <a:t>Challenges in identifying and reaching target markets, especially for niche products.</a:t>
            </a:r>
          </a:p>
          <a:p>
            <a:pPr marL="457200" lvl="1" indent="0">
              <a:buNone/>
            </a:pPr>
            <a:r>
              <a:rPr lang="en-US" dirty="0"/>
              <a:t>Building brand awareness and trust among consumers.</a:t>
            </a:r>
          </a:p>
          <a:p>
            <a:pPr marL="0" indent="0">
              <a:buNone/>
            </a:pPr>
            <a:r>
              <a:rPr lang="en-US" b="1" dirty="0"/>
              <a:t>10.Social and Cultural Resistance</a:t>
            </a:r>
            <a:endParaRPr lang="en-US" dirty="0"/>
          </a:p>
          <a:p>
            <a:pPr marL="457200" lvl="1" indent="0">
              <a:buNone/>
            </a:pPr>
            <a:r>
              <a:rPr lang="en-US" dirty="0"/>
              <a:t>In some societies, entrepreneurship may not be widely supported or understood.</a:t>
            </a:r>
          </a:p>
          <a:p>
            <a:pPr marL="457200" lvl="1" indent="0">
              <a:buNone/>
            </a:pPr>
            <a:r>
              <a:rPr lang="en-US" dirty="0"/>
              <a:t>Overcoming cultural norms that discourage risk-taking or innovation.</a:t>
            </a:r>
          </a:p>
          <a:p>
            <a:endParaRPr lang="en-CA" dirty="0"/>
          </a:p>
        </p:txBody>
      </p:sp>
    </p:spTree>
    <p:extLst>
      <p:ext uri="{BB962C8B-B14F-4D97-AF65-F5344CB8AC3E}">
        <p14:creationId xmlns:p14="http://schemas.microsoft.com/office/powerpoint/2010/main" val="325050458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A154D-B741-730A-03A6-2E591D7F6667}"/>
              </a:ext>
            </a:extLst>
          </p:cNvPr>
          <p:cNvSpPr>
            <a:spLocks noGrp="1"/>
          </p:cNvSpPr>
          <p:nvPr>
            <p:ph type="title"/>
          </p:nvPr>
        </p:nvSpPr>
        <p:spPr>
          <a:xfrm>
            <a:off x="838200" y="128017"/>
            <a:ext cx="10515600" cy="1261871"/>
          </a:xfrm>
        </p:spPr>
        <p:txBody>
          <a:bodyPr>
            <a:normAutofit fontScale="90000"/>
          </a:bodyPr>
          <a:lstStyle/>
          <a:p>
            <a:r>
              <a:rPr lang="en-CA" dirty="0"/>
              <a:t>Emerging Technologies Driving Startups</a:t>
            </a:r>
            <a:br>
              <a:rPr lang="en-CA" dirty="0"/>
            </a:br>
            <a:endParaRPr lang="en-CA" dirty="0"/>
          </a:p>
        </p:txBody>
      </p:sp>
      <p:sp>
        <p:nvSpPr>
          <p:cNvPr id="3" name="Content Placeholder 2">
            <a:extLst>
              <a:ext uri="{FF2B5EF4-FFF2-40B4-BE49-F238E27FC236}">
                <a16:creationId xmlns:a16="http://schemas.microsoft.com/office/drawing/2014/main" id="{D967C9A8-9DE0-83F5-E590-33C33DC28B83}"/>
              </a:ext>
            </a:extLst>
          </p:cNvPr>
          <p:cNvSpPr>
            <a:spLocks noGrp="1"/>
          </p:cNvSpPr>
          <p:nvPr>
            <p:ph idx="1"/>
          </p:nvPr>
        </p:nvSpPr>
        <p:spPr>
          <a:xfrm>
            <a:off x="164592" y="1014984"/>
            <a:ext cx="11113008" cy="5562797"/>
          </a:xfrm>
        </p:spPr>
        <p:txBody>
          <a:bodyPr>
            <a:normAutofit fontScale="70000" lnSpcReduction="20000"/>
          </a:bodyPr>
          <a:lstStyle/>
          <a:p>
            <a:pPr>
              <a:buFont typeface="+mj-lt"/>
              <a:buAutoNum type="arabicPeriod"/>
            </a:pPr>
            <a:r>
              <a:rPr lang="en-US" b="1" dirty="0"/>
              <a:t>Artificial Intelligence (AI) and Machine Learning (ML)</a:t>
            </a:r>
            <a:endParaRPr lang="en-US" dirty="0"/>
          </a:p>
          <a:p>
            <a:pPr marL="457200" lvl="1" indent="0">
              <a:buNone/>
            </a:pPr>
            <a:r>
              <a:rPr lang="en-US" dirty="0"/>
              <a:t>Startups are using AI/ML for predictive analytics, natural language processing, image recognition, and more.</a:t>
            </a:r>
          </a:p>
          <a:p>
            <a:pPr marL="457200" lvl="1" indent="0">
              <a:buNone/>
            </a:pPr>
            <a:r>
              <a:rPr lang="en-US" dirty="0"/>
              <a:t>Examples: Chatbots, recommendation systems, autonomous vehicles, and personalized healthcare solutions.</a:t>
            </a:r>
          </a:p>
          <a:p>
            <a:pPr>
              <a:buFont typeface="+mj-lt"/>
              <a:buAutoNum type="arabicPeriod"/>
            </a:pPr>
            <a:r>
              <a:rPr lang="en-US" b="1" dirty="0"/>
              <a:t>Blockchain and Cryptocurrency</a:t>
            </a:r>
            <a:endParaRPr lang="en-US" dirty="0"/>
          </a:p>
          <a:p>
            <a:pPr>
              <a:buNone/>
            </a:pPr>
            <a:r>
              <a:rPr lang="en-US" dirty="0"/>
              <a:t>Blockchain technology is a shared database that stores records on a distributed and decentralized ledger. Once you record and store your data on the blockchain network, you typically cannot change or modify it, making it transparent and trustworthy. Transactions duplicate and distribute across the blockchain network to every user connected to the blockchain. A digital signature from the original owner of a transaction adds to the ledger, authenticating the information and protecting it from tampering. </a:t>
            </a:r>
          </a:p>
          <a:p>
            <a:pPr>
              <a:buNone/>
            </a:pPr>
            <a:r>
              <a:rPr lang="en-US" dirty="0"/>
              <a:t>A </a:t>
            </a:r>
            <a:r>
              <a:rPr lang="en-US" b="1" dirty="0"/>
              <a:t>Blockchain</a:t>
            </a:r>
            <a:r>
              <a:rPr lang="en-US" dirty="0"/>
              <a:t> is a special kind of </a:t>
            </a:r>
            <a:r>
              <a:rPr lang="en-US" b="1" dirty="0"/>
              <a:t>database</a:t>
            </a:r>
            <a:r>
              <a:rPr lang="en-US" dirty="0"/>
              <a:t> that stores information in blocks that are linked together in a chain.</a:t>
            </a:r>
            <a:br>
              <a:rPr lang="en-US" dirty="0"/>
            </a:br>
            <a:r>
              <a:rPr lang="en-US" dirty="0"/>
              <a:t>Once a block is filled with data, it is linked to the previous one — forming a secure and unchangeable chain of information.</a:t>
            </a:r>
          </a:p>
          <a:p>
            <a:pPr>
              <a:buNone/>
            </a:pPr>
            <a:r>
              <a:rPr lang="en-US" b="1" dirty="0"/>
              <a:t> Main Features of Blockchain:</a:t>
            </a:r>
          </a:p>
          <a:p>
            <a:pPr marL="0" indent="0">
              <a:buNone/>
            </a:pPr>
            <a:r>
              <a:rPr lang="en-US" b="1" dirty="0"/>
              <a:t>Decentralized System</a:t>
            </a:r>
            <a:r>
              <a:rPr lang="en-US" dirty="0"/>
              <a:t> – It is not controlled by one person or organization. Instead, many computers (called nodes) share and verify the data together.</a:t>
            </a:r>
          </a:p>
          <a:p>
            <a:pPr marL="0" indent="0">
              <a:buNone/>
            </a:pPr>
            <a:r>
              <a:rPr lang="en-US" b="1" dirty="0"/>
              <a:t>Transparent</a:t>
            </a:r>
            <a:r>
              <a:rPr lang="en-US" dirty="0"/>
              <a:t> – Every transaction is recorded and can be verified by anyone on the network.</a:t>
            </a:r>
          </a:p>
          <a:p>
            <a:pPr marL="0" indent="0">
              <a:buNone/>
            </a:pPr>
            <a:r>
              <a:rPr lang="en-US" b="1" dirty="0"/>
              <a:t>Secure</a:t>
            </a:r>
            <a:r>
              <a:rPr lang="en-US" dirty="0"/>
              <a:t> – It uses coding  to keep the data safe from hackers.</a:t>
            </a:r>
          </a:p>
          <a:p>
            <a:pPr marL="0" indent="0">
              <a:buNone/>
            </a:pPr>
            <a:r>
              <a:rPr lang="en-US" b="1" dirty="0"/>
              <a:t>Unchallengeable</a:t>
            </a:r>
            <a:r>
              <a:rPr lang="en-US" dirty="0"/>
              <a:t> – Once data is added to the blockchain, it cannot easily be changed or deleted.</a:t>
            </a:r>
          </a:p>
          <a:p>
            <a:endParaRPr lang="en-CA" dirty="0"/>
          </a:p>
        </p:txBody>
      </p:sp>
    </p:spTree>
    <p:extLst>
      <p:ext uri="{BB962C8B-B14F-4D97-AF65-F5344CB8AC3E}">
        <p14:creationId xmlns:p14="http://schemas.microsoft.com/office/powerpoint/2010/main" val="348919401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55E2B-FAD5-7F24-A7E9-5A87A9397EFE}"/>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87A082B7-B23B-6573-A2B5-A7550F71B4D6}"/>
              </a:ext>
            </a:extLst>
          </p:cNvPr>
          <p:cNvSpPr>
            <a:spLocks noGrp="1"/>
          </p:cNvSpPr>
          <p:nvPr>
            <p:ph idx="1"/>
          </p:nvPr>
        </p:nvSpPr>
        <p:spPr>
          <a:xfrm>
            <a:off x="838200" y="1825625"/>
            <a:ext cx="10515600" cy="4667250"/>
          </a:xfrm>
        </p:spPr>
        <p:txBody>
          <a:bodyPr>
            <a:normAutofit fontScale="77500" lnSpcReduction="20000"/>
          </a:bodyPr>
          <a:lstStyle/>
          <a:p>
            <a:pPr marL="0" indent="0">
              <a:buNone/>
            </a:pPr>
            <a:r>
              <a:rPr lang="en-US" dirty="0"/>
              <a:t>A </a:t>
            </a:r>
            <a:r>
              <a:rPr lang="en-US" b="1" dirty="0"/>
              <a:t>Cryptocurrency</a:t>
            </a:r>
            <a:r>
              <a:rPr lang="en-US" dirty="0"/>
              <a:t> is a form of </a:t>
            </a:r>
            <a:r>
              <a:rPr lang="en-US" b="1" dirty="0"/>
              <a:t>digital money</a:t>
            </a:r>
            <a:r>
              <a:rPr lang="en-US" dirty="0"/>
              <a:t> that is built on blockchain technology.</a:t>
            </a:r>
            <a:br>
              <a:rPr lang="en-US" dirty="0"/>
            </a:br>
            <a:r>
              <a:rPr lang="en-US" dirty="0"/>
              <a:t>It allows people to send or receive payments directly (peer-to-peer) without needing banks or middlemen.</a:t>
            </a:r>
          </a:p>
          <a:p>
            <a:pPr>
              <a:buNone/>
            </a:pPr>
            <a:r>
              <a:rPr lang="en-US" b="1" dirty="0"/>
              <a:t>Key Features of Cryptocurrency:</a:t>
            </a:r>
          </a:p>
          <a:p>
            <a:pPr marL="0" indent="0">
              <a:buNone/>
            </a:pPr>
            <a:r>
              <a:rPr lang="en-US" dirty="0"/>
              <a:t>Purely Digital – It exists only in digital form, not as physical coins or paper money.</a:t>
            </a:r>
          </a:p>
          <a:p>
            <a:pPr marL="0" indent="0">
              <a:buNone/>
            </a:pPr>
            <a:r>
              <a:rPr lang="en-US" dirty="0"/>
              <a:t>Secured by Cryptography – Transactions are protected by strong encryption.</a:t>
            </a:r>
          </a:p>
          <a:p>
            <a:pPr marL="0" indent="0">
              <a:buNone/>
            </a:pPr>
            <a:r>
              <a:rPr lang="en-US" dirty="0"/>
              <a:t>No Middlemen – Transactions happen directly between users, without needing a bank.</a:t>
            </a:r>
          </a:p>
          <a:p>
            <a:pPr marL="0" indent="0">
              <a:buNone/>
            </a:pPr>
            <a:r>
              <a:rPr lang="en-US" dirty="0"/>
              <a:t>Global Access – Anyone with internet access can use or send cryptocurrency anywhere in the world.</a:t>
            </a:r>
          </a:p>
          <a:p>
            <a:pPr marL="0" indent="0">
              <a:buNone/>
            </a:pPr>
            <a:r>
              <a:rPr lang="en-US" b="1" dirty="0"/>
              <a:t>3.Internet of Things (IoT)</a:t>
            </a:r>
          </a:p>
          <a:p>
            <a:pPr>
              <a:buNone/>
            </a:pPr>
            <a:r>
              <a:rPr lang="en-US" dirty="0"/>
              <a:t>The </a:t>
            </a:r>
            <a:r>
              <a:rPr lang="en-US" b="1" dirty="0"/>
              <a:t>Internet of Things (IoT)</a:t>
            </a:r>
            <a:r>
              <a:rPr lang="en-US" dirty="0"/>
              <a:t> refers to a system of </a:t>
            </a:r>
            <a:r>
              <a:rPr lang="en-US" b="1" dirty="0"/>
              <a:t>interconnected physical devices</a:t>
            </a:r>
            <a:r>
              <a:rPr lang="en-US" dirty="0"/>
              <a:t> — such as sensors, machines, vehicles, and home appliances — that can </a:t>
            </a:r>
            <a:r>
              <a:rPr lang="en-US" b="1" dirty="0"/>
              <a:t>communicate with each other</a:t>
            </a:r>
            <a:r>
              <a:rPr lang="en-US" dirty="0"/>
              <a:t> and </a:t>
            </a:r>
            <a:r>
              <a:rPr lang="en-US" b="1" dirty="0"/>
              <a:t>exchange data</a:t>
            </a:r>
            <a:r>
              <a:rPr lang="en-US" dirty="0"/>
              <a:t> over the Internet.</a:t>
            </a:r>
          </a:p>
          <a:p>
            <a:pPr>
              <a:buNone/>
            </a:pPr>
            <a:r>
              <a:rPr lang="en-US" dirty="0"/>
              <a:t>In simple terms, IoT means </a:t>
            </a:r>
            <a:r>
              <a:rPr lang="en-US" b="1" dirty="0"/>
              <a:t>connecting everyday objects to the Internet</a:t>
            </a:r>
            <a:r>
              <a:rPr lang="en-US" dirty="0"/>
              <a:t> so they can send and receive information automatically.</a:t>
            </a:r>
          </a:p>
          <a:p>
            <a:endParaRPr lang="en-CA" dirty="0"/>
          </a:p>
        </p:txBody>
      </p:sp>
    </p:spTree>
    <p:extLst>
      <p:ext uri="{BB962C8B-B14F-4D97-AF65-F5344CB8AC3E}">
        <p14:creationId xmlns:p14="http://schemas.microsoft.com/office/powerpoint/2010/main" val="65672693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99E66-BBEA-6045-F918-977C54874CA1}"/>
              </a:ext>
            </a:extLst>
          </p:cNvPr>
          <p:cNvSpPr>
            <a:spLocks noGrp="1"/>
          </p:cNvSpPr>
          <p:nvPr>
            <p:ph type="title"/>
          </p:nvPr>
        </p:nvSpPr>
        <p:spPr>
          <a:xfrm>
            <a:off x="838200" y="365125"/>
            <a:ext cx="10515600" cy="46926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87CBCEEF-CD33-BDE1-016F-ECDE0DE2EA36}"/>
              </a:ext>
            </a:extLst>
          </p:cNvPr>
          <p:cNvSpPr>
            <a:spLocks noGrp="1"/>
          </p:cNvSpPr>
          <p:nvPr>
            <p:ph idx="1"/>
          </p:nvPr>
        </p:nvSpPr>
        <p:spPr/>
        <p:txBody>
          <a:bodyPr/>
          <a:lstStyle/>
          <a:p>
            <a:pPr>
              <a:buNone/>
            </a:pPr>
            <a:r>
              <a:rPr lang="en-US" b="1" dirty="0"/>
              <a:t>Advantages of IoT:</a:t>
            </a:r>
          </a:p>
          <a:p>
            <a:pPr>
              <a:buFont typeface="Arial" panose="020B0604020202020204" pitchFamily="34" charset="0"/>
              <a:buChar char="•"/>
            </a:pPr>
            <a:r>
              <a:rPr lang="en-US" dirty="0"/>
              <a:t>Makes life easier and more convenient</a:t>
            </a:r>
          </a:p>
          <a:p>
            <a:pPr>
              <a:buFont typeface="Arial" panose="020B0604020202020204" pitchFamily="34" charset="0"/>
              <a:buChar char="•"/>
            </a:pPr>
            <a:r>
              <a:rPr lang="en-US" dirty="0"/>
              <a:t>Saves time and energy</a:t>
            </a:r>
          </a:p>
          <a:p>
            <a:pPr>
              <a:buFont typeface="Arial" panose="020B0604020202020204" pitchFamily="34" charset="0"/>
              <a:buChar char="•"/>
            </a:pPr>
            <a:r>
              <a:rPr lang="en-US" dirty="0"/>
              <a:t>Increases efficiency in industries and cities</a:t>
            </a:r>
          </a:p>
          <a:p>
            <a:pPr>
              <a:buFont typeface="Arial" panose="020B0604020202020204" pitchFamily="34" charset="0"/>
              <a:buChar char="•"/>
            </a:pPr>
            <a:r>
              <a:rPr lang="en-US" dirty="0"/>
              <a:t>Helps in data-driven decision making</a:t>
            </a:r>
          </a:p>
          <a:p>
            <a:endParaRPr lang="en-CA" dirty="0"/>
          </a:p>
        </p:txBody>
      </p:sp>
    </p:spTree>
    <p:extLst>
      <p:ext uri="{BB962C8B-B14F-4D97-AF65-F5344CB8AC3E}">
        <p14:creationId xmlns:p14="http://schemas.microsoft.com/office/powerpoint/2010/main" val="15791225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648AE-3AD6-837F-712C-3410BD389F26}"/>
              </a:ext>
            </a:extLst>
          </p:cNvPr>
          <p:cNvSpPr>
            <a:spLocks noGrp="1"/>
          </p:cNvSpPr>
          <p:nvPr>
            <p:ph type="title"/>
          </p:nvPr>
        </p:nvSpPr>
        <p:spPr>
          <a:xfrm>
            <a:off x="838200" y="365125"/>
            <a:ext cx="10515600" cy="54927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43BDCC63-6C78-38AA-9EEC-65CB120E86F5}"/>
              </a:ext>
            </a:extLst>
          </p:cNvPr>
          <p:cNvSpPr>
            <a:spLocks noGrp="1"/>
          </p:cNvSpPr>
          <p:nvPr>
            <p:ph idx="1"/>
          </p:nvPr>
        </p:nvSpPr>
        <p:spPr>
          <a:xfrm>
            <a:off x="274320" y="1225296"/>
            <a:ext cx="11079480" cy="4951667"/>
          </a:xfrm>
        </p:spPr>
        <p:txBody>
          <a:bodyPr>
            <a:normAutofit fontScale="77500" lnSpcReduction="20000"/>
          </a:bodyPr>
          <a:lstStyle/>
          <a:p>
            <a:pPr marL="0" indent="0">
              <a:buNone/>
            </a:pPr>
            <a:r>
              <a:rPr lang="en-US" b="1" dirty="0"/>
              <a:t>4.Green and Clean Technologies</a:t>
            </a:r>
            <a:endParaRPr lang="en-US" dirty="0"/>
          </a:p>
          <a:p>
            <a:pPr marL="457200" lvl="1" indent="0">
              <a:buNone/>
            </a:pPr>
            <a:r>
              <a:rPr lang="en-US" dirty="0"/>
              <a:t>Renewable energy startups focus on solar, wind, and battery storage technologies.</a:t>
            </a:r>
          </a:p>
          <a:p>
            <a:pPr marL="457200" lvl="1" indent="0">
              <a:buNone/>
            </a:pPr>
            <a:r>
              <a:rPr lang="en-US" dirty="0"/>
              <a:t>Solutions include carbon capture, sustainable packaging, and electric vehicles (EVs).</a:t>
            </a:r>
          </a:p>
          <a:p>
            <a:pPr marL="0" indent="0">
              <a:buNone/>
            </a:pPr>
            <a:r>
              <a:rPr lang="en-US" b="1" dirty="0"/>
              <a:t>5.Augmented Reality (AR) and Virtual Reality (VR)</a:t>
            </a:r>
            <a:endParaRPr lang="en-US" dirty="0"/>
          </a:p>
          <a:p>
            <a:pPr marL="457200" lvl="1" indent="0">
              <a:buNone/>
            </a:pPr>
            <a:r>
              <a:rPr lang="en-US" b="1" dirty="0"/>
              <a:t>Augmented Reality (AR)</a:t>
            </a:r>
            <a:r>
              <a:rPr lang="en-US" dirty="0"/>
              <a:t> is a technology that overlays digital elements—such as images, text, sounds, or 3D objects—onto the real world through a device like a smartphone, tablet, or computers.</a:t>
            </a:r>
          </a:p>
          <a:p>
            <a:pPr marL="457200" lvl="1" indent="0">
              <a:buNone/>
            </a:pPr>
            <a:r>
              <a:rPr lang="en-US" dirty="0"/>
              <a:t>These technologies are being used by startups to create unique customer experiences, improve training , and develop new applications in fields like real estate, gaming, and design prototyping. </a:t>
            </a:r>
          </a:p>
          <a:p>
            <a:pPr marL="457200" lvl="1" indent="0">
              <a:buNone/>
            </a:pPr>
            <a:endParaRPr lang="en-US" b="0" i="0" dirty="0">
              <a:solidFill>
                <a:srgbClr val="0F1115"/>
              </a:solidFill>
              <a:effectLst/>
              <a:latin typeface="quote-cjk-patch"/>
            </a:endParaRPr>
          </a:p>
          <a:p>
            <a:r>
              <a:rPr lang="en-US" b="1" dirty="0"/>
              <a:t>Virtual Reality (VR)</a:t>
            </a:r>
            <a:r>
              <a:rPr lang="en-US" dirty="0"/>
              <a:t> is a technology that creates a completely artificial, computer-generated environment that you can see and interact with using special devices like VR headsets, gloves, or controllers.</a:t>
            </a:r>
          </a:p>
          <a:p>
            <a:r>
              <a:rPr lang="en-US" dirty="0"/>
              <a:t>When using VR, you feel like you are </a:t>
            </a:r>
            <a:r>
              <a:rPr lang="en-US" b="1" dirty="0"/>
              <a:t>inside a different world</a:t>
            </a:r>
            <a:r>
              <a:rPr lang="en-US" dirty="0"/>
              <a:t>, not your real surroundings.</a:t>
            </a:r>
          </a:p>
          <a:p>
            <a:pPr marL="457200" lvl="1" indent="0">
              <a:buNone/>
            </a:pPr>
            <a:r>
              <a:rPr lang="en-US" b="0" i="0" dirty="0">
                <a:solidFill>
                  <a:srgbClr val="0F1115"/>
                </a:solidFill>
                <a:effectLst/>
                <a:latin typeface="quote-cjk-patch"/>
              </a:rPr>
              <a:t>AR does not replace your world; it enhances it by covering digital elements—like images, text, or 3D models—onto your view of the real environment. </a:t>
            </a:r>
            <a:endParaRPr lang="en-US" dirty="0"/>
          </a:p>
          <a:p>
            <a:pPr marL="457200" lvl="1" indent="0">
              <a:buNone/>
            </a:pPr>
            <a:r>
              <a:rPr lang="en-US" b="0" i="0" dirty="0">
                <a:solidFill>
                  <a:srgbClr val="0F1115"/>
                </a:solidFill>
                <a:effectLst/>
                <a:latin typeface="quote-cjk-patch"/>
              </a:rPr>
              <a:t>VR shuts out (stop) the physical world and transports you into a completely computer-generated replication. When you put on a VR headset, your real environment is replaced, and you feel "present" inside the digital space.</a:t>
            </a:r>
            <a:endParaRPr lang="en-US" dirty="0"/>
          </a:p>
          <a:p>
            <a:endParaRPr lang="en-CA" dirty="0"/>
          </a:p>
        </p:txBody>
      </p:sp>
    </p:spTree>
    <p:extLst>
      <p:ext uri="{BB962C8B-B14F-4D97-AF65-F5344CB8AC3E}">
        <p14:creationId xmlns:p14="http://schemas.microsoft.com/office/powerpoint/2010/main" val="111071527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87DE5-F7C7-7FE5-3455-50BBC03D516F}"/>
              </a:ext>
            </a:extLst>
          </p:cNvPr>
          <p:cNvSpPr>
            <a:spLocks noGrp="1"/>
          </p:cNvSpPr>
          <p:nvPr>
            <p:ph type="title"/>
          </p:nvPr>
        </p:nvSpPr>
        <p:spPr>
          <a:xfrm>
            <a:off x="838200" y="365125"/>
            <a:ext cx="10515600" cy="300171"/>
          </a:xfrm>
        </p:spPr>
        <p:txBody>
          <a:bodyPr>
            <a:normAutofit fontScale="90000"/>
          </a:bodyPr>
          <a:lstStyle/>
          <a:p>
            <a:endParaRPr lang="en-CA" dirty="0"/>
          </a:p>
        </p:txBody>
      </p:sp>
      <p:graphicFrame>
        <p:nvGraphicFramePr>
          <p:cNvPr id="4" name="Content Placeholder 3">
            <a:extLst>
              <a:ext uri="{FF2B5EF4-FFF2-40B4-BE49-F238E27FC236}">
                <a16:creationId xmlns:a16="http://schemas.microsoft.com/office/drawing/2014/main" id="{E8A76DC5-94D2-5C50-26DC-D7715FABB464}"/>
              </a:ext>
            </a:extLst>
          </p:cNvPr>
          <p:cNvGraphicFramePr>
            <a:graphicFrameLocks noGrp="1"/>
          </p:cNvGraphicFramePr>
          <p:nvPr>
            <p:ph idx="1"/>
            <p:extLst>
              <p:ext uri="{D42A27DB-BD31-4B8C-83A1-F6EECF244321}">
                <p14:modId xmlns:p14="http://schemas.microsoft.com/office/powerpoint/2010/main" val="4169155116"/>
              </p:ext>
            </p:extLst>
          </p:nvPr>
        </p:nvGraphicFramePr>
        <p:xfrm>
          <a:off x="678426" y="924232"/>
          <a:ext cx="10050942" cy="5268471"/>
        </p:xfrm>
        <a:graphic>
          <a:graphicData uri="http://schemas.openxmlformats.org/drawingml/2006/table">
            <a:tbl>
              <a:tblPr/>
              <a:tblGrid>
                <a:gridCol w="3350314">
                  <a:extLst>
                    <a:ext uri="{9D8B030D-6E8A-4147-A177-3AD203B41FA5}">
                      <a16:colId xmlns:a16="http://schemas.microsoft.com/office/drawing/2014/main" val="3618770182"/>
                    </a:ext>
                  </a:extLst>
                </a:gridCol>
                <a:gridCol w="3350314">
                  <a:extLst>
                    <a:ext uri="{9D8B030D-6E8A-4147-A177-3AD203B41FA5}">
                      <a16:colId xmlns:a16="http://schemas.microsoft.com/office/drawing/2014/main" val="2164868402"/>
                    </a:ext>
                  </a:extLst>
                </a:gridCol>
                <a:gridCol w="3350314">
                  <a:extLst>
                    <a:ext uri="{9D8B030D-6E8A-4147-A177-3AD203B41FA5}">
                      <a16:colId xmlns:a16="http://schemas.microsoft.com/office/drawing/2014/main" val="1538520093"/>
                    </a:ext>
                  </a:extLst>
                </a:gridCol>
              </a:tblGrid>
              <a:tr h="389977">
                <a:tc>
                  <a:txBody>
                    <a:bodyPr/>
                    <a:lstStyle/>
                    <a:p>
                      <a:pPr>
                        <a:buNone/>
                      </a:pPr>
                      <a:r>
                        <a:rPr lang="en-CA" sz="1600" b="1"/>
                        <a:t>Basis</a:t>
                      </a:r>
                      <a:endParaRPr lang="en-CA" sz="1600"/>
                    </a:p>
                  </a:txBody>
                  <a:tcPr marL="80580" marR="80580" marT="40290" marB="40290" anchor="ctr">
                    <a:lnL>
                      <a:noFill/>
                    </a:lnL>
                    <a:lnR>
                      <a:noFill/>
                    </a:lnR>
                    <a:lnT>
                      <a:noFill/>
                    </a:lnT>
                    <a:lnB>
                      <a:noFill/>
                    </a:lnB>
                    <a:noFill/>
                  </a:tcPr>
                </a:tc>
                <a:tc>
                  <a:txBody>
                    <a:bodyPr/>
                    <a:lstStyle/>
                    <a:p>
                      <a:pPr>
                        <a:buNone/>
                      </a:pPr>
                      <a:r>
                        <a:rPr lang="en-CA" sz="1600" b="1"/>
                        <a:t>Augmented Reality (AR)</a:t>
                      </a:r>
                      <a:endParaRPr lang="en-CA" sz="1600"/>
                    </a:p>
                  </a:txBody>
                  <a:tcPr marL="80580" marR="80580" marT="40290" marB="40290" anchor="ctr">
                    <a:lnL>
                      <a:noFill/>
                    </a:lnL>
                    <a:lnR>
                      <a:noFill/>
                    </a:lnR>
                    <a:lnT>
                      <a:noFill/>
                    </a:lnT>
                    <a:lnB>
                      <a:noFill/>
                    </a:lnB>
                    <a:noFill/>
                  </a:tcPr>
                </a:tc>
                <a:tc>
                  <a:txBody>
                    <a:bodyPr/>
                    <a:lstStyle/>
                    <a:p>
                      <a:pPr>
                        <a:buNone/>
                      </a:pPr>
                      <a:r>
                        <a:rPr lang="en-CA" sz="1600" b="1"/>
                        <a:t>Virtual Reality (VR)</a:t>
                      </a:r>
                      <a:endParaRPr lang="en-CA" sz="1600"/>
                    </a:p>
                  </a:txBody>
                  <a:tcPr marL="80580" marR="80580" marT="40290" marB="40290" anchor="ctr">
                    <a:lnL>
                      <a:noFill/>
                    </a:lnL>
                    <a:lnR>
                      <a:noFill/>
                    </a:lnR>
                    <a:lnT>
                      <a:noFill/>
                    </a:lnT>
                    <a:lnB>
                      <a:noFill/>
                    </a:lnB>
                    <a:noFill/>
                  </a:tcPr>
                </a:tc>
                <a:extLst>
                  <a:ext uri="{0D108BD9-81ED-4DB2-BD59-A6C34878D82A}">
                    <a16:rowId xmlns:a16="http://schemas.microsoft.com/office/drawing/2014/main" val="2382498367"/>
                  </a:ext>
                </a:extLst>
              </a:tr>
              <a:tr h="683090">
                <a:tc>
                  <a:txBody>
                    <a:bodyPr/>
                    <a:lstStyle/>
                    <a:p>
                      <a:pPr>
                        <a:buNone/>
                      </a:pPr>
                      <a:r>
                        <a:rPr lang="en-CA" sz="1600" b="1"/>
                        <a:t>Definition</a:t>
                      </a:r>
                      <a:endParaRPr lang="en-CA" sz="1600"/>
                    </a:p>
                  </a:txBody>
                  <a:tcPr marL="80580" marR="80580" marT="40290" marB="40290" anchor="ctr">
                    <a:lnL>
                      <a:noFill/>
                    </a:lnL>
                    <a:lnR>
                      <a:noFill/>
                    </a:lnR>
                    <a:lnT>
                      <a:noFill/>
                    </a:lnT>
                    <a:lnB>
                      <a:noFill/>
                    </a:lnB>
                    <a:noFill/>
                  </a:tcPr>
                </a:tc>
                <a:tc>
                  <a:txBody>
                    <a:bodyPr/>
                    <a:lstStyle/>
                    <a:p>
                      <a:pPr>
                        <a:buNone/>
                      </a:pPr>
                      <a:r>
                        <a:rPr lang="en-US" sz="1600"/>
                        <a:t>Adds digital elements to the real world.</a:t>
                      </a:r>
                    </a:p>
                  </a:txBody>
                  <a:tcPr marL="80580" marR="80580" marT="40290" marB="40290" anchor="ctr">
                    <a:lnL>
                      <a:noFill/>
                    </a:lnL>
                    <a:lnR>
                      <a:noFill/>
                    </a:lnR>
                    <a:lnT>
                      <a:noFill/>
                    </a:lnT>
                    <a:lnB>
                      <a:noFill/>
                    </a:lnB>
                    <a:noFill/>
                  </a:tcPr>
                </a:tc>
                <a:tc>
                  <a:txBody>
                    <a:bodyPr/>
                    <a:lstStyle/>
                    <a:p>
                      <a:pPr>
                        <a:buNone/>
                      </a:pPr>
                      <a:r>
                        <a:rPr lang="en-US" sz="1600"/>
                        <a:t>Creates a completely virtual (computer-made) world.</a:t>
                      </a:r>
                    </a:p>
                  </a:txBody>
                  <a:tcPr marL="80580" marR="80580" marT="40290" marB="40290" anchor="ctr">
                    <a:lnL>
                      <a:noFill/>
                    </a:lnL>
                    <a:lnR>
                      <a:noFill/>
                    </a:lnR>
                    <a:lnT>
                      <a:noFill/>
                    </a:lnT>
                    <a:lnB>
                      <a:noFill/>
                    </a:lnB>
                    <a:noFill/>
                  </a:tcPr>
                </a:tc>
                <a:extLst>
                  <a:ext uri="{0D108BD9-81ED-4DB2-BD59-A6C34878D82A}">
                    <a16:rowId xmlns:a16="http://schemas.microsoft.com/office/drawing/2014/main" val="1628525115"/>
                  </a:ext>
                </a:extLst>
              </a:tr>
              <a:tr h="683090">
                <a:tc>
                  <a:txBody>
                    <a:bodyPr/>
                    <a:lstStyle/>
                    <a:p>
                      <a:pPr>
                        <a:buNone/>
                      </a:pPr>
                      <a:r>
                        <a:rPr lang="en-CA" sz="1600" b="1"/>
                        <a:t>Experience</a:t>
                      </a:r>
                      <a:endParaRPr lang="en-CA" sz="1600"/>
                    </a:p>
                  </a:txBody>
                  <a:tcPr marL="80580" marR="80580" marT="40290" marB="40290" anchor="ctr">
                    <a:lnL>
                      <a:noFill/>
                    </a:lnL>
                    <a:lnR>
                      <a:noFill/>
                    </a:lnR>
                    <a:lnT>
                      <a:noFill/>
                    </a:lnT>
                    <a:lnB>
                      <a:noFill/>
                    </a:lnB>
                    <a:noFill/>
                  </a:tcPr>
                </a:tc>
                <a:tc>
                  <a:txBody>
                    <a:bodyPr/>
                    <a:lstStyle/>
                    <a:p>
                      <a:pPr>
                        <a:buNone/>
                      </a:pPr>
                      <a:r>
                        <a:rPr lang="en-US" sz="1600" dirty="0"/>
                        <a:t>You see the real world + digital overlays.</a:t>
                      </a:r>
                    </a:p>
                  </a:txBody>
                  <a:tcPr marL="80580" marR="80580" marT="40290" marB="40290" anchor="ctr">
                    <a:lnL>
                      <a:noFill/>
                    </a:lnL>
                    <a:lnR>
                      <a:noFill/>
                    </a:lnR>
                    <a:lnT>
                      <a:noFill/>
                    </a:lnT>
                    <a:lnB>
                      <a:noFill/>
                    </a:lnB>
                    <a:noFill/>
                  </a:tcPr>
                </a:tc>
                <a:tc>
                  <a:txBody>
                    <a:bodyPr/>
                    <a:lstStyle/>
                    <a:p>
                      <a:pPr>
                        <a:buNone/>
                      </a:pPr>
                      <a:r>
                        <a:rPr lang="en-US" sz="1600"/>
                        <a:t>You see only the virtual world; real world is blocked.</a:t>
                      </a:r>
                    </a:p>
                  </a:txBody>
                  <a:tcPr marL="80580" marR="80580" marT="40290" marB="40290" anchor="ctr">
                    <a:lnL>
                      <a:noFill/>
                    </a:lnL>
                    <a:lnR>
                      <a:noFill/>
                    </a:lnR>
                    <a:lnT>
                      <a:noFill/>
                    </a:lnT>
                    <a:lnB>
                      <a:noFill/>
                    </a:lnB>
                    <a:noFill/>
                  </a:tcPr>
                </a:tc>
                <a:extLst>
                  <a:ext uri="{0D108BD9-81ED-4DB2-BD59-A6C34878D82A}">
                    <a16:rowId xmlns:a16="http://schemas.microsoft.com/office/drawing/2014/main" val="3747392193"/>
                  </a:ext>
                </a:extLst>
              </a:tr>
              <a:tr h="389977">
                <a:tc>
                  <a:txBody>
                    <a:bodyPr/>
                    <a:lstStyle/>
                    <a:p>
                      <a:pPr>
                        <a:buNone/>
                      </a:pPr>
                      <a:r>
                        <a:rPr lang="en-CA" sz="1600" b="1"/>
                        <a:t>Device</a:t>
                      </a:r>
                      <a:endParaRPr lang="en-CA" sz="1600"/>
                    </a:p>
                  </a:txBody>
                  <a:tcPr marL="80580" marR="80580" marT="40290" marB="40290" anchor="ctr">
                    <a:lnL>
                      <a:noFill/>
                    </a:lnL>
                    <a:lnR>
                      <a:noFill/>
                    </a:lnR>
                    <a:lnT>
                      <a:noFill/>
                    </a:lnT>
                    <a:lnB>
                      <a:noFill/>
                    </a:lnB>
                    <a:noFill/>
                  </a:tcPr>
                </a:tc>
                <a:tc>
                  <a:txBody>
                    <a:bodyPr/>
                    <a:lstStyle/>
                    <a:p>
                      <a:pPr>
                        <a:buNone/>
                      </a:pPr>
                      <a:r>
                        <a:rPr lang="en-CA" sz="1600"/>
                        <a:t>Smartphone, tablet, AR glasses.</a:t>
                      </a:r>
                    </a:p>
                  </a:txBody>
                  <a:tcPr marL="80580" marR="80580" marT="40290" marB="40290" anchor="ctr">
                    <a:lnL>
                      <a:noFill/>
                    </a:lnL>
                    <a:lnR>
                      <a:noFill/>
                    </a:lnR>
                    <a:lnT>
                      <a:noFill/>
                    </a:lnT>
                    <a:lnB>
                      <a:noFill/>
                    </a:lnB>
                    <a:noFill/>
                  </a:tcPr>
                </a:tc>
                <a:tc>
                  <a:txBody>
                    <a:bodyPr/>
                    <a:lstStyle/>
                    <a:p>
                      <a:pPr>
                        <a:buNone/>
                      </a:pPr>
                      <a:r>
                        <a:rPr lang="en-US" sz="1600"/>
                        <a:t>VR headset, controllers, VR gloves.</a:t>
                      </a:r>
                    </a:p>
                  </a:txBody>
                  <a:tcPr marL="80580" marR="80580" marT="40290" marB="40290" anchor="ctr">
                    <a:lnL>
                      <a:noFill/>
                    </a:lnL>
                    <a:lnR>
                      <a:noFill/>
                    </a:lnR>
                    <a:lnT>
                      <a:noFill/>
                    </a:lnT>
                    <a:lnB>
                      <a:noFill/>
                    </a:lnB>
                    <a:noFill/>
                  </a:tcPr>
                </a:tc>
                <a:extLst>
                  <a:ext uri="{0D108BD9-81ED-4DB2-BD59-A6C34878D82A}">
                    <a16:rowId xmlns:a16="http://schemas.microsoft.com/office/drawing/2014/main" val="508910919"/>
                  </a:ext>
                </a:extLst>
              </a:tr>
              <a:tr h="683090">
                <a:tc>
                  <a:txBody>
                    <a:bodyPr/>
                    <a:lstStyle/>
                    <a:p>
                      <a:pPr>
                        <a:buNone/>
                      </a:pPr>
                      <a:r>
                        <a:rPr lang="en-CA" sz="1600" b="1" dirty="0"/>
                        <a:t>User Presence</a:t>
                      </a:r>
                      <a:endParaRPr lang="en-CA" sz="1600" dirty="0"/>
                    </a:p>
                  </a:txBody>
                  <a:tcPr marL="80580" marR="80580" marT="40290" marB="40290" anchor="ctr">
                    <a:lnL>
                      <a:noFill/>
                    </a:lnL>
                    <a:lnR>
                      <a:noFill/>
                    </a:lnR>
                    <a:lnT>
                      <a:noFill/>
                    </a:lnT>
                    <a:lnB>
                      <a:noFill/>
                    </a:lnB>
                    <a:noFill/>
                  </a:tcPr>
                </a:tc>
                <a:tc>
                  <a:txBody>
                    <a:bodyPr/>
                    <a:lstStyle/>
                    <a:p>
                      <a:pPr>
                        <a:buNone/>
                      </a:pPr>
                      <a:r>
                        <a:rPr lang="en-US" sz="1600"/>
                        <a:t>User stays in the real environment.</a:t>
                      </a:r>
                    </a:p>
                  </a:txBody>
                  <a:tcPr marL="80580" marR="80580" marT="40290" marB="40290" anchor="ctr">
                    <a:lnL>
                      <a:noFill/>
                    </a:lnL>
                    <a:lnR>
                      <a:noFill/>
                    </a:lnR>
                    <a:lnT>
                      <a:noFill/>
                    </a:lnT>
                    <a:lnB>
                      <a:noFill/>
                    </a:lnB>
                    <a:noFill/>
                  </a:tcPr>
                </a:tc>
                <a:tc>
                  <a:txBody>
                    <a:bodyPr/>
                    <a:lstStyle/>
                    <a:p>
                      <a:pPr>
                        <a:buNone/>
                      </a:pPr>
                      <a:r>
                        <a:rPr lang="en-US" sz="1600"/>
                        <a:t>User feels present inside a virtual environment.</a:t>
                      </a:r>
                    </a:p>
                  </a:txBody>
                  <a:tcPr marL="80580" marR="80580" marT="40290" marB="40290" anchor="ctr">
                    <a:lnL>
                      <a:noFill/>
                    </a:lnL>
                    <a:lnR>
                      <a:noFill/>
                    </a:lnR>
                    <a:lnT>
                      <a:noFill/>
                    </a:lnT>
                    <a:lnB>
                      <a:noFill/>
                    </a:lnB>
                    <a:noFill/>
                  </a:tcPr>
                </a:tc>
                <a:extLst>
                  <a:ext uri="{0D108BD9-81ED-4DB2-BD59-A6C34878D82A}">
                    <a16:rowId xmlns:a16="http://schemas.microsoft.com/office/drawing/2014/main" val="127979869"/>
                  </a:ext>
                </a:extLst>
              </a:tr>
              <a:tr h="683090">
                <a:tc>
                  <a:txBody>
                    <a:bodyPr/>
                    <a:lstStyle/>
                    <a:p>
                      <a:pPr>
                        <a:buNone/>
                      </a:pPr>
                      <a:r>
                        <a:rPr lang="en-CA" sz="1600" b="1"/>
                        <a:t>Movement</a:t>
                      </a:r>
                      <a:endParaRPr lang="en-CA" sz="1600"/>
                    </a:p>
                  </a:txBody>
                  <a:tcPr marL="80580" marR="80580" marT="40290" marB="40290" anchor="ctr">
                    <a:lnL>
                      <a:noFill/>
                    </a:lnL>
                    <a:lnR>
                      <a:noFill/>
                    </a:lnR>
                    <a:lnT>
                      <a:noFill/>
                    </a:lnT>
                    <a:lnB>
                      <a:noFill/>
                    </a:lnB>
                    <a:noFill/>
                  </a:tcPr>
                </a:tc>
                <a:tc>
                  <a:txBody>
                    <a:bodyPr/>
                    <a:lstStyle/>
                    <a:p>
                      <a:pPr>
                        <a:buNone/>
                      </a:pPr>
                      <a:r>
                        <a:rPr lang="en-CA" sz="1600"/>
                        <a:t>Real-world movement is needed.</a:t>
                      </a:r>
                    </a:p>
                  </a:txBody>
                  <a:tcPr marL="80580" marR="80580" marT="40290" marB="40290" anchor="ctr">
                    <a:lnL>
                      <a:noFill/>
                    </a:lnL>
                    <a:lnR>
                      <a:noFill/>
                    </a:lnR>
                    <a:lnT>
                      <a:noFill/>
                    </a:lnT>
                    <a:lnB>
                      <a:noFill/>
                    </a:lnB>
                    <a:noFill/>
                  </a:tcPr>
                </a:tc>
                <a:tc>
                  <a:txBody>
                    <a:bodyPr/>
                    <a:lstStyle/>
                    <a:p>
                      <a:pPr>
                        <a:buNone/>
                      </a:pPr>
                      <a:r>
                        <a:rPr lang="en-US" sz="1600"/>
                        <a:t>Movement happens inside virtual space.</a:t>
                      </a:r>
                    </a:p>
                  </a:txBody>
                  <a:tcPr marL="80580" marR="80580" marT="40290" marB="40290" anchor="ctr">
                    <a:lnL>
                      <a:noFill/>
                    </a:lnL>
                    <a:lnR>
                      <a:noFill/>
                    </a:lnR>
                    <a:lnT>
                      <a:noFill/>
                    </a:lnT>
                    <a:lnB>
                      <a:noFill/>
                    </a:lnB>
                    <a:noFill/>
                  </a:tcPr>
                </a:tc>
                <a:extLst>
                  <a:ext uri="{0D108BD9-81ED-4DB2-BD59-A6C34878D82A}">
                    <a16:rowId xmlns:a16="http://schemas.microsoft.com/office/drawing/2014/main" val="927233350"/>
                  </a:ext>
                </a:extLst>
              </a:tr>
              <a:tr h="389977">
                <a:tc>
                  <a:txBody>
                    <a:bodyPr/>
                    <a:lstStyle/>
                    <a:p>
                      <a:pPr>
                        <a:buNone/>
                      </a:pPr>
                      <a:r>
                        <a:rPr lang="en-CA" sz="1600" b="1"/>
                        <a:t>Reality Level</a:t>
                      </a:r>
                      <a:endParaRPr lang="en-CA" sz="1600"/>
                    </a:p>
                  </a:txBody>
                  <a:tcPr marL="80580" marR="80580" marT="40290" marB="40290" anchor="ctr">
                    <a:lnL>
                      <a:noFill/>
                    </a:lnL>
                    <a:lnR>
                      <a:noFill/>
                    </a:lnR>
                    <a:lnT>
                      <a:noFill/>
                    </a:lnT>
                    <a:lnB>
                      <a:noFill/>
                    </a:lnB>
                    <a:noFill/>
                  </a:tcPr>
                </a:tc>
                <a:tc>
                  <a:txBody>
                    <a:bodyPr/>
                    <a:lstStyle/>
                    <a:p>
                      <a:pPr>
                        <a:buNone/>
                      </a:pPr>
                      <a:r>
                        <a:rPr lang="en-US" sz="1600"/>
                        <a:t>Mix of real and digital.</a:t>
                      </a:r>
                    </a:p>
                  </a:txBody>
                  <a:tcPr marL="80580" marR="80580" marT="40290" marB="40290" anchor="ctr">
                    <a:lnL>
                      <a:noFill/>
                    </a:lnL>
                    <a:lnR>
                      <a:noFill/>
                    </a:lnR>
                    <a:lnT>
                      <a:noFill/>
                    </a:lnT>
                    <a:lnB>
                      <a:noFill/>
                    </a:lnB>
                    <a:noFill/>
                  </a:tcPr>
                </a:tc>
                <a:tc>
                  <a:txBody>
                    <a:bodyPr/>
                    <a:lstStyle/>
                    <a:p>
                      <a:pPr>
                        <a:buNone/>
                      </a:pPr>
                      <a:r>
                        <a:rPr lang="en-CA" sz="1600"/>
                        <a:t>Fully digital.</a:t>
                      </a:r>
                    </a:p>
                  </a:txBody>
                  <a:tcPr marL="80580" marR="80580" marT="40290" marB="40290" anchor="ctr">
                    <a:lnL>
                      <a:noFill/>
                    </a:lnL>
                    <a:lnR>
                      <a:noFill/>
                    </a:lnR>
                    <a:lnT>
                      <a:noFill/>
                    </a:lnT>
                    <a:lnB>
                      <a:noFill/>
                    </a:lnB>
                    <a:noFill/>
                  </a:tcPr>
                </a:tc>
                <a:extLst>
                  <a:ext uri="{0D108BD9-81ED-4DB2-BD59-A6C34878D82A}">
                    <a16:rowId xmlns:a16="http://schemas.microsoft.com/office/drawing/2014/main" val="3592446672"/>
                  </a:ext>
                </a:extLst>
              </a:tr>
              <a:tr h="683090">
                <a:tc>
                  <a:txBody>
                    <a:bodyPr/>
                    <a:lstStyle/>
                    <a:p>
                      <a:pPr>
                        <a:buNone/>
                      </a:pPr>
                      <a:r>
                        <a:rPr lang="en-CA" sz="1600" b="1"/>
                        <a:t>Examples</a:t>
                      </a:r>
                      <a:endParaRPr lang="en-CA" sz="1600"/>
                    </a:p>
                  </a:txBody>
                  <a:tcPr marL="80580" marR="80580" marT="40290" marB="40290" anchor="ctr">
                    <a:lnL>
                      <a:noFill/>
                    </a:lnL>
                    <a:lnR>
                      <a:noFill/>
                    </a:lnR>
                    <a:lnT>
                      <a:noFill/>
                    </a:lnT>
                    <a:lnB>
                      <a:noFill/>
                    </a:lnB>
                    <a:noFill/>
                  </a:tcPr>
                </a:tc>
                <a:tc>
                  <a:txBody>
                    <a:bodyPr/>
                    <a:lstStyle/>
                    <a:p>
                      <a:pPr>
                        <a:buNone/>
                      </a:pPr>
                      <a:r>
                        <a:rPr lang="en-US" sz="1600"/>
                        <a:t>Snapchat filters, Pokémon GO, IKEA furniture app.</a:t>
                      </a:r>
                    </a:p>
                  </a:txBody>
                  <a:tcPr marL="80580" marR="80580" marT="40290" marB="40290" anchor="ctr">
                    <a:lnL>
                      <a:noFill/>
                    </a:lnL>
                    <a:lnR>
                      <a:noFill/>
                    </a:lnR>
                    <a:lnT>
                      <a:noFill/>
                    </a:lnT>
                    <a:lnB>
                      <a:noFill/>
                    </a:lnB>
                    <a:noFill/>
                  </a:tcPr>
                </a:tc>
                <a:tc>
                  <a:txBody>
                    <a:bodyPr/>
                    <a:lstStyle/>
                    <a:p>
                      <a:pPr>
                        <a:buNone/>
                      </a:pPr>
                      <a:r>
                        <a:rPr lang="en-US" sz="1600"/>
                        <a:t>VR games, virtual tours, pilot training simulators.</a:t>
                      </a:r>
                    </a:p>
                  </a:txBody>
                  <a:tcPr marL="80580" marR="80580" marT="40290" marB="40290" anchor="ctr">
                    <a:lnL>
                      <a:noFill/>
                    </a:lnL>
                    <a:lnR>
                      <a:noFill/>
                    </a:lnR>
                    <a:lnT>
                      <a:noFill/>
                    </a:lnT>
                    <a:lnB>
                      <a:noFill/>
                    </a:lnB>
                    <a:noFill/>
                  </a:tcPr>
                </a:tc>
                <a:extLst>
                  <a:ext uri="{0D108BD9-81ED-4DB2-BD59-A6C34878D82A}">
                    <a16:rowId xmlns:a16="http://schemas.microsoft.com/office/drawing/2014/main" val="2988328146"/>
                  </a:ext>
                </a:extLst>
              </a:tr>
              <a:tr h="683090">
                <a:tc>
                  <a:txBody>
                    <a:bodyPr/>
                    <a:lstStyle/>
                    <a:p>
                      <a:pPr>
                        <a:buNone/>
                      </a:pPr>
                      <a:r>
                        <a:rPr lang="en-CA" sz="1600" b="1"/>
                        <a:t>Cost</a:t>
                      </a:r>
                      <a:endParaRPr lang="en-CA" sz="1600"/>
                    </a:p>
                  </a:txBody>
                  <a:tcPr marL="80580" marR="80580" marT="40290" marB="40290" anchor="ctr">
                    <a:lnL>
                      <a:noFill/>
                    </a:lnL>
                    <a:lnR>
                      <a:noFill/>
                    </a:lnR>
                    <a:lnT>
                      <a:noFill/>
                    </a:lnT>
                    <a:lnB>
                      <a:noFill/>
                    </a:lnB>
                    <a:noFill/>
                  </a:tcPr>
                </a:tc>
                <a:tc>
                  <a:txBody>
                    <a:bodyPr/>
                    <a:lstStyle/>
                    <a:p>
                      <a:pPr>
                        <a:buNone/>
                      </a:pPr>
                      <a:r>
                        <a:rPr lang="en-CA" sz="1600"/>
                        <a:t>Generally cheaper.</a:t>
                      </a:r>
                    </a:p>
                  </a:txBody>
                  <a:tcPr marL="80580" marR="80580" marT="40290" marB="40290" anchor="ctr">
                    <a:lnL>
                      <a:noFill/>
                    </a:lnL>
                    <a:lnR>
                      <a:noFill/>
                    </a:lnR>
                    <a:lnT>
                      <a:noFill/>
                    </a:lnT>
                    <a:lnB>
                      <a:noFill/>
                    </a:lnB>
                    <a:noFill/>
                  </a:tcPr>
                </a:tc>
                <a:tc>
                  <a:txBody>
                    <a:bodyPr/>
                    <a:lstStyle/>
                    <a:p>
                      <a:pPr>
                        <a:buNone/>
                      </a:pPr>
                      <a:r>
                        <a:rPr lang="en-US" sz="1600" dirty="0"/>
                        <a:t>Usually more expensive due to advanced hardware.</a:t>
                      </a:r>
                    </a:p>
                  </a:txBody>
                  <a:tcPr marL="80580" marR="80580" marT="40290" marB="40290" anchor="ctr">
                    <a:lnL>
                      <a:noFill/>
                    </a:lnL>
                    <a:lnR>
                      <a:noFill/>
                    </a:lnR>
                    <a:lnT>
                      <a:noFill/>
                    </a:lnT>
                    <a:lnB>
                      <a:noFill/>
                    </a:lnB>
                    <a:noFill/>
                  </a:tcPr>
                </a:tc>
                <a:extLst>
                  <a:ext uri="{0D108BD9-81ED-4DB2-BD59-A6C34878D82A}">
                    <a16:rowId xmlns:a16="http://schemas.microsoft.com/office/drawing/2014/main" val="3087699363"/>
                  </a:ext>
                </a:extLst>
              </a:tr>
            </a:tbl>
          </a:graphicData>
        </a:graphic>
      </p:graphicFrame>
    </p:spTree>
    <p:extLst>
      <p:ext uri="{BB962C8B-B14F-4D97-AF65-F5344CB8AC3E}">
        <p14:creationId xmlns:p14="http://schemas.microsoft.com/office/powerpoint/2010/main" val="30805997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6BD08-E7F2-5EE0-0CD9-137B916408DB}"/>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5283B3BF-430C-B45B-F6EB-5C2E50A35DFC}"/>
              </a:ext>
            </a:extLst>
          </p:cNvPr>
          <p:cNvSpPr>
            <a:spLocks noGrp="1"/>
          </p:cNvSpPr>
          <p:nvPr>
            <p:ph idx="1"/>
          </p:nvPr>
        </p:nvSpPr>
        <p:spPr>
          <a:xfrm>
            <a:off x="838200" y="825910"/>
            <a:ext cx="10515600" cy="5666964"/>
          </a:xfrm>
        </p:spPr>
        <p:txBody>
          <a:bodyPr>
            <a:normAutofit fontScale="77500" lnSpcReduction="20000"/>
          </a:bodyPr>
          <a:lstStyle/>
          <a:p>
            <a:pPr marL="0" indent="0">
              <a:buNone/>
            </a:pPr>
            <a:r>
              <a:rPr lang="en-US" b="1" dirty="0"/>
              <a:t>6.Edge Computing</a:t>
            </a:r>
            <a:endParaRPr lang="en-US" dirty="0"/>
          </a:p>
          <a:p>
            <a:r>
              <a:rPr lang="en-US" b="1" dirty="0"/>
              <a:t>Edge Computing</a:t>
            </a:r>
            <a:r>
              <a:rPr lang="en-US" dirty="0"/>
              <a:t> is a modern computing approach where </a:t>
            </a:r>
            <a:r>
              <a:rPr lang="en-US" b="1" dirty="0"/>
              <a:t>data is processed closer to where it is created</a:t>
            </a:r>
            <a:r>
              <a:rPr lang="en-US" dirty="0"/>
              <a:t> — instead of sending it all the way to a centralized cloud or data center.</a:t>
            </a:r>
          </a:p>
          <a:p>
            <a:r>
              <a:rPr lang="en-US" dirty="0"/>
              <a:t>In simple terms: </a:t>
            </a:r>
            <a:r>
              <a:rPr lang="en-US" b="1" dirty="0"/>
              <a:t>processing data near the “edge” of the network, where things (devices, sensors, or users) are located.</a:t>
            </a:r>
            <a:endParaRPr lang="en-US" dirty="0"/>
          </a:p>
          <a:p>
            <a:r>
              <a:rPr lang="en-US" b="1" dirty="0"/>
              <a:t> Why is it called “Edge”?</a:t>
            </a:r>
          </a:p>
          <a:p>
            <a:r>
              <a:rPr lang="en-US" dirty="0"/>
              <a:t>The “edge” refers to the outer part of the network — for example, your phone,  or local server — where the data originates.</a:t>
            </a:r>
            <a:br>
              <a:rPr lang="en-US" dirty="0"/>
            </a:br>
            <a:r>
              <a:rPr lang="en-US" dirty="0"/>
              <a:t>Instead of sending all the information to a faraway cloud server, </a:t>
            </a:r>
            <a:r>
              <a:rPr lang="en-US" b="1" dirty="0"/>
              <a:t>the device or a nearby computer (edge device)</a:t>
            </a:r>
            <a:r>
              <a:rPr lang="en-US" dirty="0"/>
              <a:t> does the processing locally.</a:t>
            </a:r>
          </a:p>
          <a:p>
            <a:pPr marL="0" indent="0">
              <a:buNone/>
            </a:pPr>
            <a:r>
              <a:rPr lang="en-US" b="1" dirty="0"/>
              <a:t>7.Quantum Computing</a:t>
            </a:r>
          </a:p>
          <a:p>
            <a:pPr marL="0" indent="0">
              <a:buNone/>
            </a:pPr>
            <a:r>
              <a:rPr lang="en-US" b="1" dirty="0"/>
              <a:t>Quantum Computing</a:t>
            </a:r>
            <a:r>
              <a:rPr lang="en-US" dirty="0"/>
              <a:t> is an advanced type of computing that uses the principles of </a:t>
            </a:r>
            <a:r>
              <a:rPr lang="en-US" b="1" dirty="0"/>
              <a:t>quantum physics</a:t>
            </a:r>
            <a:r>
              <a:rPr lang="en-US" dirty="0"/>
              <a:t> to process information much faster than traditional computers. This fundamental difference in approach gives it the potential to solve certain types of problems that are practically impossible for even the most powerful "classical" computers we use today. </a:t>
            </a:r>
            <a:r>
              <a:rPr lang="en-US" b="0" i="0" dirty="0">
                <a:solidFill>
                  <a:srgbClr val="474747"/>
                </a:solidFill>
                <a:effectLst/>
                <a:latin typeface="Google Sans"/>
              </a:rPr>
              <a:t>Quantum computing is </a:t>
            </a:r>
            <a:r>
              <a:rPr lang="en-US" b="0" i="0" dirty="0">
                <a:solidFill>
                  <a:srgbClr val="040C28"/>
                </a:solidFill>
                <a:effectLst/>
                <a:latin typeface="Google Sans"/>
              </a:rPr>
              <a:t>a multidisciplinary field comprising aspects of computer science, physics, and mathematics that utilizes quantum mechanics to solve complex problems faster than on classical computers</a:t>
            </a:r>
            <a:r>
              <a:rPr lang="en-US" b="0" i="0" dirty="0">
                <a:solidFill>
                  <a:srgbClr val="474747"/>
                </a:solidFill>
                <a:effectLst/>
                <a:latin typeface="Google Sans"/>
              </a:rPr>
              <a:t>.</a:t>
            </a:r>
            <a:r>
              <a:rPr lang="en-US" dirty="0"/>
              <a:t> Traditional computers use </a:t>
            </a:r>
            <a:r>
              <a:rPr lang="en-US" b="1" dirty="0"/>
              <a:t>bits</a:t>
            </a:r>
            <a:r>
              <a:rPr lang="en-US" dirty="0"/>
              <a:t> (0 or 1), but quantum computers use </a:t>
            </a:r>
            <a:r>
              <a:rPr lang="en-US" b="1" dirty="0"/>
              <a:t>qubits</a:t>
            </a:r>
            <a:r>
              <a:rPr lang="en-US" dirty="0"/>
              <a:t>, which can be </a:t>
            </a:r>
            <a:r>
              <a:rPr lang="en-US" b="1" dirty="0"/>
              <a:t>0, 1, or both at the same time.</a:t>
            </a:r>
            <a:endParaRPr lang="en-US" b="0" i="0" dirty="0">
              <a:solidFill>
                <a:srgbClr val="474747"/>
              </a:solidFill>
              <a:effectLst/>
              <a:latin typeface="Google Sans"/>
            </a:endParaRPr>
          </a:p>
        </p:txBody>
      </p:sp>
    </p:spTree>
    <p:extLst>
      <p:ext uri="{BB962C8B-B14F-4D97-AF65-F5344CB8AC3E}">
        <p14:creationId xmlns:p14="http://schemas.microsoft.com/office/powerpoint/2010/main" val="72584566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807CB-27BE-9F3C-6290-E98F0193884B}"/>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57D138FA-81D7-7DA7-173D-2A0A51706784}"/>
              </a:ext>
            </a:extLst>
          </p:cNvPr>
          <p:cNvSpPr>
            <a:spLocks noGrp="1"/>
          </p:cNvSpPr>
          <p:nvPr>
            <p:ph idx="1"/>
          </p:nvPr>
        </p:nvSpPr>
        <p:spPr/>
        <p:txBody>
          <a:bodyPr/>
          <a:lstStyle/>
          <a:p>
            <a:r>
              <a:rPr lang="en-US" dirty="0"/>
              <a:t>8. 3D Printing</a:t>
            </a:r>
          </a:p>
          <a:p>
            <a:r>
              <a:rPr lang="en-US" dirty="0"/>
              <a:t>Startups use 3D printing for rapid prototyping, custom manufacturing, and even construction.</a:t>
            </a:r>
          </a:p>
          <a:p>
            <a:r>
              <a:rPr lang="en-US" dirty="0"/>
              <a:t>Industries like healthcare , aerospace, and fashion are adopting this technology.</a:t>
            </a:r>
          </a:p>
          <a:p>
            <a:r>
              <a:rPr lang="en-US" dirty="0"/>
              <a:t>9 Advanced Robotics and Autonomous Systems: This includes the development of </a:t>
            </a:r>
            <a:r>
              <a:rPr lang="en-US" dirty="0" err="1"/>
              <a:t>cobots</a:t>
            </a:r>
            <a:r>
              <a:rPr lang="en-US" dirty="0"/>
              <a:t> (collaborative robots) for manufacturing and autonomous vehicles/drones for logistics and transportation, offering greater efficiency and cost reduction.</a:t>
            </a:r>
          </a:p>
          <a:p>
            <a:endParaRPr lang="en-CA" dirty="0"/>
          </a:p>
        </p:txBody>
      </p:sp>
    </p:spTree>
    <p:extLst>
      <p:ext uri="{BB962C8B-B14F-4D97-AF65-F5344CB8AC3E}">
        <p14:creationId xmlns:p14="http://schemas.microsoft.com/office/powerpoint/2010/main" val="40438706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966C9-5C04-68C3-FEA0-739289F6CC7D}"/>
              </a:ext>
            </a:extLst>
          </p:cNvPr>
          <p:cNvSpPr>
            <a:spLocks noGrp="1"/>
          </p:cNvSpPr>
          <p:nvPr>
            <p:ph type="title"/>
          </p:nvPr>
        </p:nvSpPr>
        <p:spPr>
          <a:xfrm>
            <a:off x="530352" y="365125"/>
            <a:ext cx="11521440" cy="1325563"/>
          </a:xfrm>
        </p:spPr>
        <p:txBody>
          <a:bodyPr>
            <a:noAutofit/>
          </a:bodyPr>
          <a:lstStyle/>
          <a:p>
            <a:r>
              <a:rPr lang="en-US" sz="3600" b="1" dirty="0"/>
              <a:t>Binod Chaudhary’s 10 Mantras for successful Entrepreneur</a:t>
            </a:r>
            <a:br>
              <a:rPr lang="en-US" sz="3600" dirty="0"/>
            </a:br>
            <a:endParaRPr lang="en-CA" sz="3600" dirty="0"/>
          </a:p>
        </p:txBody>
      </p:sp>
      <p:sp>
        <p:nvSpPr>
          <p:cNvPr id="3" name="Content Placeholder 2">
            <a:extLst>
              <a:ext uri="{FF2B5EF4-FFF2-40B4-BE49-F238E27FC236}">
                <a16:creationId xmlns:a16="http://schemas.microsoft.com/office/drawing/2014/main" id="{7CCB90C3-9140-1C3A-1728-2F45DA93B0FD}"/>
              </a:ext>
            </a:extLst>
          </p:cNvPr>
          <p:cNvSpPr>
            <a:spLocks noGrp="1"/>
          </p:cNvSpPr>
          <p:nvPr>
            <p:ph idx="1"/>
          </p:nvPr>
        </p:nvSpPr>
        <p:spPr>
          <a:xfrm>
            <a:off x="530352" y="1481328"/>
            <a:ext cx="10823448" cy="4695635"/>
          </a:xfrm>
        </p:spPr>
        <p:txBody>
          <a:bodyPr>
            <a:normAutofit fontScale="70000" lnSpcReduction="20000"/>
          </a:bodyPr>
          <a:lstStyle/>
          <a:p>
            <a:r>
              <a:rPr lang="en-US" dirty="0"/>
              <a:t>Binod Kumar Chaudhary was born in 1955 in Kathmandu, His grandfather, </a:t>
            </a:r>
            <a:r>
              <a:rPr lang="en-US" dirty="0" err="1"/>
              <a:t>Bhuramal</a:t>
            </a:r>
            <a:r>
              <a:rPr lang="en-US" dirty="0"/>
              <a:t> Das Chaudhary, was an entrepreneur who started a textile business. His father was also a businessman who further developed his grandfather’s business. Early in his career, Chaudhary chose to pursue further education rather than join the family business.</a:t>
            </a:r>
          </a:p>
          <a:p>
            <a:r>
              <a:rPr lang="en-US" dirty="0"/>
              <a:t>At first, he considered importing Japanese Suzuki cars to Nepal by taking its dealership. His first independent business was in 1973 — a discothèque company called Copper Floor. He made a deal with Japanese electronic firm National Panasonic, which was his first multinational deal. He introduced Wai </a:t>
            </a:r>
            <a:r>
              <a:rPr lang="en-US" dirty="0" err="1"/>
              <a:t>Wai</a:t>
            </a:r>
            <a:r>
              <a:rPr lang="en-US" dirty="0"/>
              <a:t> in 1984, a brand of instant noodles, became the company’s bestseller. It has 20 percent noodle market share in India.</a:t>
            </a:r>
          </a:p>
          <a:p>
            <a:r>
              <a:rPr lang="en-US" dirty="0"/>
              <a:t>In 1995, Chaudhary bought the Dubai government’s controlling stake in the Nabil Bank. He started Innovation Group on Singapore in 1990 for hotel and resort business. The company has interests in hotels and resorts, wildlife and in-bound tourism. He has also started to show interest in joint ventures with Taj Hotels Group. In 1995, Chaudhary bought the Dubai government’s controlling stake in the Nabil Bank. Besides, above, CG has investment in soft drink, beer, cigarette, electronic productions, real-estate etc. In 2013, Chaudhary was listed as Nepal’s first billionaire by Forbes. As of March 2019, he is listed at number 1,349.</a:t>
            </a:r>
          </a:p>
          <a:p>
            <a:r>
              <a:rPr lang="en-US" dirty="0"/>
              <a:t>Chaudhary has identified 10 Mantras or disciplines that have contributed to his success. The examination of these Mantras shows that they are useful to all of us if we want to attain success in life. They are not expensive or difficult to be adopted. By following these mantras:</a:t>
            </a:r>
          </a:p>
          <a:p>
            <a:endParaRPr lang="en-CA" dirty="0"/>
          </a:p>
        </p:txBody>
      </p:sp>
    </p:spTree>
    <p:extLst>
      <p:ext uri="{BB962C8B-B14F-4D97-AF65-F5344CB8AC3E}">
        <p14:creationId xmlns:p14="http://schemas.microsoft.com/office/powerpoint/2010/main" val="29769227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68F46-54FF-93D9-3971-6738C3F8C362}"/>
              </a:ext>
            </a:extLst>
          </p:cNvPr>
          <p:cNvSpPr>
            <a:spLocks noGrp="1"/>
          </p:cNvSpPr>
          <p:nvPr>
            <p:ph type="title"/>
          </p:nvPr>
        </p:nvSpPr>
        <p:spPr>
          <a:xfrm>
            <a:off x="838200" y="365125"/>
            <a:ext cx="10515600" cy="494411"/>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6E09DC1F-BC82-254D-2A1B-5E23D9BAB189}"/>
              </a:ext>
            </a:extLst>
          </p:cNvPr>
          <p:cNvSpPr>
            <a:spLocks noGrp="1"/>
          </p:cNvSpPr>
          <p:nvPr>
            <p:ph idx="1"/>
          </p:nvPr>
        </p:nvSpPr>
        <p:spPr>
          <a:xfrm>
            <a:off x="838200" y="1078992"/>
            <a:ext cx="10515600" cy="5097971"/>
          </a:xfrm>
        </p:spPr>
        <p:txBody>
          <a:bodyPr>
            <a:normAutofit fontScale="62500" lnSpcReduction="20000"/>
          </a:bodyPr>
          <a:lstStyle/>
          <a:p>
            <a:r>
              <a:rPr lang="en-US" b="1" dirty="0"/>
              <a:t>1. Organization building:</a:t>
            </a:r>
            <a:r>
              <a:rPr lang="en-US" dirty="0"/>
              <a:t> You must have ability to build organization based on business scope provided by changing environment of the business. Chaudhary said that you should create new business idea which will be feasible from commercial point of view and you have to build strong organization having sufficient resource and efficiency human resource to carry business in effective way. Strong organization building is the foundation of success.</a:t>
            </a:r>
          </a:p>
          <a:p>
            <a:r>
              <a:rPr lang="en-US" b="1" dirty="0"/>
              <a:t>2. Market awareness:</a:t>
            </a:r>
            <a:r>
              <a:rPr lang="en-US" dirty="0"/>
              <a:t> Chaudhary said that market is dynamic and changeable on the basis of time. As in entrepreneur your responsibility is to make continuous observation of market trend. The study of market trend facilitates to know the changing needs, demand and expectation of consumers in our own area of business. This facilitates to change product design, taste, structure, model, packaging, and other feature of products and services, which facilitate to meet the expectation of consumers.</a:t>
            </a:r>
          </a:p>
          <a:p>
            <a:r>
              <a:rPr lang="en-US" b="1" dirty="0"/>
              <a:t>3. Honesty:</a:t>
            </a:r>
            <a:r>
              <a:rPr lang="en-US" dirty="0"/>
              <a:t> You must be dedicated to your work. Without hard work and dedication, unlimited success is not possible. Being honest means a strong passion for the work and simply being natural. Honesty is the voice of trust. Without honesty, you can’t build up strong relationships with people. Because of hard work and honesty, Arun emporium became the Chaudhary Group. People love original ideas. Chaudhary’s ideas are organic. He’s honest with people and his products. Honesty equals trust worthy.</a:t>
            </a:r>
          </a:p>
          <a:p>
            <a:r>
              <a:rPr lang="en-US" b="1" dirty="0"/>
              <a:t>4. Analytical skills:</a:t>
            </a:r>
            <a:r>
              <a:rPr lang="en-US" dirty="0"/>
              <a:t> Chaudhary has amazing analytical skills, coupled with visualization. He has the innate ability to solve complex situations right away. He believes business does not run on the lines of elaborate theories. Book theories only create another business expert or business professor - not a businessman . He is astute in knowing the market. He studies the possibilities by analyzing the positive and negative before he invests. His unique approach is that he initially analyzes in a negative quotes from him states “don’t always judge people from the heart; sometimes judge from the mind. That’s the way you can find the true color of the people of who is right and who is wrong”. </a:t>
            </a:r>
          </a:p>
          <a:p>
            <a:endParaRPr lang="en-CA" dirty="0"/>
          </a:p>
        </p:txBody>
      </p:sp>
    </p:spTree>
    <p:extLst>
      <p:ext uri="{BB962C8B-B14F-4D97-AF65-F5344CB8AC3E}">
        <p14:creationId xmlns:p14="http://schemas.microsoft.com/office/powerpoint/2010/main" val="163810574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6B578-F035-9A08-006A-1447C1C653B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C2CB2C3-A61B-1E42-3348-A10159A5F667}"/>
              </a:ext>
            </a:extLst>
          </p:cNvPr>
          <p:cNvSpPr>
            <a:spLocks noGrp="1"/>
          </p:cNvSpPr>
          <p:nvPr>
            <p:ph idx="1"/>
          </p:nvPr>
        </p:nvSpPr>
        <p:spPr/>
        <p:txBody>
          <a:bodyPr/>
          <a:lstStyle/>
          <a:p>
            <a:r>
              <a:rPr lang="en-US" b="1" dirty="0"/>
              <a:t>5.Stay updated:</a:t>
            </a:r>
            <a:r>
              <a:rPr lang="en-US" dirty="0"/>
              <a:t> If you want to be a successful person you have to be current on news. That's the main way to gain knowledge. </a:t>
            </a:r>
            <a:r>
              <a:rPr lang="en-US" b="1" dirty="0"/>
              <a:t>Binod Chaudhary is a self-taught person.</a:t>
            </a:r>
            <a:r>
              <a:rPr lang="en-US" dirty="0"/>
              <a:t> He states whatever he learned in life is from observing others. He makes new friends wherever he goes. He studies them and learns tips. All situations, new ideas, and all people are "</a:t>
            </a:r>
            <a:r>
              <a:rPr lang="en-US" b="1" dirty="0"/>
              <a:t>Business School</a:t>
            </a:r>
            <a:r>
              <a:rPr lang="en-US" dirty="0"/>
              <a:t>" for him. He compares success to being related to your personality.</a:t>
            </a:r>
            <a:endParaRPr lang="en-CA" dirty="0"/>
          </a:p>
        </p:txBody>
      </p:sp>
    </p:spTree>
    <p:extLst>
      <p:ext uri="{BB962C8B-B14F-4D97-AF65-F5344CB8AC3E}">
        <p14:creationId xmlns:p14="http://schemas.microsoft.com/office/powerpoint/2010/main" val="417662026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51D3A-6CA9-FB63-EDE2-3255B6A71957}"/>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18CC682-D018-792E-9FBC-F43B225DD740}"/>
              </a:ext>
            </a:extLst>
          </p:cNvPr>
          <p:cNvSpPr>
            <a:spLocks noGrp="1"/>
          </p:cNvSpPr>
          <p:nvPr>
            <p:ph idx="1"/>
          </p:nvPr>
        </p:nvSpPr>
        <p:spPr/>
        <p:txBody>
          <a:bodyPr/>
          <a:lstStyle/>
          <a:p>
            <a:pPr marL="0" indent="0">
              <a:buNone/>
            </a:pPr>
            <a:r>
              <a:rPr lang="en-US" b="1" dirty="0"/>
              <a:t>6. Learn from failure:</a:t>
            </a:r>
            <a:r>
              <a:rPr lang="en-US" dirty="0"/>
              <a:t> </a:t>
            </a:r>
            <a:r>
              <a:rPr lang="en-US" b="1" dirty="0"/>
              <a:t>Binod Chaudhary</a:t>
            </a:r>
            <a:r>
              <a:rPr lang="en-US" dirty="0"/>
              <a:t> has faced so many difficulties in his life. Those conditions never discouraged him. From them, he always learned something to become stronger. At one time a political party was bringing him down, so he joined another party to protect his business. He always thinks big. If he wants to do 50%, he planned for 100% because if you have a big dream or if you do more, you will get more. That's the rule of nature. He always encourages people to use "</a:t>
            </a:r>
            <a:r>
              <a:rPr lang="en-US" b="1" dirty="0"/>
              <a:t>mistakes</a:t>
            </a:r>
            <a:r>
              <a:rPr lang="en-US" dirty="0"/>
              <a:t>" as a learning tool.</a:t>
            </a:r>
            <a:endParaRPr lang="en-CA" dirty="0"/>
          </a:p>
        </p:txBody>
      </p:sp>
    </p:spTree>
    <p:extLst>
      <p:ext uri="{BB962C8B-B14F-4D97-AF65-F5344CB8AC3E}">
        <p14:creationId xmlns:p14="http://schemas.microsoft.com/office/powerpoint/2010/main" val="147319149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05976-2330-4030-C60C-50ABBE095AC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09DDD15-E41F-A925-F4F8-9B078993F3BE}"/>
              </a:ext>
            </a:extLst>
          </p:cNvPr>
          <p:cNvSpPr>
            <a:spLocks noGrp="1"/>
          </p:cNvSpPr>
          <p:nvPr>
            <p:ph idx="1"/>
          </p:nvPr>
        </p:nvSpPr>
        <p:spPr/>
        <p:txBody>
          <a:bodyPr>
            <a:normAutofit fontScale="92500" lnSpcReduction="20000"/>
          </a:bodyPr>
          <a:lstStyle/>
          <a:p>
            <a:r>
              <a:rPr lang="en-US" b="1" dirty="0"/>
              <a:t>7. High ambition:</a:t>
            </a:r>
            <a:r>
              <a:rPr lang="en-US" dirty="0"/>
              <a:t> In Nepal, society always placed negative connotations on the word "</a:t>
            </a:r>
            <a:r>
              <a:rPr lang="en-US" b="1" dirty="0"/>
              <a:t>Ambition</a:t>
            </a:r>
            <a:r>
              <a:rPr lang="en-US" dirty="0"/>
              <a:t>." This is totally misleading. </a:t>
            </a:r>
            <a:r>
              <a:rPr lang="en-US" b="1" dirty="0"/>
              <a:t>Binod</a:t>
            </a:r>
            <a:r>
              <a:rPr lang="en-US" dirty="0"/>
              <a:t> explains "whatever I am now, that's the result of high ambition." Colleagues of his father still believe they just run grocery store. He suggests to people if you don't have good vision to do your business internationally, it's better to not come into the realm of it because business is all about "</a:t>
            </a:r>
            <a:r>
              <a:rPr lang="en-US" b="1" dirty="0"/>
              <a:t>unlimited horizon</a:t>
            </a:r>
            <a:r>
              <a:rPr lang="en-US" dirty="0"/>
              <a:t>." Before </a:t>
            </a:r>
            <a:r>
              <a:rPr lang="en-US" b="1" dirty="0"/>
              <a:t>Wai </a:t>
            </a:r>
            <a:r>
              <a:rPr lang="en-US" b="1" dirty="0" err="1"/>
              <a:t>Wai</a:t>
            </a:r>
            <a:r>
              <a:rPr lang="en-US" dirty="0"/>
              <a:t> noodles there were </a:t>
            </a:r>
            <a:r>
              <a:rPr lang="en-US" b="1" dirty="0"/>
              <a:t>Maggie</a:t>
            </a:r>
            <a:r>
              <a:rPr lang="en-US" dirty="0"/>
              <a:t> and </a:t>
            </a:r>
            <a:r>
              <a:rPr lang="en-US" b="1" dirty="0"/>
              <a:t>Rara</a:t>
            </a:r>
            <a:r>
              <a:rPr lang="en-US" dirty="0"/>
              <a:t> noodles on the market and they were doing tremendous business. In the meantime, </a:t>
            </a:r>
            <a:r>
              <a:rPr lang="en-US" b="1" dirty="0"/>
              <a:t>Chaudhary</a:t>
            </a:r>
            <a:r>
              <a:rPr lang="en-US" dirty="0"/>
              <a:t> started the </a:t>
            </a:r>
            <a:r>
              <a:rPr lang="en-US" b="1" dirty="0"/>
              <a:t>Wai </a:t>
            </a:r>
            <a:r>
              <a:rPr lang="en-US" b="1" dirty="0" err="1"/>
              <a:t>Wai</a:t>
            </a:r>
            <a:r>
              <a:rPr lang="en-US" dirty="0"/>
              <a:t> Noodles business in a different format and with his new vision he acquired huge success from it. </a:t>
            </a:r>
            <a:r>
              <a:rPr lang="en-US" b="1" dirty="0"/>
              <a:t>Wai </a:t>
            </a:r>
            <a:r>
              <a:rPr lang="en-US" b="1" dirty="0" err="1"/>
              <a:t>Wai</a:t>
            </a:r>
            <a:r>
              <a:rPr lang="en-US" dirty="0"/>
              <a:t> noodles have been the most successful business. The brand has produced more than a billion packets of noodles. If not for the high ambition and vision of </a:t>
            </a:r>
            <a:r>
              <a:rPr lang="en-US" b="1" dirty="0"/>
              <a:t>Mr. Chaudhary</a:t>
            </a:r>
            <a:r>
              <a:rPr lang="en-US" dirty="0"/>
              <a:t>, it would not have been possible to achieve the level of success it has today. Today they provide scholarships to many students in </a:t>
            </a:r>
            <a:r>
              <a:rPr lang="en-US" b="1" dirty="0"/>
              <a:t>Nepal</a:t>
            </a:r>
            <a:r>
              <a:rPr lang="en-US" dirty="0"/>
              <a:t>.</a:t>
            </a:r>
            <a:endParaRPr lang="en-CA" dirty="0"/>
          </a:p>
        </p:txBody>
      </p:sp>
    </p:spTree>
    <p:extLst>
      <p:ext uri="{BB962C8B-B14F-4D97-AF65-F5344CB8AC3E}">
        <p14:creationId xmlns:p14="http://schemas.microsoft.com/office/powerpoint/2010/main" val="18334763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5B71E-FA41-8820-784F-6C62DBE584D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601DDD39-B262-6D23-192C-A6CB18237CF0}"/>
              </a:ext>
            </a:extLst>
          </p:cNvPr>
          <p:cNvSpPr>
            <a:spLocks noGrp="1"/>
          </p:cNvSpPr>
          <p:nvPr>
            <p:ph idx="1"/>
          </p:nvPr>
        </p:nvSpPr>
        <p:spPr/>
        <p:txBody>
          <a:bodyPr>
            <a:normAutofit fontScale="77500" lnSpcReduction="20000"/>
          </a:bodyPr>
          <a:lstStyle/>
          <a:p>
            <a:pPr marL="0" indent="0">
              <a:buNone/>
            </a:pPr>
            <a:r>
              <a:rPr lang="en-US" b="1" dirty="0"/>
              <a:t>8. Believe in yourself:</a:t>
            </a:r>
            <a:r>
              <a:rPr lang="en-US" dirty="0"/>
              <a:t> This is another quality of </a:t>
            </a:r>
            <a:r>
              <a:rPr lang="en-US" b="1" dirty="0"/>
              <a:t>Binod Chaudhary</a:t>
            </a:r>
            <a:r>
              <a:rPr lang="en-US" dirty="0"/>
              <a:t>. He is very </a:t>
            </a:r>
            <a:r>
              <a:rPr lang="en-US" b="1" dirty="0"/>
              <a:t>humble</a:t>
            </a:r>
            <a:r>
              <a:rPr lang="en-US" dirty="0"/>
              <a:t> and he </a:t>
            </a:r>
            <a:r>
              <a:rPr lang="en-US" b="1" dirty="0"/>
              <a:t>believes</a:t>
            </a:r>
            <a:r>
              <a:rPr lang="en-US" dirty="0"/>
              <a:t> in himself. The person who believes himself is the person who becomes highly ambitious. This is </a:t>
            </a:r>
            <a:r>
              <a:rPr lang="en-US" b="1" dirty="0"/>
              <a:t>Binod Chaudhary</a:t>
            </a:r>
            <a:r>
              <a:rPr lang="en-US" dirty="0"/>
              <a:t>. He is very humble with his coworkers and all people in general. Success is not possible without </a:t>
            </a:r>
            <a:r>
              <a:rPr lang="en-US" b="1" dirty="0"/>
              <a:t>humility</a:t>
            </a:r>
            <a:r>
              <a:rPr lang="en-US" dirty="0"/>
              <a:t>. He has a great passion to do something new in business. </a:t>
            </a:r>
            <a:r>
              <a:rPr lang="en-US" b="1" dirty="0"/>
              <a:t>Knowledge</a:t>
            </a:r>
            <a:r>
              <a:rPr lang="en-US" dirty="0"/>
              <a:t> is the result of an experiment. He believes in the </a:t>
            </a:r>
            <a:r>
              <a:rPr lang="en-US" b="1" dirty="0"/>
              <a:t>network</a:t>
            </a:r>
            <a:r>
              <a:rPr lang="en-US" dirty="0"/>
              <a:t>, and he believes in groups. Huge success by one person is impossible. He retains good relationships with all politicians in </a:t>
            </a:r>
            <a:r>
              <a:rPr lang="en-US" b="1" dirty="0"/>
              <a:t>Nepal</a:t>
            </a:r>
            <a:r>
              <a:rPr lang="en-US" dirty="0"/>
              <a:t> because they help him to run the business. He has good </a:t>
            </a:r>
            <a:r>
              <a:rPr lang="en-US" b="1" dirty="0"/>
              <a:t>networking</a:t>
            </a:r>
            <a:r>
              <a:rPr lang="en-US" dirty="0"/>
              <a:t> with people nationally and internationally. His </a:t>
            </a:r>
            <a:r>
              <a:rPr lang="en-US" b="1" dirty="0"/>
              <a:t>humbleness</a:t>
            </a:r>
            <a:r>
              <a:rPr lang="en-US" dirty="0"/>
              <a:t> made it possible to make a good connection with people. You can reach heights fast with teamwork. He may be a </a:t>
            </a:r>
            <a:r>
              <a:rPr lang="en-US" b="1" dirty="0"/>
              <a:t>billionaire</a:t>
            </a:r>
            <a:r>
              <a:rPr lang="en-US" dirty="0"/>
              <a:t>, but he gives all his credit to his </a:t>
            </a:r>
            <a:r>
              <a:rPr lang="en-US" b="1" dirty="0"/>
              <a:t>coworkers</a:t>
            </a:r>
            <a:r>
              <a:rPr lang="en-US" dirty="0"/>
              <a:t>. Without their help it would've been impossible. He never hesitates to always </a:t>
            </a:r>
            <a:r>
              <a:rPr lang="en-US" b="1" dirty="0"/>
              <a:t>learn</a:t>
            </a:r>
            <a:r>
              <a:rPr lang="en-US" dirty="0"/>
              <a:t>. We have to </a:t>
            </a:r>
            <a:r>
              <a:rPr lang="en-US" b="1" dirty="0"/>
              <a:t>accept ourselves</a:t>
            </a:r>
            <a:r>
              <a:rPr lang="en-US" dirty="0"/>
              <a:t> as students in this world. We all learn something new every day. Whatever you learn, try to use it and pass it on so that you can retain it. </a:t>
            </a:r>
            <a:r>
              <a:rPr lang="en-US" b="1" dirty="0"/>
              <a:t>Binod Chaudhary</a:t>
            </a:r>
            <a:r>
              <a:rPr lang="en-US" dirty="0"/>
              <a:t> states- "when I was </a:t>
            </a:r>
            <a:r>
              <a:rPr lang="en-US" b="1" dirty="0"/>
              <a:t>18</a:t>
            </a:r>
            <a:r>
              <a:rPr lang="en-US" dirty="0"/>
              <a:t>, and entered my family business, I soon realized that it wasn't as easy as I thought. I had to deal with people of my father's generation. </a:t>
            </a:r>
            <a:r>
              <a:rPr lang="en-US" b="1" dirty="0"/>
              <a:t>Building trust</a:t>
            </a:r>
            <a:r>
              <a:rPr lang="en-US" dirty="0"/>
              <a:t> was key to doing business."</a:t>
            </a:r>
            <a:endParaRPr lang="en-CA" dirty="0"/>
          </a:p>
        </p:txBody>
      </p:sp>
    </p:spTree>
    <p:extLst>
      <p:ext uri="{BB962C8B-B14F-4D97-AF65-F5344CB8AC3E}">
        <p14:creationId xmlns:p14="http://schemas.microsoft.com/office/powerpoint/2010/main" val="404371208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26D4D-5629-644D-53FE-50EF48D6111F}"/>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879B49E-EFED-276D-8E6D-C39584BA9A24}"/>
              </a:ext>
            </a:extLst>
          </p:cNvPr>
          <p:cNvSpPr>
            <a:spLocks noGrp="1"/>
          </p:cNvSpPr>
          <p:nvPr>
            <p:ph idx="1"/>
          </p:nvPr>
        </p:nvSpPr>
        <p:spPr/>
        <p:txBody>
          <a:bodyPr/>
          <a:lstStyle/>
          <a:p>
            <a:pPr marL="0" indent="0">
              <a:buNone/>
            </a:pPr>
            <a:r>
              <a:rPr lang="en-US" b="1" dirty="0"/>
              <a:t>9. Cost conscious:</a:t>
            </a:r>
            <a:r>
              <a:rPr lang="en-US" dirty="0"/>
              <a:t> </a:t>
            </a:r>
            <a:r>
              <a:rPr lang="en-US" b="1" dirty="0"/>
              <a:t>Binod Chaudhary</a:t>
            </a:r>
            <a:r>
              <a:rPr lang="en-US" dirty="0"/>
              <a:t> is more </a:t>
            </a:r>
            <a:r>
              <a:rPr lang="en-US" b="1" dirty="0"/>
              <a:t>conscious</a:t>
            </a:r>
            <a:r>
              <a:rPr lang="en-US" dirty="0"/>
              <a:t> about </a:t>
            </a:r>
            <a:r>
              <a:rPr lang="en-US" b="1" dirty="0"/>
              <a:t>cost</a:t>
            </a:r>
            <a:r>
              <a:rPr lang="en-US" dirty="0"/>
              <a:t> of products and services. He emphasizes to take necessary measures to </a:t>
            </a:r>
            <a:r>
              <a:rPr lang="en-US" b="1" dirty="0"/>
              <a:t>minimize</a:t>
            </a:r>
            <a:r>
              <a:rPr lang="en-US" dirty="0"/>
              <a:t> cost so that it becomes possible to gain </a:t>
            </a:r>
            <a:r>
              <a:rPr lang="en-US" b="1" dirty="0"/>
              <a:t>competitive advantages</a:t>
            </a:r>
            <a:r>
              <a:rPr lang="en-US" dirty="0"/>
              <a:t> in the market. For this purpose, it is necessary to all the measures for proper </a:t>
            </a:r>
            <a:r>
              <a:rPr lang="en-US" b="1" dirty="0"/>
              <a:t>utilization of organization resources</a:t>
            </a:r>
            <a:r>
              <a:rPr lang="en-US" dirty="0"/>
              <a:t> so that </a:t>
            </a:r>
            <a:r>
              <a:rPr lang="en-US" b="1" dirty="0"/>
              <a:t>wastage</a:t>
            </a:r>
            <a:r>
              <a:rPr lang="en-US" dirty="0"/>
              <a:t> can be </a:t>
            </a:r>
            <a:r>
              <a:rPr lang="en-US" b="1" dirty="0"/>
              <a:t>minimized</a:t>
            </a:r>
            <a:r>
              <a:rPr lang="en-US" dirty="0"/>
              <a:t>, </a:t>
            </a:r>
            <a:r>
              <a:rPr lang="en-US" b="1" dirty="0"/>
              <a:t>quality</a:t>
            </a:r>
            <a:r>
              <a:rPr lang="en-US" dirty="0"/>
              <a:t> can be maintained, </a:t>
            </a:r>
            <a:r>
              <a:rPr lang="en-US" b="1" dirty="0"/>
              <a:t>quantity</a:t>
            </a:r>
            <a:r>
              <a:rPr lang="en-US" dirty="0"/>
              <a:t> can be maximized and cost per unit of products and service can be </a:t>
            </a:r>
            <a:r>
              <a:rPr lang="en-US" b="1" dirty="0"/>
              <a:t>minimized</a:t>
            </a:r>
            <a:r>
              <a:rPr lang="en-US" dirty="0"/>
              <a:t>.</a:t>
            </a:r>
            <a:endParaRPr lang="en-CA" dirty="0"/>
          </a:p>
        </p:txBody>
      </p:sp>
    </p:spTree>
    <p:extLst>
      <p:ext uri="{BB962C8B-B14F-4D97-AF65-F5344CB8AC3E}">
        <p14:creationId xmlns:p14="http://schemas.microsoft.com/office/powerpoint/2010/main" val="69395884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2DEC7-B29F-1173-812B-7BBCD21EFA4C}"/>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172E757-AABB-A4C0-14F8-190271047884}"/>
              </a:ext>
            </a:extLst>
          </p:cNvPr>
          <p:cNvSpPr>
            <a:spLocks noGrp="1"/>
          </p:cNvSpPr>
          <p:nvPr>
            <p:ph idx="1"/>
          </p:nvPr>
        </p:nvSpPr>
        <p:spPr/>
        <p:txBody>
          <a:bodyPr/>
          <a:lstStyle/>
          <a:p>
            <a:pPr marL="0" indent="0">
              <a:buNone/>
            </a:pPr>
            <a:r>
              <a:rPr lang="en-US" b="1" dirty="0"/>
              <a:t>10. Disciplined:</a:t>
            </a:r>
            <a:r>
              <a:rPr lang="en-US" dirty="0"/>
              <a:t> </a:t>
            </a:r>
            <a:r>
              <a:rPr lang="en-US" b="1" dirty="0"/>
              <a:t>Binod Chaudhary</a:t>
            </a:r>
            <a:r>
              <a:rPr lang="en-US" dirty="0"/>
              <a:t> has said that </a:t>
            </a:r>
            <a:r>
              <a:rPr lang="en-US" b="1" dirty="0"/>
              <a:t>discipline</a:t>
            </a:r>
            <a:r>
              <a:rPr lang="en-US" dirty="0"/>
              <a:t> is the means of success in business. He said, as an </a:t>
            </a:r>
            <a:r>
              <a:rPr lang="en-US" b="1" dirty="0"/>
              <a:t>entrepreneur</a:t>
            </a:r>
            <a:r>
              <a:rPr lang="en-US" dirty="0"/>
              <a:t>, if you are </a:t>
            </a:r>
            <a:r>
              <a:rPr lang="en-US" b="1" dirty="0"/>
              <a:t>disciplined</a:t>
            </a:r>
            <a:r>
              <a:rPr lang="en-US" dirty="0"/>
              <a:t> and </a:t>
            </a:r>
            <a:r>
              <a:rPr lang="en-US" b="1" dirty="0"/>
              <a:t>dedicated</a:t>
            </a:r>
            <a:r>
              <a:rPr lang="en-US" dirty="0"/>
              <a:t> your co-entrepreneurs and subordinates will be </a:t>
            </a:r>
            <a:r>
              <a:rPr lang="en-US" b="1" dirty="0"/>
              <a:t>disciplined</a:t>
            </a:r>
            <a:r>
              <a:rPr lang="en-US" dirty="0"/>
              <a:t>. Therefore, you must be </a:t>
            </a:r>
            <a:r>
              <a:rPr lang="en-US" b="1" dirty="0"/>
              <a:t>punctual, hardworking, dedicated</a:t>
            </a:r>
            <a:r>
              <a:rPr lang="en-US" dirty="0"/>
              <a:t> and </a:t>
            </a:r>
            <a:r>
              <a:rPr lang="en-US" b="1" dirty="0"/>
              <a:t>responsible</a:t>
            </a:r>
            <a:r>
              <a:rPr lang="en-US" dirty="0"/>
              <a:t> to the idea that you have generated. You have to lead the subordinates and other stakeholders by </a:t>
            </a:r>
            <a:r>
              <a:rPr lang="en-US" b="1" dirty="0"/>
              <a:t>focusing</a:t>
            </a:r>
            <a:r>
              <a:rPr lang="en-US" dirty="0"/>
              <a:t> your new business idea.</a:t>
            </a:r>
            <a:endParaRPr lang="en-CA" dirty="0"/>
          </a:p>
        </p:txBody>
      </p:sp>
    </p:spTree>
    <p:extLst>
      <p:ext uri="{BB962C8B-B14F-4D97-AF65-F5344CB8AC3E}">
        <p14:creationId xmlns:p14="http://schemas.microsoft.com/office/powerpoint/2010/main" val="161490110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5F6E1-8CB8-D82E-CA76-812D3DDCD8E4}"/>
              </a:ext>
            </a:extLst>
          </p:cNvPr>
          <p:cNvSpPr>
            <a:spLocks noGrp="1"/>
          </p:cNvSpPr>
          <p:nvPr>
            <p:ph type="title"/>
          </p:nvPr>
        </p:nvSpPr>
        <p:spPr/>
        <p:txBody>
          <a:bodyPr/>
          <a:lstStyle/>
          <a:p>
            <a:r>
              <a:rPr lang="en-CA" b="1" dirty="0"/>
              <a:t>Trends of Global Startups</a:t>
            </a:r>
            <a:br>
              <a:rPr lang="en-CA" dirty="0"/>
            </a:br>
            <a:endParaRPr lang="en-CA" dirty="0"/>
          </a:p>
        </p:txBody>
      </p:sp>
      <p:sp>
        <p:nvSpPr>
          <p:cNvPr id="3" name="Content Placeholder 2">
            <a:extLst>
              <a:ext uri="{FF2B5EF4-FFF2-40B4-BE49-F238E27FC236}">
                <a16:creationId xmlns:a16="http://schemas.microsoft.com/office/drawing/2014/main" id="{C185E870-31E0-1B78-35AE-AE5CA2036FF0}"/>
              </a:ext>
            </a:extLst>
          </p:cNvPr>
          <p:cNvSpPr>
            <a:spLocks noGrp="1"/>
          </p:cNvSpPr>
          <p:nvPr>
            <p:ph idx="1"/>
          </p:nvPr>
        </p:nvSpPr>
        <p:spPr>
          <a:xfrm>
            <a:off x="548640" y="1245870"/>
            <a:ext cx="11315700" cy="4931093"/>
          </a:xfrm>
        </p:spPr>
        <p:txBody>
          <a:bodyPr>
            <a:normAutofit fontScale="85000" lnSpcReduction="20000"/>
          </a:bodyPr>
          <a:lstStyle/>
          <a:p>
            <a:r>
              <a:rPr lang="en-CA" dirty="0"/>
              <a:t>Global startups are shaping the future of business and technology by focusing on </a:t>
            </a:r>
            <a:r>
              <a:rPr lang="en-CA" b="1" dirty="0"/>
              <a:t>innovation, digital transformation, and sustainability</a:t>
            </a:r>
            <a:r>
              <a:rPr lang="en-CA" dirty="0"/>
              <a:t>. These trends reflect how new ventures across the world are adapting to modern challenges and opportunities.</a:t>
            </a:r>
          </a:p>
          <a:p>
            <a:pPr marL="0" indent="0">
              <a:buNone/>
            </a:pPr>
            <a:r>
              <a:rPr lang="en-CA" b="1" dirty="0"/>
              <a:t> 1. Artificial Intelligence (AI) &amp; Automation</a:t>
            </a:r>
            <a:endParaRPr lang="en-CA" dirty="0"/>
          </a:p>
          <a:p>
            <a:r>
              <a:rPr lang="en-CA" dirty="0"/>
              <a:t>Startups increasingly use AI to improve efficiency, personalize user experiences, and make data-driven decisions.</a:t>
            </a:r>
            <a:br>
              <a:rPr lang="en-CA" dirty="0"/>
            </a:br>
            <a:r>
              <a:rPr lang="en-CA" b="1" dirty="0"/>
              <a:t>Examples:</a:t>
            </a:r>
            <a:r>
              <a:rPr lang="en-CA" dirty="0"/>
              <a:t> Chatbots, AI-driven analytics, automated customer service, self-driving vehicles.</a:t>
            </a:r>
            <a:br>
              <a:rPr lang="en-CA" dirty="0"/>
            </a:br>
            <a:endParaRPr lang="en-CA" dirty="0"/>
          </a:p>
          <a:p>
            <a:pPr marL="0" indent="0">
              <a:buNone/>
            </a:pPr>
            <a:r>
              <a:rPr lang="en-CA" b="1" dirty="0"/>
              <a:t> 2. FinTech (Financial Technology)</a:t>
            </a:r>
            <a:endParaRPr lang="en-CA" dirty="0"/>
          </a:p>
          <a:p>
            <a:r>
              <a:rPr lang="en-CA" dirty="0"/>
              <a:t>FinTech startups are revolutionizing how people handle money — making banking faster, safer, and more inclusive.</a:t>
            </a:r>
            <a:br>
              <a:rPr lang="en-CA" dirty="0"/>
            </a:br>
            <a:r>
              <a:rPr lang="en-CA" b="1" dirty="0"/>
              <a:t>Examples:</a:t>
            </a:r>
            <a:r>
              <a:rPr lang="en-CA" dirty="0"/>
              <a:t> Mobile payments, blockchain transactions, digital wallets, and online lending platforms.</a:t>
            </a:r>
            <a:br>
              <a:rPr lang="en-CA" dirty="0"/>
            </a:br>
            <a:endParaRPr lang="en-CA" dirty="0"/>
          </a:p>
        </p:txBody>
      </p:sp>
    </p:spTree>
    <p:extLst>
      <p:ext uri="{BB962C8B-B14F-4D97-AF65-F5344CB8AC3E}">
        <p14:creationId xmlns:p14="http://schemas.microsoft.com/office/powerpoint/2010/main" val="87155888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9CD4-6730-F077-709A-8E65BD3FCB26}"/>
              </a:ext>
            </a:extLst>
          </p:cNvPr>
          <p:cNvSpPr>
            <a:spLocks noGrp="1"/>
          </p:cNvSpPr>
          <p:nvPr>
            <p:ph type="title"/>
          </p:nvPr>
        </p:nvSpPr>
        <p:spPr>
          <a:xfrm>
            <a:off x="838200" y="365125"/>
            <a:ext cx="10515600" cy="61785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3553B8AC-CA21-3E64-83EA-5E40A75C96E4}"/>
              </a:ext>
            </a:extLst>
          </p:cNvPr>
          <p:cNvSpPr>
            <a:spLocks noGrp="1"/>
          </p:cNvSpPr>
          <p:nvPr>
            <p:ph idx="1"/>
          </p:nvPr>
        </p:nvSpPr>
        <p:spPr>
          <a:xfrm>
            <a:off x="838200" y="1280160"/>
            <a:ext cx="10515600" cy="4896803"/>
          </a:xfrm>
        </p:spPr>
        <p:txBody>
          <a:bodyPr>
            <a:normAutofit/>
          </a:bodyPr>
          <a:lstStyle/>
          <a:p>
            <a:pPr marL="0" indent="0">
              <a:buNone/>
            </a:pPr>
            <a:r>
              <a:rPr lang="en-CA" b="1" dirty="0"/>
              <a:t> 3. HealthTech &amp; </a:t>
            </a:r>
            <a:r>
              <a:rPr lang="en-CA" b="1" dirty="0" err="1"/>
              <a:t>BioTech</a:t>
            </a:r>
            <a:endParaRPr lang="en-CA" dirty="0"/>
          </a:p>
          <a:p>
            <a:r>
              <a:rPr lang="en-CA" dirty="0"/>
              <a:t>Startups are using technology to make healthcare more accessible and personalized.</a:t>
            </a:r>
            <a:br>
              <a:rPr lang="en-CA" dirty="0"/>
            </a:br>
            <a:r>
              <a:rPr lang="en-CA" b="1" dirty="0"/>
              <a:t>Examples:</a:t>
            </a:r>
            <a:r>
              <a:rPr lang="en-CA" dirty="0"/>
              <a:t> Telemedicine apps, wearable health monitors, AI-assisted diagnostics, and genetic testing.</a:t>
            </a:r>
          </a:p>
          <a:p>
            <a:pPr marL="0" indent="0">
              <a:buNone/>
            </a:pPr>
            <a:r>
              <a:rPr lang="en-CA" b="1" dirty="0"/>
              <a:t> 4. GreenTech &amp; Sustainability</a:t>
            </a:r>
            <a:endParaRPr lang="en-CA" dirty="0"/>
          </a:p>
          <a:p>
            <a:r>
              <a:rPr lang="en-CA" dirty="0"/>
              <a:t>With rising environmental awareness, startups are focusing on sustainable and eco-friendly innovations.</a:t>
            </a:r>
            <a:br>
              <a:rPr lang="en-CA" dirty="0"/>
            </a:br>
            <a:r>
              <a:rPr lang="en-CA" b="1" dirty="0"/>
              <a:t>Examples:</a:t>
            </a:r>
            <a:r>
              <a:rPr lang="en-CA" dirty="0"/>
              <a:t> Renewable energy solutions, electric mobility, recycling technologies, and carbon footprint reduction.</a:t>
            </a:r>
            <a:br>
              <a:rPr lang="en-CA" dirty="0"/>
            </a:br>
            <a:endParaRPr lang="en-CA" dirty="0"/>
          </a:p>
          <a:p>
            <a:endParaRPr lang="en-CA" dirty="0"/>
          </a:p>
        </p:txBody>
      </p:sp>
    </p:spTree>
    <p:extLst>
      <p:ext uri="{BB962C8B-B14F-4D97-AF65-F5344CB8AC3E}">
        <p14:creationId xmlns:p14="http://schemas.microsoft.com/office/powerpoint/2010/main" val="85342859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017E7-98A7-B297-96C8-0DEC72475679}"/>
              </a:ext>
            </a:extLst>
          </p:cNvPr>
          <p:cNvSpPr>
            <a:spLocks noGrp="1"/>
          </p:cNvSpPr>
          <p:nvPr>
            <p:ph type="title"/>
          </p:nvPr>
        </p:nvSpPr>
        <p:spPr>
          <a:xfrm>
            <a:off x="838200" y="365125"/>
            <a:ext cx="10515600" cy="46926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F564CE51-C413-A9C8-5124-33FEFAEC4D33}"/>
              </a:ext>
            </a:extLst>
          </p:cNvPr>
          <p:cNvSpPr>
            <a:spLocks noGrp="1"/>
          </p:cNvSpPr>
          <p:nvPr>
            <p:ph idx="1"/>
          </p:nvPr>
        </p:nvSpPr>
        <p:spPr>
          <a:xfrm>
            <a:off x="383457" y="1223010"/>
            <a:ext cx="11307097" cy="5269865"/>
          </a:xfrm>
        </p:spPr>
        <p:txBody>
          <a:bodyPr>
            <a:normAutofit/>
          </a:bodyPr>
          <a:lstStyle/>
          <a:p>
            <a:pPr marL="0" indent="0">
              <a:buNone/>
            </a:pPr>
            <a:r>
              <a:rPr lang="en-CA" b="1" dirty="0"/>
              <a:t> 5. E-commerce &amp; Digital Marketplaces</a:t>
            </a:r>
            <a:endParaRPr lang="en-CA" dirty="0"/>
          </a:p>
          <a:p>
            <a:r>
              <a:rPr lang="en-CA" dirty="0"/>
              <a:t>Online retail continues to grow, especially with AI personalization and same-day delivery innovations.</a:t>
            </a:r>
            <a:br>
              <a:rPr lang="en-CA" dirty="0"/>
            </a:br>
            <a:r>
              <a:rPr lang="en-CA" b="1" dirty="0"/>
              <a:t>Examples:</a:t>
            </a:r>
            <a:r>
              <a:rPr lang="en-CA" dirty="0"/>
              <a:t> Niche online marketplaces, direct-to-consumer brands, global logistics platforms.</a:t>
            </a:r>
            <a:br>
              <a:rPr lang="en-CA" dirty="0"/>
            </a:br>
            <a:r>
              <a:rPr lang="en-CA" b="1" dirty="0"/>
              <a:t> 6. Remote Work &amp; Collaboration Tools</a:t>
            </a:r>
            <a:endParaRPr lang="en-CA" dirty="0"/>
          </a:p>
          <a:p>
            <a:r>
              <a:rPr lang="en-CA" dirty="0"/>
              <a:t>After the pandemic, startups are building solutions for hybrid and remote work environments.</a:t>
            </a:r>
            <a:br>
              <a:rPr lang="en-CA" dirty="0"/>
            </a:br>
            <a:r>
              <a:rPr lang="en-CA" b="1" dirty="0"/>
              <a:t>Examples:</a:t>
            </a:r>
            <a:r>
              <a:rPr lang="en-CA" dirty="0"/>
              <a:t> Virtual office platforms, cloud collaboration tools, productivity apps.</a:t>
            </a:r>
          </a:p>
          <a:p>
            <a:pPr marL="0" indent="0">
              <a:buNone/>
            </a:pPr>
            <a:endParaRPr lang="en-CA" dirty="0"/>
          </a:p>
          <a:p>
            <a:endParaRPr lang="en-CA" dirty="0"/>
          </a:p>
        </p:txBody>
      </p:sp>
    </p:spTree>
    <p:extLst>
      <p:ext uri="{BB962C8B-B14F-4D97-AF65-F5344CB8AC3E}">
        <p14:creationId xmlns:p14="http://schemas.microsoft.com/office/powerpoint/2010/main" val="325045727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5EDF-3BCA-1254-4423-975F01CB8C0B}"/>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9BEF9EBC-395F-7DDF-3134-98E5E541D86D}"/>
              </a:ext>
            </a:extLst>
          </p:cNvPr>
          <p:cNvSpPr>
            <a:spLocks noGrp="1"/>
          </p:cNvSpPr>
          <p:nvPr>
            <p:ph idx="1"/>
          </p:nvPr>
        </p:nvSpPr>
        <p:spPr/>
        <p:txBody>
          <a:bodyPr>
            <a:normAutofit fontScale="92500" lnSpcReduction="10000"/>
          </a:bodyPr>
          <a:lstStyle/>
          <a:p>
            <a:pPr marL="0" indent="0">
              <a:buNone/>
            </a:pPr>
            <a:r>
              <a:rPr lang="en-CA" b="1" dirty="0"/>
              <a:t> 7. EdTech (Education Technology)</a:t>
            </a:r>
            <a:endParaRPr lang="en-CA" dirty="0"/>
          </a:p>
          <a:p>
            <a:r>
              <a:rPr lang="en-CA" dirty="0"/>
              <a:t>Startups are reshaping learning by offering flexible, digital, and personalized education solutions.</a:t>
            </a:r>
            <a:br>
              <a:rPr lang="en-CA" dirty="0"/>
            </a:br>
            <a:r>
              <a:rPr lang="en-CA" b="1" dirty="0"/>
              <a:t>Examples:</a:t>
            </a:r>
            <a:r>
              <a:rPr lang="en-CA" dirty="0"/>
              <a:t> Online learning platforms, virtual classrooms, AI tutors, and skills-based courses.</a:t>
            </a:r>
            <a:br>
              <a:rPr lang="en-CA" dirty="0"/>
            </a:br>
            <a:endParaRPr lang="en-CA" dirty="0"/>
          </a:p>
          <a:p>
            <a:pPr marL="0" indent="0">
              <a:buNone/>
            </a:pPr>
            <a:r>
              <a:rPr lang="en-CA" b="1" dirty="0"/>
              <a:t> 8. Cybersecurity</a:t>
            </a:r>
            <a:endParaRPr lang="en-CA" dirty="0"/>
          </a:p>
          <a:p>
            <a:r>
              <a:rPr lang="en-CA" dirty="0"/>
              <a:t>With increasing digital transformation, startups are innovating in protecting data and privacy.</a:t>
            </a:r>
            <a:br>
              <a:rPr lang="en-CA" dirty="0"/>
            </a:br>
            <a:r>
              <a:rPr lang="en-CA" b="1" dirty="0"/>
              <a:t>Examples:</a:t>
            </a:r>
            <a:r>
              <a:rPr lang="en-CA" dirty="0"/>
              <a:t> Cloud security platforms, data encryption, and identity protection services.</a:t>
            </a:r>
            <a:br>
              <a:rPr lang="en-CA" dirty="0"/>
            </a:br>
            <a:endParaRPr lang="en-CA" dirty="0"/>
          </a:p>
          <a:p>
            <a:endParaRPr lang="en-CA" dirty="0"/>
          </a:p>
        </p:txBody>
      </p:sp>
    </p:spTree>
    <p:extLst>
      <p:ext uri="{BB962C8B-B14F-4D97-AF65-F5344CB8AC3E}">
        <p14:creationId xmlns:p14="http://schemas.microsoft.com/office/powerpoint/2010/main" val="58786434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98BD2-2172-BE3C-5505-D38030ADE74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5A108B1-F050-D756-5B5B-02B0A3252DA5}"/>
              </a:ext>
            </a:extLst>
          </p:cNvPr>
          <p:cNvSpPr>
            <a:spLocks noGrp="1"/>
          </p:cNvSpPr>
          <p:nvPr>
            <p:ph idx="1"/>
          </p:nvPr>
        </p:nvSpPr>
        <p:spPr/>
        <p:txBody>
          <a:bodyPr>
            <a:normAutofit fontScale="92500" lnSpcReduction="10000"/>
          </a:bodyPr>
          <a:lstStyle/>
          <a:p>
            <a:r>
              <a:rPr lang="en-CA" b="1" dirty="0"/>
              <a:t>9. Blockchain </a:t>
            </a:r>
            <a:endParaRPr lang="en-CA" dirty="0"/>
          </a:p>
          <a:p>
            <a:r>
              <a:rPr lang="en-CA" dirty="0"/>
              <a:t>Decentralized technologies are driving new models for finance, ownership, and content creation.</a:t>
            </a:r>
            <a:br>
              <a:rPr lang="en-CA" dirty="0"/>
            </a:br>
            <a:r>
              <a:rPr lang="en-CA" b="1" dirty="0"/>
              <a:t>Examples:</a:t>
            </a:r>
            <a:r>
              <a:rPr lang="en-CA" dirty="0"/>
              <a:t> Cryptocurrency exchanges, NFTs, decentralized apps (</a:t>
            </a:r>
            <a:r>
              <a:rPr lang="en-CA" dirty="0" err="1"/>
              <a:t>DApps</a:t>
            </a:r>
            <a:r>
              <a:rPr lang="en-CA" dirty="0"/>
              <a:t>), and smart contracts</a:t>
            </a:r>
          </a:p>
          <a:p>
            <a:pPr marL="0" indent="0">
              <a:buNone/>
            </a:pPr>
            <a:r>
              <a:rPr lang="en-CA" b="1" dirty="0"/>
              <a:t> 10. Mobility &amp; Smart Cities</a:t>
            </a:r>
            <a:endParaRPr lang="en-CA" dirty="0"/>
          </a:p>
          <a:p>
            <a:r>
              <a:rPr lang="en-CA" dirty="0"/>
              <a:t>Startups are working on smarter transportation and urban infrastructure solutions.</a:t>
            </a:r>
            <a:br>
              <a:rPr lang="en-CA" dirty="0"/>
            </a:br>
            <a:r>
              <a:rPr lang="en-CA" b="1" dirty="0"/>
              <a:t>Examples:</a:t>
            </a:r>
            <a:r>
              <a:rPr lang="en-CA" dirty="0"/>
              <a:t> Electric vehicles, ride-sharing, urban planning tech, and IoT-based city management.</a:t>
            </a:r>
            <a:br>
              <a:rPr lang="en-CA" dirty="0"/>
            </a:br>
            <a:endParaRPr lang="en-CA" dirty="0"/>
          </a:p>
          <a:p>
            <a:endParaRPr lang="en-CA" dirty="0"/>
          </a:p>
        </p:txBody>
      </p:sp>
    </p:spTree>
    <p:extLst>
      <p:ext uri="{BB962C8B-B14F-4D97-AF65-F5344CB8AC3E}">
        <p14:creationId xmlns:p14="http://schemas.microsoft.com/office/powerpoint/2010/main" val="29392025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4D381-94D6-9C31-244D-0EAD01D319EE}"/>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141D724-A132-325D-0B4D-EAB5685CEC9F}"/>
              </a:ext>
            </a:extLst>
          </p:cNvPr>
          <p:cNvSpPr>
            <a:spLocks noGrp="1"/>
          </p:cNvSpPr>
          <p:nvPr>
            <p:ph idx="1"/>
          </p:nvPr>
        </p:nvSpPr>
        <p:spPr/>
        <p:txBody>
          <a:bodyPr>
            <a:normAutofit fontScale="92500" lnSpcReduction="10000"/>
          </a:bodyPr>
          <a:lstStyle/>
          <a:p>
            <a:pPr marL="0" indent="0">
              <a:buNone/>
            </a:pPr>
            <a:r>
              <a:rPr lang="en-US" b="1" dirty="0"/>
              <a:t>11.Subscription Economy</a:t>
            </a:r>
          </a:p>
          <a:p>
            <a:r>
              <a:rPr lang="en-US" dirty="0"/>
              <a:t>The Subscription Economy is a business model shift where companies focus on selling ongoing services or access to products through recurring payments (subscriptions), rather than traditional one-time transactions. The goal is to build a long-term, direct relationship with the customer.</a:t>
            </a:r>
          </a:p>
          <a:p>
            <a:pPr marL="0" indent="0">
              <a:buNone/>
            </a:pPr>
            <a:r>
              <a:rPr lang="en-US" dirty="0"/>
              <a:t>Instead of the question being, "How many units did we sell this quarter?" the question becomes, "How successfully did we help our customers achieve their goals this quarter?“</a:t>
            </a:r>
          </a:p>
          <a:p>
            <a:pPr marL="0" indent="0">
              <a:buNone/>
            </a:pPr>
            <a:r>
              <a:rPr lang="en-US" dirty="0"/>
              <a:t>Startups are adopting subscription models for software, e-commerce, and content platforms.</a:t>
            </a:r>
          </a:p>
          <a:p>
            <a:pPr marL="457200" lvl="1" indent="0">
              <a:buNone/>
            </a:pPr>
            <a:r>
              <a:rPr lang="en-US" dirty="0"/>
              <a:t>Consumers prefer subscription services for convenience and predictability.</a:t>
            </a:r>
            <a:endParaRPr lang="en-CA" dirty="0"/>
          </a:p>
        </p:txBody>
      </p:sp>
    </p:spTree>
    <p:extLst>
      <p:ext uri="{BB962C8B-B14F-4D97-AF65-F5344CB8AC3E}">
        <p14:creationId xmlns:p14="http://schemas.microsoft.com/office/powerpoint/2010/main" val="113666847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203A7-4EFE-3F87-957F-EAC0E86BDBA7}"/>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FEB9FD9-98FE-C95B-15AE-794CDA14D823}"/>
              </a:ext>
            </a:extLst>
          </p:cNvPr>
          <p:cNvSpPr>
            <a:spLocks noGrp="1"/>
          </p:cNvSpPr>
          <p:nvPr>
            <p:ph idx="1"/>
          </p:nvPr>
        </p:nvSpPr>
        <p:spPr/>
        <p:txBody>
          <a:bodyPr/>
          <a:lstStyle/>
          <a:p>
            <a:pPr marL="0" indent="0">
              <a:buNone/>
            </a:pPr>
            <a:r>
              <a:rPr lang="en-CA" b="1" dirty="0"/>
              <a:t>In Summary:</a:t>
            </a:r>
            <a:endParaRPr lang="en-CA" dirty="0"/>
          </a:p>
          <a:p>
            <a:r>
              <a:rPr lang="en-CA" dirty="0"/>
              <a:t>Global startup trends reflect a focus on:</a:t>
            </a:r>
          </a:p>
          <a:p>
            <a:pPr lvl="0"/>
            <a:r>
              <a:rPr lang="en-CA" b="1" dirty="0"/>
              <a:t>Digital innovation</a:t>
            </a:r>
            <a:endParaRPr lang="en-CA" dirty="0"/>
          </a:p>
          <a:p>
            <a:pPr lvl="0"/>
            <a:r>
              <a:rPr lang="en-CA" b="1" dirty="0"/>
              <a:t>Sustainability</a:t>
            </a:r>
            <a:endParaRPr lang="en-CA" dirty="0"/>
          </a:p>
          <a:p>
            <a:pPr lvl="0"/>
            <a:r>
              <a:rPr lang="en-CA" b="1" dirty="0"/>
              <a:t>Health and education access</a:t>
            </a:r>
            <a:endParaRPr lang="en-CA" dirty="0"/>
          </a:p>
          <a:p>
            <a:pPr lvl="0"/>
            <a:r>
              <a:rPr lang="en-CA" b="1" dirty="0"/>
              <a:t>Efficiency and automation</a:t>
            </a:r>
            <a:endParaRPr lang="en-CA" dirty="0"/>
          </a:p>
          <a:p>
            <a:r>
              <a:rPr lang="en-CA" dirty="0"/>
              <a:t> </a:t>
            </a:r>
          </a:p>
          <a:p>
            <a:endParaRPr lang="en-CA" dirty="0"/>
          </a:p>
        </p:txBody>
      </p:sp>
    </p:spTree>
    <p:extLst>
      <p:ext uri="{BB962C8B-B14F-4D97-AF65-F5344CB8AC3E}">
        <p14:creationId xmlns:p14="http://schemas.microsoft.com/office/powerpoint/2010/main" val="89231443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55AC8-A076-DA4A-3180-FCE066268763}"/>
              </a:ext>
            </a:extLst>
          </p:cNvPr>
          <p:cNvSpPr>
            <a:spLocks noGrp="1"/>
          </p:cNvSpPr>
          <p:nvPr>
            <p:ph type="title"/>
          </p:nvPr>
        </p:nvSpPr>
        <p:spPr>
          <a:xfrm>
            <a:off x="838200" y="365126"/>
            <a:ext cx="10515600" cy="315912"/>
          </a:xfrm>
        </p:spPr>
        <p:txBody>
          <a:bodyPr>
            <a:normAutofit fontScale="90000"/>
          </a:bodyPr>
          <a:lstStyle/>
          <a:p>
            <a:br>
              <a:rPr lang="en-CA" b="1" dirty="0"/>
            </a:br>
            <a:r>
              <a:rPr lang="en-CA" b="1" dirty="0"/>
              <a:t>Trends of Local Startups</a:t>
            </a:r>
            <a:br>
              <a:rPr lang="en-CA" dirty="0"/>
            </a:br>
            <a:endParaRPr lang="en-CA" dirty="0"/>
          </a:p>
        </p:txBody>
      </p:sp>
      <p:sp>
        <p:nvSpPr>
          <p:cNvPr id="3" name="Content Placeholder 2">
            <a:extLst>
              <a:ext uri="{FF2B5EF4-FFF2-40B4-BE49-F238E27FC236}">
                <a16:creationId xmlns:a16="http://schemas.microsoft.com/office/drawing/2014/main" id="{86E10A6D-957B-753A-CC39-8630FD9EE1D8}"/>
              </a:ext>
            </a:extLst>
          </p:cNvPr>
          <p:cNvSpPr>
            <a:spLocks noGrp="1"/>
          </p:cNvSpPr>
          <p:nvPr>
            <p:ph idx="1"/>
          </p:nvPr>
        </p:nvSpPr>
        <p:spPr>
          <a:xfrm>
            <a:off x="838200" y="1154430"/>
            <a:ext cx="10515600" cy="5486400"/>
          </a:xfrm>
        </p:spPr>
        <p:txBody>
          <a:bodyPr>
            <a:normAutofit fontScale="77500" lnSpcReduction="20000"/>
          </a:bodyPr>
          <a:lstStyle/>
          <a:p>
            <a:pPr marL="0" indent="0">
              <a:buNone/>
            </a:pPr>
            <a:r>
              <a:rPr lang="en-CA" b="1" dirty="0"/>
              <a:t>1. </a:t>
            </a:r>
            <a:r>
              <a:rPr lang="en-CA" b="1" dirty="0" err="1"/>
              <a:t>AgriTech</a:t>
            </a:r>
            <a:r>
              <a:rPr lang="en-CA" b="1" dirty="0"/>
              <a:t> (Agricultural Technology)</a:t>
            </a:r>
            <a:endParaRPr lang="en-CA" dirty="0"/>
          </a:p>
          <a:p>
            <a:r>
              <a:rPr lang="en-CA" dirty="0"/>
              <a:t>Local startups are helping farmers improve productivity and income using affordable technology.</a:t>
            </a:r>
            <a:br>
              <a:rPr lang="en-CA" dirty="0"/>
            </a:br>
            <a:r>
              <a:rPr lang="en-CA" b="1" dirty="0"/>
              <a:t>Examples:</a:t>
            </a:r>
            <a:endParaRPr lang="en-CA" dirty="0"/>
          </a:p>
          <a:p>
            <a:pPr lvl="0"/>
            <a:r>
              <a:rPr lang="en-CA" dirty="0"/>
              <a:t>Mobile apps for weather forecasts and crop advice</a:t>
            </a:r>
          </a:p>
          <a:p>
            <a:pPr lvl="0"/>
            <a:r>
              <a:rPr lang="en-CA" dirty="0"/>
              <a:t>Smart irrigation systems</a:t>
            </a:r>
          </a:p>
          <a:p>
            <a:pPr lvl="0"/>
            <a:r>
              <a:rPr lang="en-CA" dirty="0"/>
              <a:t>Online marketplaces for farmers to sell produce directly</a:t>
            </a:r>
          </a:p>
          <a:p>
            <a:r>
              <a:rPr lang="en-CA" b="1" dirty="0"/>
              <a:t>Impact:</a:t>
            </a:r>
            <a:r>
              <a:rPr lang="en-CA" dirty="0"/>
              <a:t> Increases agricultural efficiency and reduces waste.</a:t>
            </a:r>
          </a:p>
          <a:p>
            <a:pPr marL="0" indent="0">
              <a:buNone/>
            </a:pPr>
            <a:r>
              <a:rPr lang="en-CA" b="1" dirty="0"/>
              <a:t> 2. FinTech for Small Businesses</a:t>
            </a:r>
            <a:endParaRPr lang="en-CA" dirty="0"/>
          </a:p>
          <a:p>
            <a:r>
              <a:rPr lang="en-CA" dirty="0"/>
              <a:t>Local startups develop digital payment systems and financial tools for small traders and rural areas.</a:t>
            </a:r>
            <a:br>
              <a:rPr lang="en-CA" dirty="0"/>
            </a:br>
            <a:r>
              <a:rPr lang="en-CA" b="1" dirty="0"/>
              <a:t>Examples:</a:t>
            </a:r>
            <a:endParaRPr lang="en-CA" dirty="0"/>
          </a:p>
          <a:p>
            <a:pPr lvl="0"/>
            <a:r>
              <a:rPr lang="en-CA" dirty="0"/>
              <a:t>Mobile money apps</a:t>
            </a:r>
          </a:p>
          <a:p>
            <a:pPr lvl="0"/>
            <a:r>
              <a:rPr lang="en-CA" dirty="0"/>
              <a:t>QR-based payment systems</a:t>
            </a:r>
          </a:p>
          <a:p>
            <a:pPr lvl="0"/>
            <a:r>
              <a:rPr lang="en-CA" dirty="0"/>
              <a:t>Micro-loan and credit apps</a:t>
            </a:r>
          </a:p>
          <a:p>
            <a:r>
              <a:rPr lang="en-CA" b="1" dirty="0"/>
              <a:t>Impact:</a:t>
            </a:r>
            <a:r>
              <a:rPr lang="en-CA" dirty="0"/>
              <a:t> Encourages cashless transactions and financial inclusion.</a:t>
            </a:r>
          </a:p>
          <a:p>
            <a:pPr marL="0" indent="0">
              <a:buNone/>
            </a:pPr>
            <a:endParaRPr lang="en-CA" dirty="0"/>
          </a:p>
          <a:p>
            <a:endParaRPr lang="en-CA" dirty="0"/>
          </a:p>
        </p:txBody>
      </p:sp>
    </p:spTree>
    <p:extLst>
      <p:ext uri="{BB962C8B-B14F-4D97-AF65-F5344CB8AC3E}">
        <p14:creationId xmlns:p14="http://schemas.microsoft.com/office/powerpoint/2010/main" val="24768462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7098C-DED8-6BE1-00F4-A84559E8F4D3}"/>
              </a:ext>
            </a:extLst>
          </p:cNvPr>
          <p:cNvSpPr>
            <a:spLocks noGrp="1"/>
          </p:cNvSpPr>
          <p:nvPr>
            <p:ph type="title"/>
          </p:nvPr>
        </p:nvSpPr>
        <p:spPr>
          <a:xfrm>
            <a:off x="838200" y="365125"/>
            <a:ext cx="10515600" cy="54927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E2F546D4-83FC-0B7C-93FC-FA3A47F48FB5}"/>
              </a:ext>
            </a:extLst>
          </p:cNvPr>
          <p:cNvSpPr>
            <a:spLocks noGrp="1"/>
          </p:cNvSpPr>
          <p:nvPr>
            <p:ph idx="1"/>
          </p:nvPr>
        </p:nvSpPr>
        <p:spPr>
          <a:xfrm>
            <a:off x="838200" y="994410"/>
            <a:ext cx="10515600" cy="5646420"/>
          </a:xfrm>
        </p:spPr>
        <p:txBody>
          <a:bodyPr>
            <a:normAutofit fontScale="85000" lnSpcReduction="20000"/>
          </a:bodyPr>
          <a:lstStyle/>
          <a:p>
            <a:r>
              <a:rPr lang="en-CA" b="1" dirty="0"/>
              <a:t>3. EdTech for Rural &amp; Local Learning</a:t>
            </a:r>
            <a:endParaRPr lang="en-CA" dirty="0"/>
          </a:p>
          <a:p>
            <a:r>
              <a:rPr lang="en-CA" dirty="0"/>
              <a:t>Startups focus on making education accessible through technology.</a:t>
            </a:r>
            <a:br>
              <a:rPr lang="en-CA" dirty="0"/>
            </a:br>
            <a:r>
              <a:rPr lang="en-CA" b="1" dirty="0"/>
              <a:t>Examples:</a:t>
            </a:r>
            <a:endParaRPr lang="en-CA" dirty="0"/>
          </a:p>
          <a:p>
            <a:pPr lvl="0"/>
            <a:r>
              <a:rPr lang="en-CA" dirty="0"/>
              <a:t>Mobile-based learning apps in local languages</a:t>
            </a:r>
          </a:p>
          <a:p>
            <a:pPr lvl="0"/>
            <a:r>
              <a:rPr lang="en-CA" dirty="0"/>
              <a:t>Online tutoring platforms</a:t>
            </a:r>
          </a:p>
          <a:p>
            <a:pPr lvl="0"/>
            <a:r>
              <a:rPr lang="en-CA" dirty="0"/>
              <a:t>Skill development and job training programs</a:t>
            </a:r>
          </a:p>
          <a:p>
            <a:r>
              <a:rPr lang="en-CA" b="1" dirty="0"/>
              <a:t>Impact:</a:t>
            </a:r>
            <a:r>
              <a:rPr lang="en-CA" dirty="0"/>
              <a:t> Improves access to quality education in rural and low-income areas.</a:t>
            </a:r>
          </a:p>
          <a:p>
            <a:r>
              <a:rPr lang="en-CA" b="1" dirty="0"/>
              <a:t> 4. E-commerce &amp; Local Delivery Platforms</a:t>
            </a:r>
            <a:endParaRPr lang="en-CA" dirty="0"/>
          </a:p>
          <a:p>
            <a:r>
              <a:rPr lang="en-CA" dirty="0"/>
              <a:t>Local startups are building online marketplaces tailored to regional products and local customers.</a:t>
            </a:r>
            <a:br>
              <a:rPr lang="en-CA" dirty="0"/>
            </a:br>
            <a:r>
              <a:rPr lang="en-CA" b="1" dirty="0"/>
              <a:t>Examples:</a:t>
            </a:r>
            <a:endParaRPr lang="en-CA" dirty="0"/>
          </a:p>
          <a:p>
            <a:pPr lvl="0"/>
            <a:r>
              <a:rPr lang="en-CA" dirty="0"/>
              <a:t>Grocery delivery apps</a:t>
            </a:r>
          </a:p>
          <a:p>
            <a:pPr lvl="0"/>
            <a:r>
              <a:rPr lang="en-CA" dirty="0"/>
              <a:t>Local crafts and handmade goods marketplaces</a:t>
            </a:r>
          </a:p>
          <a:p>
            <a:pPr lvl="0"/>
            <a:r>
              <a:rPr lang="en-CA" dirty="0"/>
              <a:t>On-demand delivery services</a:t>
            </a:r>
          </a:p>
          <a:p>
            <a:r>
              <a:rPr lang="en-CA" b="1" dirty="0"/>
              <a:t>Impact:</a:t>
            </a:r>
            <a:r>
              <a:rPr lang="en-CA" dirty="0"/>
              <a:t> Boosts small businesses and connects local producers with consumers</a:t>
            </a:r>
            <a:br>
              <a:rPr lang="en-CA" dirty="0"/>
            </a:br>
            <a:endParaRPr lang="en-CA" dirty="0"/>
          </a:p>
          <a:p>
            <a:pPr marL="0" indent="0">
              <a:buNone/>
            </a:pPr>
            <a:endParaRPr lang="en-CA" dirty="0"/>
          </a:p>
        </p:txBody>
      </p:sp>
    </p:spTree>
    <p:extLst>
      <p:ext uri="{BB962C8B-B14F-4D97-AF65-F5344CB8AC3E}">
        <p14:creationId xmlns:p14="http://schemas.microsoft.com/office/powerpoint/2010/main" val="150493414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850C2-2072-25FB-B507-767F96AC6C5D}"/>
              </a:ext>
            </a:extLst>
          </p:cNvPr>
          <p:cNvSpPr>
            <a:spLocks noGrp="1"/>
          </p:cNvSpPr>
          <p:nvPr>
            <p:ph type="title"/>
          </p:nvPr>
        </p:nvSpPr>
        <p:spPr>
          <a:xfrm>
            <a:off x="838200" y="365125"/>
            <a:ext cx="10515600" cy="40068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B759613E-AAC0-EF15-973B-580A70EF5904}"/>
              </a:ext>
            </a:extLst>
          </p:cNvPr>
          <p:cNvSpPr>
            <a:spLocks noGrp="1"/>
          </p:cNvSpPr>
          <p:nvPr>
            <p:ph idx="1"/>
          </p:nvPr>
        </p:nvSpPr>
        <p:spPr>
          <a:xfrm>
            <a:off x="838200" y="1017270"/>
            <a:ext cx="10515600" cy="5737860"/>
          </a:xfrm>
        </p:spPr>
        <p:txBody>
          <a:bodyPr>
            <a:normAutofit fontScale="77500" lnSpcReduction="20000"/>
          </a:bodyPr>
          <a:lstStyle/>
          <a:p>
            <a:pPr marL="0" indent="0">
              <a:buNone/>
            </a:pPr>
            <a:r>
              <a:rPr lang="en-CA" b="1" dirty="0"/>
              <a:t> 5. HealthTech &amp; Telemedicine</a:t>
            </a:r>
            <a:endParaRPr lang="en-CA" dirty="0"/>
          </a:p>
          <a:p>
            <a:r>
              <a:rPr lang="en-CA" dirty="0"/>
              <a:t>Local startups use simple digital tools to make healthcare more accessible and affordable.</a:t>
            </a:r>
            <a:br>
              <a:rPr lang="en-CA" dirty="0"/>
            </a:br>
            <a:r>
              <a:rPr lang="en-CA" b="1" dirty="0"/>
              <a:t>Examples:</a:t>
            </a:r>
            <a:endParaRPr lang="en-CA" dirty="0"/>
          </a:p>
          <a:p>
            <a:pPr lvl="0"/>
            <a:r>
              <a:rPr lang="en-CA" dirty="0"/>
              <a:t>Teleconsultation services</a:t>
            </a:r>
          </a:p>
          <a:p>
            <a:pPr lvl="0"/>
            <a:r>
              <a:rPr lang="en-CA" dirty="0"/>
              <a:t>Health monitoring mobile apps</a:t>
            </a:r>
          </a:p>
          <a:p>
            <a:pPr lvl="0"/>
            <a:r>
              <a:rPr lang="en-CA" dirty="0"/>
              <a:t>Online pharmacy delivery</a:t>
            </a:r>
          </a:p>
          <a:p>
            <a:r>
              <a:rPr lang="en-CA" b="1" dirty="0"/>
              <a:t>Impact:</a:t>
            </a:r>
            <a:r>
              <a:rPr lang="en-CA" dirty="0"/>
              <a:t> Expands healthcare access to remote or underserved areas.</a:t>
            </a:r>
          </a:p>
          <a:p>
            <a:r>
              <a:rPr lang="en-CA" b="1" dirty="0"/>
              <a:t> 6. Renewable Energy Solutions</a:t>
            </a:r>
            <a:endParaRPr lang="en-CA" dirty="0"/>
          </a:p>
          <a:p>
            <a:r>
              <a:rPr lang="en-CA" dirty="0"/>
              <a:t>Startups provide low-cost, eco-friendly energy options for communities.</a:t>
            </a:r>
            <a:br>
              <a:rPr lang="en-CA" dirty="0"/>
            </a:br>
            <a:r>
              <a:rPr lang="en-CA" b="1" dirty="0"/>
              <a:t>Examples:</a:t>
            </a:r>
            <a:endParaRPr lang="en-CA" dirty="0"/>
          </a:p>
          <a:p>
            <a:pPr lvl="0"/>
            <a:r>
              <a:rPr lang="en-CA" dirty="0"/>
              <a:t>Solar home systems</a:t>
            </a:r>
          </a:p>
          <a:p>
            <a:pPr lvl="0"/>
            <a:r>
              <a:rPr lang="en-CA" dirty="0"/>
              <a:t>Biogas and clean cooking technologies</a:t>
            </a:r>
          </a:p>
          <a:p>
            <a:pPr lvl="0"/>
            <a:r>
              <a:rPr lang="en-CA" dirty="0"/>
              <a:t>Mini-grid electricity solutions</a:t>
            </a:r>
          </a:p>
          <a:p>
            <a:r>
              <a:rPr lang="en-CA" b="1" dirty="0"/>
              <a:t>Impact:</a:t>
            </a:r>
            <a:r>
              <a:rPr lang="en-CA" dirty="0"/>
              <a:t> Promotes sustainability and reduces dependence on non-renewable sources.</a:t>
            </a:r>
            <a:br>
              <a:rPr lang="en-CA" dirty="0"/>
            </a:br>
            <a:endParaRPr lang="en-CA" dirty="0"/>
          </a:p>
          <a:p>
            <a:endParaRPr lang="en-CA" dirty="0"/>
          </a:p>
        </p:txBody>
      </p:sp>
    </p:spTree>
    <p:extLst>
      <p:ext uri="{BB962C8B-B14F-4D97-AF65-F5344CB8AC3E}">
        <p14:creationId xmlns:p14="http://schemas.microsoft.com/office/powerpoint/2010/main" val="233111170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BEC24-69A7-F89B-BACD-D49FB5D3A37E}"/>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66458CE7-B827-1132-C6AE-338C95F31926}"/>
              </a:ext>
            </a:extLst>
          </p:cNvPr>
          <p:cNvSpPr>
            <a:spLocks noGrp="1"/>
          </p:cNvSpPr>
          <p:nvPr>
            <p:ph idx="1"/>
          </p:nvPr>
        </p:nvSpPr>
        <p:spPr>
          <a:xfrm>
            <a:off x="838200" y="1062990"/>
            <a:ext cx="10515600" cy="5113973"/>
          </a:xfrm>
        </p:spPr>
        <p:txBody>
          <a:bodyPr>
            <a:normAutofit fontScale="77500" lnSpcReduction="20000"/>
          </a:bodyPr>
          <a:lstStyle/>
          <a:p>
            <a:r>
              <a:rPr lang="en-CA" b="1" dirty="0"/>
              <a:t> 7. Waste Management &amp; Recycling</a:t>
            </a:r>
            <a:endParaRPr lang="en-CA" dirty="0"/>
          </a:p>
          <a:p>
            <a:r>
              <a:rPr lang="en-CA" dirty="0"/>
              <a:t>Many local startups address pollution and waste challenges.</a:t>
            </a:r>
            <a:br>
              <a:rPr lang="en-CA" dirty="0"/>
            </a:br>
            <a:r>
              <a:rPr lang="en-CA" b="1" dirty="0"/>
              <a:t>Examples:</a:t>
            </a:r>
            <a:endParaRPr lang="en-CA" dirty="0"/>
          </a:p>
          <a:p>
            <a:pPr lvl="0"/>
            <a:r>
              <a:rPr lang="en-CA" dirty="0"/>
              <a:t>Plastic recycling businesses</a:t>
            </a:r>
          </a:p>
          <a:p>
            <a:pPr lvl="0"/>
            <a:r>
              <a:rPr lang="en-CA" dirty="0"/>
              <a:t>Waste-to-energy startups</a:t>
            </a:r>
          </a:p>
          <a:p>
            <a:pPr lvl="0"/>
            <a:r>
              <a:rPr lang="en-CA" dirty="0"/>
              <a:t>Community-based cleaning initiatives</a:t>
            </a:r>
          </a:p>
          <a:p>
            <a:r>
              <a:rPr lang="en-CA" b="1" dirty="0"/>
              <a:t>Impact:</a:t>
            </a:r>
            <a:r>
              <a:rPr lang="en-CA" dirty="0"/>
              <a:t> Builds cleaner cities and promotes environmental responsibility.</a:t>
            </a:r>
            <a:br>
              <a:rPr lang="en-CA" dirty="0"/>
            </a:br>
            <a:endParaRPr lang="en-CA" dirty="0"/>
          </a:p>
          <a:p>
            <a:r>
              <a:rPr lang="en-CA" b="1" dirty="0"/>
              <a:t>8. Tourism &amp; Cultural Startups</a:t>
            </a:r>
            <a:endParaRPr lang="en-CA" dirty="0"/>
          </a:p>
          <a:p>
            <a:r>
              <a:rPr lang="en-CA" dirty="0"/>
              <a:t>Startups highlight local heritage and promote community-based tourism.</a:t>
            </a:r>
            <a:br>
              <a:rPr lang="en-CA" dirty="0"/>
            </a:br>
            <a:r>
              <a:rPr lang="en-CA" b="1" dirty="0"/>
              <a:t>Examples:</a:t>
            </a:r>
            <a:endParaRPr lang="en-CA" dirty="0"/>
          </a:p>
          <a:p>
            <a:pPr lvl="0"/>
            <a:r>
              <a:rPr lang="en-CA" dirty="0"/>
              <a:t>Eco-tourism platforms</a:t>
            </a:r>
          </a:p>
          <a:p>
            <a:pPr lvl="0"/>
            <a:r>
              <a:rPr lang="en-CA" dirty="0"/>
              <a:t>Cultural experience apps</a:t>
            </a:r>
          </a:p>
          <a:p>
            <a:pPr lvl="0"/>
            <a:r>
              <a:rPr lang="en-CA" dirty="0"/>
              <a:t>Handicraft marketplaces</a:t>
            </a:r>
          </a:p>
          <a:p>
            <a:r>
              <a:rPr lang="en-CA" b="1" dirty="0"/>
              <a:t>Impact:</a:t>
            </a:r>
            <a:r>
              <a:rPr lang="en-CA" dirty="0"/>
              <a:t> Creates jobs and preserves local culture.</a:t>
            </a:r>
          </a:p>
          <a:p>
            <a:endParaRPr lang="en-CA" dirty="0"/>
          </a:p>
        </p:txBody>
      </p:sp>
    </p:spTree>
    <p:extLst>
      <p:ext uri="{BB962C8B-B14F-4D97-AF65-F5344CB8AC3E}">
        <p14:creationId xmlns:p14="http://schemas.microsoft.com/office/powerpoint/2010/main" val="405243789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86A49-224A-CE7B-2D57-79B889C35CDA}"/>
              </a:ext>
            </a:extLst>
          </p:cNvPr>
          <p:cNvSpPr>
            <a:spLocks noGrp="1"/>
          </p:cNvSpPr>
          <p:nvPr>
            <p:ph type="title"/>
          </p:nvPr>
        </p:nvSpPr>
        <p:spPr/>
        <p:txBody>
          <a:bodyPr>
            <a:normAutofit fontScale="90000"/>
          </a:bodyPr>
          <a:lstStyle/>
          <a:p>
            <a:r>
              <a:rPr lang="en-CA" dirty="0"/>
              <a:t>Here are the key local trends in startups in Nepal:</a:t>
            </a:r>
            <a:br>
              <a:rPr lang="en-CA" dirty="0"/>
            </a:br>
            <a:endParaRPr lang="en-CA" dirty="0"/>
          </a:p>
        </p:txBody>
      </p:sp>
      <p:sp>
        <p:nvSpPr>
          <p:cNvPr id="3" name="Content Placeholder 2">
            <a:extLst>
              <a:ext uri="{FF2B5EF4-FFF2-40B4-BE49-F238E27FC236}">
                <a16:creationId xmlns:a16="http://schemas.microsoft.com/office/drawing/2014/main" id="{7B057708-0BE7-ED79-1305-AFAC60DDA01A}"/>
              </a:ext>
            </a:extLst>
          </p:cNvPr>
          <p:cNvSpPr>
            <a:spLocks noGrp="1"/>
          </p:cNvSpPr>
          <p:nvPr>
            <p:ph idx="1"/>
          </p:nvPr>
        </p:nvSpPr>
        <p:spPr>
          <a:xfrm>
            <a:off x="422910" y="1040130"/>
            <a:ext cx="11327130" cy="5817870"/>
          </a:xfrm>
        </p:spPr>
        <p:txBody>
          <a:bodyPr>
            <a:normAutofit fontScale="77500" lnSpcReduction="20000"/>
          </a:bodyPr>
          <a:lstStyle/>
          <a:p>
            <a:pPr marL="0" indent="0">
              <a:buNone/>
            </a:pPr>
            <a:r>
              <a:rPr lang="en-CA" b="1" dirty="0"/>
              <a:t>Dominant &amp; Emerging Sectors</a:t>
            </a:r>
            <a:endParaRPr lang="en-CA" dirty="0"/>
          </a:p>
          <a:p>
            <a:pPr lvl="0"/>
            <a:r>
              <a:rPr lang="en-CA" b="1" dirty="0"/>
              <a:t>Fintech (Financial Technology):</a:t>
            </a:r>
            <a:r>
              <a:rPr lang="en-CA" dirty="0"/>
              <a:t> This is one of the most vibrant sectors. Digital wallets and payment platforms (like </a:t>
            </a:r>
            <a:r>
              <a:rPr lang="en-CA" b="1" dirty="0" err="1"/>
              <a:t>eSewa</a:t>
            </a:r>
            <a:r>
              <a:rPr lang="en-CA" dirty="0"/>
              <a:t> and </a:t>
            </a:r>
            <a:r>
              <a:rPr lang="en-CA" b="1" dirty="0"/>
              <a:t>Khalti</a:t>
            </a:r>
            <a:r>
              <a:rPr lang="en-CA" dirty="0"/>
              <a:t>) have seen explosive growth, driving Nepal towards a more cashless society. Startups are continually expanding services to include micro-lending, insurance tech, and cross-border transactions.</a:t>
            </a:r>
          </a:p>
          <a:p>
            <a:pPr lvl="0"/>
            <a:r>
              <a:rPr lang="en-CA" b="1" dirty="0"/>
              <a:t>E-commerce and Logistics:</a:t>
            </a:r>
            <a:r>
              <a:rPr lang="en-CA" dirty="0"/>
              <a:t> Online marketplaces (like </a:t>
            </a:r>
            <a:r>
              <a:rPr lang="en-CA" dirty="0" err="1"/>
              <a:t>Daraz</a:t>
            </a:r>
            <a:r>
              <a:rPr lang="en-CA" dirty="0"/>
              <a:t> and </a:t>
            </a:r>
            <a:r>
              <a:rPr lang="en-CA" dirty="0" err="1"/>
              <a:t>Sastodeal</a:t>
            </a:r>
            <a:r>
              <a:rPr lang="en-CA" dirty="0"/>
              <a:t>) and specialized delivery services (like </a:t>
            </a:r>
            <a:r>
              <a:rPr lang="en-CA" b="1" dirty="0" err="1"/>
              <a:t>Foodmandu</a:t>
            </a:r>
            <a:r>
              <a:rPr lang="en-CA" dirty="0"/>
              <a:t> and local grocery/e-commerce delivery) are thriving, despite challenges in last-mile delivery due to Nepal's geography.</a:t>
            </a:r>
          </a:p>
          <a:p>
            <a:pPr lvl="0"/>
            <a:r>
              <a:rPr lang="en-CA" b="1" dirty="0"/>
              <a:t>EdTech (Education Technology):</a:t>
            </a:r>
            <a:r>
              <a:rPr lang="en-CA" dirty="0"/>
              <a:t> Startups are leveraging technology to bridge educational gaps, offering online courses, e-learning platforms, and digital content catering to the local curriculum and skill development needs.</a:t>
            </a:r>
          </a:p>
          <a:p>
            <a:pPr lvl="0"/>
            <a:r>
              <a:rPr lang="en-CA" b="1" dirty="0"/>
              <a:t>Agri-Tech (Agriculture Technology):</a:t>
            </a:r>
            <a:r>
              <a:rPr lang="en-CA" dirty="0"/>
              <a:t> With agriculture being a major part of the economy, there's a significant trend in tech-driven solutions to help farmers with productivity, market access, and organic farming techniques.</a:t>
            </a:r>
          </a:p>
          <a:p>
            <a:pPr lvl="0"/>
            <a:r>
              <a:rPr lang="en-CA" b="1" dirty="0"/>
              <a:t>Renewable Energy/Sustainability:</a:t>
            </a:r>
            <a:r>
              <a:rPr lang="en-CA" dirty="0"/>
              <a:t> Focus on solar installations, micro-hydro projects, and eco-friendly packaging/waste management solutions is growing, often encouraged by government policies.</a:t>
            </a:r>
          </a:p>
          <a:p>
            <a:pPr lvl="0"/>
            <a:r>
              <a:rPr lang="en-CA" b="1" dirty="0"/>
              <a:t>Tourism Technology:</a:t>
            </a:r>
            <a:r>
              <a:rPr lang="en-CA" dirty="0"/>
              <a:t> Startups are creating mobile apps for trekkers, virtual tour experiences, and specialized tour operations (e.g., cultural immersion, glamping).</a:t>
            </a:r>
            <a:br>
              <a:rPr lang="en-CA" dirty="0"/>
            </a:br>
            <a:endParaRPr lang="en-CA" dirty="0"/>
          </a:p>
          <a:p>
            <a:endParaRPr lang="en-CA" dirty="0"/>
          </a:p>
        </p:txBody>
      </p:sp>
    </p:spTree>
    <p:extLst>
      <p:ext uri="{BB962C8B-B14F-4D97-AF65-F5344CB8AC3E}">
        <p14:creationId xmlns:p14="http://schemas.microsoft.com/office/powerpoint/2010/main" val="28918457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1124</TotalTime>
  <Words>9807</Words>
  <Application>Microsoft Office PowerPoint</Application>
  <PresentationFormat>Widescreen</PresentationFormat>
  <Paragraphs>581</Paragraphs>
  <Slides>101</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101</vt:i4>
      </vt:variant>
    </vt:vector>
  </HeadingPairs>
  <TitlesOfParts>
    <vt:vector size="110" baseType="lpstr">
      <vt:lpstr>Arial</vt:lpstr>
      <vt:lpstr>Calibri</vt:lpstr>
      <vt:lpstr>Calibri Light</vt:lpstr>
      <vt:lpstr>Google Sans</vt:lpstr>
      <vt:lpstr>Google Sans Flex</vt:lpstr>
      <vt:lpstr>Preeti</vt:lpstr>
      <vt:lpstr>quote-cjk-patch</vt:lpstr>
      <vt:lpstr>Office Theme</vt:lpstr>
      <vt:lpstr>1_Office Theme</vt:lpstr>
      <vt:lpstr>Entrepreneurship and Professional Practice </vt:lpstr>
      <vt:lpstr>PowerPoint Presentation</vt:lpstr>
      <vt:lpstr>First Chapter  Introduction to Entrepreneurship </vt:lpstr>
      <vt:lpstr>Meaning of entrepreneurship </vt:lpstr>
      <vt:lpstr>Nature/Features of Entrepreneurship </vt:lpstr>
      <vt:lpstr>Establishment of new ventures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Startup </vt:lpstr>
      <vt:lpstr> Here are some of the key characteristics of startups: </vt:lpstr>
      <vt:lpstr>Meaning of Enterprise</vt:lpstr>
      <vt:lpstr>Key Features of an Enterprise: </vt:lpstr>
      <vt:lpstr>PowerPoint Presentation</vt:lpstr>
      <vt:lpstr>PowerPoint Presentation</vt:lpstr>
      <vt:lpstr>PowerPoint Presentation</vt:lpstr>
      <vt:lpstr>PowerPoint Presentation</vt:lpstr>
      <vt:lpstr>Who is an entrepreneur? </vt:lpstr>
      <vt:lpstr>Types of entrepreneurs </vt:lpstr>
      <vt:lpstr>PowerPoint Presentation</vt:lpstr>
      <vt:lpstr>PowerPoint Presentation</vt:lpstr>
      <vt:lpstr>PowerPoint Presentation</vt:lpstr>
      <vt:lpstr>PowerPoint Presentation</vt:lpstr>
      <vt:lpstr>PowerPoint Presentation</vt:lpstr>
      <vt:lpstr>Characteristics of Entrepreneurs </vt:lpstr>
      <vt:lpstr>PowerPoint Presentation</vt:lpstr>
      <vt:lpstr>PowerPoint Presentation</vt:lpstr>
      <vt:lpstr>PowerPoint Presentation</vt:lpstr>
      <vt:lpstr>PowerPoint Presentation</vt:lpstr>
      <vt:lpstr>PowerPoint Presentation</vt:lpstr>
      <vt:lpstr>PowerPoint Presentation</vt:lpstr>
      <vt:lpstr>Or You can write in the following way</vt:lpstr>
      <vt:lpstr>PowerPoint Presentation</vt:lpstr>
      <vt:lpstr>PowerPoint Presentation</vt:lpstr>
      <vt:lpstr>PowerPoint Presentation</vt:lpstr>
      <vt:lpstr>PowerPoint Presentation</vt:lpstr>
      <vt:lpstr> 1. Entrepreneurial Attitude </vt:lpstr>
      <vt:lpstr>Following are the key characteristics of Entrepreneurial Attitude</vt:lpstr>
      <vt:lpstr>PowerPoint Presentation</vt:lpstr>
      <vt:lpstr>PowerPoint Presentation</vt:lpstr>
      <vt:lpstr>PowerPoint Presentation</vt:lpstr>
      <vt:lpstr>PowerPoint Presentation</vt:lpstr>
      <vt:lpstr> Entrepreneurial Intention </vt:lpstr>
      <vt:lpstr>PowerPoint Presentation</vt:lpstr>
      <vt:lpstr>PowerPoint Presentation</vt:lpstr>
      <vt:lpstr>PowerPoint Presentation</vt:lpstr>
      <vt:lpstr>Entrepreneurial Behavior </vt:lpstr>
      <vt:lpstr>PowerPoint Presentation</vt:lpstr>
      <vt:lpstr>PowerPoint Presentation</vt:lpstr>
      <vt:lpstr>PowerPoint Presentation</vt:lpstr>
      <vt:lpstr>PowerPoint Presentation</vt:lpstr>
      <vt:lpstr>PowerPoint Presentation</vt:lpstr>
      <vt:lpstr>Difference Between Entrepreneurial Intention and Entrepreneurial Behavior </vt:lpstr>
      <vt:lpstr>Comparison between Entrepreneurship and Employment across key aspects  </vt:lpstr>
      <vt:lpstr>                         Entrepreneurship                        Employment </vt:lpstr>
      <vt:lpstr>Enterprise lifecycle </vt:lpstr>
      <vt:lpstr>PowerPoint Presentation</vt:lpstr>
      <vt:lpstr>PowerPoint Presentation</vt:lpstr>
      <vt:lpstr>PowerPoint Presentation</vt:lpstr>
      <vt:lpstr>PowerPoint Presentation</vt:lpstr>
      <vt:lpstr>Role, Importance, and Challenges of Entrepreneurship</vt:lpstr>
      <vt:lpstr>PowerPoint Presentation</vt:lpstr>
      <vt:lpstr>PowerPoint Presentation</vt:lpstr>
      <vt:lpstr>Importance of Entrepreneurship </vt:lpstr>
      <vt:lpstr>PowerPoint Presentation</vt:lpstr>
      <vt:lpstr>PowerPoint Presentation</vt:lpstr>
      <vt:lpstr>Challenges of Entrepreneurship </vt:lpstr>
      <vt:lpstr>PowerPoint Presentation</vt:lpstr>
      <vt:lpstr>PowerPoint Presentation</vt:lpstr>
      <vt:lpstr>PowerPoint Presentation</vt:lpstr>
      <vt:lpstr>Emerging Technologies Driving Startups </vt:lpstr>
      <vt:lpstr>PowerPoint Presentation</vt:lpstr>
      <vt:lpstr>PowerPoint Presentation</vt:lpstr>
      <vt:lpstr>PowerPoint Presentation</vt:lpstr>
      <vt:lpstr>PowerPoint Presentation</vt:lpstr>
      <vt:lpstr>PowerPoint Presentation</vt:lpstr>
      <vt:lpstr>PowerPoint Presentation</vt:lpstr>
      <vt:lpstr>Binod Chaudhary’s 10 Mantras for successful Entrepreneur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Trends of Global Startups </vt:lpstr>
      <vt:lpstr>PowerPoint Presentation</vt:lpstr>
      <vt:lpstr>PowerPoint Presentation</vt:lpstr>
      <vt:lpstr>PowerPoint Presentation</vt:lpstr>
      <vt:lpstr>PowerPoint Presentation</vt:lpstr>
      <vt:lpstr>PowerPoint Presentation</vt:lpstr>
      <vt:lpstr>PowerPoint Presentation</vt:lpstr>
      <vt:lpstr> Trends of Local Startups </vt:lpstr>
      <vt:lpstr>PowerPoint Presentation</vt:lpstr>
      <vt:lpstr>PowerPoint Presentation</vt:lpstr>
      <vt:lpstr>PowerPoint Presentation</vt:lpstr>
      <vt:lpstr>Here are the key local trends in startups in Nepal: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Sulav Cooperative</dc:creator>
  <cp:lastModifiedBy>Sulav Cooperative</cp:lastModifiedBy>
  <cp:revision>164</cp:revision>
  <dcterms:created xsi:type="dcterms:W3CDTF">2024-12-13T07:33:24Z</dcterms:created>
  <dcterms:modified xsi:type="dcterms:W3CDTF">2025-11-17T08:50:00Z</dcterms:modified>
</cp:coreProperties>
</file>