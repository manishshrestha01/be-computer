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sldIdLst>
    <p:sldId id="256" r:id="rId2"/>
    <p:sldId id="314" r:id="rId3"/>
    <p:sldId id="376" r:id="rId4"/>
    <p:sldId id="315" r:id="rId5"/>
    <p:sldId id="316" r:id="rId6"/>
    <p:sldId id="317" r:id="rId7"/>
    <p:sldId id="356" r:id="rId8"/>
    <p:sldId id="357" r:id="rId9"/>
    <p:sldId id="318" r:id="rId10"/>
    <p:sldId id="319" r:id="rId11"/>
    <p:sldId id="358" r:id="rId12"/>
    <p:sldId id="359" r:id="rId13"/>
    <p:sldId id="320" r:id="rId14"/>
    <p:sldId id="360" r:id="rId15"/>
    <p:sldId id="362" r:id="rId16"/>
    <p:sldId id="363" r:id="rId17"/>
    <p:sldId id="364" r:id="rId18"/>
    <p:sldId id="321" r:id="rId19"/>
    <p:sldId id="344" r:id="rId20"/>
    <p:sldId id="338" r:id="rId21"/>
    <p:sldId id="339" r:id="rId22"/>
    <p:sldId id="340" r:id="rId23"/>
    <p:sldId id="341" r:id="rId24"/>
    <p:sldId id="322"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257" r:id="rId39"/>
    <p:sldId id="258" r:id="rId40"/>
    <p:sldId id="259" r:id="rId41"/>
    <p:sldId id="260" r:id="rId42"/>
    <p:sldId id="261" r:id="rId43"/>
    <p:sldId id="262" r:id="rId44"/>
    <p:sldId id="263" r:id="rId45"/>
    <p:sldId id="264" r:id="rId46"/>
    <p:sldId id="265" r:id="rId47"/>
    <p:sldId id="266" r:id="rId48"/>
    <p:sldId id="267" r:id="rId49"/>
    <p:sldId id="343" r:id="rId50"/>
    <p:sldId id="345" r:id="rId51"/>
    <p:sldId id="348" r:id="rId52"/>
    <p:sldId id="346" r:id="rId53"/>
    <p:sldId id="347" r:id="rId54"/>
    <p:sldId id="349" r:id="rId55"/>
    <p:sldId id="350" r:id="rId56"/>
    <p:sldId id="351" r:id="rId57"/>
    <p:sldId id="352" r:id="rId58"/>
    <p:sldId id="268" r:id="rId59"/>
    <p:sldId id="269" r:id="rId60"/>
    <p:sldId id="275" r:id="rId61"/>
    <p:sldId id="270" r:id="rId62"/>
    <p:sldId id="271" r:id="rId63"/>
    <p:sldId id="274" r:id="rId64"/>
    <p:sldId id="276" r:id="rId65"/>
    <p:sldId id="277" r:id="rId66"/>
    <p:sldId id="278" r:id="rId67"/>
    <p:sldId id="279" r:id="rId68"/>
    <p:sldId id="280" r:id="rId69"/>
    <p:sldId id="281" r:id="rId70"/>
    <p:sldId id="282" r:id="rId71"/>
    <p:sldId id="283" r:id="rId72"/>
    <p:sldId id="284" r:id="rId73"/>
    <p:sldId id="285" r:id="rId74"/>
    <p:sldId id="273" r:id="rId75"/>
    <p:sldId id="286" r:id="rId76"/>
    <p:sldId id="287" r:id="rId77"/>
    <p:sldId id="288" r:id="rId78"/>
    <p:sldId id="289" r:id="rId79"/>
    <p:sldId id="290" r:id="rId80"/>
    <p:sldId id="291" r:id="rId81"/>
    <p:sldId id="292" r:id="rId82"/>
    <p:sldId id="294" r:id="rId83"/>
    <p:sldId id="295" r:id="rId84"/>
    <p:sldId id="313" r:id="rId85"/>
    <p:sldId id="336" r:id="rId86"/>
    <p:sldId id="398" r:id="rId87"/>
    <p:sldId id="337" r:id="rId88"/>
    <p:sldId id="393" r:id="rId89"/>
    <p:sldId id="377" r:id="rId90"/>
    <p:sldId id="378" r:id="rId91"/>
    <p:sldId id="379" r:id="rId92"/>
    <p:sldId id="380" r:id="rId93"/>
    <p:sldId id="381" r:id="rId94"/>
    <p:sldId id="382" r:id="rId95"/>
    <p:sldId id="394" r:id="rId96"/>
    <p:sldId id="395" r:id="rId97"/>
    <p:sldId id="396" r:id="rId98"/>
    <p:sldId id="383" r:id="rId99"/>
    <p:sldId id="384" r:id="rId100"/>
    <p:sldId id="385" r:id="rId101"/>
    <p:sldId id="397" r:id="rId102"/>
    <p:sldId id="386"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51FE63-258A-4B6E-80DA-4278437D4A8E}" type="datetimeFigureOut">
              <a:rPr lang="en-CA" smtClean="0"/>
              <a:t>2025-11-27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8170A9-A0D1-408C-8038-7F8C4F43BA1B}" type="slidenum">
              <a:rPr lang="en-CA" smtClean="0"/>
              <a:t>‹#›</a:t>
            </a:fld>
            <a:endParaRPr lang="en-CA"/>
          </a:p>
        </p:txBody>
      </p:sp>
    </p:spTree>
    <p:extLst>
      <p:ext uri="{BB962C8B-B14F-4D97-AF65-F5344CB8AC3E}">
        <p14:creationId xmlns:p14="http://schemas.microsoft.com/office/powerpoint/2010/main" val="2894232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a way that gives pleasure through beauty.</a:t>
            </a:r>
            <a:endParaRPr lang="en-CA" dirty="0"/>
          </a:p>
        </p:txBody>
      </p:sp>
      <p:sp>
        <p:nvSpPr>
          <p:cNvPr id="4" name="Slide Number Placeholder 3"/>
          <p:cNvSpPr>
            <a:spLocks noGrp="1"/>
          </p:cNvSpPr>
          <p:nvPr>
            <p:ph type="sldNum" sz="quarter" idx="5"/>
          </p:nvPr>
        </p:nvSpPr>
        <p:spPr/>
        <p:txBody>
          <a:bodyPr/>
          <a:lstStyle/>
          <a:p>
            <a:fld id="{808170A9-A0D1-408C-8038-7F8C4F43BA1B}" type="slidenum">
              <a:rPr lang="en-CA" smtClean="0"/>
              <a:t>4</a:t>
            </a:fld>
            <a:endParaRPr lang="en-CA"/>
          </a:p>
        </p:txBody>
      </p:sp>
    </p:spTree>
    <p:extLst>
      <p:ext uri="{BB962C8B-B14F-4D97-AF65-F5344CB8AC3E}">
        <p14:creationId xmlns:p14="http://schemas.microsoft.com/office/powerpoint/2010/main" val="2889849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50F5A-6256-EF81-96AC-8CDC5197E3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4D4D6BB-6D6D-DD4E-6843-3DB8F3F68F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2640EF5-9857-0B9D-EB5D-3EFB5D572BC4}"/>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5" name="Footer Placeholder 4">
            <a:extLst>
              <a:ext uri="{FF2B5EF4-FFF2-40B4-BE49-F238E27FC236}">
                <a16:creationId xmlns:a16="http://schemas.microsoft.com/office/drawing/2014/main" id="{E42A8C3A-BB90-7CBD-0C79-0CA1ED3AD67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F6B62FA-C50D-6CA2-8A16-29567DFF898C}"/>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1181605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73835-CB4A-2397-3A90-413AFEDB65D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8942D12-5956-F435-2401-EE9E060231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DD9F751-6E0F-0AD1-21DF-219582C9BDA4}"/>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5" name="Footer Placeholder 4">
            <a:extLst>
              <a:ext uri="{FF2B5EF4-FFF2-40B4-BE49-F238E27FC236}">
                <a16:creationId xmlns:a16="http://schemas.microsoft.com/office/drawing/2014/main" id="{F72EFB3C-530E-57E8-0A5A-8A4E22489DA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C0D3779-C460-6E16-2093-ADCE2CB82970}"/>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019534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B5CB-354C-622E-9CF3-525F49C3B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3250E2B-B580-1839-3546-0D70AA51E2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2EDC62-7487-1833-C8ED-25284A110F8B}"/>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5" name="Footer Placeholder 4">
            <a:extLst>
              <a:ext uri="{FF2B5EF4-FFF2-40B4-BE49-F238E27FC236}">
                <a16:creationId xmlns:a16="http://schemas.microsoft.com/office/drawing/2014/main" id="{3F077FB9-2799-4615-735A-C2F3B35F9A3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00FF6E2-987E-A628-2414-52AF361D8815}"/>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049515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6BD5-C761-7245-1216-001059F123F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D9280EC-2CBD-D516-B796-D2CA846D9A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9CF1C77-F938-038F-CBA0-26B85218BD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DF64D459-ACA4-FBB0-90EF-8EA3B7D56999}"/>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6" name="Footer Placeholder 5">
            <a:extLst>
              <a:ext uri="{FF2B5EF4-FFF2-40B4-BE49-F238E27FC236}">
                <a16:creationId xmlns:a16="http://schemas.microsoft.com/office/drawing/2014/main" id="{5ECB410F-E657-34C5-8892-EDB754D36BD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CCE0519-4CB8-3A2D-F37E-573D7EA1C99E}"/>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418118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1933-5C40-C740-D1B4-8CDEB05853E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BA40F58-79AD-41CF-6F43-25BF6F9517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D25FF9-FF96-1D77-E646-98395CBBF9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A988F88-1288-B8B0-254F-7548EE5FC3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FA730-C874-C21D-710D-F9601B8A8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969FB08-BF89-B9FD-904C-DA86577FF455}"/>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8" name="Footer Placeholder 7">
            <a:extLst>
              <a:ext uri="{FF2B5EF4-FFF2-40B4-BE49-F238E27FC236}">
                <a16:creationId xmlns:a16="http://schemas.microsoft.com/office/drawing/2014/main" id="{637FF287-E700-9449-0669-232A0BB396B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206A587-AA7F-A6D7-E289-BFC8AB84F60B}"/>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2418789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422B2-23AA-B261-E74E-ED7108A015B2}"/>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D3E2777-EC70-14C5-BC5B-51A2BF31D674}"/>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4" name="Footer Placeholder 3">
            <a:extLst>
              <a:ext uri="{FF2B5EF4-FFF2-40B4-BE49-F238E27FC236}">
                <a16:creationId xmlns:a16="http://schemas.microsoft.com/office/drawing/2014/main" id="{1CFB4B0A-DE0A-6A6A-FBD7-D76AD0D99F2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E58BADB-7A71-533D-A6D3-1E34C7E2F890}"/>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64167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CF1656-4006-329E-2054-C0D39BD1E210}"/>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3" name="Footer Placeholder 2">
            <a:extLst>
              <a:ext uri="{FF2B5EF4-FFF2-40B4-BE49-F238E27FC236}">
                <a16:creationId xmlns:a16="http://schemas.microsoft.com/office/drawing/2014/main" id="{53C55780-83C6-A7C5-BEA8-6309FBB3A8B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2E309ED-1327-509E-CE8D-56615D4AD441}"/>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688819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2228-253C-1AC6-934B-72A4CD4F70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E771876-EDAC-A325-CC6B-D2D41598D2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49BBAA7-1094-CA14-CA3C-0239463AE5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3373F9-9F42-3D11-56DF-FC357E7F5E7B}"/>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6" name="Footer Placeholder 5">
            <a:extLst>
              <a:ext uri="{FF2B5EF4-FFF2-40B4-BE49-F238E27FC236}">
                <a16:creationId xmlns:a16="http://schemas.microsoft.com/office/drawing/2014/main" id="{98D514CA-FFCF-924C-216B-8EE000175F0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3C2983A-9D38-122D-5EE1-E547922C9652}"/>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531987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C2D7D-469C-41BD-F5F3-56937F16D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275E0D16-97CD-ED09-3D24-4DC97555F5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BFAAAEE-292E-18A1-B318-0E0148D9B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40CF2F-4F03-0E03-201B-627C5F25F951}"/>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6" name="Footer Placeholder 5">
            <a:extLst>
              <a:ext uri="{FF2B5EF4-FFF2-40B4-BE49-F238E27FC236}">
                <a16:creationId xmlns:a16="http://schemas.microsoft.com/office/drawing/2014/main" id="{B61CAF70-CB8D-9668-728C-ACD76E2F031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551F82D-6A3C-7AC6-0D8E-A96FCBEFA4A5}"/>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2610565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C6661-BA37-E19F-EAB0-01F5F6B29674}"/>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530EC4C-0010-2FDA-60FB-BA4026AD56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8E103EB-1506-D2EE-093C-92BFA2499FF9}"/>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5" name="Footer Placeholder 4">
            <a:extLst>
              <a:ext uri="{FF2B5EF4-FFF2-40B4-BE49-F238E27FC236}">
                <a16:creationId xmlns:a16="http://schemas.microsoft.com/office/drawing/2014/main" id="{9EFFAF0C-B4A7-065C-399B-7EF804E8C1A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23C314E-4B21-4797-A883-739275370412}"/>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2864511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8F28E3-C8E7-1FB8-16C6-6D668338A3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A620A23-3A87-AD48-3872-9644BE10F7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F00D79B-2BF1-61A6-947D-6457DACE41D9}"/>
              </a:ext>
            </a:extLst>
          </p:cNvPr>
          <p:cNvSpPr>
            <a:spLocks noGrp="1"/>
          </p:cNvSpPr>
          <p:nvPr>
            <p:ph type="dt" sz="half" idx="10"/>
          </p:nvPr>
        </p:nvSpPr>
        <p:spPr/>
        <p:txBody>
          <a:bodyPr/>
          <a:lstStyle/>
          <a:p>
            <a:fld id="{A6A8B266-FFB7-498E-B6AF-02B6749BA6FC}" type="datetimeFigureOut">
              <a:rPr lang="en-CA" smtClean="0"/>
              <a:t>2025-11-27</a:t>
            </a:fld>
            <a:endParaRPr lang="en-CA"/>
          </a:p>
        </p:txBody>
      </p:sp>
      <p:sp>
        <p:nvSpPr>
          <p:cNvPr id="5" name="Footer Placeholder 4">
            <a:extLst>
              <a:ext uri="{FF2B5EF4-FFF2-40B4-BE49-F238E27FC236}">
                <a16:creationId xmlns:a16="http://schemas.microsoft.com/office/drawing/2014/main" id="{3F7FA666-7D2F-DB0E-AD29-E837347B6F8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FEFB313-DF69-45FD-EEFD-6C6766BC282D}"/>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07619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E5FFD3-CAA3-9143-B0C0-D9C33E42B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5852676-2D2E-195C-D4E8-591A75F512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D3CFABD-7308-DEF9-F3CD-B26C2ACDFD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A8B266-FFB7-498E-B6AF-02B6749BA6FC}" type="datetimeFigureOut">
              <a:rPr lang="en-CA" smtClean="0"/>
              <a:t>2025-11-27</a:t>
            </a:fld>
            <a:endParaRPr lang="en-CA"/>
          </a:p>
        </p:txBody>
      </p:sp>
      <p:sp>
        <p:nvSpPr>
          <p:cNvPr id="5" name="Footer Placeholder 4">
            <a:extLst>
              <a:ext uri="{FF2B5EF4-FFF2-40B4-BE49-F238E27FC236}">
                <a16:creationId xmlns:a16="http://schemas.microsoft.com/office/drawing/2014/main" id="{8E410E37-3B56-D5DD-47EE-33A959BB69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0393EA59-C576-768B-783F-2FD59F7F7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E35775-963C-4D02-BA1B-BA65E38181BC}" type="slidenum">
              <a:rPr lang="en-CA" smtClean="0"/>
              <a:t>‹#›</a:t>
            </a:fld>
            <a:endParaRPr lang="en-CA"/>
          </a:p>
        </p:txBody>
      </p:sp>
    </p:spTree>
    <p:extLst>
      <p:ext uri="{BB962C8B-B14F-4D97-AF65-F5344CB8AC3E}">
        <p14:creationId xmlns:p14="http://schemas.microsoft.com/office/powerpoint/2010/main" val="428081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06C74-D1D5-8D78-2635-BE4D5EB8AB50}"/>
              </a:ext>
            </a:extLst>
          </p:cNvPr>
          <p:cNvSpPr>
            <a:spLocks noGrp="1"/>
          </p:cNvSpPr>
          <p:nvPr>
            <p:ph type="ctrTitle"/>
          </p:nvPr>
        </p:nvSpPr>
        <p:spPr>
          <a:xfrm>
            <a:off x="737419" y="1122363"/>
            <a:ext cx="9930581" cy="1168553"/>
          </a:xfrm>
        </p:spPr>
        <p:txBody>
          <a:bodyPr/>
          <a:lstStyle/>
          <a:p>
            <a:r>
              <a:rPr lang="en-US" dirty="0"/>
              <a:t>Creativity, Innovation and MVP</a:t>
            </a:r>
            <a:endParaRPr lang="en-CA" dirty="0"/>
          </a:p>
        </p:txBody>
      </p:sp>
      <p:sp>
        <p:nvSpPr>
          <p:cNvPr id="3" name="Subtitle 2">
            <a:extLst>
              <a:ext uri="{FF2B5EF4-FFF2-40B4-BE49-F238E27FC236}">
                <a16:creationId xmlns:a16="http://schemas.microsoft.com/office/drawing/2014/main" id="{6365BEDD-5F67-8B34-76C0-C9F3A11B6B1A}"/>
              </a:ext>
            </a:extLst>
          </p:cNvPr>
          <p:cNvSpPr>
            <a:spLocks noGrp="1"/>
          </p:cNvSpPr>
          <p:nvPr>
            <p:ph type="subTitle" idx="1"/>
          </p:nvPr>
        </p:nvSpPr>
        <p:spPr>
          <a:xfrm>
            <a:off x="1524000" y="2734056"/>
            <a:ext cx="9144000" cy="2706624"/>
          </a:xfrm>
        </p:spPr>
        <p:txBody>
          <a:bodyPr/>
          <a:lstStyle/>
          <a:p>
            <a:pPr indent="-1270" algn="just">
              <a:lnSpc>
                <a:spcPct val="115000"/>
              </a:lnSpc>
              <a:buNone/>
              <a:tabLst>
                <a:tab pos="685800" algn="l"/>
                <a:tab pos="5257800" algn="r"/>
              </a:tabLst>
            </a:pPr>
            <a:r>
              <a:rPr lang="en-US" sz="2400" dirty="0">
                <a:effectLst/>
                <a:latin typeface="Times New Roman" panose="02020603050405020304" pitchFamily="18" charset="0"/>
                <a:ea typeface="Times New Roman" panose="02020603050405020304" pitchFamily="18" charset="0"/>
              </a:rPr>
              <a:t>2.1 Concept of creativity, innovation and opportunity recognition </a:t>
            </a:r>
            <a:endParaRPr lang="en-CA" sz="2400" dirty="0">
              <a:effectLst/>
              <a:latin typeface="Times New Roman" panose="02020603050405020304" pitchFamily="18" charset="0"/>
              <a:ea typeface="Times New Roman" panose="02020603050405020304" pitchFamily="18" charset="0"/>
            </a:endParaRPr>
          </a:p>
          <a:p>
            <a:pPr indent="-1270" algn="just">
              <a:lnSpc>
                <a:spcPct val="115000"/>
              </a:lnSpc>
              <a:buNone/>
              <a:tabLst>
                <a:tab pos="685800" algn="l"/>
                <a:tab pos="5257800" algn="r"/>
              </a:tabLst>
            </a:pPr>
            <a:r>
              <a:rPr lang="en-US" sz="2400" dirty="0">
                <a:effectLst/>
                <a:latin typeface="Times New Roman" panose="02020603050405020304" pitchFamily="18" charset="0"/>
                <a:ea typeface="Times New Roman" panose="02020603050405020304" pitchFamily="18" charset="0"/>
              </a:rPr>
              <a:t>2.2 Sources of new business ideas and tools for idea generation </a:t>
            </a:r>
            <a:endParaRPr lang="en-CA" sz="2400" dirty="0">
              <a:effectLst/>
              <a:latin typeface="Times New Roman" panose="02020603050405020304" pitchFamily="18" charset="0"/>
              <a:ea typeface="Times New Roman" panose="02020603050405020304" pitchFamily="18" charset="0"/>
            </a:endParaRPr>
          </a:p>
          <a:p>
            <a:pPr indent="-1270" algn="just">
              <a:lnSpc>
                <a:spcPct val="115000"/>
              </a:lnSpc>
              <a:buNone/>
              <a:tabLst>
                <a:tab pos="685800" algn="l"/>
                <a:tab pos="5257800" algn="r"/>
              </a:tabLst>
            </a:pPr>
            <a:r>
              <a:rPr lang="en-US" sz="2400" dirty="0">
                <a:effectLst/>
                <a:latin typeface="Times New Roman" panose="02020603050405020304" pitchFamily="18" charset="0"/>
                <a:ea typeface="Times New Roman" panose="02020603050405020304" pitchFamily="18" charset="0"/>
              </a:rPr>
              <a:t>2.3 Types of innovation: product, process, and business model </a:t>
            </a:r>
            <a:endParaRPr lang="en-CA" dirty="0">
              <a:latin typeface="Times New Roman" panose="02020603050405020304" pitchFamily="18" charset="0"/>
              <a:ea typeface="Times New Roman" panose="02020603050405020304" pitchFamily="18" charset="0"/>
            </a:endParaRPr>
          </a:p>
          <a:p>
            <a:pPr indent="-1270" algn="just">
              <a:lnSpc>
                <a:spcPct val="115000"/>
              </a:lnSpc>
              <a:buNone/>
              <a:tabLst>
                <a:tab pos="685800" algn="l"/>
                <a:tab pos="5257800" algn="r"/>
              </a:tabLst>
            </a:pPr>
            <a:r>
              <a:rPr lang="en-US" sz="2400" dirty="0">
                <a:effectLst/>
                <a:latin typeface="Times New Roman" panose="02020603050405020304" pitchFamily="18" charset="0"/>
                <a:ea typeface="Times New Roman" panose="02020603050405020304" pitchFamily="18" charset="0"/>
              </a:rPr>
              <a:t>2.4 Value proposition and minimum viable product (MVP) </a:t>
            </a:r>
            <a:endParaRPr lang="en-CA" dirty="0"/>
          </a:p>
        </p:txBody>
      </p:sp>
    </p:spTree>
    <p:extLst>
      <p:ext uri="{BB962C8B-B14F-4D97-AF65-F5344CB8AC3E}">
        <p14:creationId xmlns:p14="http://schemas.microsoft.com/office/powerpoint/2010/main" val="2943904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57327-1F1B-1EDF-27EA-4FE50F3B6D8D}"/>
              </a:ext>
            </a:extLst>
          </p:cNvPr>
          <p:cNvSpPr>
            <a:spLocks noGrp="1"/>
          </p:cNvSpPr>
          <p:nvPr>
            <p:ph type="title"/>
          </p:nvPr>
        </p:nvSpPr>
        <p:spPr/>
        <p:txBody>
          <a:bodyPr/>
          <a:lstStyle/>
          <a:p>
            <a:r>
              <a:rPr lang="en-US" dirty="0"/>
              <a:t>Concept of creativity </a:t>
            </a:r>
            <a:endParaRPr lang="en-CA" dirty="0"/>
          </a:p>
        </p:txBody>
      </p:sp>
      <p:sp>
        <p:nvSpPr>
          <p:cNvPr id="3" name="Content Placeholder 2">
            <a:extLst>
              <a:ext uri="{FF2B5EF4-FFF2-40B4-BE49-F238E27FC236}">
                <a16:creationId xmlns:a16="http://schemas.microsoft.com/office/drawing/2014/main" id="{E442446C-3CD1-E8AB-2B80-B20564C95417}"/>
              </a:ext>
            </a:extLst>
          </p:cNvPr>
          <p:cNvSpPr>
            <a:spLocks noGrp="1"/>
          </p:cNvSpPr>
          <p:nvPr>
            <p:ph idx="1"/>
          </p:nvPr>
        </p:nvSpPr>
        <p:spPr>
          <a:xfrm>
            <a:off x="838200" y="1362456"/>
            <a:ext cx="10515600" cy="5321808"/>
          </a:xfrm>
        </p:spPr>
        <p:txBody>
          <a:bodyPr>
            <a:normAutofit fontScale="92500" lnSpcReduction="20000"/>
          </a:bodyPr>
          <a:lstStyle/>
          <a:p>
            <a:r>
              <a:rPr lang="en-CA" dirty="0"/>
              <a:t>Creativity refers to the generation of new ideas that should support for the improvement of efficiency and effectiveness of organizational system and performance. It is the tendency to generate and recognize ideas, alternatives that may be useful in solving problems and can be communicated with others for implementation. It is the ability of individuals to bring something new into existence that would be valued by the society. A creative person is the one who can generate new alternatives and proposes useful idea for solution of organizational problems and issues.</a:t>
            </a:r>
          </a:p>
          <a:p>
            <a:r>
              <a:rPr lang="en-CA" dirty="0"/>
              <a:t>According to Zimmerer and Scarborough, "Creativity is the ability to develop new ideas and to discover new ways of looking at problems and opportunities."</a:t>
            </a:r>
          </a:p>
          <a:p>
            <a:r>
              <a:rPr lang="en-CA" dirty="0"/>
              <a:t>According to Donald F. </a:t>
            </a:r>
            <a:r>
              <a:rPr lang="en-CA" dirty="0" err="1"/>
              <a:t>Kurako</a:t>
            </a:r>
            <a:r>
              <a:rPr lang="en-CA" dirty="0"/>
              <a:t>, "Creativity is the generation of ideas that result in the improved efficiency or effectiveness of a system."</a:t>
            </a:r>
          </a:p>
          <a:p>
            <a:r>
              <a:rPr lang="en-CA" dirty="0"/>
              <a:t>Barringer and Ireland defined, "Creativity is the process of generating a novel or useful idea. Opportunity recognition may be, at least in part, a creative process."</a:t>
            </a:r>
          </a:p>
        </p:txBody>
      </p:sp>
    </p:spTree>
    <p:extLst>
      <p:ext uri="{BB962C8B-B14F-4D97-AF65-F5344CB8AC3E}">
        <p14:creationId xmlns:p14="http://schemas.microsoft.com/office/powerpoint/2010/main" val="33930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5A214-6799-3A90-061C-87ECC17009A3}"/>
              </a:ext>
            </a:extLst>
          </p:cNvPr>
          <p:cNvSpPr>
            <a:spLocks noGrp="1"/>
          </p:cNvSpPr>
          <p:nvPr>
            <p:ph type="title"/>
          </p:nvPr>
        </p:nvSpPr>
        <p:spPr>
          <a:xfrm>
            <a:off x="838200" y="365125"/>
            <a:ext cx="10515600" cy="5492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F49B16A-0C3D-CA64-7131-E025F8261D4B}"/>
              </a:ext>
            </a:extLst>
          </p:cNvPr>
          <p:cNvSpPr>
            <a:spLocks noGrp="1"/>
          </p:cNvSpPr>
          <p:nvPr>
            <p:ph idx="1"/>
          </p:nvPr>
        </p:nvSpPr>
        <p:spPr>
          <a:xfrm>
            <a:off x="838200" y="1289304"/>
            <a:ext cx="10515600" cy="4887659"/>
          </a:xfrm>
        </p:spPr>
        <p:txBody>
          <a:bodyPr>
            <a:normAutofit lnSpcReduction="10000"/>
          </a:bodyPr>
          <a:lstStyle/>
          <a:p>
            <a:r>
              <a:rPr lang="en-CA" dirty="0"/>
              <a:t>Successful entrepreneurs come up with ideas and then find ways to make them work to solve a problem or to fill a need. In order to be creative, persons should be able to view things in new way and also from a different perspective. They need to generate new possibilities and new alternatives for solution of work-related problems and issues. The test of creativity can be measured not only the number of alternatives that people can generate but the uniqueness of those alternatives.</a:t>
            </a:r>
          </a:p>
          <a:p>
            <a:r>
              <a:rPr lang="en-CA" dirty="0"/>
              <a:t>In this competitive, fast faced, global economy, creativity is not only an important source for building a competitive advantage, but it also is necessary for survival. Creativity is the outcome of open, fair and original thinking of intellectual individuals. It is based on mental vision, imagination and observation of subject matters concerned. </a:t>
            </a:r>
          </a:p>
        </p:txBody>
      </p:sp>
    </p:spTree>
    <p:extLst>
      <p:ext uri="{BB962C8B-B14F-4D97-AF65-F5344CB8AC3E}">
        <p14:creationId xmlns:p14="http://schemas.microsoft.com/office/powerpoint/2010/main" val="6287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8F308-B999-276E-9340-91726CEE027D}"/>
              </a:ext>
            </a:extLst>
          </p:cNvPr>
          <p:cNvSpPr>
            <a:spLocks noGrp="1"/>
          </p:cNvSpPr>
          <p:nvPr>
            <p:ph type="title"/>
          </p:nvPr>
        </p:nvSpPr>
        <p:spPr>
          <a:xfrm>
            <a:off x="838200" y="768096"/>
            <a:ext cx="10515600" cy="603504"/>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b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Key Aspects of Creativity in Entrepreneurship:</a:t>
            </a:r>
            <a:b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4A042A39-2667-F034-F5B4-FB8ADFE6F573}"/>
              </a:ext>
            </a:extLst>
          </p:cNvPr>
          <p:cNvSpPr>
            <a:spLocks noGrp="1"/>
          </p:cNvSpPr>
          <p:nvPr>
            <p:ph idx="1"/>
          </p:nvPr>
        </p:nvSpPr>
        <p:spPr>
          <a:xfrm>
            <a:off x="838200" y="1289304"/>
            <a:ext cx="10515600" cy="4887659"/>
          </a:xfrm>
        </p:spPr>
        <p:txBody>
          <a:bodyPr>
            <a:normAutofit fontScale="92500" lnSpcReduction="20000"/>
          </a:bodyPr>
          <a:lstStyle/>
          <a:p>
            <a:pPr>
              <a:buFont typeface="+mj-lt"/>
              <a:buAutoNum type="arabicPeriod"/>
            </a:pPr>
            <a:r>
              <a:rPr lang="en-US" b="1" dirty="0"/>
              <a:t>Innovation and Problem-Solving</a:t>
            </a:r>
            <a:br>
              <a:rPr lang="en-US" dirty="0"/>
            </a:br>
            <a:r>
              <a:rPr lang="en-US" dirty="0"/>
              <a:t>Creativity allows entrepreneurs to identify unique solutions to existing problems or uncover opportunities in unmet needs. The relationship between creativity and innovation is sequential and interdependent.   Creativity is the necessary starting point and the foundation for innovation, while innovation is the successful implementation of creative ideas to create value.</a:t>
            </a:r>
          </a:p>
          <a:p>
            <a:pPr>
              <a:buFont typeface="+mj-lt"/>
              <a:buAutoNum type="arabicPeriod"/>
            </a:pPr>
            <a:r>
              <a:rPr lang="en-US" b="1" dirty="0"/>
              <a:t>Product and Service Development</a:t>
            </a:r>
            <a:br>
              <a:rPr lang="en-US" dirty="0"/>
            </a:br>
            <a:r>
              <a:rPr lang="en-US" dirty="0"/>
              <a:t>Creativity is critical in developing new products or services that attract target customers. Entrepreneurs often rely on creative thinking to design offerings that are functional, artistically pleasing, and user-friendly.</a:t>
            </a:r>
          </a:p>
          <a:p>
            <a:pPr>
              <a:buFont typeface="+mj-lt"/>
              <a:buAutoNum type="arabicPeriod"/>
            </a:pPr>
            <a:r>
              <a:rPr lang="en-US" b="1" dirty="0"/>
              <a:t>Differentiation in the Market</a:t>
            </a:r>
            <a:br>
              <a:rPr lang="en-US" dirty="0"/>
            </a:br>
            <a:r>
              <a:rPr lang="en-US" dirty="0"/>
              <a:t>A creative approach helps businesses stand out in saturated markets. By building a unique brand, marketing in clever ways, or giving customers a great experience, a business can create its own special place in the market..</a:t>
            </a:r>
          </a:p>
          <a:p>
            <a:endParaRPr lang="en-CA" dirty="0"/>
          </a:p>
        </p:txBody>
      </p:sp>
    </p:spTree>
    <p:extLst>
      <p:ext uri="{BB962C8B-B14F-4D97-AF65-F5344CB8AC3E}">
        <p14:creationId xmlns:p14="http://schemas.microsoft.com/office/powerpoint/2010/main" val="2400688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5396C-2855-1C7E-AF79-20FABA1E5347}"/>
              </a:ext>
            </a:extLst>
          </p:cNvPr>
          <p:cNvSpPr>
            <a:spLocks noGrp="1"/>
          </p:cNvSpPr>
          <p:nvPr>
            <p:ph type="title"/>
          </p:nvPr>
        </p:nvSpPr>
        <p:spPr>
          <a:xfrm>
            <a:off x="838200" y="365125"/>
            <a:ext cx="10515600" cy="53098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1A05C4F-093E-CEA2-2FDA-845DEB397392}"/>
              </a:ext>
            </a:extLst>
          </p:cNvPr>
          <p:cNvSpPr>
            <a:spLocks noGrp="1"/>
          </p:cNvSpPr>
          <p:nvPr>
            <p:ph idx="1"/>
          </p:nvPr>
        </p:nvSpPr>
        <p:spPr>
          <a:xfrm>
            <a:off x="838200" y="1188720"/>
            <a:ext cx="10515600" cy="4887659"/>
          </a:xfrm>
        </p:spPr>
        <p:txBody>
          <a:bodyPr>
            <a:normAutofit fontScale="92500"/>
          </a:bodyPr>
          <a:lstStyle/>
          <a:p>
            <a:pPr marL="0" indent="0">
              <a:buNone/>
            </a:pPr>
            <a:r>
              <a:rPr lang="en-US" b="1" dirty="0"/>
              <a:t>4.Adaptability and Flexibility</a:t>
            </a:r>
            <a:br>
              <a:rPr lang="en-US" dirty="0"/>
            </a:br>
            <a:r>
              <a:rPr lang="en-US" dirty="0"/>
              <a:t>Creativity allows entrepreneurs to adapt when faced with challenges. When things get tough, creativity helps business owners find smart, new solutions instead of giving up.</a:t>
            </a:r>
          </a:p>
          <a:p>
            <a:pPr marL="0" indent="0">
              <a:buNone/>
            </a:pPr>
            <a:r>
              <a:rPr lang="en-US" dirty="0"/>
              <a:t>5.Organizational Culture</a:t>
            </a:r>
            <a:br>
              <a:rPr lang="en-US" dirty="0"/>
            </a:br>
            <a:r>
              <a:rPr lang="en-US" dirty="0"/>
              <a:t>Entrepreneurs who foster a creative environment within their organizations encourage employees to contribute ideas, challenge norms, and experiment. This can lead to a continuous cycle of innovation and improvement.</a:t>
            </a:r>
          </a:p>
          <a:p>
            <a:pPr marL="0" indent="0">
              <a:buNone/>
            </a:pPr>
            <a:r>
              <a:rPr lang="en-US" b="1" dirty="0"/>
              <a:t>6.Risk-Taking and Vision</a:t>
            </a:r>
            <a:br>
              <a:rPr lang="en-US" dirty="0"/>
            </a:br>
            <a:r>
              <a:rPr lang="en-US" dirty="0"/>
              <a:t>Creativity is closely linked to the willingness to take calculated risks and envision possibilities others may not see. Entrepreneurs often rely on their creative insights to anticipate trends or disrupt traditional business models.</a:t>
            </a:r>
          </a:p>
          <a:p>
            <a:endParaRPr lang="en-CA" dirty="0"/>
          </a:p>
        </p:txBody>
      </p:sp>
    </p:spTree>
    <p:extLst>
      <p:ext uri="{BB962C8B-B14F-4D97-AF65-F5344CB8AC3E}">
        <p14:creationId xmlns:p14="http://schemas.microsoft.com/office/powerpoint/2010/main" val="430691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014EE-1178-D9B1-FD11-9094592B7B3C}"/>
              </a:ext>
            </a:extLst>
          </p:cNvPr>
          <p:cNvSpPr>
            <a:spLocks noGrp="1"/>
          </p:cNvSpPr>
          <p:nvPr>
            <p:ph type="title"/>
          </p:nvPr>
        </p:nvSpPr>
        <p:spPr/>
        <p:txBody>
          <a:bodyPr/>
          <a:lstStyle/>
          <a:p>
            <a:r>
              <a:rPr lang="en-US" dirty="0"/>
              <a:t>Concept of innovation </a:t>
            </a:r>
            <a:endParaRPr lang="en-CA" dirty="0"/>
          </a:p>
        </p:txBody>
      </p:sp>
      <p:sp>
        <p:nvSpPr>
          <p:cNvPr id="3" name="Content Placeholder 2">
            <a:extLst>
              <a:ext uri="{FF2B5EF4-FFF2-40B4-BE49-F238E27FC236}">
                <a16:creationId xmlns:a16="http://schemas.microsoft.com/office/drawing/2014/main" id="{3555AD79-23A6-D80A-905F-50D38F113614}"/>
              </a:ext>
            </a:extLst>
          </p:cNvPr>
          <p:cNvSpPr>
            <a:spLocks noGrp="1"/>
          </p:cNvSpPr>
          <p:nvPr>
            <p:ph idx="1"/>
          </p:nvPr>
        </p:nvSpPr>
        <p:spPr/>
        <p:txBody>
          <a:bodyPr>
            <a:normAutofit fontScale="85000" lnSpcReduction="20000"/>
          </a:bodyPr>
          <a:lstStyle/>
          <a:p>
            <a:r>
              <a:rPr lang="en-US" dirty="0"/>
              <a:t>Innovation refers to the generation of a new idea and its implementation into a new products or service that can create value to the customers. In other words, innovation is the process of translating an idea or invention into goods or service that creates value for which consumers pay. Innovation involves purposeful application of information, imagination and initiative in deriving greater values from resources. It includes all processes by which new ideas are generated and converted into useful products and services.</a:t>
            </a:r>
          </a:p>
          <a:p>
            <a:r>
              <a:rPr lang="en-US" dirty="0"/>
              <a:t>According to Zimmerer and Scarborough, “Innovation is the ability to apply creative solutions to problems and opportunities to enhance or to enrich people’s live.” </a:t>
            </a:r>
          </a:p>
          <a:p>
            <a:r>
              <a:rPr lang="en-US" dirty="0"/>
              <a:t>David Burkus defined, “Innovation is the application of ideas that are novel and useful.” According to business dictionary, “Innovation is the process of translating an idea or invention into a good or service that creates value or for which customers will pay.”</a:t>
            </a:r>
          </a:p>
          <a:p>
            <a:endParaRPr lang="en-CA" dirty="0"/>
          </a:p>
        </p:txBody>
      </p:sp>
    </p:spTree>
    <p:extLst>
      <p:ext uri="{BB962C8B-B14F-4D97-AF65-F5344CB8AC3E}">
        <p14:creationId xmlns:p14="http://schemas.microsoft.com/office/powerpoint/2010/main" val="2850413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5151D-B57A-D043-2F0B-3F6266E305D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3B7DF8C-F868-A82A-18AE-16E130746C10}"/>
              </a:ext>
            </a:extLst>
          </p:cNvPr>
          <p:cNvSpPr>
            <a:spLocks noGrp="1"/>
          </p:cNvSpPr>
          <p:nvPr>
            <p:ph idx="1"/>
          </p:nvPr>
        </p:nvSpPr>
        <p:spPr/>
        <p:txBody>
          <a:bodyPr>
            <a:normAutofit/>
          </a:bodyPr>
          <a:lstStyle/>
          <a:p>
            <a:r>
              <a:rPr lang="en-US" dirty="0"/>
              <a:t>Innovation is the outcome of individual creativity. In business, innovation often results when ideas are applied by the company in order to further satisfy the needs and expectations of the customers. It is one of the most important functions of an entrepreneur. An entrepreneur needs to use information, knowledge and experience for introduction of new products, new method of reducing cost, and improvement in product design.</a:t>
            </a:r>
          </a:p>
          <a:p>
            <a:endParaRPr lang="en-CA" dirty="0"/>
          </a:p>
        </p:txBody>
      </p:sp>
    </p:spTree>
    <p:extLst>
      <p:ext uri="{BB962C8B-B14F-4D97-AF65-F5344CB8AC3E}">
        <p14:creationId xmlns:p14="http://schemas.microsoft.com/office/powerpoint/2010/main" val="856729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4CFB6-5EE5-527E-D39A-5807343AE901}"/>
              </a:ext>
            </a:extLst>
          </p:cNvPr>
          <p:cNvSpPr>
            <a:spLocks noGrp="1"/>
          </p:cNvSpPr>
          <p:nvPr>
            <p:ph type="title"/>
          </p:nvPr>
        </p:nvSpPr>
        <p:spPr>
          <a:xfrm>
            <a:off x="838200" y="365125"/>
            <a:ext cx="10515600" cy="22923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DC064F4-EBF2-A3DF-C145-1697B8A9731C}"/>
              </a:ext>
            </a:extLst>
          </p:cNvPr>
          <p:cNvSpPr>
            <a:spLocks noGrp="1"/>
          </p:cNvSpPr>
          <p:nvPr>
            <p:ph idx="1"/>
          </p:nvPr>
        </p:nvSpPr>
        <p:spPr>
          <a:xfrm>
            <a:off x="838200" y="1024128"/>
            <a:ext cx="10515600" cy="5152835"/>
          </a:xfrm>
        </p:spPr>
        <p:txBody>
          <a:bodyPr/>
          <a:lstStyle/>
          <a:p>
            <a:r>
              <a:rPr lang="en-US" dirty="0"/>
              <a:t>Innovations create bigger opportunities and are vital for the survival, economic growth, and success of a business organization. Innovation helps for developing original concepts and is a means of optimum use of resources. Companies that innovate are able to set the organization in a different pattern in order to identify new opportunities and best methods to solve current problems. In order to realize innovation, manager should be open-minded and collaborative. Feeling comfortable with uncertainty and manage changes are behavioral components to innovate. Innovative managers should be curious and optimistic since they need to face challenge by taking risks.</a:t>
            </a:r>
          </a:p>
          <a:p>
            <a:endParaRPr lang="en-CA" dirty="0"/>
          </a:p>
        </p:txBody>
      </p:sp>
    </p:spTree>
    <p:extLst>
      <p:ext uri="{BB962C8B-B14F-4D97-AF65-F5344CB8AC3E}">
        <p14:creationId xmlns:p14="http://schemas.microsoft.com/office/powerpoint/2010/main" val="3433294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D09C-A4C2-81A4-0B00-3810564F5C28}"/>
              </a:ext>
            </a:extLst>
          </p:cNvPr>
          <p:cNvSpPr>
            <a:spLocks noGrp="1"/>
          </p:cNvSpPr>
          <p:nvPr>
            <p:ph type="title"/>
          </p:nvPr>
        </p:nvSpPr>
        <p:spPr/>
        <p:txBody>
          <a:bodyPr>
            <a:normAutofit fontScale="90000"/>
          </a:bodyPr>
          <a:lstStyle/>
          <a:p>
            <a:r>
              <a:rPr lang="en-US" b="1" dirty="0"/>
              <a:t>Key Elements of Innovation in Entrepreneurship:</a:t>
            </a:r>
            <a:br>
              <a:rPr lang="en-US" b="1" dirty="0"/>
            </a:br>
            <a:endParaRPr lang="en-CA" dirty="0"/>
          </a:p>
        </p:txBody>
      </p:sp>
      <p:sp>
        <p:nvSpPr>
          <p:cNvPr id="3" name="Content Placeholder 2">
            <a:extLst>
              <a:ext uri="{FF2B5EF4-FFF2-40B4-BE49-F238E27FC236}">
                <a16:creationId xmlns:a16="http://schemas.microsoft.com/office/drawing/2014/main" id="{9091C0B6-AEEE-126B-B10F-AE33B2690F65}"/>
              </a:ext>
            </a:extLst>
          </p:cNvPr>
          <p:cNvSpPr>
            <a:spLocks noGrp="1"/>
          </p:cNvSpPr>
          <p:nvPr>
            <p:ph idx="1"/>
          </p:nvPr>
        </p:nvSpPr>
        <p:spPr>
          <a:xfrm>
            <a:off x="838200" y="1303020"/>
            <a:ext cx="10515600" cy="5390388"/>
          </a:xfrm>
        </p:spPr>
        <p:txBody>
          <a:bodyPr>
            <a:normAutofit fontScale="92500" lnSpcReduction="20000"/>
          </a:bodyPr>
          <a:lstStyle/>
          <a:p>
            <a:pPr>
              <a:buFont typeface="+mj-lt"/>
              <a:buAutoNum type="arabicPeriod"/>
            </a:pPr>
            <a:r>
              <a:rPr lang="en-US" b="1" dirty="0"/>
              <a:t>Creation of Novel Solutions</a:t>
            </a:r>
            <a:br>
              <a:rPr lang="en-US" dirty="0"/>
            </a:br>
            <a:r>
              <a:rPr lang="en-US" dirty="0"/>
              <a:t>Innovation involves generating ideas that are new or significantly improved, addressing existing gaps, or meeting unmet needs in the market.</a:t>
            </a:r>
          </a:p>
          <a:p>
            <a:pPr>
              <a:buFont typeface="+mj-lt"/>
              <a:buAutoNum type="arabicPeriod"/>
            </a:pPr>
            <a:r>
              <a:rPr lang="en-US" b="1" dirty="0"/>
              <a:t>Value Addition</a:t>
            </a:r>
            <a:br>
              <a:rPr lang="en-US" dirty="0"/>
            </a:br>
            <a:r>
              <a:rPr lang="en-US" dirty="0"/>
              <a:t>The primary aim of innovation is to add value—whether it's enhancing customer experiences, reducing costs, or increasing productivity.</a:t>
            </a:r>
          </a:p>
          <a:p>
            <a:pPr>
              <a:buFont typeface="+mj-lt"/>
              <a:buAutoNum type="arabicPeriod"/>
            </a:pPr>
            <a:r>
              <a:rPr lang="en-US" b="1" dirty="0"/>
              <a:t>Implementation</a:t>
            </a:r>
            <a:br>
              <a:rPr lang="en-US" dirty="0"/>
            </a:br>
            <a:r>
              <a:rPr lang="en-US" dirty="0"/>
              <a:t>Innovation isn't just about coming up with ideas; it also involves executing those ideas effectively. This step turns concepts into tangible, impactful outcomes.</a:t>
            </a:r>
          </a:p>
          <a:p>
            <a:pPr>
              <a:buFont typeface="+mj-lt"/>
              <a:buAutoNum type="arabicPeriod"/>
            </a:pPr>
            <a:r>
              <a:rPr lang="en-US" b="1" dirty="0"/>
              <a:t>Problem-Solving</a:t>
            </a:r>
            <a:br>
              <a:rPr lang="en-US" dirty="0"/>
            </a:br>
            <a:r>
              <a:rPr lang="en-US" dirty="0"/>
              <a:t>Many innovations are born from the need to solve specific problems, whether they are faced by customers, businesses, or society at large.</a:t>
            </a:r>
          </a:p>
          <a:p>
            <a:pPr>
              <a:buFont typeface="+mj-lt"/>
              <a:buAutoNum type="arabicPeriod"/>
            </a:pPr>
            <a:r>
              <a:rPr lang="en-US" b="1" dirty="0"/>
              <a:t>Continuous Improvement</a:t>
            </a:r>
            <a:br>
              <a:rPr lang="en-US" dirty="0"/>
            </a:br>
            <a:r>
              <a:rPr lang="en-US" dirty="0"/>
              <a:t>Innovation often involves ongoing refinement and adaptation to changing circumstances, ensuring long-term relevance and impact.</a:t>
            </a:r>
          </a:p>
          <a:p>
            <a:endParaRPr lang="en-CA" dirty="0"/>
          </a:p>
        </p:txBody>
      </p:sp>
    </p:spTree>
    <p:extLst>
      <p:ext uri="{BB962C8B-B14F-4D97-AF65-F5344CB8AC3E}">
        <p14:creationId xmlns:p14="http://schemas.microsoft.com/office/powerpoint/2010/main" val="360706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17D32-F085-2F74-0120-C2FC212D8AB7}"/>
              </a:ext>
            </a:extLst>
          </p:cNvPr>
          <p:cNvSpPr>
            <a:spLocks noGrp="1"/>
          </p:cNvSpPr>
          <p:nvPr>
            <p:ph type="title"/>
          </p:nvPr>
        </p:nvSpPr>
        <p:spPr>
          <a:xfrm>
            <a:off x="838200" y="806245"/>
            <a:ext cx="10515600" cy="884443"/>
          </a:xfrm>
        </p:spPr>
        <p:txBody>
          <a:bodyPr>
            <a:normAutofit fontScale="90000"/>
          </a:bodyPr>
          <a:lstStyle/>
          <a:p>
            <a:r>
              <a:rPr lang="en-US" dirty="0"/>
              <a:t>Types of Innovation in Entrepreneurship:</a:t>
            </a:r>
            <a:br>
              <a:rPr lang="en-US" dirty="0"/>
            </a:br>
            <a:endParaRPr lang="en-CA" dirty="0"/>
          </a:p>
        </p:txBody>
      </p:sp>
      <p:sp>
        <p:nvSpPr>
          <p:cNvPr id="3" name="Content Placeholder 2">
            <a:extLst>
              <a:ext uri="{FF2B5EF4-FFF2-40B4-BE49-F238E27FC236}">
                <a16:creationId xmlns:a16="http://schemas.microsoft.com/office/drawing/2014/main" id="{EE2CB4E4-24A7-9E29-DE6D-33EDA5DC81F2}"/>
              </a:ext>
            </a:extLst>
          </p:cNvPr>
          <p:cNvSpPr>
            <a:spLocks noGrp="1"/>
          </p:cNvSpPr>
          <p:nvPr>
            <p:ph idx="1"/>
          </p:nvPr>
        </p:nvSpPr>
        <p:spPr>
          <a:xfrm>
            <a:off x="182880" y="1252728"/>
            <a:ext cx="11818620" cy="5513832"/>
          </a:xfrm>
        </p:spPr>
        <p:txBody>
          <a:bodyPr>
            <a:normAutofit fontScale="85000" lnSpcReduction="20000"/>
          </a:bodyPr>
          <a:lstStyle/>
          <a:p>
            <a:pPr>
              <a:buFont typeface="+mj-lt"/>
              <a:buAutoNum type="arabicPeriod"/>
            </a:pPr>
            <a:r>
              <a:rPr lang="en-US" b="1" dirty="0"/>
              <a:t>Product Innovation</a:t>
            </a:r>
            <a:br>
              <a:rPr lang="en-US" dirty="0"/>
            </a:br>
            <a:r>
              <a:rPr lang="en-US" dirty="0"/>
              <a:t>New products involve unique products that are introduced by the entrepreneurs through innovation of new ideas. New products can be classified from the two perspectives consisting of consumers point of view and firms' point of view. In both cases, the main motive of entrepreneurs is to launch the product in successful way to fulfill business objective. </a:t>
            </a:r>
          </a:p>
          <a:p>
            <a:pPr>
              <a:buFont typeface="+mj-lt"/>
              <a:buAutoNum type="arabicPeriod"/>
            </a:pPr>
            <a:r>
              <a:rPr lang="en-US" b="1" dirty="0"/>
              <a:t>Service Innovation</a:t>
            </a:r>
            <a:br>
              <a:rPr lang="en-US" dirty="0"/>
            </a:br>
            <a:r>
              <a:rPr lang="en-US" dirty="0"/>
              <a:t>Introducing new or enhanced services, such as online food delivery platforms or subscription-based business models.</a:t>
            </a:r>
          </a:p>
          <a:p>
            <a:pPr>
              <a:buFont typeface="+mj-lt"/>
              <a:buAutoNum type="arabicPeriod"/>
            </a:pPr>
            <a:r>
              <a:rPr lang="en-US" b="1" dirty="0"/>
              <a:t>Process Innovation</a:t>
            </a:r>
            <a:br>
              <a:rPr lang="en-US" dirty="0"/>
            </a:br>
            <a:r>
              <a:rPr lang="en-US" dirty="0"/>
              <a:t>Improving internal processes to increase efficiency or reduce costs, such as using automation in manufacturing or adopting agile project management.</a:t>
            </a:r>
          </a:p>
          <a:p>
            <a:pPr>
              <a:buFont typeface="+mj-lt"/>
              <a:buAutoNum type="arabicPeriod"/>
            </a:pPr>
            <a:r>
              <a:rPr lang="en-US" b="1" dirty="0"/>
              <a:t>Business Model Innovation</a:t>
            </a:r>
            <a:br>
              <a:rPr lang="en-US" dirty="0"/>
            </a:br>
            <a:r>
              <a:rPr lang="en-US" dirty="0"/>
              <a:t>Changing the way a business operates, delivers value, or generates revenue, as seen in the shift from physical retail stores to e-commerce.</a:t>
            </a:r>
          </a:p>
          <a:p>
            <a:pPr>
              <a:buFont typeface="+mj-lt"/>
              <a:buAutoNum type="arabicPeriod"/>
            </a:pPr>
            <a:r>
              <a:rPr lang="en-US" b="1" dirty="0"/>
              <a:t>Social Innovation</a:t>
            </a:r>
            <a:br>
              <a:rPr lang="en-US" dirty="0"/>
            </a:br>
            <a:r>
              <a:rPr lang="en-US" dirty="0"/>
              <a:t>Addressing social or environmental challenges through entrepreneurial efforts, such as sustainable energy solutions or affordable healthcare innovations.</a:t>
            </a:r>
          </a:p>
          <a:p>
            <a:endParaRPr lang="en-CA" dirty="0"/>
          </a:p>
        </p:txBody>
      </p:sp>
    </p:spTree>
    <p:extLst>
      <p:ext uri="{BB962C8B-B14F-4D97-AF65-F5344CB8AC3E}">
        <p14:creationId xmlns:p14="http://schemas.microsoft.com/office/powerpoint/2010/main" val="4097513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4E79D-4548-1018-34C9-B4D6D5A3A50B}"/>
              </a:ext>
            </a:extLst>
          </p:cNvPr>
          <p:cNvSpPr>
            <a:spLocks noGrp="1"/>
          </p:cNvSpPr>
          <p:nvPr>
            <p:ph type="title"/>
          </p:nvPr>
        </p:nvSpPr>
        <p:spPr>
          <a:xfrm>
            <a:off x="838200" y="365126"/>
            <a:ext cx="10515600" cy="315912"/>
          </a:xfrm>
        </p:spPr>
        <p:txBody>
          <a:bodyPr>
            <a:normAutofit fontScale="90000"/>
          </a:bodyPr>
          <a:lstStyle/>
          <a:p>
            <a:r>
              <a:rPr lang="en-US" dirty="0"/>
              <a:t>Product innovation </a:t>
            </a:r>
            <a:endParaRPr lang="en-CA" dirty="0"/>
          </a:p>
        </p:txBody>
      </p:sp>
      <p:sp>
        <p:nvSpPr>
          <p:cNvPr id="3" name="Content Placeholder 2">
            <a:extLst>
              <a:ext uri="{FF2B5EF4-FFF2-40B4-BE49-F238E27FC236}">
                <a16:creationId xmlns:a16="http://schemas.microsoft.com/office/drawing/2014/main" id="{D1DAF6A4-267C-7A15-8E24-2821F51A0A85}"/>
              </a:ext>
            </a:extLst>
          </p:cNvPr>
          <p:cNvSpPr>
            <a:spLocks noGrp="1"/>
          </p:cNvSpPr>
          <p:nvPr>
            <p:ph idx="1"/>
          </p:nvPr>
        </p:nvSpPr>
        <p:spPr>
          <a:xfrm>
            <a:off x="838200" y="1069848"/>
            <a:ext cx="10515600" cy="5107115"/>
          </a:xfrm>
        </p:spPr>
        <p:txBody>
          <a:bodyPr>
            <a:normAutofit fontScale="92500" lnSpcReduction="10000"/>
          </a:bodyPr>
          <a:lstStyle/>
          <a:p>
            <a:r>
              <a:rPr lang="en-CA" b="1" dirty="0"/>
              <a:t>Product innovation</a:t>
            </a:r>
            <a:r>
              <a:rPr lang="en-CA" dirty="0"/>
              <a:t> is the process of creating and introducing a good or service that is </a:t>
            </a:r>
            <a:r>
              <a:rPr lang="en-CA" b="1" dirty="0"/>
              <a:t>new</a:t>
            </a:r>
            <a:r>
              <a:rPr lang="en-CA" dirty="0"/>
              <a:t> to the market or a </a:t>
            </a:r>
            <a:r>
              <a:rPr lang="en-CA" b="1" dirty="0"/>
              <a:t>significantly improved</a:t>
            </a:r>
            <a:r>
              <a:rPr lang="en-CA" dirty="0"/>
              <a:t> version of an existing product.</a:t>
            </a:r>
          </a:p>
          <a:p>
            <a:r>
              <a:rPr lang="en-CA" dirty="0"/>
              <a:t>It is the practical application of a </a:t>
            </a:r>
            <a:r>
              <a:rPr lang="en-CA" b="1" dirty="0"/>
              <a:t>creative idea</a:t>
            </a:r>
            <a:r>
              <a:rPr lang="en-CA" dirty="0"/>
              <a:t> (which your previous text defined as </a:t>
            </a:r>
            <a:r>
              <a:rPr lang="en-CA" b="1" dirty="0"/>
              <a:t>creativity</a:t>
            </a:r>
            <a:r>
              <a:rPr lang="en-CA" dirty="0"/>
              <a:t>) that results in something tangible or serviceable that creates </a:t>
            </a:r>
            <a:r>
              <a:rPr lang="en-CA" b="1" dirty="0"/>
              <a:t>value</a:t>
            </a:r>
            <a:r>
              <a:rPr lang="en-CA" dirty="0"/>
              <a:t> for customers, for which they are willing to pay.</a:t>
            </a:r>
          </a:p>
          <a:p>
            <a:r>
              <a:rPr lang="en-CA" b="1" dirty="0"/>
              <a:t>Key Aspects of Product Innovation:</a:t>
            </a:r>
            <a:endParaRPr lang="en-CA" dirty="0"/>
          </a:p>
          <a:p>
            <a:pPr lvl="0"/>
            <a:r>
              <a:rPr lang="en-CA" b="1" dirty="0"/>
              <a:t>Translating Idea into Value:</a:t>
            </a:r>
            <a:r>
              <a:rPr lang="en-CA" dirty="0"/>
              <a:t> It takes the initial idea (creativity) and turns it into a commercial product or service.</a:t>
            </a:r>
          </a:p>
          <a:p>
            <a:pPr lvl="0"/>
            <a:r>
              <a:rPr lang="en-CA" b="1" dirty="0"/>
              <a:t>Creation of Value:</a:t>
            </a:r>
            <a:r>
              <a:rPr lang="en-CA" dirty="0"/>
              <a:t> The innovation must solve a problem, fill a need, or enhance a customer's life in a way that generates new value.</a:t>
            </a:r>
          </a:p>
          <a:p>
            <a:pPr lvl="0"/>
            <a:r>
              <a:rPr lang="en-CA" b="1" dirty="0"/>
              <a:t>Scope of Change:</a:t>
            </a:r>
            <a:r>
              <a:rPr lang="en-CA" dirty="0"/>
              <a:t> It includes changes in </a:t>
            </a:r>
            <a:r>
              <a:rPr lang="en-CA" b="1" dirty="0"/>
              <a:t>design</a:t>
            </a:r>
            <a:r>
              <a:rPr lang="en-CA" dirty="0"/>
              <a:t>, </a:t>
            </a:r>
            <a:r>
              <a:rPr lang="en-CA" b="1" dirty="0"/>
              <a:t>materials</a:t>
            </a:r>
            <a:r>
              <a:rPr lang="en-CA" dirty="0"/>
              <a:t>, </a:t>
            </a:r>
            <a:r>
              <a:rPr lang="en-CA" b="1" dirty="0"/>
              <a:t>technology used</a:t>
            </a:r>
            <a:r>
              <a:rPr lang="en-CA" dirty="0"/>
              <a:t>, </a:t>
            </a:r>
            <a:r>
              <a:rPr lang="en-CA" b="1" dirty="0"/>
              <a:t>features</a:t>
            </a:r>
            <a:r>
              <a:rPr lang="en-CA" dirty="0"/>
              <a:t>, </a:t>
            </a:r>
            <a:r>
              <a:rPr lang="en-CA" b="1" dirty="0"/>
              <a:t>functionality</a:t>
            </a:r>
            <a:r>
              <a:rPr lang="en-CA" dirty="0"/>
              <a:t>, and overall </a:t>
            </a:r>
            <a:r>
              <a:rPr lang="en-CA" b="1" dirty="0"/>
              <a:t>performance</a:t>
            </a:r>
            <a:r>
              <a:rPr lang="en-CA" dirty="0"/>
              <a:t>.</a:t>
            </a:r>
          </a:p>
          <a:p>
            <a:endParaRPr lang="en-CA" dirty="0"/>
          </a:p>
        </p:txBody>
      </p:sp>
    </p:spTree>
    <p:extLst>
      <p:ext uri="{BB962C8B-B14F-4D97-AF65-F5344CB8AC3E}">
        <p14:creationId xmlns:p14="http://schemas.microsoft.com/office/powerpoint/2010/main" val="2193650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AA9D-394B-BB38-7470-007E230FBE7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EF2AE18-A61D-B97A-318A-BE0EF9ADCB03}"/>
              </a:ext>
            </a:extLst>
          </p:cNvPr>
          <p:cNvSpPr>
            <a:spLocks noGrp="1"/>
          </p:cNvSpPr>
          <p:nvPr>
            <p:ph idx="1"/>
          </p:nvPr>
        </p:nvSpPr>
        <p:spPr/>
        <p:txBody>
          <a:bodyPr>
            <a:normAutofit lnSpcReduction="10000"/>
          </a:bodyPr>
          <a:lstStyle/>
          <a:p>
            <a:r>
              <a:rPr lang="en-CA" dirty="0"/>
              <a:t>Why is Product Innovation Important?</a:t>
            </a:r>
          </a:p>
          <a:p>
            <a:r>
              <a:rPr lang="en-CA" dirty="0"/>
              <a:t>Competitive Advantage: Offering unique features or superior performance allows a company to stand out from rivals and retain a loyal customer base.</a:t>
            </a:r>
          </a:p>
          <a:p>
            <a:r>
              <a:rPr lang="en-CA" dirty="0"/>
              <a:t>Business Growth: Successful innovation leads to market expansion, attracting new customers, and driving higher revenue.</a:t>
            </a:r>
          </a:p>
          <a:p>
            <a:r>
              <a:rPr lang="en-CA" dirty="0"/>
              <a:t>Meeting Customer Needs: It ensures the company constantly evolves its offerings to meet the ever-changing needs and expectations of its target market</a:t>
            </a:r>
          </a:p>
          <a:p>
            <a:r>
              <a:rPr lang="en-CA" dirty="0"/>
              <a:t> </a:t>
            </a:r>
          </a:p>
          <a:p>
            <a:endParaRPr lang="en-CA" dirty="0"/>
          </a:p>
        </p:txBody>
      </p:sp>
    </p:spTree>
    <p:extLst>
      <p:ext uri="{BB962C8B-B14F-4D97-AF65-F5344CB8AC3E}">
        <p14:creationId xmlns:p14="http://schemas.microsoft.com/office/powerpoint/2010/main" val="2718457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36367-13A8-89AF-53C3-59B9E2E7ED6A}"/>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Importance of Innovation in Entrepreneurship:</a:t>
            </a:r>
            <a:b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EB7AACAE-2600-F991-6B5D-03A6038B38A4}"/>
              </a:ext>
            </a:extLst>
          </p:cNvPr>
          <p:cNvSpPr>
            <a:spLocks noGrp="1"/>
          </p:cNvSpPr>
          <p:nvPr>
            <p:ph idx="1"/>
          </p:nvPr>
        </p:nvSpPr>
        <p:spPr>
          <a:xfrm>
            <a:off x="365760" y="1211580"/>
            <a:ext cx="11612880" cy="5829300"/>
          </a:xfrm>
        </p:spPr>
        <p:txBody>
          <a:bodyPr>
            <a:normAutofit/>
          </a:bodyPr>
          <a:lstStyle/>
          <a:p>
            <a:pPr>
              <a:buFont typeface="Arial" panose="020B0604020202020204" pitchFamily="34" charset="0"/>
              <a:buChar char="•"/>
            </a:pPr>
            <a:r>
              <a:rPr lang="en-US" b="1" dirty="0"/>
              <a:t>Competitive Advantage</a:t>
            </a:r>
            <a:r>
              <a:rPr lang="en-US" dirty="0"/>
              <a:t>: Helps businesses stand out in crowded markets.</a:t>
            </a:r>
          </a:p>
          <a:p>
            <a:pPr>
              <a:buFont typeface="Arial" panose="020B0604020202020204" pitchFamily="34" charset="0"/>
              <a:buChar char="•"/>
            </a:pPr>
            <a:r>
              <a:rPr lang="en-US" b="1" dirty="0"/>
              <a:t>Customer Satisfaction</a:t>
            </a:r>
            <a:r>
              <a:rPr lang="en-US" dirty="0"/>
              <a:t>: Delivers better solutions, enhancing customer loyalty.</a:t>
            </a:r>
          </a:p>
          <a:p>
            <a:pPr>
              <a:buFont typeface="Arial" panose="020B0604020202020204" pitchFamily="34" charset="0"/>
              <a:buChar char="•"/>
            </a:pPr>
            <a:r>
              <a:rPr lang="en-US" b="1" dirty="0"/>
              <a:t>Market Growth</a:t>
            </a:r>
            <a:r>
              <a:rPr lang="en-US" dirty="0"/>
              <a:t>: Opens up new markets or creates entirely new industries.</a:t>
            </a:r>
          </a:p>
          <a:p>
            <a:pPr>
              <a:buFont typeface="Arial" panose="020B0604020202020204" pitchFamily="34" charset="0"/>
              <a:buChar char="•"/>
            </a:pPr>
            <a:r>
              <a:rPr lang="en-US" b="1" dirty="0"/>
              <a:t>Economic Impact</a:t>
            </a:r>
            <a:r>
              <a:rPr lang="en-US" dirty="0"/>
              <a:t>: Drives economic growth by creating jobs and increasing productivity.</a:t>
            </a:r>
          </a:p>
          <a:p>
            <a:pPr>
              <a:buFont typeface="Arial" panose="020B0604020202020204" pitchFamily="34" charset="0"/>
              <a:buChar char="•"/>
            </a:pPr>
            <a:r>
              <a:rPr lang="en-US" b="1" dirty="0"/>
              <a:t>Adaptability</a:t>
            </a:r>
            <a:r>
              <a:rPr lang="en-US" dirty="0"/>
              <a:t>: Helps businesses stay strong and relevant in changing environments.</a:t>
            </a:r>
          </a:p>
          <a:p>
            <a:endParaRPr lang="en-CA" dirty="0"/>
          </a:p>
        </p:txBody>
      </p:sp>
    </p:spTree>
    <p:extLst>
      <p:ext uri="{BB962C8B-B14F-4D97-AF65-F5344CB8AC3E}">
        <p14:creationId xmlns:p14="http://schemas.microsoft.com/office/powerpoint/2010/main" val="1975429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2CB96-52A0-4D8F-BEE6-07D7719114D7}"/>
              </a:ext>
            </a:extLst>
          </p:cNvPr>
          <p:cNvSpPr>
            <a:spLocks noGrp="1"/>
          </p:cNvSpPr>
          <p:nvPr>
            <p:ph type="title"/>
          </p:nvPr>
        </p:nvSpPr>
        <p:spPr>
          <a:xfrm>
            <a:off x="838200" y="365125"/>
            <a:ext cx="10515600" cy="905891"/>
          </a:xfrm>
        </p:spPr>
        <p:txBody>
          <a:bodyPr/>
          <a:lstStyle/>
          <a:p>
            <a:r>
              <a:rPr lang="en-US" dirty="0"/>
              <a:t>Service innovation </a:t>
            </a:r>
            <a:endParaRPr lang="en-CA" dirty="0"/>
          </a:p>
        </p:txBody>
      </p:sp>
      <p:sp>
        <p:nvSpPr>
          <p:cNvPr id="3" name="Content Placeholder 2">
            <a:extLst>
              <a:ext uri="{FF2B5EF4-FFF2-40B4-BE49-F238E27FC236}">
                <a16:creationId xmlns:a16="http://schemas.microsoft.com/office/drawing/2014/main" id="{DC88D8D5-0FE0-A079-6DCB-5F22981A6D64}"/>
              </a:ext>
            </a:extLst>
          </p:cNvPr>
          <p:cNvSpPr>
            <a:spLocks noGrp="1"/>
          </p:cNvSpPr>
          <p:nvPr>
            <p:ph idx="1"/>
          </p:nvPr>
        </p:nvSpPr>
        <p:spPr>
          <a:xfrm>
            <a:off x="838200" y="1124712"/>
            <a:ext cx="10515600" cy="5368163"/>
          </a:xfrm>
        </p:spPr>
        <p:txBody>
          <a:bodyPr>
            <a:normAutofit fontScale="70000" lnSpcReduction="20000"/>
          </a:bodyPr>
          <a:lstStyle/>
          <a:p>
            <a:r>
              <a:rPr lang="en-CA" dirty="0"/>
              <a:t>Service Innovation is the process of collecting and implementing ideas that result in a new or significantly improved service offering or a new and better way to deliver an existing service.</a:t>
            </a:r>
            <a:endParaRPr lang="en-CA" sz="2400" dirty="0"/>
          </a:p>
          <a:p>
            <a:r>
              <a:rPr lang="en-CA" dirty="0"/>
              <a:t>Unlike product innovation, which focuses on a tangible good, service innovation centers on the experience, process, and system of how value is created for the customer.</a:t>
            </a:r>
            <a:endParaRPr lang="en-CA" sz="2400" dirty="0"/>
          </a:p>
          <a:p>
            <a:r>
              <a:rPr lang="en-CA" b="1" dirty="0"/>
              <a:t>Key Focus Areas of Service Innovation</a:t>
            </a:r>
            <a:endParaRPr lang="en-CA" sz="2000" b="1" dirty="0"/>
          </a:p>
          <a:p>
            <a:r>
              <a:rPr lang="en-CA" dirty="0"/>
              <a:t>Service innovation can occur in three main areas:</a:t>
            </a:r>
            <a:endParaRPr lang="en-CA" sz="2400" dirty="0"/>
          </a:p>
          <a:p>
            <a:pPr lvl="0"/>
            <a:r>
              <a:rPr lang="en-CA" dirty="0"/>
              <a:t>New Service Offering (The "What"):</a:t>
            </a:r>
            <a:endParaRPr lang="en-CA" sz="2400" dirty="0"/>
          </a:p>
          <a:p>
            <a:pPr lvl="1"/>
            <a:r>
              <a:rPr lang="en-CA" dirty="0"/>
              <a:t>Creating an entirely new type of service that didn't exist before, or one that addresses a customer need in a completely novel way.</a:t>
            </a:r>
            <a:endParaRPr lang="en-CA" sz="2000" dirty="0"/>
          </a:p>
          <a:p>
            <a:pPr lvl="1"/>
            <a:r>
              <a:rPr lang="en-CA" i="1" dirty="0"/>
              <a:t>Example:</a:t>
            </a:r>
            <a:r>
              <a:rPr lang="en-CA" dirty="0"/>
              <a:t> The creation of a subscription-based video streaming service (like Netflix) which was a new service model for entertainment.</a:t>
            </a:r>
            <a:endParaRPr lang="en-CA" sz="2000" dirty="0"/>
          </a:p>
          <a:p>
            <a:pPr lvl="0"/>
            <a:r>
              <a:rPr lang="en-CA" dirty="0"/>
              <a:t>New Service Process (The "How"):</a:t>
            </a:r>
            <a:endParaRPr lang="en-CA" sz="2400" dirty="0"/>
          </a:p>
          <a:p>
            <a:pPr lvl="1"/>
            <a:r>
              <a:rPr lang="en-CA" dirty="0"/>
              <a:t>Innovating the method, technology, or procedure used to deliver the service, making it faster, more efficient, more convenient, or more personalized.</a:t>
            </a:r>
            <a:endParaRPr lang="en-CA" sz="2000" dirty="0"/>
          </a:p>
          <a:p>
            <a:pPr lvl="1"/>
            <a:r>
              <a:rPr lang="en-CA" i="1" dirty="0"/>
              <a:t>Example:</a:t>
            </a:r>
            <a:r>
              <a:rPr lang="en-CA" dirty="0"/>
              <a:t> Implementing a self-service kiosk for check-in at an airport or using AI-powered chatbots for 24/7 customer support.</a:t>
            </a:r>
            <a:endParaRPr lang="en-CA" sz="2000" dirty="0"/>
          </a:p>
          <a:p>
            <a:pPr lvl="0"/>
            <a:r>
              <a:rPr lang="en-CA" dirty="0"/>
              <a:t>New Service Delivery System (The "Where" &amp; "Who"):</a:t>
            </a:r>
            <a:endParaRPr lang="en-CA" sz="2400" dirty="0"/>
          </a:p>
          <a:p>
            <a:pPr lvl="1"/>
            <a:r>
              <a:rPr lang="en-CA" dirty="0"/>
              <a:t>Changing the client interface or the way the service is organized and managed.</a:t>
            </a:r>
            <a:endParaRPr lang="en-CA" sz="2000" dirty="0"/>
          </a:p>
          <a:p>
            <a:pPr lvl="1"/>
            <a:r>
              <a:rPr lang="en-CA" i="1" dirty="0"/>
              <a:t>Example:</a:t>
            </a:r>
            <a:r>
              <a:rPr lang="en-CA" dirty="0"/>
              <a:t> Mobile banking apps that allow customers to perform all transactions from home, bypassing the need to visit a physical bank branch.</a:t>
            </a:r>
            <a:endParaRPr lang="en-CA" sz="2000" dirty="0"/>
          </a:p>
          <a:p>
            <a:endParaRPr lang="en-CA" dirty="0"/>
          </a:p>
        </p:txBody>
      </p:sp>
    </p:spTree>
    <p:extLst>
      <p:ext uri="{BB962C8B-B14F-4D97-AF65-F5344CB8AC3E}">
        <p14:creationId xmlns:p14="http://schemas.microsoft.com/office/powerpoint/2010/main" val="2027630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6A74E-983A-1F6A-E9E4-05DB6986FB05}"/>
              </a:ext>
            </a:extLst>
          </p:cNvPr>
          <p:cNvSpPr>
            <a:spLocks noGrp="1"/>
          </p:cNvSpPr>
          <p:nvPr>
            <p:ph type="title"/>
          </p:nvPr>
        </p:nvSpPr>
        <p:spPr>
          <a:xfrm>
            <a:off x="838200" y="365125"/>
            <a:ext cx="10515600" cy="851027"/>
          </a:xfrm>
        </p:spPr>
        <p:txBody>
          <a:bodyPr/>
          <a:lstStyle/>
          <a:p>
            <a:r>
              <a:rPr lang="en-US" dirty="0"/>
              <a:t>Process innovation </a:t>
            </a:r>
            <a:endParaRPr lang="en-CA" dirty="0"/>
          </a:p>
        </p:txBody>
      </p:sp>
      <p:sp>
        <p:nvSpPr>
          <p:cNvPr id="3" name="Content Placeholder 2">
            <a:extLst>
              <a:ext uri="{FF2B5EF4-FFF2-40B4-BE49-F238E27FC236}">
                <a16:creationId xmlns:a16="http://schemas.microsoft.com/office/drawing/2014/main" id="{787D530F-4D68-F3F1-4D8C-56F1A595F81E}"/>
              </a:ext>
            </a:extLst>
          </p:cNvPr>
          <p:cNvSpPr>
            <a:spLocks noGrp="1"/>
          </p:cNvSpPr>
          <p:nvPr>
            <p:ph idx="1"/>
          </p:nvPr>
        </p:nvSpPr>
        <p:spPr>
          <a:xfrm>
            <a:off x="838200" y="1417320"/>
            <a:ext cx="10515600" cy="4759643"/>
          </a:xfrm>
        </p:spPr>
        <p:txBody>
          <a:bodyPr>
            <a:normAutofit fontScale="77500" lnSpcReduction="20000"/>
          </a:bodyPr>
          <a:lstStyle/>
          <a:p>
            <a:r>
              <a:rPr lang="en-CA" b="1" dirty="0"/>
              <a:t>Process innovation</a:t>
            </a:r>
            <a:r>
              <a:rPr lang="en-CA" dirty="0"/>
              <a:t> refers to the implementation of a new or significantly improved </a:t>
            </a:r>
            <a:r>
              <a:rPr lang="en-CA" b="1" dirty="0"/>
              <a:t>method</a:t>
            </a:r>
            <a:r>
              <a:rPr lang="en-CA" dirty="0"/>
              <a:t> of producing or delivering goods or services. Essentially, it's about changing </a:t>
            </a:r>
            <a:r>
              <a:rPr lang="en-CA" b="1" dirty="0"/>
              <a:t>how</a:t>
            </a:r>
            <a:r>
              <a:rPr lang="en-CA" dirty="0"/>
              <a:t> a company operates to become more efficient, effective, and competitive.</a:t>
            </a:r>
          </a:p>
          <a:p>
            <a:r>
              <a:rPr lang="en-CA" dirty="0"/>
              <a:t>While </a:t>
            </a:r>
            <a:r>
              <a:rPr lang="en-CA" b="1" dirty="0"/>
              <a:t>Product Innovation</a:t>
            </a:r>
            <a:r>
              <a:rPr lang="en-CA" dirty="0"/>
              <a:t> focuses on </a:t>
            </a:r>
            <a:r>
              <a:rPr lang="en-CA" i="1" dirty="0"/>
              <a:t>what</a:t>
            </a:r>
            <a:r>
              <a:rPr lang="en-CA" dirty="0"/>
              <a:t> a company offers (the output), </a:t>
            </a:r>
            <a:r>
              <a:rPr lang="en-CA" b="1" dirty="0"/>
              <a:t>Process Innovation</a:t>
            </a:r>
            <a:r>
              <a:rPr lang="en-CA" dirty="0"/>
              <a:t> focuses on </a:t>
            </a:r>
            <a:r>
              <a:rPr lang="en-CA" i="1" dirty="0"/>
              <a:t>how</a:t>
            </a:r>
            <a:r>
              <a:rPr lang="en-CA" dirty="0"/>
              <a:t> that output is created (the internal operations).</a:t>
            </a:r>
          </a:p>
          <a:p>
            <a:r>
              <a:rPr lang="en-CA" b="1" dirty="0"/>
              <a:t>Key Goals of Process Innovation:</a:t>
            </a:r>
            <a:endParaRPr lang="en-CA" dirty="0"/>
          </a:p>
          <a:p>
            <a:r>
              <a:rPr lang="en-CA" dirty="0"/>
              <a:t>The main objectives of introducing process innovation are to achieve improvements in the following areas:</a:t>
            </a:r>
          </a:p>
          <a:p>
            <a:pPr lvl="0"/>
            <a:r>
              <a:rPr lang="en-CA" b="1" dirty="0"/>
              <a:t>Cost Reduction:</a:t>
            </a:r>
            <a:r>
              <a:rPr lang="en-CA" dirty="0"/>
              <a:t> Finding ways to produce goods or services at a lower cost per unit.</a:t>
            </a:r>
          </a:p>
          <a:p>
            <a:pPr lvl="0"/>
            <a:r>
              <a:rPr lang="en-CA" b="1" dirty="0"/>
              <a:t>Quality Improvement:</a:t>
            </a:r>
            <a:r>
              <a:rPr lang="en-CA" dirty="0"/>
              <a:t> Enhancing the consistency, reliability, and standards of the output.</a:t>
            </a:r>
          </a:p>
          <a:p>
            <a:pPr lvl="0"/>
            <a:r>
              <a:rPr lang="en-CA" b="1" dirty="0"/>
              <a:t>Time Efficiency:</a:t>
            </a:r>
            <a:r>
              <a:rPr lang="en-CA" dirty="0"/>
              <a:t> Reducing the time, it takes to complete a task, cycle, or entire production/delivery process.</a:t>
            </a:r>
          </a:p>
          <a:p>
            <a:pPr lvl="0"/>
            <a:r>
              <a:rPr lang="en-CA" b="1" dirty="0"/>
              <a:t>Flexibility:</a:t>
            </a:r>
            <a:r>
              <a:rPr lang="en-CA" dirty="0"/>
              <a:t> Making the process more adaptable to changing customer demands, product variations, or market shifts.</a:t>
            </a:r>
          </a:p>
          <a:p>
            <a:endParaRPr lang="en-CA" dirty="0"/>
          </a:p>
        </p:txBody>
      </p:sp>
    </p:spTree>
    <p:extLst>
      <p:ext uri="{BB962C8B-B14F-4D97-AF65-F5344CB8AC3E}">
        <p14:creationId xmlns:p14="http://schemas.microsoft.com/office/powerpoint/2010/main" val="1130662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4792-A4D8-EF36-602C-C2CA83EBDC97}"/>
              </a:ext>
            </a:extLst>
          </p:cNvPr>
          <p:cNvSpPr>
            <a:spLocks noGrp="1"/>
          </p:cNvSpPr>
          <p:nvPr>
            <p:ph type="title"/>
          </p:nvPr>
        </p:nvSpPr>
        <p:spPr>
          <a:xfrm>
            <a:off x="838200" y="365125"/>
            <a:ext cx="10515600" cy="750443"/>
          </a:xfrm>
        </p:spPr>
        <p:txBody>
          <a:bodyPr/>
          <a:lstStyle/>
          <a:p>
            <a:r>
              <a:rPr lang="en-US" dirty="0"/>
              <a:t>Business Model Innovation </a:t>
            </a:r>
            <a:endParaRPr lang="en-CA" dirty="0"/>
          </a:p>
        </p:txBody>
      </p:sp>
      <p:sp>
        <p:nvSpPr>
          <p:cNvPr id="3" name="Content Placeholder 2">
            <a:extLst>
              <a:ext uri="{FF2B5EF4-FFF2-40B4-BE49-F238E27FC236}">
                <a16:creationId xmlns:a16="http://schemas.microsoft.com/office/drawing/2014/main" id="{9890D67F-AB37-0199-13DA-A8EC884CA3DB}"/>
              </a:ext>
            </a:extLst>
          </p:cNvPr>
          <p:cNvSpPr>
            <a:spLocks noGrp="1"/>
          </p:cNvSpPr>
          <p:nvPr>
            <p:ph idx="1"/>
          </p:nvPr>
        </p:nvSpPr>
        <p:spPr>
          <a:xfrm>
            <a:off x="393192" y="1115568"/>
            <a:ext cx="11512296" cy="5303520"/>
          </a:xfrm>
        </p:spPr>
        <p:txBody>
          <a:bodyPr>
            <a:normAutofit fontScale="77500" lnSpcReduction="20000"/>
          </a:bodyPr>
          <a:lstStyle/>
          <a:p>
            <a:r>
              <a:rPr lang="en-US" dirty="0"/>
              <a:t>Business Model Innovation (BMI) is the process of creating and implementing a new organizational structure and logic for how a company creates, delivers, and captures value.</a:t>
            </a:r>
          </a:p>
          <a:p>
            <a:r>
              <a:rPr lang="en-US" dirty="0"/>
              <a:t>Unlike product, service, or process innovation, which focuses on specific parts of the business (the </a:t>
            </a:r>
            <a:r>
              <a:rPr lang="en-US" i="1" dirty="0"/>
              <a:t>offerings</a:t>
            </a:r>
            <a:r>
              <a:rPr lang="en-US" dirty="0"/>
              <a:t> or the </a:t>
            </a:r>
            <a:r>
              <a:rPr lang="en-US" i="1" dirty="0"/>
              <a:t>operations</a:t>
            </a:r>
            <a:r>
              <a:rPr lang="en-US" dirty="0"/>
              <a:t>), BMI focuses on the entire system of how the business functions to generate profit and serve customers.</a:t>
            </a:r>
          </a:p>
          <a:p>
            <a:r>
              <a:rPr lang="en-US" b="1" dirty="0"/>
              <a:t>The Four Pillars of a Business Model</a:t>
            </a:r>
          </a:p>
          <a:p>
            <a:r>
              <a:rPr lang="en-US" dirty="0"/>
              <a:t>A business model defines the core structure of a company. BMI typically involves changing one or more of these four interconnected components:</a:t>
            </a:r>
          </a:p>
          <a:p>
            <a:r>
              <a:rPr lang="en-US" dirty="0"/>
              <a:t>Value Proposition : What unique value is offered to the customer (e.g., lower price, extreme convenience, unique features).</a:t>
            </a:r>
          </a:p>
          <a:p>
            <a:r>
              <a:rPr lang="en-US" dirty="0"/>
              <a:t>Value Creation and Delivery : The key activities, resources, and partner network needed to produce and deliver the product or service (similar to process innovation, but viewed strategically).</a:t>
            </a:r>
          </a:p>
          <a:p>
            <a:r>
              <a:rPr lang="en-US" dirty="0"/>
              <a:t>Customer Segments : Which groups of customers the company targets and how it reaches them (e.g., through new channels).</a:t>
            </a:r>
          </a:p>
          <a:p>
            <a:r>
              <a:rPr lang="en-US" dirty="0"/>
              <a:t>Value Capture (The Why/Money): The company's revenue streams and cost structure—how it makes money (e.g., subscription, usage fee, advertising).</a:t>
            </a:r>
          </a:p>
          <a:p>
            <a:endParaRPr lang="en-CA" dirty="0"/>
          </a:p>
        </p:txBody>
      </p:sp>
    </p:spTree>
    <p:extLst>
      <p:ext uri="{BB962C8B-B14F-4D97-AF65-F5344CB8AC3E}">
        <p14:creationId xmlns:p14="http://schemas.microsoft.com/office/powerpoint/2010/main" val="2166722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1103E-846C-A28A-1965-A23871BDC64F}"/>
              </a:ext>
            </a:extLst>
          </p:cNvPr>
          <p:cNvSpPr>
            <a:spLocks noGrp="1"/>
          </p:cNvSpPr>
          <p:nvPr>
            <p:ph type="title"/>
          </p:nvPr>
        </p:nvSpPr>
        <p:spPr>
          <a:xfrm>
            <a:off x="838200" y="365125"/>
            <a:ext cx="10515600" cy="640715"/>
          </a:xfrm>
        </p:spPr>
        <p:txBody>
          <a:bodyPr>
            <a:normAutofit fontScale="90000"/>
          </a:bodyPr>
          <a:lstStyle/>
          <a:p>
            <a:r>
              <a:rPr lang="en-US" b="1" dirty="0"/>
              <a:t>Social Innovation (SI)</a:t>
            </a:r>
            <a:endParaRPr lang="en-CA" dirty="0"/>
          </a:p>
        </p:txBody>
      </p:sp>
      <p:sp>
        <p:nvSpPr>
          <p:cNvPr id="3" name="Content Placeholder 2">
            <a:extLst>
              <a:ext uri="{FF2B5EF4-FFF2-40B4-BE49-F238E27FC236}">
                <a16:creationId xmlns:a16="http://schemas.microsoft.com/office/drawing/2014/main" id="{80938864-CC81-28F6-DD7F-B000F4A5F786}"/>
              </a:ext>
            </a:extLst>
          </p:cNvPr>
          <p:cNvSpPr>
            <a:spLocks noGrp="1"/>
          </p:cNvSpPr>
          <p:nvPr>
            <p:ph idx="1"/>
          </p:nvPr>
        </p:nvSpPr>
        <p:spPr>
          <a:xfrm>
            <a:off x="731520" y="1271016"/>
            <a:ext cx="10622280" cy="4905947"/>
          </a:xfrm>
        </p:spPr>
        <p:txBody>
          <a:bodyPr>
            <a:normAutofit fontScale="85000" lnSpcReduction="20000"/>
          </a:bodyPr>
          <a:lstStyle/>
          <a:p>
            <a:r>
              <a:rPr lang="en-US" b="1" dirty="0"/>
              <a:t>Social Innovation (SI)</a:t>
            </a:r>
            <a:r>
              <a:rPr lang="en-US" dirty="0"/>
              <a:t> refers to the development and implementation of </a:t>
            </a:r>
            <a:r>
              <a:rPr lang="en-US" b="1" dirty="0"/>
              <a:t>new ideas</a:t>
            </a:r>
            <a:r>
              <a:rPr lang="en-US" dirty="0"/>
              <a:t> (products, services, models, processes, and movements) that simultaneously meet </a:t>
            </a:r>
            <a:r>
              <a:rPr lang="en-US" b="1" dirty="0"/>
              <a:t>social needs</a:t>
            </a:r>
            <a:r>
              <a:rPr lang="en-US" dirty="0"/>
              <a:t> and create </a:t>
            </a:r>
            <a:r>
              <a:rPr lang="en-US" b="1" dirty="0"/>
              <a:t>new social relationships or collaborations</a:t>
            </a:r>
            <a:r>
              <a:rPr lang="en-US" dirty="0"/>
              <a:t>.</a:t>
            </a:r>
          </a:p>
          <a:p>
            <a:r>
              <a:rPr lang="en-US" dirty="0"/>
              <a:t>Unlike business innovation, which primarily aims for profit, social innovation's main goal is to generate </a:t>
            </a:r>
            <a:r>
              <a:rPr lang="en-US" b="1" dirty="0"/>
              <a:t>social value</a:t>
            </a:r>
            <a:r>
              <a:rPr lang="en-US" dirty="0"/>
              <a:t> and improve the well-being of communities and society as a whole.</a:t>
            </a:r>
          </a:p>
          <a:p>
            <a:r>
              <a:rPr lang="en-US" b="1" dirty="0"/>
              <a:t>Key Characteristics</a:t>
            </a:r>
          </a:p>
          <a:p>
            <a:r>
              <a:rPr lang="en-US" dirty="0"/>
              <a:t>Social innovation distinguishes itself from purely commercial innovation by its focus and intent:</a:t>
            </a:r>
          </a:p>
          <a:p>
            <a:r>
              <a:rPr lang="en-US" b="1" dirty="0"/>
              <a:t>Goal:</a:t>
            </a:r>
            <a:r>
              <a:rPr lang="en-US" dirty="0"/>
              <a:t> To address persistent and complex societal challenges such as poverty, education inequality, climate change, public health, and social exclusion.</a:t>
            </a:r>
          </a:p>
          <a:p>
            <a:r>
              <a:rPr lang="en-US" b="1" dirty="0"/>
              <a:t>Outcome:</a:t>
            </a:r>
            <a:r>
              <a:rPr lang="en-US" dirty="0"/>
              <a:t> The creation of </a:t>
            </a:r>
            <a:r>
              <a:rPr lang="en-US" b="1" dirty="0"/>
              <a:t>social value</a:t>
            </a:r>
            <a:r>
              <a:rPr lang="en-US" dirty="0"/>
              <a:t> (better outcomes for people and the planet) rather than primarily economic value.</a:t>
            </a:r>
          </a:p>
          <a:p>
            <a:r>
              <a:rPr lang="en-US" b="1" dirty="0"/>
              <a:t>Method:</a:t>
            </a:r>
            <a:r>
              <a:rPr lang="en-US" dirty="0"/>
              <a:t> Often involves </a:t>
            </a:r>
            <a:r>
              <a:rPr lang="en-US" b="1" dirty="0"/>
              <a:t>cross-sectoral collaboration</a:t>
            </a:r>
            <a:r>
              <a:rPr lang="en-US" dirty="0"/>
              <a:t> between governments, non-profits, academic institutions, and for-profit businesses.</a:t>
            </a:r>
          </a:p>
          <a:p>
            <a:pPr marL="0" indent="0">
              <a:buNone/>
            </a:pPr>
            <a:endParaRPr lang="en-CA" dirty="0"/>
          </a:p>
        </p:txBody>
      </p:sp>
    </p:spTree>
    <p:extLst>
      <p:ext uri="{BB962C8B-B14F-4D97-AF65-F5344CB8AC3E}">
        <p14:creationId xmlns:p14="http://schemas.microsoft.com/office/powerpoint/2010/main" val="298687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11699-B2CD-A367-B1A1-8DEA18F7EA61}"/>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Examples of Innovation in Entrepreneurship:</a:t>
            </a:r>
            <a:b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05AB7562-1FE8-DB9A-3122-293772561954}"/>
              </a:ext>
            </a:extLst>
          </p:cNvPr>
          <p:cNvSpPr>
            <a:spLocks noGrp="1"/>
          </p:cNvSpPr>
          <p:nvPr>
            <p:ph idx="1"/>
          </p:nvPr>
        </p:nvSpPr>
        <p:spPr>
          <a:xfrm>
            <a:off x="838200" y="1124712"/>
            <a:ext cx="10515600" cy="5052251"/>
          </a:xfrm>
        </p:spPr>
        <p:txBody>
          <a:bodyPr>
            <a:normAutofit/>
          </a:bodyPr>
          <a:lstStyle/>
          <a:p>
            <a:pPr>
              <a:buFont typeface="Arial" panose="020B0604020202020204" pitchFamily="34" charset="0"/>
              <a:buChar char="•"/>
            </a:pPr>
            <a:r>
              <a:rPr lang="en-US" b="1" dirty="0"/>
              <a:t>Tesla</a:t>
            </a:r>
            <a:r>
              <a:rPr lang="en-US" dirty="0"/>
              <a:t>: Redefined the automotive industry with electric vehicles and innovative energy solutions.</a:t>
            </a:r>
          </a:p>
          <a:p>
            <a:pPr>
              <a:buFont typeface="Arial" panose="020B0604020202020204" pitchFamily="34" charset="0"/>
              <a:buChar char="•"/>
            </a:pPr>
            <a:r>
              <a:rPr lang="en-US" b="1" dirty="0"/>
              <a:t>Zoom</a:t>
            </a:r>
            <a:r>
              <a:rPr lang="en-US" dirty="0"/>
              <a:t>: Revolutionized communication with user-friendly video conferencing, especially during the pandemic.</a:t>
            </a:r>
          </a:p>
          <a:p>
            <a:r>
              <a:rPr lang="en-US" dirty="0"/>
              <a:t>In essence, innovation in entrepreneurship is about leveraging creativity and strategic thinking to develop solutions that bring about positive change and sustainable success. It’s a dynamic and continuous process that fuels growth and progress.</a:t>
            </a:r>
          </a:p>
          <a:p>
            <a:endParaRPr lang="en-CA" dirty="0"/>
          </a:p>
        </p:txBody>
      </p:sp>
    </p:spTree>
    <p:extLst>
      <p:ext uri="{BB962C8B-B14F-4D97-AF65-F5344CB8AC3E}">
        <p14:creationId xmlns:p14="http://schemas.microsoft.com/office/powerpoint/2010/main" val="1251666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183CF-9526-F37C-3398-04F726613A15}"/>
              </a:ext>
            </a:extLst>
          </p:cNvPr>
          <p:cNvSpPr>
            <a:spLocks noGrp="1"/>
          </p:cNvSpPr>
          <p:nvPr>
            <p:ph type="title"/>
          </p:nvPr>
        </p:nvSpPr>
        <p:spPr>
          <a:xfrm>
            <a:off x="591312" y="305023"/>
            <a:ext cx="10515600" cy="457200"/>
          </a:xfrm>
        </p:spPr>
        <p:txBody>
          <a:bodyPr>
            <a:normAutofit fontScale="90000"/>
          </a:bodyPr>
          <a:lstStyle/>
          <a:p>
            <a:r>
              <a:rPr lang="en-US" dirty="0"/>
              <a:t>Key Differences</a:t>
            </a:r>
            <a:endParaRPr lang="en-CA" dirty="0"/>
          </a:p>
        </p:txBody>
      </p:sp>
      <p:graphicFrame>
        <p:nvGraphicFramePr>
          <p:cNvPr id="4" name="Content Placeholder 3">
            <a:extLst>
              <a:ext uri="{FF2B5EF4-FFF2-40B4-BE49-F238E27FC236}">
                <a16:creationId xmlns:a16="http://schemas.microsoft.com/office/drawing/2014/main" id="{F8C91821-801E-4E26-8C30-5C59BF7334AE}"/>
              </a:ext>
            </a:extLst>
          </p:cNvPr>
          <p:cNvGraphicFramePr>
            <a:graphicFrameLocks noGrp="1"/>
          </p:cNvGraphicFramePr>
          <p:nvPr>
            <p:ph idx="1"/>
            <p:extLst>
              <p:ext uri="{D42A27DB-BD31-4B8C-83A1-F6EECF244321}">
                <p14:modId xmlns:p14="http://schemas.microsoft.com/office/powerpoint/2010/main" val="2948580182"/>
              </p:ext>
            </p:extLst>
          </p:nvPr>
        </p:nvGraphicFramePr>
        <p:xfrm>
          <a:off x="91440" y="1028700"/>
          <a:ext cx="11921490" cy="5464174"/>
        </p:xfrm>
        <a:graphic>
          <a:graphicData uri="http://schemas.openxmlformats.org/drawingml/2006/table">
            <a:tbl>
              <a:tblPr/>
              <a:tblGrid>
                <a:gridCol w="2217420">
                  <a:extLst>
                    <a:ext uri="{9D8B030D-6E8A-4147-A177-3AD203B41FA5}">
                      <a16:colId xmlns:a16="http://schemas.microsoft.com/office/drawing/2014/main" val="1018554945"/>
                    </a:ext>
                  </a:extLst>
                </a:gridCol>
                <a:gridCol w="5730240">
                  <a:extLst>
                    <a:ext uri="{9D8B030D-6E8A-4147-A177-3AD203B41FA5}">
                      <a16:colId xmlns:a16="http://schemas.microsoft.com/office/drawing/2014/main" val="2929282110"/>
                    </a:ext>
                  </a:extLst>
                </a:gridCol>
                <a:gridCol w="3973830">
                  <a:extLst>
                    <a:ext uri="{9D8B030D-6E8A-4147-A177-3AD203B41FA5}">
                      <a16:colId xmlns:a16="http://schemas.microsoft.com/office/drawing/2014/main" val="2065948645"/>
                    </a:ext>
                  </a:extLst>
                </a:gridCol>
              </a:tblGrid>
              <a:tr h="446055">
                <a:tc>
                  <a:txBody>
                    <a:bodyPr/>
                    <a:lstStyle/>
                    <a:p>
                      <a:pPr>
                        <a:buNone/>
                      </a:pPr>
                      <a:r>
                        <a:rPr lang="en-CA" sz="2000" b="1" dirty="0">
                          <a:effectLst/>
                          <a:latin typeface="Google Sans Text"/>
                        </a:rPr>
                        <a:t>Aspect</a:t>
                      </a:r>
                      <a:endParaRPr lang="en-CA" sz="2000" dirty="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CA" sz="2000" b="1">
                          <a:effectLst/>
                          <a:latin typeface="Google Sans Text"/>
                        </a:rPr>
                        <a:t>Creativity</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CA" sz="2000" b="1">
                          <a:effectLst/>
                          <a:latin typeface="Google Sans Text"/>
                        </a:rPr>
                        <a:t>Innovation</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12772901"/>
                  </a:ext>
                </a:extLst>
              </a:tr>
              <a:tr h="446055">
                <a:tc>
                  <a:txBody>
                    <a:bodyPr/>
                    <a:lstStyle/>
                    <a:p>
                      <a:pPr>
                        <a:buNone/>
                      </a:pPr>
                      <a:r>
                        <a:rPr lang="en-CA" sz="2000" b="1" dirty="0">
                          <a:effectLst/>
                          <a:latin typeface="Google Sans Text"/>
                        </a:rPr>
                        <a:t>Focus</a:t>
                      </a:r>
                      <a:endParaRPr lang="en-CA" sz="2000" dirty="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CA" sz="2000" b="1" dirty="0">
                          <a:effectLst/>
                          <a:latin typeface="Google Sans Text"/>
                        </a:rPr>
                        <a:t>Idea Generation</a:t>
                      </a:r>
                      <a:r>
                        <a:rPr lang="en-CA" sz="2000" dirty="0">
                          <a:effectLst/>
                          <a:latin typeface="Google Sans Text"/>
                        </a:rPr>
                        <a:t> and imagination</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CA" sz="2000" b="1">
                          <a:effectLst/>
                          <a:latin typeface="Google Sans Text"/>
                        </a:rPr>
                        <a:t>Implementation</a:t>
                      </a:r>
                      <a:r>
                        <a:rPr lang="en-CA" sz="2000">
                          <a:effectLst/>
                          <a:latin typeface="Google Sans Text"/>
                        </a:rPr>
                        <a:t> and execution</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93601244"/>
                  </a:ext>
                </a:extLst>
              </a:tr>
              <a:tr h="780596">
                <a:tc>
                  <a:txBody>
                    <a:bodyPr/>
                    <a:lstStyle/>
                    <a:p>
                      <a:pPr>
                        <a:buNone/>
                      </a:pPr>
                      <a:r>
                        <a:rPr lang="en-CA" sz="2000" b="1" dirty="0">
                          <a:effectLst/>
                          <a:latin typeface="Google Sans Text"/>
                        </a:rPr>
                        <a:t>Nature</a:t>
                      </a:r>
                      <a:endParaRPr lang="en-CA" sz="2000" dirty="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Abstract</a:t>
                      </a:r>
                      <a:r>
                        <a:rPr lang="en-US" sz="2000" dirty="0">
                          <a:effectLst/>
                          <a:latin typeface="Google Sans Text"/>
                        </a:rPr>
                        <a:t> and theoretical (a mental process)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Practical</a:t>
                      </a:r>
                      <a:r>
                        <a:rPr lang="en-US" sz="2000">
                          <a:effectLst/>
                          <a:latin typeface="Google Sans Text"/>
                        </a:rPr>
                        <a:t> and tangible (an action/process)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73755698"/>
                  </a:ext>
                </a:extLst>
              </a:tr>
              <a:tr h="1115138">
                <a:tc>
                  <a:txBody>
                    <a:bodyPr/>
                    <a:lstStyle/>
                    <a:p>
                      <a:pPr>
                        <a:buNone/>
                      </a:pPr>
                      <a:r>
                        <a:rPr lang="en-CA" sz="2000" b="1">
                          <a:effectLst/>
                          <a:latin typeface="Google Sans Text"/>
                        </a:rPr>
                        <a:t>Outcome</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Novel concepts, unique thoughts, possibilities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New or improved </a:t>
                      </a:r>
                      <a:r>
                        <a:rPr lang="en-US" sz="2000" b="1" dirty="0">
                          <a:effectLst/>
                          <a:latin typeface="Google Sans Text"/>
                        </a:rPr>
                        <a:t>products, services, or processes</a:t>
                      </a:r>
                      <a:r>
                        <a:rPr lang="en-US" sz="2000" dirty="0">
                          <a:effectLst/>
                          <a:latin typeface="Google Sans Text"/>
                        </a:rPr>
                        <a:t> that create value</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15817193"/>
                  </a:ext>
                </a:extLst>
              </a:tr>
              <a:tr h="780596">
                <a:tc>
                  <a:txBody>
                    <a:bodyPr/>
                    <a:lstStyle/>
                    <a:p>
                      <a:pPr>
                        <a:buNone/>
                      </a:pPr>
                      <a:r>
                        <a:rPr lang="en-CA" sz="2000" b="1">
                          <a:effectLst/>
                          <a:latin typeface="Google Sans Text"/>
                        </a:rPr>
                        <a:t>Process</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Divergent Thinking</a:t>
                      </a:r>
                      <a:r>
                        <a:rPr lang="en-US" sz="2000" dirty="0">
                          <a:effectLst/>
                          <a:latin typeface="Google Sans Text"/>
                        </a:rPr>
                        <a:t> (exploring multiple solutions)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Convergent Thinking</a:t>
                      </a:r>
                      <a:r>
                        <a:rPr lang="en-US" sz="2000" dirty="0">
                          <a:effectLst/>
                          <a:latin typeface="Google Sans Text"/>
                        </a:rPr>
                        <a:t> (selecting and refining the best idea)</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73319088"/>
                  </a:ext>
                </a:extLst>
              </a:tr>
              <a:tr h="1115138">
                <a:tc>
                  <a:txBody>
                    <a:bodyPr/>
                    <a:lstStyle/>
                    <a:p>
                      <a:pPr>
                        <a:buNone/>
                      </a:pPr>
                      <a:r>
                        <a:rPr lang="en-CA" sz="2000" b="1">
                          <a:effectLst/>
                          <a:latin typeface="Google Sans Text"/>
                        </a:rPr>
                        <a:t>Value</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Intrinsic value of a unique idea</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Realized economic or social value</a:t>
                      </a:r>
                      <a:r>
                        <a:rPr lang="en-US" sz="2000" dirty="0">
                          <a:effectLst/>
                          <a:latin typeface="Google Sans Text"/>
                        </a:rPr>
                        <a:t> (e.g., profit, efficiency, problem-solving)</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93429308"/>
                  </a:ext>
                </a:extLst>
              </a:tr>
              <a:tr h="780596">
                <a:tc>
                  <a:txBody>
                    <a:bodyPr/>
                    <a:lstStyle/>
                    <a:p>
                      <a:pPr>
                        <a:buNone/>
                      </a:pPr>
                      <a:r>
                        <a:rPr lang="en-CA" sz="2000" b="1">
                          <a:effectLst/>
                          <a:latin typeface="Google Sans Text"/>
                        </a:rPr>
                        <a:t>Risk</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Low or none (ideas can be freely generated)</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High</a:t>
                      </a:r>
                      <a:r>
                        <a:rPr lang="en-US" sz="2000" dirty="0">
                          <a:effectLst/>
                          <a:latin typeface="Google Sans Text"/>
                        </a:rPr>
                        <a:t> (requires investment of time, money, and resources)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56784637"/>
                  </a:ext>
                </a:extLst>
              </a:tr>
            </a:tbl>
          </a:graphicData>
        </a:graphic>
      </p:graphicFrame>
      <p:sp>
        <p:nvSpPr>
          <p:cNvPr id="5" name="Rectangle 1">
            <a:extLst>
              <a:ext uri="{FF2B5EF4-FFF2-40B4-BE49-F238E27FC236}">
                <a16:creationId xmlns:a16="http://schemas.microsoft.com/office/drawing/2014/main" id="{1EED917F-642D-4743-B1C1-AB0A58A4C1A1}"/>
              </a:ext>
            </a:extLst>
          </p:cNvPr>
          <p:cNvSpPr>
            <a:spLocks noChangeArrowheads="1"/>
          </p:cNvSpPr>
          <p:nvPr/>
        </p:nvSpPr>
        <p:spPr bwMode="auto">
          <a:xfrm>
            <a:off x="3783330" y="495745"/>
            <a:ext cx="757047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Google Sans"/>
              </a:rPr>
              <a:t>Key Differences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6169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89525-F3A1-32F2-CCD8-E579D5CBC9B9}"/>
              </a:ext>
            </a:extLst>
          </p:cNvPr>
          <p:cNvSpPr>
            <a:spLocks noGrp="1"/>
          </p:cNvSpPr>
          <p:nvPr>
            <p:ph type="title"/>
          </p:nvPr>
        </p:nvSpPr>
        <p:spPr>
          <a:xfrm>
            <a:off x="838200" y="365125"/>
            <a:ext cx="10515600" cy="668147"/>
          </a:xfrm>
        </p:spPr>
        <p:txBody>
          <a:bodyPr>
            <a:normAutofit fontScale="90000"/>
          </a:bodyPr>
          <a:lstStyle/>
          <a:p>
            <a:pPr marL="228600" marR="0" lvl="0" indent="-228600" defTabSz="914400" rtl="0" eaLnBrk="1" fontAlgn="auto" latinLnBrk="0" hangingPunct="1">
              <a:lnSpc>
                <a:spcPct val="107000"/>
              </a:lnSpc>
              <a:spcBef>
                <a:spcPts val="1000"/>
              </a:spcBef>
              <a:spcAft>
                <a:spcPts val="800"/>
              </a:spcAft>
              <a:tabLst/>
              <a:defRPr/>
            </a:pPr>
            <a:br>
              <a:rPr kumimoji="0" lang="en-CA" sz="13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br>
            <a:br>
              <a:rPr kumimoji="0" lang="en-CA" sz="13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br>
            <a:r>
              <a:rPr kumimoji="0" lang="en-CA" sz="22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1. Creativity</a:t>
            </a:r>
            <a:br>
              <a:rPr kumimoji="0" lang="en-CA" sz="1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endParaRPr lang="en-CA" dirty="0"/>
          </a:p>
        </p:txBody>
      </p:sp>
      <p:sp>
        <p:nvSpPr>
          <p:cNvPr id="3" name="Content Placeholder 2">
            <a:extLst>
              <a:ext uri="{FF2B5EF4-FFF2-40B4-BE49-F238E27FC236}">
                <a16:creationId xmlns:a16="http://schemas.microsoft.com/office/drawing/2014/main" id="{CEDB007C-189D-EF3A-EB00-E809FE18E6FF}"/>
              </a:ext>
            </a:extLst>
          </p:cNvPr>
          <p:cNvSpPr>
            <a:spLocks noGrp="1"/>
          </p:cNvSpPr>
          <p:nvPr>
            <p:ph idx="1"/>
          </p:nvPr>
        </p:nvSpPr>
        <p:spPr>
          <a:xfrm>
            <a:off x="356616" y="914400"/>
            <a:ext cx="10997184" cy="5779008"/>
          </a:xfrm>
        </p:spPr>
        <p:txBody>
          <a:bodyPr>
            <a:normAutofit fontScale="25000" lnSpcReduction="20000"/>
          </a:bodyPr>
          <a:lstStyle/>
          <a:p>
            <a:pPr>
              <a:lnSpc>
                <a:spcPct val="120000"/>
              </a:lnSpc>
              <a:spcAft>
                <a:spcPts val="800"/>
              </a:spcAft>
              <a:buNone/>
            </a:pPr>
            <a:r>
              <a:rPr lang="en-CA" sz="7200" b="1" kern="0" dirty="0">
                <a:effectLst/>
                <a:latin typeface="Times New Roman" panose="02020603050405020304" pitchFamily="18" charset="0"/>
                <a:ea typeface="Times New Roman" panose="02020603050405020304" pitchFamily="18" charset="0"/>
                <a:cs typeface="Times New Roman" panose="02020603050405020304" pitchFamily="18" charset="0"/>
              </a:rPr>
              <a:t>Definition:</a:t>
            </a:r>
            <a:b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Creativity is the ability to think in new and original ways. It involves generating unique ideas, seeing connections that others might not notice, and imagining possibilities beyond the ordinary.</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buNone/>
            </a:pPr>
            <a:r>
              <a:rPr lang="en-CA" sz="7200" b="1" kern="0" dirty="0">
                <a:effectLst/>
                <a:latin typeface="Times New Roman" panose="02020603050405020304" pitchFamily="18" charset="0"/>
                <a:ea typeface="Times New Roman" panose="02020603050405020304" pitchFamily="18" charset="0"/>
                <a:cs typeface="Times New Roman" panose="02020603050405020304" pitchFamily="18" charset="0"/>
              </a:rPr>
              <a:t>In entrepreneurship:</a:t>
            </a:r>
            <a:b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Creativity is the </a:t>
            </a:r>
            <a:r>
              <a:rPr lang="en-CA" sz="7200" i="1" kern="0" dirty="0">
                <a:effectLst/>
                <a:latin typeface="Times New Roman" panose="02020603050405020304" pitchFamily="18" charset="0"/>
                <a:ea typeface="Times New Roman" panose="02020603050405020304" pitchFamily="18" charset="0"/>
                <a:cs typeface="Times New Roman" panose="02020603050405020304" pitchFamily="18" charset="0"/>
              </a:rPr>
              <a:t>starting point</a:t>
            </a: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 of entrepreneurship. Entrepreneurs use creativity to identify unmet needs, solve problems differently, or create value in new ways.</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buNone/>
            </a:pPr>
            <a:r>
              <a:rPr lang="en-CA" sz="72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b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Elon Musk imagining reusable rockets for SpaceX — a creative idea that challenged traditional assumptions in the space industry.</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a:lnSpc>
                <a:spcPct val="120000"/>
              </a:lnSpc>
              <a:spcAft>
                <a:spcPts val="800"/>
              </a:spcAft>
              <a:buNone/>
            </a:pPr>
            <a:r>
              <a:rPr lang="en-CA" sz="7200" b="1" kern="0" dirty="0">
                <a:effectLst/>
                <a:latin typeface="Times New Roman" panose="02020603050405020304" pitchFamily="18" charset="0"/>
                <a:ea typeface="Times New Roman" panose="02020603050405020304" pitchFamily="18" charset="0"/>
                <a:cs typeface="Times New Roman" panose="02020603050405020304" pitchFamily="18" charset="0"/>
              </a:rPr>
              <a:t>Key traits of creativity:</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lvl="0" indent="-342900">
              <a:lnSpc>
                <a:spcPct val="120000"/>
              </a:lnSpc>
              <a:spcAft>
                <a:spcPts val="800"/>
              </a:spcAft>
              <a:buSzPts val="1000"/>
              <a:buFont typeface="Symbol" panose="05050102010706020507" pitchFamily="18" charset="2"/>
              <a:buChar char=""/>
              <a:tabLst>
                <a:tab pos="457200" algn="l"/>
              </a:tabLst>
            </a:pP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Imagination</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lvl="0" indent="-342900">
              <a:lnSpc>
                <a:spcPct val="120000"/>
              </a:lnSpc>
              <a:spcAft>
                <a:spcPts val="800"/>
              </a:spcAft>
              <a:buSzPts val="1000"/>
              <a:buFont typeface="Symbol" panose="05050102010706020507" pitchFamily="18" charset="2"/>
              <a:buChar char=""/>
              <a:tabLst>
                <a:tab pos="457200" algn="l"/>
              </a:tabLst>
            </a:pP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Open-mindedness</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lvl="0" indent="-342900">
              <a:lnSpc>
                <a:spcPct val="120000"/>
              </a:lnSpc>
              <a:spcAft>
                <a:spcPts val="800"/>
              </a:spcAft>
              <a:buSzPts val="1000"/>
              <a:buFont typeface="Symbol" panose="05050102010706020507" pitchFamily="18" charset="2"/>
              <a:buChar char=""/>
              <a:tabLst>
                <a:tab pos="457200" algn="l"/>
              </a:tabLst>
            </a:pP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Curiosity</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lvl="0" indent="-342900">
              <a:lnSpc>
                <a:spcPct val="120000"/>
              </a:lnSpc>
              <a:spcAft>
                <a:spcPts val="800"/>
              </a:spcAft>
              <a:buSzPts val="1000"/>
              <a:buFont typeface="Symbol" panose="05050102010706020507" pitchFamily="18" charset="2"/>
              <a:buChar char=""/>
              <a:tabLst>
                <a:tab pos="457200" algn="l"/>
              </a:tabLst>
            </a:pP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Willingness to take risks</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3921231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1BA7E-7C10-2C72-70CD-77D43AD3C858}"/>
              </a:ext>
            </a:extLst>
          </p:cNvPr>
          <p:cNvSpPr>
            <a:spLocks noGrp="1"/>
          </p:cNvSpPr>
          <p:nvPr>
            <p:ph type="title"/>
          </p:nvPr>
        </p:nvSpPr>
        <p:spPr>
          <a:xfrm>
            <a:off x="838200" y="484632"/>
            <a:ext cx="10515600" cy="594360"/>
          </a:xfrm>
        </p:spPr>
        <p:txBody>
          <a:bodyPr>
            <a:normAutofit fontScale="90000"/>
          </a:bodyPr>
          <a:lstStyle/>
          <a:p>
            <a:r>
              <a:rPr lang="en-CA" dirty="0"/>
              <a:t>2. Innovation</a:t>
            </a:r>
            <a:br>
              <a:rPr lang="en-CA" dirty="0"/>
            </a:br>
            <a:endParaRPr lang="en-CA" dirty="0"/>
          </a:p>
        </p:txBody>
      </p:sp>
      <p:sp>
        <p:nvSpPr>
          <p:cNvPr id="3" name="Content Placeholder 2">
            <a:extLst>
              <a:ext uri="{FF2B5EF4-FFF2-40B4-BE49-F238E27FC236}">
                <a16:creationId xmlns:a16="http://schemas.microsoft.com/office/drawing/2014/main" id="{555FC178-E398-B31E-3608-A8AE8B4189D3}"/>
              </a:ext>
            </a:extLst>
          </p:cNvPr>
          <p:cNvSpPr>
            <a:spLocks noGrp="1"/>
          </p:cNvSpPr>
          <p:nvPr>
            <p:ph idx="1"/>
          </p:nvPr>
        </p:nvSpPr>
        <p:spPr>
          <a:xfrm>
            <a:off x="838200" y="1152144"/>
            <a:ext cx="10515600" cy="5024819"/>
          </a:xfrm>
        </p:spPr>
        <p:txBody>
          <a:bodyPr>
            <a:normAutofit fontScale="77500" lnSpcReduction="20000"/>
          </a:bodyPr>
          <a:lstStyle/>
          <a:p>
            <a:r>
              <a:rPr lang="en-US" dirty="0"/>
              <a:t>Definition:</a:t>
            </a:r>
          </a:p>
          <a:p>
            <a:r>
              <a:rPr lang="en-US" dirty="0"/>
              <a:t>Innovation is the process of turning creative ideas into practical and valuable outcomes — products, services, or processes that improve on what exists or introduce something entirely new.</a:t>
            </a:r>
          </a:p>
          <a:p>
            <a:r>
              <a:rPr lang="en-US" dirty="0"/>
              <a:t>In entrepreneurship: Innovation means applying creativity to the real world. Entrepreneurs innovate when they develop new business models, improve customer experiences, or apply technology in novel ways.</a:t>
            </a:r>
          </a:p>
          <a:p>
            <a:r>
              <a:rPr lang="en-US" dirty="0"/>
              <a:t>Example:</a:t>
            </a:r>
          </a:p>
          <a:p>
            <a:r>
              <a:rPr lang="en-US" dirty="0"/>
              <a:t>Airbnb took a creative idea (renting out spare rooms) and turned it into an innovative platform that disrupted the hospitality industry.</a:t>
            </a:r>
          </a:p>
          <a:p>
            <a:r>
              <a:rPr lang="en-US" dirty="0"/>
              <a:t>Types of innovation:</a:t>
            </a:r>
          </a:p>
          <a:p>
            <a:pPr marL="0" indent="0">
              <a:buNone/>
            </a:pPr>
            <a:r>
              <a:rPr lang="en-US" dirty="0"/>
              <a:t>	Product innovation: new or improved products (e.g., smartphones)</a:t>
            </a:r>
          </a:p>
          <a:p>
            <a:pPr marL="0" indent="0">
              <a:buNone/>
            </a:pPr>
            <a:r>
              <a:rPr lang="en-US" dirty="0"/>
              <a:t>	Process innovation: new ways of doing things (e.g., automated supply chains)</a:t>
            </a:r>
          </a:p>
          <a:p>
            <a:pPr marL="0" indent="0">
              <a:buNone/>
            </a:pPr>
            <a:r>
              <a:rPr lang="en-US" dirty="0"/>
              <a:t>	Business model innovation: new ways to create or capture value (e.g., subscription models)</a:t>
            </a:r>
          </a:p>
          <a:p>
            <a:endParaRPr lang="en-CA" dirty="0"/>
          </a:p>
        </p:txBody>
      </p:sp>
    </p:spTree>
    <p:extLst>
      <p:ext uri="{BB962C8B-B14F-4D97-AF65-F5344CB8AC3E}">
        <p14:creationId xmlns:p14="http://schemas.microsoft.com/office/powerpoint/2010/main" val="1640972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59D1B-07F0-EE08-AEBB-8D62B7D14675}"/>
              </a:ext>
            </a:extLst>
          </p:cNvPr>
          <p:cNvSpPr>
            <a:spLocks noGrp="1"/>
          </p:cNvSpPr>
          <p:nvPr>
            <p:ph type="title"/>
          </p:nvPr>
        </p:nvSpPr>
        <p:spPr>
          <a:xfrm>
            <a:off x="838200" y="749808"/>
            <a:ext cx="10515600" cy="146304"/>
          </a:xfrm>
        </p:spPr>
        <p:txBody>
          <a:bodyPr>
            <a:normAutofit fontScale="90000"/>
          </a:bodyPr>
          <a:lstStyle/>
          <a:p>
            <a:r>
              <a:rPr lang="en-CA" dirty="0"/>
              <a:t>3. Idea Generation</a:t>
            </a:r>
            <a:br>
              <a:rPr lang="en-CA" dirty="0"/>
            </a:br>
            <a:endParaRPr lang="en-CA" dirty="0"/>
          </a:p>
        </p:txBody>
      </p:sp>
      <p:sp>
        <p:nvSpPr>
          <p:cNvPr id="3" name="Content Placeholder 2">
            <a:extLst>
              <a:ext uri="{FF2B5EF4-FFF2-40B4-BE49-F238E27FC236}">
                <a16:creationId xmlns:a16="http://schemas.microsoft.com/office/drawing/2014/main" id="{3CE1A1BB-F37A-C2CE-C986-56E90A4A8F15}"/>
              </a:ext>
            </a:extLst>
          </p:cNvPr>
          <p:cNvSpPr>
            <a:spLocks noGrp="1"/>
          </p:cNvSpPr>
          <p:nvPr>
            <p:ph idx="1"/>
          </p:nvPr>
        </p:nvSpPr>
        <p:spPr>
          <a:xfrm>
            <a:off x="347472" y="1005840"/>
            <a:ext cx="11006328" cy="5171123"/>
          </a:xfrm>
        </p:spPr>
        <p:txBody>
          <a:bodyPr>
            <a:normAutofit fontScale="85000" lnSpcReduction="20000"/>
          </a:bodyPr>
          <a:lstStyle/>
          <a:p>
            <a:r>
              <a:rPr lang="en-US" dirty="0"/>
              <a:t>Definition: Idea generation (or ideation) is the systematic process of producing, developing, and communicating new ideas.</a:t>
            </a:r>
          </a:p>
          <a:p>
            <a:r>
              <a:rPr lang="en-US" dirty="0"/>
              <a:t>In entrepreneurship: It’s the foundation of both creativity and innovation. Entrepreneurs use idea generation techniques to discover opportunities for new ventures or improvements.</a:t>
            </a:r>
          </a:p>
          <a:p>
            <a:r>
              <a:rPr lang="en-US" dirty="0"/>
              <a:t>Common idea generation techniques:</a:t>
            </a:r>
          </a:p>
          <a:p>
            <a:pPr marL="0" indent="0">
              <a:buNone/>
            </a:pPr>
            <a:r>
              <a:rPr lang="en-US" dirty="0"/>
              <a:t>	Brainstorming: generating many ideas quickly without judgment</a:t>
            </a:r>
          </a:p>
          <a:p>
            <a:pPr marL="0" indent="0">
              <a:buNone/>
            </a:pPr>
            <a:r>
              <a:rPr lang="en-US" dirty="0"/>
              <a:t>	Mind mapping: visually connecting related concepts</a:t>
            </a:r>
          </a:p>
          <a:p>
            <a:pPr marL="0" indent="0">
              <a:buNone/>
            </a:pPr>
            <a:r>
              <a:rPr lang="en-US" dirty="0"/>
              <a:t>	SCAMPER method: modifying existing ideas (Substitute, Combine, Adapt, Modify, Put to    another use, Eliminate, Reverse)</a:t>
            </a:r>
          </a:p>
          <a:p>
            <a:pPr marL="0" indent="0">
              <a:buNone/>
            </a:pPr>
            <a:r>
              <a:rPr lang="en-US" dirty="0"/>
              <a:t>	Observation: identifying problems or gaps in the market</a:t>
            </a:r>
          </a:p>
          <a:p>
            <a:pPr marL="0" indent="0">
              <a:buNone/>
            </a:pPr>
            <a:r>
              <a:rPr lang="en-US" dirty="0"/>
              <a:t>	Customer feedback: understanding pain points and unmet needs</a:t>
            </a:r>
          </a:p>
          <a:p>
            <a:pPr marL="0" indent="0">
              <a:buNone/>
            </a:pPr>
            <a:r>
              <a:rPr lang="en-US" dirty="0"/>
              <a:t>Example:  A group of students brainstorming sustainable packaging ideas might generate dozens of concepts — one of which could evolve into a real eco-friendly business.</a:t>
            </a:r>
          </a:p>
          <a:p>
            <a:endParaRPr lang="en-CA" dirty="0"/>
          </a:p>
        </p:txBody>
      </p:sp>
    </p:spTree>
    <p:extLst>
      <p:ext uri="{BB962C8B-B14F-4D97-AF65-F5344CB8AC3E}">
        <p14:creationId xmlns:p14="http://schemas.microsoft.com/office/powerpoint/2010/main" val="1503823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C0F7-8966-438D-BC59-CA81A33F9985}"/>
              </a:ext>
            </a:extLst>
          </p:cNvPr>
          <p:cNvSpPr>
            <a:spLocks noGrp="1"/>
          </p:cNvSpPr>
          <p:nvPr>
            <p:ph type="title"/>
          </p:nvPr>
        </p:nvSpPr>
        <p:spPr>
          <a:xfrm>
            <a:off x="838200" y="365125"/>
            <a:ext cx="10515600" cy="53098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61B3CFC-8694-433C-2B53-5640BEAE6BD8}"/>
              </a:ext>
            </a:extLst>
          </p:cNvPr>
          <p:cNvSpPr>
            <a:spLocks noGrp="1"/>
          </p:cNvSpPr>
          <p:nvPr>
            <p:ph idx="1"/>
          </p:nvPr>
        </p:nvSpPr>
        <p:spPr>
          <a:xfrm>
            <a:off x="838200" y="1078992"/>
            <a:ext cx="10515600" cy="5097971"/>
          </a:xfrm>
        </p:spPr>
        <p:txBody>
          <a:bodyPr>
            <a:normAutofit/>
          </a:bodyPr>
          <a:lstStyle/>
          <a:p>
            <a:pPr>
              <a:buNone/>
            </a:pPr>
            <a:r>
              <a:rPr lang="en-US" b="1" dirty="0"/>
              <a:t>Idea generation</a:t>
            </a:r>
            <a:r>
              <a:rPr lang="en-US" dirty="0"/>
              <a:t> means the process of </a:t>
            </a:r>
            <a:r>
              <a:rPr lang="en-US" b="1" dirty="0"/>
              <a:t>creating, developing, and communicating new thoughts or concepts</a:t>
            </a:r>
            <a:r>
              <a:rPr lang="en-US" dirty="0"/>
              <a:t>.</a:t>
            </a:r>
            <a:br>
              <a:rPr lang="en-US" dirty="0"/>
            </a:br>
            <a:r>
              <a:rPr lang="en-US" dirty="0"/>
              <a:t>It’s the </a:t>
            </a:r>
            <a:r>
              <a:rPr lang="en-US" b="1" dirty="0"/>
              <a:t>first step in innovation or problem-solving</a:t>
            </a:r>
            <a:r>
              <a:rPr lang="en-US" dirty="0"/>
              <a:t>, where individuals or teams come up with </a:t>
            </a:r>
            <a:r>
              <a:rPr lang="en-US" b="1" dirty="0"/>
              <a:t>fresh ideas</a:t>
            </a:r>
            <a:r>
              <a:rPr lang="en-US" dirty="0"/>
              <a:t> that could later turn into products, services, or improvements.</a:t>
            </a:r>
          </a:p>
          <a:p>
            <a:pPr>
              <a:buNone/>
            </a:pPr>
            <a:r>
              <a:rPr lang="en-US" dirty="0"/>
              <a:t>In simple terms, </a:t>
            </a:r>
            <a:r>
              <a:rPr lang="en-US" b="1" dirty="0"/>
              <a:t>idea generation</a:t>
            </a:r>
            <a:r>
              <a:rPr lang="en-US" dirty="0"/>
              <a:t> is about </a:t>
            </a:r>
            <a:r>
              <a:rPr lang="en-US" b="1" dirty="0"/>
              <a:t>thinking creatively</a:t>
            </a:r>
            <a:r>
              <a:rPr lang="en-US" dirty="0"/>
              <a:t> to find </a:t>
            </a:r>
            <a:r>
              <a:rPr lang="en-US" b="1" dirty="0"/>
              <a:t>new and useful solutions</a:t>
            </a:r>
            <a:r>
              <a:rPr lang="en-US" dirty="0"/>
              <a:t> to problems or opportunities.</a:t>
            </a:r>
          </a:p>
          <a:p>
            <a:pPr>
              <a:buNone/>
            </a:pPr>
            <a:r>
              <a:rPr lang="en-US" b="1" dirty="0"/>
              <a:t>Example:</a:t>
            </a:r>
          </a:p>
          <a:p>
            <a:pPr>
              <a:buFont typeface="Arial" panose="020B0604020202020204" pitchFamily="34" charset="0"/>
              <a:buChar char="•"/>
            </a:pPr>
            <a:r>
              <a:rPr lang="en-US" dirty="0"/>
              <a:t>A company brainstorming new </a:t>
            </a:r>
            <a:r>
              <a:rPr lang="en-US" b="1" dirty="0"/>
              <a:t>app features</a:t>
            </a:r>
            <a:r>
              <a:rPr lang="en-US" dirty="0"/>
              <a:t> to attract users.</a:t>
            </a:r>
          </a:p>
          <a:p>
            <a:pPr>
              <a:buFont typeface="Arial" panose="020B0604020202020204" pitchFamily="34" charset="0"/>
              <a:buChar char="•"/>
            </a:pPr>
            <a:r>
              <a:rPr lang="en-US" dirty="0"/>
              <a:t>Students coming up with </a:t>
            </a:r>
            <a:r>
              <a:rPr lang="en-US" b="1" dirty="0"/>
              <a:t>project topics</a:t>
            </a:r>
            <a:r>
              <a:rPr lang="en-US" dirty="0"/>
              <a:t> for a competition.</a:t>
            </a:r>
          </a:p>
          <a:p>
            <a:pPr>
              <a:buFont typeface="Arial" panose="020B0604020202020204" pitchFamily="34" charset="0"/>
              <a:buChar char="•"/>
            </a:pPr>
            <a:r>
              <a:rPr lang="en-US" dirty="0"/>
              <a:t>Designers sketching </a:t>
            </a:r>
            <a:r>
              <a:rPr lang="en-US" b="1" dirty="0"/>
              <a:t>different logo concepts</a:t>
            </a:r>
            <a:r>
              <a:rPr lang="en-US" dirty="0"/>
              <a:t> for a brand.</a:t>
            </a:r>
          </a:p>
          <a:p>
            <a:endParaRPr lang="en-CA" dirty="0"/>
          </a:p>
        </p:txBody>
      </p:sp>
    </p:spTree>
    <p:extLst>
      <p:ext uri="{BB962C8B-B14F-4D97-AF65-F5344CB8AC3E}">
        <p14:creationId xmlns:p14="http://schemas.microsoft.com/office/powerpoint/2010/main" val="2542222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5A1AC-7E39-7B09-ABD2-3ACCFFBCB5CA}"/>
              </a:ext>
            </a:extLst>
          </p:cNvPr>
          <p:cNvSpPr>
            <a:spLocks noGrp="1"/>
          </p:cNvSpPr>
          <p:nvPr>
            <p:ph type="title"/>
          </p:nvPr>
        </p:nvSpPr>
        <p:spPr/>
        <p:txBody>
          <a:bodyPr/>
          <a:lstStyle/>
          <a:p>
            <a:r>
              <a:rPr lang="en-US" dirty="0"/>
              <a:t>Concept of opportunity </a:t>
            </a:r>
            <a:endParaRPr lang="en-CA" dirty="0"/>
          </a:p>
        </p:txBody>
      </p:sp>
      <p:sp>
        <p:nvSpPr>
          <p:cNvPr id="3" name="Content Placeholder 2">
            <a:extLst>
              <a:ext uri="{FF2B5EF4-FFF2-40B4-BE49-F238E27FC236}">
                <a16:creationId xmlns:a16="http://schemas.microsoft.com/office/drawing/2014/main" id="{3114A5D9-E620-2F08-48A0-917B54F588A3}"/>
              </a:ext>
            </a:extLst>
          </p:cNvPr>
          <p:cNvSpPr>
            <a:spLocks noGrp="1"/>
          </p:cNvSpPr>
          <p:nvPr>
            <p:ph idx="1"/>
          </p:nvPr>
        </p:nvSpPr>
        <p:spPr/>
        <p:txBody>
          <a:bodyPr/>
          <a:lstStyle/>
          <a:p>
            <a:r>
              <a:rPr lang="en-US" dirty="0"/>
              <a:t>In entrepreneurship, </a:t>
            </a:r>
            <a:r>
              <a:rPr lang="en-US" b="1" dirty="0"/>
              <a:t>opportunity</a:t>
            </a:r>
            <a:r>
              <a:rPr lang="en-US" dirty="0"/>
              <a:t> refers to a favorable set of circumstances or conditions that allows an entrepreneur to create and deliver value through a business venture. It involves identifying unmet needs, gaps in the market, or problems that can be solved in a way that benefits customers and generates profit or value.</a:t>
            </a:r>
            <a:endParaRPr lang="en-CA" dirty="0"/>
          </a:p>
        </p:txBody>
      </p:sp>
    </p:spTree>
    <p:extLst>
      <p:ext uri="{BB962C8B-B14F-4D97-AF65-F5344CB8AC3E}">
        <p14:creationId xmlns:p14="http://schemas.microsoft.com/office/powerpoint/2010/main" val="751276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30E8-6CC6-A7B8-3E34-6EAA5250647B}"/>
              </a:ext>
            </a:extLst>
          </p:cNvPr>
          <p:cNvSpPr>
            <a:spLocks noGrp="1"/>
          </p:cNvSpPr>
          <p:nvPr>
            <p:ph type="title"/>
          </p:nvPr>
        </p:nvSpPr>
        <p:spPr>
          <a:xfrm>
            <a:off x="838200" y="365126"/>
            <a:ext cx="10515600" cy="21497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ECA718FC-162F-C56D-34D8-8B0DC8DA3EA3}"/>
              </a:ext>
            </a:extLst>
          </p:cNvPr>
          <p:cNvSpPr>
            <a:spLocks noGrp="1"/>
          </p:cNvSpPr>
          <p:nvPr>
            <p:ph idx="1"/>
          </p:nvPr>
        </p:nvSpPr>
        <p:spPr>
          <a:xfrm>
            <a:off x="452283" y="855406"/>
            <a:ext cx="11464413" cy="5637468"/>
          </a:xfrm>
        </p:spPr>
        <p:txBody>
          <a:bodyPr>
            <a:normAutofit fontScale="92500" lnSpcReduction="20000"/>
          </a:bodyPr>
          <a:lstStyle/>
          <a:p>
            <a:r>
              <a:rPr lang="en-US" b="1" dirty="0"/>
              <a:t>Key Features of an Opportunity in Entrepreneurship:</a:t>
            </a:r>
          </a:p>
          <a:p>
            <a:pPr>
              <a:buFont typeface="+mj-lt"/>
              <a:buAutoNum type="arabicPeriod"/>
            </a:pPr>
            <a:r>
              <a:rPr lang="en-US" b="1" dirty="0"/>
              <a:t>Market Demand</a:t>
            </a:r>
            <a:br>
              <a:rPr lang="en-US" dirty="0"/>
            </a:br>
            <a:r>
              <a:rPr lang="en-US" dirty="0"/>
              <a:t>There must be a clear need or demand for the product, service, or solution within the target market.</a:t>
            </a:r>
          </a:p>
          <a:p>
            <a:pPr>
              <a:buFont typeface="+mj-lt"/>
              <a:buAutoNum type="arabicPeriod"/>
            </a:pPr>
            <a:r>
              <a:rPr lang="en-US" b="1" dirty="0"/>
              <a:t>Value Proposition</a:t>
            </a:r>
            <a:br>
              <a:rPr lang="en-US" dirty="0"/>
            </a:br>
            <a:r>
              <a:rPr lang="en-US" dirty="0"/>
              <a:t>The opportunity should offer a unique solution that provides significant value to customers, distinguishing it from existing alternatives.</a:t>
            </a:r>
          </a:p>
          <a:p>
            <a:pPr>
              <a:buFont typeface="+mj-lt"/>
              <a:buAutoNum type="arabicPeriod"/>
            </a:pPr>
            <a:r>
              <a:rPr lang="en-US" b="1" dirty="0"/>
              <a:t>Feasibility</a:t>
            </a:r>
            <a:br>
              <a:rPr lang="en-US" dirty="0"/>
            </a:br>
            <a:r>
              <a:rPr lang="en-US" dirty="0"/>
              <a:t>The entrepreneur must have (or be able to acquire) the resources, skills, and capabilities to pursue the opportunity.</a:t>
            </a:r>
          </a:p>
          <a:p>
            <a:pPr>
              <a:buFont typeface="+mj-lt"/>
              <a:buAutoNum type="arabicPeriod"/>
            </a:pPr>
            <a:r>
              <a:rPr lang="en-US" b="1" dirty="0"/>
              <a:t>Profit Potential</a:t>
            </a:r>
            <a:br>
              <a:rPr lang="en-US" dirty="0"/>
            </a:br>
            <a:r>
              <a:rPr lang="en-US" dirty="0"/>
              <a:t>The opportunity should have the potential to generate revenue or other measurable value, making it financially viable.</a:t>
            </a:r>
          </a:p>
          <a:p>
            <a:pPr>
              <a:buFont typeface="+mj-lt"/>
              <a:buAutoNum type="arabicPeriod"/>
            </a:pPr>
            <a:r>
              <a:rPr lang="en-US" b="1" dirty="0"/>
              <a:t>Scalability and Sustainability</a:t>
            </a:r>
            <a:br>
              <a:rPr lang="en-US" dirty="0"/>
            </a:br>
            <a:r>
              <a:rPr lang="en-US" dirty="0"/>
              <a:t>A good opportunity often has room for growth and the ability to remain relevant over time.</a:t>
            </a:r>
          </a:p>
          <a:p>
            <a:endParaRPr lang="en-CA" dirty="0"/>
          </a:p>
        </p:txBody>
      </p:sp>
    </p:spTree>
    <p:extLst>
      <p:ext uri="{BB962C8B-B14F-4D97-AF65-F5344CB8AC3E}">
        <p14:creationId xmlns:p14="http://schemas.microsoft.com/office/powerpoint/2010/main" val="498651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2CF36-C30D-29F2-AA05-CDBF258B226D}"/>
              </a:ext>
            </a:extLst>
          </p:cNvPr>
          <p:cNvSpPr>
            <a:spLocks noGrp="1"/>
          </p:cNvSpPr>
          <p:nvPr>
            <p:ph type="title"/>
          </p:nvPr>
        </p:nvSpPr>
        <p:spPr>
          <a:xfrm>
            <a:off x="838200" y="365125"/>
            <a:ext cx="10515600" cy="53098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713EEC4E-E0CD-63A2-7C2A-DAE7C166DD8D}"/>
              </a:ext>
            </a:extLst>
          </p:cNvPr>
          <p:cNvSpPr>
            <a:spLocks noGrp="1"/>
          </p:cNvSpPr>
          <p:nvPr>
            <p:ph idx="1"/>
          </p:nvPr>
        </p:nvSpPr>
        <p:spPr>
          <a:xfrm>
            <a:off x="838200" y="1197864"/>
            <a:ext cx="10515600" cy="4979099"/>
          </a:xfrm>
        </p:spPr>
        <p:txBody>
          <a:bodyPr>
            <a:normAutofit fontScale="85000" lnSpcReduction="20000"/>
          </a:bodyPr>
          <a:lstStyle/>
          <a:p>
            <a:r>
              <a:rPr lang="en-US" dirty="0"/>
              <a:t>The sources of new business ideas are varied and stem from a combination of observation, experience, research, and creativity. Entrepreneurs often identify these ideas by paying attention to unmet needs, emerging trends, or areas for improvement in existing solutions.</a:t>
            </a:r>
          </a:p>
          <a:p>
            <a:r>
              <a:rPr lang="en-US" b="1" dirty="0"/>
              <a:t>Common Sources of New Business Ideas:</a:t>
            </a:r>
          </a:p>
          <a:p>
            <a:r>
              <a:rPr lang="en-US" b="1" dirty="0"/>
              <a:t>1. Personal Experiences</a:t>
            </a:r>
          </a:p>
          <a:p>
            <a:pPr>
              <a:buFont typeface="Arial" panose="020B0604020202020204" pitchFamily="34" charset="0"/>
              <a:buChar char="•"/>
            </a:pPr>
            <a:r>
              <a:rPr lang="en-US" dirty="0"/>
              <a:t>Experiences in daily life, work, or hobbies can spark ideas for businesses.</a:t>
            </a:r>
          </a:p>
          <a:p>
            <a:pPr>
              <a:buFont typeface="Arial" panose="020B0604020202020204" pitchFamily="34" charset="0"/>
              <a:buChar char="•"/>
            </a:pPr>
            <a:r>
              <a:rPr lang="en-US" dirty="0"/>
              <a:t>Example: A frustrated commuter might develop a carpooling app to make travel easier.</a:t>
            </a:r>
          </a:p>
          <a:p>
            <a:r>
              <a:rPr lang="en-US" b="1" dirty="0"/>
              <a:t>2. Market Research</a:t>
            </a:r>
          </a:p>
          <a:p>
            <a:pPr>
              <a:buFont typeface="Arial" panose="020B0604020202020204" pitchFamily="34" charset="0"/>
              <a:buChar char="•"/>
            </a:pPr>
            <a:r>
              <a:rPr lang="en-US" dirty="0"/>
              <a:t>Surveys, focus groups, and analysis of customer feedback can reveal gaps or demands in the market.</a:t>
            </a:r>
          </a:p>
          <a:p>
            <a:pPr>
              <a:buFont typeface="Arial" panose="020B0604020202020204" pitchFamily="34" charset="0"/>
              <a:buChar char="•"/>
            </a:pPr>
            <a:r>
              <a:rPr lang="en-US" dirty="0"/>
              <a:t>Example: Discovering that customers prefer eco-friendly packaging could inspire a green packaging business.</a:t>
            </a:r>
          </a:p>
          <a:p>
            <a:endParaRPr lang="en-CA" dirty="0"/>
          </a:p>
        </p:txBody>
      </p:sp>
    </p:spTree>
    <p:extLst>
      <p:ext uri="{BB962C8B-B14F-4D97-AF65-F5344CB8AC3E}">
        <p14:creationId xmlns:p14="http://schemas.microsoft.com/office/powerpoint/2010/main" val="570866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93A70-EEF6-D521-D749-63CDDBDFFE1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E7122A5-4E27-D368-3E3F-1DA2D9048844}"/>
              </a:ext>
            </a:extLst>
          </p:cNvPr>
          <p:cNvSpPr>
            <a:spLocks noGrp="1"/>
          </p:cNvSpPr>
          <p:nvPr>
            <p:ph idx="1"/>
          </p:nvPr>
        </p:nvSpPr>
        <p:spPr/>
        <p:txBody>
          <a:bodyPr>
            <a:normAutofit/>
          </a:bodyPr>
          <a:lstStyle/>
          <a:p>
            <a:r>
              <a:rPr lang="en-US" b="1" dirty="0"/>
              <a:t>3. Observation of Trends</a:t>
            </a:r>
          </a:p>
          <a:p>
            <a:pPr>
              <a:buFont typeface="Arial" panose="020B0604020202020204" pitchFamily="34" charset="0"/>
              <a:buChar char="•"/>
            </a:pPr>
            <a:r>
              <a:rPr lang="en-US" dirty="0"/>
              <a:t>Monitoring societal, technological, economic, and cultural trends helps identify future opportunities.</a:t>
            </a:r>
          </a:p>
          <a:p>
            <a:pPr>
              <a:buFont typeface="Arial" panose="020B0604020202020204" pitchFamily="34" charset="0"/>
              <a:buChar char="•"/>
            </a:pPr>
            <a:r>
              <a:rPr lang="en-US" dirty="0"/>
              <a:t>Example: The rise of remote work inspired the development of co-working spaces and collaboration tools like Slack.</a:t>
            </a:r>
          </a:p>
          <a:p>
            <a:r>
              <a:rPr lang="en-US" b="1" dirty="0"/>
              <a:t>4. Problems and Pain Points</a:t>
            </a:r>
          </a:p>
          <a:p>
            <a:pPr>
              <a:buFont typeface="Arial" panose="020B0604020202020204" pitchFamily="34" charset="0"/>
              <a:buChar char="•"/>
            </a:pPr>
            <a:r>
              <a:rPr lang="en-US" dirty="0"/>
              <a:t>Identifying problems people face and offering innovative solutions.</a:t>
            </a:r>
          </a:p>
          <a:p>
            <a:pPr>
              <a:buFont typeface="Arial" panose="020B0604020202020204" pitchFamily="34" charset="0"/>
              <a:buChar char="•"/>
            </a:pPr>
            <a:r>
              <a:rPr lang="en-US" dirty="0"/>
              <a:t>Example: Food delivery apps like DoorDash emerged to address the inconvenience of ordering meals from restaurants.</a:t>
            </a:r>
          </a:p>
          <a:p>
            <a:endParaRPr lang="en-CA" dirty="0"/>
          </a:p>
        </p:txBody>
      </p:sp>
    </p:spTree>
    <p:extLst>
      <p:ext uri="{BB962C8B-B14F-4D97-AF65-F5344CB8AC3E}">
        <p14:creationId xmlns:p14="http://schemas.microsoft.com/office/powerpoint/2010/main" val="921463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608EB-8E8A-27BD-AE04-D92BB0A6040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ACD178D-1B5D-1E2A-96B8-9947B3C67F5C}"/>
              </a:ext>
            </a:extLst>
          </p:cNvPr>
          <p:cNvSpPr>
            <a:spLocks noGrp="1"/>
          </p:cNvSpPr>
          <p:nvPr>
            <p:ph idx="1"/>
          </p:nvPr>
        </p:nvSpPr>
        <p:spPr/>
        <p:txBody>
          <a:bodyPr>
            <a:normAutofit lnSpcReduction="10000"/>
          </a:bodyPr>
          <a:lstStyle/>
          <a:p>
            <a:r>
              <a:rPr lang="en-US" b="1" dirty="0"/>
              <a:t>5. Industry Experience</a:t>
            </a:r>
          </a:p>
          <a:p>
            <a:pPr>
              <a:buFont typeface="Arial" panose="020B0604020202020204" pitchFamily="34" charset="0"/>
              <a:buChar char="•"/>
            </a:pPr>
            <a:r>
              <a:rPr lang="en-US" dirty="0"/>
              <a:t>Professionals often identify inefficiencies or opportunities for improvement within their industries.</a:t>
            </a:r>
          </a:p>
          <a:p>
            <a:pPr>
              <a:buFont typeface="Arial" panose="020B0604020202020204" pitchFamily="34" charset="0"/>
              <a:buChar char="•"/>
            </a:pPr>
            <a:r>
              <a:rPr lang="en-US" dirty="0"/>
              <a:t>Example: A software engineer noticing inefficiencies in project management might develop a specialized tool.</a:t>
            </a:r>
          </a:p>
          <a:p>
            <a:r>
              <a:rPr lang="en-US" b="1" dirty="0"/>
              <a:t>6. Customer Feedback</a:t>
            </a:r>
          </a:p>
          <a:p>
            <a:pPr>
              <a:buFont typeface="Arial" panose="020B0604020202020204" pitchFamily="34" charset="0"/>
              <a:buChar char="•"/>
            </a:pPr>
            <a:r>
              <a:rPr lang="en-US" dirty="0"/>
              <a:t>Listening to existing or potential customers can inspire ideas to enhance products or create new ones.</a:t>
            </a:r>
          </a:p>
          <a:p>
            <a:pPr>
              <a:buFont typeface="Arial" panose="020B0604020202020204" pitchFamily="34" charset="0"/>
              <a:buChar char="•"/>
            </a:pPr>
            <a:r>
              <a:rPr lang="en-US" dirty="0"/>
              <a:t>Example: Companies like Tesla incorporate customer feedback into new car models and features.</a:t>
            </a:r>
          </a:p>
          <a:p>
            <a:endParaRPr lang="en-CA" dirty="0"/>
          </a:p>
        </p:txBody>
      </p:sp>
    </p:spTree>
    <p:extLst>
      <p:ext uri="{BB962C8B-B14F-4D97-AF65-F5344CB8AC3E}">
        <p14:creationId xmlns:p14="http://schemas.microsoft.com/office/powerpoint/2010/main" val="830868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531E-1DE0-0FE4-8511-DA49D7293E0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582AC6C-A0E8-0F94-A0B0-079C08255435}"/>
              </a:ext>
            </a:extLst>
          </p:cNvPr>
          <p:cNvSpPr>
            <a:spLocks noGrp="1"/>
          </p:cNvSpPr>
          <p:nvPr>
            <p:ph idx="1"/>
          </p:nvPr>
        </p:nvSpPr>
        <p:spPr/>
        <p:txBody>
          <a:bodyPr>
            <a:normAutofit/>
          </a:bodyPr>
          <a:lstStyle/>
          <a:p>
            <a:r>
              <a:rPr lang="en-US" b="1" dirty="0"/>
              <a:t>7. Networking and Collaboration</a:t>
            </a:r>
          </a:p>
          <a:p>
            <a:pPr>
              <a:buFont typeface="Arial" panose="020B0604020202020204" pitchFamily="34" charset="0"/>
              <a:buChar char="•"/>
            </a:pPr>
            <a:r>
              <a:rPr lang="en-US" dirty="0"/>
              <a:t>Conversations with peers, mentors, or industry experts can reveal overlooked opportunities.</a:t>
            </a:r>
          </a:p>
          <a:p>
            <a:pPr>
              <a:buFont typeface="Arial" panose="020B0604020202020204" pitchFamily="34" charset="0"/>
              <a:buChar char="•"/>
            </a:pPr>
            <a:r>
              <a:rPr lang="en-US" dirty="0"/>
              <a:t>Example: Startups like Airbnb began through collaboration and brainstorming among co-founders.</a:t>
            </a:r>
          </a:p>
          <a:p>
            <a:r>
              <a:rPr lang="en-US" b="1" dirty="0"/>
              <a:t>8. Existing Products or Services</a:t>
            </a:r>
          </a:p>
          <a:p>
            <a:pPr>
              <a:buFont typeface="Arial" panose="020B0604020202020204" pitchFamily="34" charset="0"/>
              <a:buChar char="•"/>
            </a:pPr>
            <a:r>
              <a:rPr lang="en-US" dirty="0"/>
              <a:t>Improving or adapting existing offerings to new markets or niches.</a:t>
            </a:r>
          </a:p>
          <a:p>
            <a:pPr>
              <a:buFont typeface="Arial" panose="020B0604020202020204" pitchFamily="34" charset="0"/>
              <a:buChar char="•"/>
            </a:pPr>
            <a:r>
              <a:rPr lang="en-US" dirty="0"/>
              <a:t>Example: Streaming platforms like Spotify improved on traditional music distribution methods.</a:t>
            </a:r>
          </a:p>
          <a:p>
            <a:endParaRPr lang="en-CA" dirty="0"/>
          </a:p>
        </p:txBody>
      </p:sp>
    </p:spTree>
    <p:extLst>
      <p:ext uri="{BB962C8B-B14F-4D97-AF65-F5344CB8AC3E}">
        <p14:creationId xmlns:p14="http://schemas.microsoft.com/office/powerpoint/2010/main" val="4222648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74A8-2E0B-BCFD-2FEE-4800414BF18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1E3F131-1F0C-2051-B42F-EBD59C021861}"/>
              </a:ext>
            </a:extLst>
          </p:cNvPr>
          <p:cNvSpPr>
            <a:spLocks noGrp="1"/>
          </p:cNvSpPr>
          <p:nvPr>
            <p:ph idx="1"/>
          </p:nvPr>
        </p:nvSpPr>
        <p:spPr/>
        <p:txBody>
          <a:bodyPr>
            <a:normAutofit/>
          </a:bodyPr>
          <a:lstStyle/>
          <a:p>
            <a:r>
              <a:rPr lang="en-US" b="1" dirty="0"/>
              <a:t>9. Emerging Technologies</a:t>
            </a:r>
          </a:p>
          <a:p>
            <a:pPr>
              <a:buFont typeface="Arial" panose="020B0604020202020204" pitchFamily="34" charset="0"/>
              <a:buChar char="•"/>
            </a:pPr>
            <a:r>
              <a:rPr lang="en-US" dirty="0"/>
              <a:t>Advances in technology provide fertile ground for new ideas.</a:t>
            </a:r>
          </a:p>
          <a:p>
            <a:pPr>
              <a:buFont typeface="Arial" panose="020B0604020202020204" pitchFamily="34" charset="0"/>
              <a:buChar char="•"/>
            </a:pPr>
            <a:r>
              <a:rPr lang="en-US" dirty="0"/>
              <a:t>Example: The emergence of blockchain technology led to the creation of cryptocurrencies and decentralized apps.</a:t>
            </a:r>
          </a:p>
          <a:p>
            <a:r>
              <a:rPr lang="en-US" b="1" dirty="0"/>
              <a:t>10. Franchising Opportunities</a:t>
            </a:r>
          </a:p>
          <a:p>
            <a:pPr>
              <a:buFont typeface="Arial" panose="020B0604020202020204" pitchFamily="34" charset="0"/>
              <a:buChar char="•"/>
            </a:pPr>
            <a:r>
              <a:rPr lang="en-US" dirty="0"/>
              <a:t>Adapting successful business models in one market to new regions.</a:t>
            </a:r>
          </a:p>
          <a:p>
            <a:pPr>
              <a:buFont typeface="Arial" panose="020B0604020202020204" pitchFamily="34" charset="0"/>
              <a:buChar char="•"/>
            </a:pPr>
            <a:r>
              <a:rPr lang="en-US" dirty="0"/>
              <a:t>Example: Introducing a well-known global brand like Subway to an underserved area.</a:t>
            </a:r>
          </a:p>
          <a:p>
            <a:endParaRPr lang="en-CA" dirty="0"/>
          </a:p>
        </p:txBody>
      </p:sp>
    </p:spTree>
    <p:extLst>
      <p:ext uri="{BB962C8B-B14F-4D97-AF65-F5344CB8AC3E}">
        <p14:creationId xmlns:p14="http://schemas.microsoft.com/office/powerpoint/2010/main" val="2832688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1B550-4591-4066-C897-694F0A65DBB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4021759-7118-405B-E3B8-7B65DFDEC53F}"/>
              </a:ext>
            </a:extLst>
          </p:cNvPr>
          <p:cNvSpPr>
            <a:spLocks noGrp="1"/>
          </p:cNvSpPr>
          <p:nvPr>
            <p:ph idx="1"/>
          </p:nvPr>
        </p:nvSpPr>
        <p:spPr/>
        <p:txBody>
          <a:bodyPr>
            <a:normAutofit/>
          </a:bodyPr>
          <a:lstStyle/>
          <a:p>
            <a:r>
              <a:rPr lang="en-US" b="1" dirty="0"/>
              <a:t>11. Social and Environmental Issues</a:t>
            </a:r>
          </a:p>
          <a:p>
            <a:pPr>
              <a:buFont typeface="Arial" panose="020B0604020202020204" pitchFamily="34" charset="0"/>
              <a:buChar char="•"/>
            </a:pPr>
            <a:r>
              <a:rPr lang="en-US" dirty="0"/>
              <a:t>Addressing societal challenges can lead to impactful businesses.</a:t>
            </a:r>
          </a:p>
          <a:p>
            <a:pPr>
              <a:buFont typeface="Arial" panose="020B0604020202020204" pitchFamily="34" charset="0"/>
              <a:buChar char="•"/>
            </a:pPr>
            <a:r>
              <a:rPr lang="en-US" dirty="0"/>
              <a:t>Example: Social enterprises like TOMS Shoes, which donates a pair of shoes for every pair sold.</a:t>
            </a:r>
          </a:p>
          <a:p>
            <a:r>
              <a:rPr lang="en-US" b="1" dirty="0"/>
              <a:t>12. Brainstorming and Creativity Techniques</a:t>
            </a:r>
          </a:p>
          <a:p>
            <a:pPr>
              <a:buFont typeface="Arial" panose="020B0604020202020204" pitchFamily="34" charset="0"/>
              <a:buChar char="•"/>
            </a:pPr>
            <a:r>
              <a:rPr lang="en-US" dirty="0"/>
              <a:t>Structured brainstorming sessions or creative thinking methods like mind mapping and design thinking can generate ideas.</a:t>
            </a:r>
          </a:p>
          <a:p>
            <a:pPr>
              <a:buFont typeface="Arial" panose="020B0604020202020204" pitchFamily="34" charset="0"/>
              <a:buChar char="•"/>
            </a:pPr>
            <a:r>
              <a:rPr lang="en-US" dirty="0"/>
              <a:t>Example: Ideation workshops among team members can lead to innovative solutions.</a:t>
            </a:r>
          </a:p>
          <a:p>
            <a:endParaRPr lang="en-CA" dirty="0"/>
          </a:p>
        </p:txBody>
      </p:sp>
    </p:spTree>
    <p:extLst>
      <p:ext uri="{BB962C8B-B14F-4D97-AF65-F5344CB8AC3E}">
        <p14:creationId xmlns:p14="http://schemas.microsoft.com/office/powerpoint/2010/main" val="3583387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85E14-92A9-6F8D-3946-C605326E5435}"/>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46D46F9-9102-C383-9D4C-1063DA7D5CC6}"/>
              </a:ext>
            </a:extLst>
          </p:cNvPr>
          <p:cNvSpPr>
            <a:spLocks noGrp="1"/>
          </p:cNvSpPr>
          <p:nvPr>
            <p:ph idx="1"/>
          </p:nvPr>
        </p:nvSpPr>
        <p:spPr>
          <a:xfrm>
            <a:off x="838200" y="1120877"/>
            <a:ext cx="10515600" cy="5056086"/>
          </a:xfrm>
        </p:spPr>
        <p:txBody>
          <a:bodyPr>
            <a:normAutofit fontScale="92500" lnSpcReduction="20000"/>
          </a:bodyPr>
          <a:lstStyle/>
          <a:p>
            <a:r>
              <a:rPr lang="en-US" b="1" dirty="0"/>
              <a:t>13. Hobbies and Interests</a:t>
            </a:r>
          </a:p>
          <a:p>
            <a:pPr>
              <a:buFont typeface="Arial" panose="020B0604020202020204" pitchFamily="34" charset="0"/>
              <a:buChar char="•"/>
            </a:pPr>
            <a:r>
              <a:rPr lang="en-US" dirty="0"/>
              <a:t>Turning personal passions into business ventures.</a:t>
            </a:r>
          </a:p>
          <a:p>
            <a:pPr>
              <a:buFont typeface="Arial" panose="020B0604020202020204" pitchFamily="34" charset="0"/>
              <a:buChar char="•"/>
            </a:pPr>
            <a:r>
              <a:rPr lang="en-US" dirty="0"/>
              <a:t>Example: A photography enthusiast might start a wedding photography business.</a:t>
            </a:r>
          </a:p>
          <a:p>
            <a:r>
              <a:rPr lang="en-US" b="1" dirty="0"/>
              <a:t>14. Accidental Discovery </a:t>
            </a:r>
          </a:p>
          <a:p>
            <a:pPr>
              <a:buFont typeface="Arial" panose="020B0604020202020204" pitchFamily="34" charset="0"/>
              <a:buChar char="•"/>
            </a:pPr>
            <a:r>
              <a:rPr lang="en-US" dirty="0"/>
              <a:t>Many business ideas emerge unexpectedly while working on other tasks or projects.</a:t>
            </a:r>
          </a:p>
          <a:p>
            <a:pPr>
              <a:buFont typeface="Arial" panose="020B0604020202020204" pitchFamily="34" charset="0"/>
              <a:buChar char="•"/>
            </a:pPr>
            <a:r>
              <a:rPr lang="en-US" dirty="0"/>
              <a:t>Example: The invention of Velcro was inspired by burrs sticking to clothing during a nature walk.</a:t>
            </a:r>
          </a:p>
          <a:p>
            <a:r>
              <a:rPr lang="en-US" b="1" dirty="0"/>
              <a:t>15. Competitor Analysis</a:t>
            </a:r>
          </a:p>
          <a:p>
            <a:pPr>
              <a:buFont typeface="Arial" panose="020B0604020202020204" pitchFamily="34" charset="0"/>
              <a:buChar char="•"/>
            </a:pPr>
            <a:r>
              <a:rPr lang="en-US" dirty="0"/>
              <a:t>Studying competitors can reveal areas where they fall short, creating opportunities to differentiate.</a:t>
            </a:r>
          </a:p>
          <a:p>
            <a:pPr>
              <a:buFont typeface="Arial" panose="020B0604020202020204" pitchFamily="34" charset="0"/>
              <a:buChar char="•"/>
            </a:pPr>
            <a:r>
              <a:rPr lang="en-US" dirty="0"/>
              <a:t>Example: Offering better customer service than established businesses in the same niche.</a:t>
            </a:r>
          </a:p>
          <a:p>
            <a:endParaRPr lang="en-CA" dirty="0"/>
          </a:p>
        </p:txBody>
      </p:sp>
    </p:spTree>
    <p:extLst>
      <p:ext uri="{BB962C8B-B14F-4D97-AF65-F5344CB8AC3E}">
        <p14:creationId xmlns:p14="http://schemas.microsoft.com/office/powerpoint/2010/main" val="1670715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1032D-A487-098F-4CDA-169658FA8F8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D8CC888-2668-6B0B-9AF3-5A751C545EB2}"/>
              </a:ext>
            </a:extLst>
          </p:cNvPr>
          <p:cNvSpPr>
            <a:spLocks noGrp="1"/>
          </p:cNvSpPr>
          <p:nvPr>
            <p:ph idx="1"/>
          </p:nvPr>
        </p:nvSpPr>
        <p:spPr/>
        <p:txBody>
          <a:bodyPr/>
          <a:lstStyle/>
          <a:p>
            <a:r>
              <a:rPr lang="en-US" dirty="0"/>
              <a:t>The best business ideas often come from a combination of these sources. Successful entrepreneurs stay alert, continuously explore new avenues, and adapt to the evolving needs of their target market. By harnessing these sources, entrepreneurs can identify opportunities that align with their skills, passions, and market demand.</a:t>
            </a:r>
            <a:endParaRPr lang="en-CA" dirty="0"/>
          </a:p>
        </p:txBody>
      </p:sp>
    </p:spTree>
    <p:extLst>
      <p:ext uri="{BB962C8B-B14F-4D97-AF65-F5344CB8AC3E}">
        <p14:creationId xmlns:p14="http://schemas.microsoft.com/office/powerpoint/2010/main" val="35388970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7D93-AEED-82B0-694E-7E80BC20D2F2}"/>
              </a:ext>
            </a:extLst>
          </p:cNvPr>
          <p:cNvSpPr>
            <a:spLocks noGrp="1"/>
          </p:cNvSpPr>
          <p:nvPr>
            <p:ph type="title"/>
          </p:nvPr>
        </p:nvSpPr>
        <p:spPr/>
        <p:txBody>
          <a:bodyPr/>
          <a:lstStyle/>
          <a:p>
            <a:r>
              <a:rPr lang="en-US" dirty="0"/>
              <a:t>Methods and tools of idea generation </a:t>
            </a:r>
            <a:endParaRPr lang="en-CA" dirty="0"/>
          </a:p>
        </p:txBody>
      </p:sp>
      <p:sp>
        <p:nvSpPr>
          <p:cNvPr id="3" name="Content Placeholder 2">
            <a:extLst>
              <a:ext uri="{FF2B5EF4-FFF2-40B4-BE49-F238E27FC236}">
                <a16:creationId xmlns:a16="http://schemas.microsoft.com/office/drawing/2014/main" id="{1147270C-A011-C150-10E5-1C8DD90DD04D}"/>
              </a:ext>
            </a:extLst>
          </p:cNvPr>
          <p:cNvSpPr>
            <a:spLocks noGrp="1"/>
          </p:cNvSpPr>
          <p:nvPr>
            <p:ph idx="1"/>
          </p:nvPr>
        </p:nvSpPr>
        <p:spPr/>
        <p:txBody>
          <a:bodyPr/>
          <a:lstStyle/>
          <a:p>
            <a:r>
              <a:rPr lang="en-US" dirty="0"/>
              <a:t>Generating ideas is a critical step in entrepreneurship, innovation, and problem-solving. Effective methods of idea generation foster creativity, collaboration, and structured thinking to produce novel and actionable concepts. Here are common methods for idea generation:</a:t>
            </a:r>
            <a:endParaRPr lang="en-CA" dirty="0"/>
          </a:p>
        </p:txBody>
      </p:sp>
    </p:spTree>
    <p:extLst>
      <p:ext uri="{BB962C8B-B14F-4D97-AF65-F5344CB8AC3E}">
        <p14:creationId xmlns:p14="http://schemas.microsoft.com/office/powerpoint/2010/main" val="790188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C92B2-53E5-C3DB-DC30-FD0EADAB6A3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90485EC-E153-B7C5-66EE-88B8ACE32DE7}"/>
              </a:ext>
            </a:extLst>
          </p:cNvPr>
          <p:cNvSpPr>
            <a:spLocks noGrp="1"/>
          </p:cNvSpPr>
          <p:nvPr>
            <p:ph idx="1"/>
          </p:nvPr>
        </p:nvSpPr>
        <p:spPr/>
        <p:txBody>
          <a:bodyPr/>
          <a:lstStyle/>
          <a:p>
            <a:r>
              <a:rPr lang="en-US" b="1" dirty="0"/>
              <a:t>1. Brainstorming</a:t>
            </a:r>
          </a:p>
          <a:p>
            <a:pPr>
              <a:buFont typeface="Arial" panose="020B0604020202020204" pitchFamily="34" charset="0"/>
              <a:buChar char="•"/>
            </a:pPr>
            <a:r>
              <a:rPr lang="en-US" dirty="0"/>
              <a:t>A group or individual activity where participants generate as many ideas as possible in a free-flowing, non-judgmental environment.</a:t>
            </a:r>
          </a:p>
          <a:p>
            <a:pPr>
              <a:buFont typeface="Arial" panose="020B0604020202020204" pitchFamily="34" charset="0"/>
              <a:buChar char="•"/>
            </a:pPr>
            <a:r>
              <a:rPr lang="en-US" b="1" dirty="0"/>
              <a:t>Key Tips</a:t>
            </a:r>
            <a:r>
              <a:rPr lang="en-US" dirty="0"/>
              <a:t>: Encourage creativity, avoid criticism, and build on others' ideas.</a:t>
            </a:r>
          </a:p>
          <a:p>
            <a:pPr>
              <a:buFont typeface="Arial" panose="020B0604020202020204" pitchFamily="34" charset="0"/>
              <a:buChar char="•"/>
            </a:pPr>
            <a:r>
              <a:rPr lang="en-US" b="1" dirty="0"/>
              <a:t>Example</a:t>
            </a:r>
            <a:r>
              <a:rPr lang="en-US" dirty="0"/>
              <a:t>: A team brainstorming session to improve a product feature.</a:t>
            </a:r>
          </a:p>
          <a:p>
            <a:endParaRPr lang="en-CA" dirty="0"/>
          </a:p>
        </p:txBody>
      </p:sp>
    </p:spTree>
    <p:extLst>
      <p:ext uri="{BB962C8B-B14F-4D97-AF65-F5344CB8AC3E}">
        <p14:creationId xmlns:p14="http://schemas.microsoft.com/office/powerpoint/2010/main" val="3401594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AC10-C5BA-DA57-181F-856B4BA846D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C663E1B-C47C-CAF3-6E70-0D15B5C3B57D}"/>
              </a:ext>
            </a:extLst>
          </p:cNvPr>
          <p:cNvSpPr>
            <a:spLocks noGrp="1"/>
          </p:cNvSpPr>
          <p:nvPr>
            <p:ph idx="1"/>
          </p:nvPr>
        </p:nvSpPr>
        <p:spPr/>
        <p:txBody>
          <a:bodyPr/>
          <a:lstStyle/>
          <a:p>
            <a:r>
              <a:rPr lang="en-US" b="1" dirty="0"/>
              <a:t>Mind Mapping</a:t>
            </a:r>
          </a:p>
          <a:p>
            <a:pPr>
              <a:buFont typeface="Arial" panose="020B0604020202020204" pitchFamily="34" charset="0"/>
              <a:buChar char="•"/>
            </a:pPr>
            <a:r>
              <a:rPr lang="en-US" dirty="0"/>
              <a:t>A visual technique where ideas are mapped around a central theme, allowing connections and subtopics to emerge organically.</a:t>
            </a:r>
          </a:p>
          <a:p>
            <a:pPr>
              <a:buFont typeface="Arial" panose="020B0604020202020204" pitchFamily="34" charset="0"/>
              <a:buChar char="•"/>
            </a:pPr>
            <a:r>
              <a:rPr lang="en-US" b="1" dirty="0"/>
              <a:t>Use Case</a:t>
            </a:r>
            <a:r>
              <a:rPr lang="en-US" dirty="0"/>
              <a:t>: Useful for exploring related concepts and organizing thoughts.</a:t>
            </a:r>
          </a:p>
          <a:p>
            <a:pPr>
              <a:buFont typeface="Arial" panose="020B0604020202020204" pitchFamily="34" charset="0"/>
              <a:buChar char="•"/>
            </a:pPr>
            <a:r>
              <a:rPr lang="en-US" b="1" dirty="0"/>
              <a:t>Example</a:t>
            </a:r>
            <a:r>
              <a:rPr lang="en-US" dirty="0"/>
              <a:t>: Mapping potential applications of renewable energy in different industries.</a:t>
            </a:r>
          </a:p>
          <a:p>
            <a:endParaRPr lang="en-CA" dirty="0"/>
          </a:p>
        </p:txBody>
      </p:sp>
    </p:spTree>
    <p:extLst>
      <p:ext uri="{BB962C8B-B14F-4D97-AF65-F5344CB8AC3E}">
        <p14:creationId xmlns:p14="http://schemas.microsoft.com/office/powerpoint/2010/main" val="1304666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7E29-6D3C-E43F-B2E0-0B5FF2E8C34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6F66AB3-A4B7-7823-BD59-E08EDDEC4D7D}"/>
              </a:ext>
            </a:extLst>
          </p:cNvPr>
          <p:cNvSpPr>
            <a:spLocks noGrp="1"/>
          </p:cNvSpPr>
          <p:nvPr>
            <p:ph idx="1"/>
          </p:nvPr>
        </p:nvSpPr>
        <p:spPr/>
        <p:txBody>
          <a:bodyPr/>
          <a:lstStyle/>
          <a:p>
            <a:r>
              <a:rPr lang="en-US" b="1" dirty="0"/>
              <a:t>SCAMPER Technique</a:t>
            </a:r>
          </a:p>
          <a:p>
            <a:pPr>
              <a:buFont typeface="Arial" panose="020B0604020202020204" pitchFamily="34" charset="0"/>
              <a:buChar char="•"/>
            </a:pPr>
            <a:r>
              <a:rPr lang="en-US" dirty="0"/>
              <a:t>A structured approach using prompts: Substitute, Combine, Adapt, Modify, Put to another use, Eliminate, and Rearrange.</a:t>
            </a:r>
          </a:p>
          <a:p>
            <a:pPr>
              <a:buFont typeface="Arial" panose="020B0604020202020204" pitchFamily="34" charset="0"/>
              <a:buChar char="•"/>
            </a:pPr>
            <a:r>
              <a:rPr lang="en-US" b="1" dirty="0"/>
              <a:t>Use Case</a:t>
            </a:r>
            <a:r>
              <a:rPr lang="en-US" dirty="0"/>
              <a:t>: Ideal for improving existing products or services.</a:t>
            </a:r>
          </a:p>
          <a:p>
            <a:pPr>
              <a:buFont typeface="Arial" panose="020B0604020202020204" pitchFamily="34" charset="0"/>
              <a:buChar char="•"/>
            </a:pPr>
            <a:r>
              <a:rPr lang="en-US" b="1"/>
              <a:t>Example</a:t>
            </a:r>
            <a:r>
              <a:rPr lang="en-US"/>
              <a:t>: Modifying a restaurant’s menu to include healthier options.</a:t>
            </a:r>
          </a:p>
          <a:p>
            <a:endParaRPr lang="en-CA" dirty="0"/>
          </a:p>
        </p:txBody>
      </p:sp>
    </p:spTree>
    <p:extLst>
      <p:ext uri="{BB962C8B-B14F-4D97-AF65-F5344CB8AC3E}">
        <p14:creationId xmlns:p14="http://schemas.microsoft.com/office/powerpoint/2010/main" val="34460831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4C868-1085-353E-A0E4-2FA80895717F}"/>
              </a:ext>
            </a:extLst>
          </p:cNvPr>
          <p:cNvSpPr>
            <a:spLocks noGrp="1"/>
          </p:cNvSpPr>
          <p:nvPr>
            <p:ph type="title"/>
          </p:nvPr>
        </p:nvSpPr>
        <p:spPr/>
        <p:txBody>
          <a:bodyPr/>
          <a:lstStyle/>
          <a:p>
            <a:r>
              <a:rPr lang="en-US" dirty="0"/>
              <a:t>Concept of Creativity </a:t>
            </a:r>
            <a:endParaRPr lang="en-CA" dirty="0"/>
          </a:p>
        </p:txBody>
      </p:sp>
      <p:sp>
        <p:nvSpPr>
          <p:cNvPr id="3" name="Content Placeholder 2">
            <a:extLst>
              <a:ext uri="{FF2B5EF4-FFF2-40B4-BE49-F238E27FC236}">
                <a16:creationId xmlns:a16="http://schemas.microsoft.com/office/drawing/2014/main" id="{E56A34D3-A4F8-399C-0765-2DBF08CC4CB0}"/>
              </a:ext>
            </a:extLst>
          </p:cNvPr>
          <p:cNvSpPr>
            <a:spLocks noGrp="1"/>
          </p:cNvSpPr>
          <p:nvPr>
            <p:ph idx="1"/>
          </p:nvPr>
        </p:nvSpPr>
        <p:spPr>
          <a:xfrm>
            <a:off x="304801" y="1825625"/>
            <a:ext cx="11562734" cy="4351338"/>
          </a:xfrm>
        </p:spPr>
        <p:txBody>
          <a:bodyPr/>
          <a:lstStyle/>
          <a:p>
            <a:pPr algn="l">
              <a:buNone/>
            </a:pPr>
            <a:r>
              <a:rPr lang="en-US" b="0" i="0" dirty="0">
                <a:solidFill>
                  <a:srgbClr val="404040"/>
                </a:solidFill>
                <a:effectLst/>
                <a:latin typeface="Inter"/>
              </a:rPr>
              <a:t>Creativity in entrepreneurship refers to the ability to think differently, generate novel ideas, and find unique solutions to problems. It involves:</a:t>
            </a:r>
          </a:p>
          <a:p>
            <a:pPr algn="l">
              <a:buFont typeface="Arial" panose="020B0604020202020204" pitchFamily="34" charset="0"/>
              <a:buChar char="•"/>
            </a:pPr>
            <a:r>
              <a:rPr lang="en-US" b="1" i="0" dirty="0">
                <a:solidFill>
                  <a:srgbClr val="404040"/>
                </a:solidFill>
                <a:effectLst/>
                <a:latin typeface="Inter"/>
              </a:rPr>
              <a:t>Innovative Thinking</a:t>
            </a:r>
            <a:r>
              <a:rPr lang="en-US" b="0" i="0" dirty="0">
                <a:solidFill>
                  <a:srgbClr val="404040"/>
                </a:solidFill>
                <a:effectLst/>
                <a:latin typeface="Inter"/>
              </a:rPr>
              <a:t>: Seeing opportunities where others see challenges.</a:t>
            </a:r>
          </a:p>
          <a:p>
            <a:pPr algn="l">
              <a:spcBef>
                <a:spcPts val="300"/>
              </a:spcBef>
              <a:buFont typeface="Arial" panose="020B0604020202020204" pitchFamily="34" charset="0"/>
              <a:buChar char="•"/>
            </a:pPr>
            <a:r>
              <a:rPr lang="en-US" b="1" i="0" dirty="0">
                <a:solidFill>
                  <a:srgbClr val="404040"/>
                </a:solidFill>
                <a:effectLst/>
                <a:latin typeface="Inter"/>
              </a:rPr>
              <a:t>Resourcefulness</a:t>
            </a:r>
            <a:r>
              <a:rPr lang="en-US" b="0" i="0" dirty="0">
                <a:solidFill>
                  <a:srgbClr val="404040"/>
                </a:solidFill>
                <a:effectLst/>
                <a:latin typeface="Inter"/>
              </a:rPr>
              <a:t>: Making the most of limited resources.</a:t>
            </a:r>
          </a:p>
          <a:p>
            <a:pPr algn="l">
              <a:spcBef>
                <a:spcPts val="300"/>
              </a:spcBef>
              <a:buFont typeface="Arial" panose="020B0604020202020204" pitchFamily="34" charset="0"/>
              <a:buChar char="•"/>
            </a:pPr>
            <a:r>
              <a:rPr lang="en-US" b="1" i="0" dirty="0">
                <a:solidFill>
                  <a:srgbClr val="404040"/>
                </a:solidFill>
                <a:effectLst/>
                <a:latin typeface="Inter"/>
              </a:rPr>
              <a:t>Adaptability</a:t>
            </a:r>
            <a:r>
              <a:rPr lang="en-US" b="0" i="0" dirty="0">
                <a:solidFill>
                  <a:srgbClr val="404040"/>
                </a:solidFill>
                <a:effectLst/>
                <a:latin typeface="Inter"/>
              </a:rPr>
              <a:t>: Adjusting to changing circumstances and finding new ways to succeed.</a:t>
            </a:r>
          </a:p>
          <a:p>
            <a:endParaRPr lang="en-CA" dirty="0"/>
          </a:p>
        </p:txBody>
      </p:sp>
    </p:spTree>
    <p:extLst>
      <p:ext uri="{BB962C8B-B14F-4D97-AF65-F5344CB8AC3E}">
        <p14:creationId xmlns:p14="http://schemas.microsoft.com/office/powerpoint/2010/main" val="3654137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44DE-1EA8-B7B5-9A63-3B96A2020A42}"/>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60834A8-3EF6-79DC-1CA2-78CE2FEBD5E4}"/>
              </a:ext>
            </a:extLst>
          </p:cNvPr>
          <p:cNvSpPr>
            <a:spLocks noGrp="1"/>
          </p:cNvSpPr>
          <p:nvPr>
            <p:ph idx="1"/>
          </p:nvPr>
        </p:nvSpPr>
        <p:spPr>
          <a:xfrm>
            <a:off x="838200" y="1101213"/>
            <a:ext cx="10515600" cy="5075750"/>
          </a:xfrm>
        </p:spPr>
        <p:txBody>
          <a:bodyPr>
            <a:normAutofit/>
          </a:bodyPr>
          <a:lstStyle/>
          <a:p>
            <a:pPr algn="l">
              <a:buNone/>
            </a:pPr>
            <a:r>
              <a:rPr lang="en-US" b="1" i="0" dirty="0">
                <a:solidFill>
                  <a:srgbClr val="404040"/>
                </a:solidFill>
                <a:effectLst/>
                <a:latin typeface="Inter"/>
              </a:rPr>
              <a:t>Why is Creativity Important in Entrepreneurship?</a:t>
            </a:r>
          </a:p>
          <a:p>
            <a:pPr algn="l">
              <a:buFont typeface="+mj-lt"/>
              <a:buAutoNum type="arabicPeriod"/>
            </a:pPr>
            <a:r>
              <a:rPr lang="en-US" b="1" i="0" dirty="0">
                <a:solidFill>
                  <a:srgbClr val="404040"/>
                </a:solidFill>
                <a:effectLst/>
                <a:latin typeface="Inter"/>
              </a:rPr>
              <a:t>Drives Innovation</a:t>
            </a:r>
            <a:r>
              <a:rPr lang="en-US" b="0" i="0" dirty="0">
                <a:solidFill>
                  <a:srgbClr val="404040"/>
                </a:solidFill>
                <a:effectLst/>
                <a:latin typeface="Inter"/>
              </a:rPr>
              <a:t>: Creativity leads to the development of new products, services, and business models.</a:t>
            </a:r>
          </a:p>
          <a:p>
            <a:pPr algn="l">
              <a:spcBef>
                <a:spcPts val="300"/>
              </a:spcBef>
              <a:buFont typeface="+mj-lt"/>
              <a:buAutoNum type="arabicPeriod"/>
            </a:pPr>
            <a:r>
              <a:rPr lang="en-US" b="1" i="0" dirty="0">
                <a:solidFill>
                  <a:srgbClr val="404040"/>
                </a:solidFill>
                <a:effectLst/>
                <a:latin typeface="Inter"/>
              </a:rPr>
              <a:t>Solves Problems</a:t>
            </a:r>
            <a:r>
              <a:rPr lang="en-US" b="0" i="0" dirty="0">
                <a:solidFill>
                  <a:srgbClr val="404040"/>
                </a:solidFill>
                <a:effectLst/>
                <a:latin typeface="Inter"/>
              </a:rPr>
              <a:t>: Entrepreneurs use creativity to address customer pain points and market gaps.</a:t>
            </a:r>
          </a:p>
          <a:p>
            <a:pPr algn="l">
              <a:spcBef>
                <a:spcPts val="300"/>
              </a:spcBef>
              <a:buFont typeface="+mj-lt"/>
              <a:buAutoNum type="arabicPeriod"/>
            </a:pPr>
            <a:r>
              <a:rPr lang="en-US" b="1" i="0" dirty="0">
                <a:solidFill>
                  <a:srgbClr val="404040"/>
                </a:solidFill>
                <a:effectLst/>
                <a:latin typeface="Inter"/>
              </a:rPr>
              <a:t>Competitive Advantage</a:t>
            </a:r>
            <a:r>
              <a:rPr lang="en-US" b="0" i="0" dirty="0">
                <a:solidFill>
                  <a:srgbClr val="404040"/>
                </a:solidFill>
                <a:effectLst/>
                <a:latin typeface="Inter"/>
              </a:rPr>
              <a:t>: Creative solutions help businesses stand out in crowded markets.</a:t>
            </a:r>
          </a:p>
          <a:p>
            <a:pPr algn="l">
              <a:spcBef>
                <a:spcPts val="300"/>
              </a:spcBef>
              <a:buFont typeface="+mj-lt"/>
              <a:buAutoNum type="arabicPeriod"/>
            </a:pPr>
            <a:r>
              <a:rPr lang="en-US" b="1" i="0" dirty="0">
                <a:solidFill>
                  <a:srgbClr val="404040"/>
                </a:solidFill>
                <a:effectLst/>
                <a:latin typeface="Inter"/>
              </a:rPr>
              <a:t>Adaptability</a:t>
            </a:r>
            <a:r>
              <a:rPr lang="en-US" b="0" i="0" dirty="0">
                <a:solidFill>
                  <a:srgbClr val="404040"/>
                </a:solidFill>
                <a:effectLst/>
                <a:latin typeface="Inter"/>
              </a:rPr>
              <a:t>: Creativity enables entrepreneurs to pivot and adapt to changing environments.</a:t>
            </a:r>
          </a:p>
          <a:p>
            <a:pPr algn="l">
              <a:spcBef>
                <a:spcPts val="300"/>
              </a:spcBef>
              <a:buFont typeface="+mj-lt"/>
              <a:buAutoNum type="arabicPeriod"/>
            </a:pPr>
            <a:r>
              <a:rPr lang="en-US" b="1" i="0" dirty="0">
                <a:solidFill>
                  <a:srgbClr val="404040"/>
                </a:solidFill>
                <a:effectLst/>
                <a:latin typeface="Inter"/>
              </a:rPr>
              <a:t>Value Creation</a:t>
            </a:r>
            <a:r>
              <a:rPr lang="en-US" b="0" i="0" dirty="0">
                <a:solidFill>
                  <a:srgbClr val="404040"/>
                </a:solidFill>
                <a:effectLst/>
                <a:latin typeface="Inter"/>
              </a:rPr>
              <a:t>: Creative ideas often lead to unique value propositions that attract customers and investors.</a:t>
            </a:r>
          </a:p>
          <a:p>
            <a:endParaRPr lang="en-CA" dirty="0"/>
          </a:p>
        </p:txBody>
      </p:sp>
    </p:spTree>
    <p:extLst>
      <p:ext uri="{BB962C8B-B14F-4D97-AF65-F5344CB8AC3E}">
        <p14:creationId xmlns:p14="http://schemas.microsoft.com/office/powerpoint/2010/main" val="4041839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03B2-5A70-C958-66E8-E09E0E883A8C}"/>
              </a:ext>
            </a:extLst>
          </p:cNvPr>
          <p:cNvSpPr>
            <a:spLocks noGrp="1"/>
          </p:cNvSpPr>
          <p:nvPr>
            <p:ph type="title"/>
          </p:nvPr>
        </p:nvSpPr>
        <p:spPr>
          <a:xfrm>
            <a:off x="838200" y="365125"/>
            <a:ext cx="10515600" cy="17564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F3D6A75-1E74-135F-68A2-1B9B1347AF19}"/>
              </a:ext>
            </a:extLst>
          </p:cNvPr>
          <p:cNvSpPr>
            <a:spLocks noGrp="1"/>
          </p:cNvSpPr>
          <p:nvPr>
            <p:ph idx="1"/>
          </p:nvPr>
        </p:nvSpPr>
        <p:spPr>
          <a:xfrm>
            <a:off x="838200" y="678426"/>
            <a:ext cx="10515600" cy="5498537"/>
          </a:xfrm>
        </p:spPr>
        <p:txBody>
          <a:bodyPr>
            <a:normAutofit fontScale="92500" lnSpcReduction="20000"/>
          </a:bodyPr>
          <a:lstStyle/>
          <a:p>
            <a:pPr algn="l">
              <a:buNone/>
            </a:pPr>
            <a:r>
              <a:rPr lang="en-US" b="1" i="0" dirty="0">
                <a:solidFill>
                  <a:srgbClr val="404040"/>
                </a:solidFill>
                <a:effectLst/>
                <a:latin typeface="Inter"/>
              </a:rPr>
              <a:t>Key Elements of Creativity in Entrepreneurship:</a:t>
            </a:r>
          </a:p>
          <a:p>
            <a:pPr algn="l">
              <a:spcAft>
                <a:spcPts val="300"/>
              </a:spcAft>
              <a:buFont typeface="+mj-lt"/>
              <a:buAutoNum type="arabicPeriod"/>
            </a:pPr>
            <a:r>
              <a:rPr lang="en-US" b="1" i="0" dirty="0">
                <a:solidFill>
                  <a:srgbClr val="404040"/>
                </a:solidFill>
                <a:effectLst/>
                <a:latin typeface="Inter"/>
              </a:rPr>
              <a:t>Idea Generation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Brainstorming new concepts, products, or services.</a:t>
            </a:r>
          </a:p>
          <a:p>
            <a:pPr marL="457200" lvl="1" indent="0" algn="l">
              <a:spcBef>
                <a:spcPts val="300"/>
              </a:spcBef>
              <a:buNone/>
            </a:pPr>
            <a:r>
              <a:rPr lang="en-US" b="0" i="0" dirty="0">
                <a:solidFill>
                  <a:srgbClr val="404040"/>
                </a:solidFill>
                <a:effectLst/>
                <a:latin typeface="Inter"/>
              </a:rPr>
              <a:t>Thinking outside the box to identify unmet needs or untapped markets.</a:t>
            </a:r>
          </a:p>
          <a:p>
            <a:pPr algn="l">
              <a:spcBef>
                <a:spcPts val="300"/>
              </a:spcBef>
              <a:spcAft>
                <a:spcPts val="300"/>
              </a:spcAft>
              <a:buFont typeface="+mj-lt"/>
              <a:buAutoNum type="arabicPeriod"/>
            </a:pPr>
            <a:r>
              <a:rPr lang="en-US" b="1" i="0" dirty="0">
                <a:solidFill>
                  <a:srgbClr val="404040"/>
                </a:solidFill>
                <a:effectLst/>
                <a:latin typeface="Inter"/>
              </a:rPr>
              <a:t>Problem-Solving</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Using creative thinking to overcome obstacles and challenges.</a:t>
            </a:r>
          </a:p>
          <a:p>
            <a:pPr marL="457200" lvl="1" indent="0" algn="l">
              <a:spcBef>
                <a:spcPts val="300"/>
              </a:spcBef>
              <a:buNone/>
            </a:pPr>
            <a:r>
              <a:rPr lang="en-US" b="0" i="0" dirty="0">
                <a:solidFill>
                  <a:srgbClr val="404040"/>
                </a:solidFill>
                <a:effectLst/>
                <a:latin typeface="Inter"/>
              </a:rPr>
              <a:t>Turning problems into opportunities for innovation.</a:t>
            </a:r>
          </a:p>
          <a:p>
            <a:pPr algn="l">
              <a:spcBef>
                <a:spcPts val="300"/>
              </a:spcBef>
              <a:spcAft>
                <a:spcPts val="300"/>
              </a:spcAft>
              <a:buFont typeface="+mj-lt"/>
              <a:buAutoNum type="arabicPeriod"/>
            </a:pPr>
            <a:r>
              <a:rPr lang="en-US" b="1" i="0" dirty="0">
                <a:solidFill>
                  <a:srgbClr val="404040"/>
                </a:solidFill>
                <a:effectLst/>
                <a:latin typeface="Inter"/>
              </a:rPr>
              <a:t>Experimentation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Testing new ideas through prototypes, MVPs (Minimum Viable Products), or pilot programs.</a:t>
            </a:r>
          </a:p>
          <a:p>
            <a:pPr marL="457200" lvl="1" indent="0" algn="l">
              <a:spcBef>
                <a:spcPts val="300"/>
              </a:spcBef>
              <a:buNone/>
            </a:pPr>
            <a:r>
              <a:rPr lang="en-US" b="0" i="0" dirty="0">
                <a:solidFill>
                  <a:srgbClr val="404040"/>
                </a:solidFill>
                <a:effectLst/>
                <a:latin typeface="Inter"/>
              </a:rPr>
              <a:t>Learning from failures and iterating on ideas.</a:t>
            </a:r>
          </a:p>
          <a:p>
            <a:pPr algn="l">
              <a:spcBef>
                <a:spcPts val="300"/>
              </a:spcBef>
              <a:spcAft>
                <a:spcPts val="300"/>
              </a:spcAft>
              <a:buFont typeface="+mj-lt"/>
              <a:buAutoNum type="arabicPeriod"/>
            </a:pPr>
            <a:r>
              <a:rPr lang="en-US" b="1" i="0" dirty="0">
                <a:solidFill>
                  <a:srgbClr val="404040"/>
                </a:solidFill>
                <a:effectLst/>
                <a:latin typeface="Inter"/>
              </a:rPr>
              <a:t>Resourcefulness</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Finding innovative ways to use limited resources (e.g., bootstrapping, partnerships).</a:t>
            </a:r>
          </a:p>
          <a:p>
            <a:pPr marL="457200" lvl="1" indent="0" algn="l">
              <a:spcBef>
                <a:spcPts val="300"/>
              </a:spcBef>
              <a:buNone/>
            </a:pPr>
            <a:r>
              <a:rPr lang="en-US" b="0" i="0" dirty="0">
                <a:solidFill>
                  <a:srgbClr val="404040"/>
                </a:solidFill>
                <a:effectLst/>
                <a:latin typeface="Inter"/>
              </a:rPr>
              <a:t>Leveraging creativity to maximize efficiency and impact.</a:t>
            </a:r>
          </a:p>
          <a:p>
            <a:pPr algn="l">
              <a:spcBef>
                <a:spcPts val="300"/>
              </a:spcBef>
              <a:spcAft>
                <a:spcPts val="300"/>
              </a:spcAft>
              <a:buFont typeface="+mj-lt"/>
              <a:buAutoNum type="arabicPeriod"/>
            </a:pPr>
            <a:r>
              <a:rPr lang="en-US" b="1" i="0" dirty="0">
                <a:solidFill>
                  <a:srgbClr val="404040"/>
                </a:solidFill>
                <a:effectLst/>
                <a:latin typeface="Inter"/>
              </a:rPr>
              <a:t>Vision and Strategy</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Combining creativity with strategic thinking to build a sustainable business model.</a:t>
            </a:r>
          </a:p>
          <a:p>
            <a:pPr marL="457200" lvl="1" indent="0" algn="l">
              <a:spcBef>
                <a:spcPts val="300"/>
              </a:spcBef>
              <a:buNone/>
            </a:pPr>
            <a:r>
              <a:rPr lang="en-US" b="0" i="0" dirty="0">
                <a:solidFill>
                  <a:srgbClr val="404040"/>
                </a:solidFill>
                <a:effectLst/>
                <a:latin typeface="Inter"/>
              </a:rPr>
              <a:t>Aligning creative ideas with market needs and business goals.</a:t>
            </a:r>
          </a:p>
          <a:p>
            <a:endParaRPr lang="en-CA" dirty="0"/>
          </a:p>
        </p:txBody>
      </p:sp>
    </p:spTree>
    <p:extLst>
      <p:ext uri="{BB962C8B-B14F-4D97-AF65-F5344CB8AC3E}">
        <p14:creationId xmlns:p14="http://schemas.microsoft.com/office/powerpoint/2010/main" val="14018670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1EDCD-FBF5-CF77-FE0F-EA811D8EE208}"/>
              </a:ext>
            </a:extLst>
          </p:cNvPr>
          <p:cNvSpPr>
            <a:spLocks noGrp="1"/>
          </p:cNvSpPr>
          <p:nvPr>
            <p:ph type="title"/>
          </p:nvPr>
        </p:nvSpPr>
        <p:spPr>
          <a:xfrm>
            <a:off x="838200" y="365125"/>
            <a:ext cx="10515600" cy="17564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746145E-7037-4EDE-01FD-9B2A8E3CB728}"/>
              </a:ext>
            </a:extLst>
          </p:cNvPr>
          <p:cNvSpPr>
            <a:spLocks noGrp="1"/>
          </p:cNvSpPr>
          <p:nvPr>
            <p:ph idx="1"/>
          </p:nvPr>
        </p:nvSpPr>
        <p:spPr>
          <a:xfrm>
            <a:off x="838200" y="639097"/>
            <a:ext cx="10515600" cy="5537866"/>
          </a:xfrm>
        </p:spPr>
        <p:txBody>
          <a:bodyPr>
            <a:normAutofit fontScale="92500" lnSpcReduction="20000"/>
          </a:bodyPr>
          <a:lstStyle/>
          <a:p>
            <a:pPr algn="l">
              <a:buNone/>
            </a:pPr>
            <a:r>
              <a:rPr lang="en-US" b="1" i="0" dirty="0">
                <a:solidFill>
                  <a:srgbClr val="404040"/>
                </a:solidFill>
                <a:effectLst/>
                <a:latin typeface="Inter"/>
              </a:rPr>
              <a:t>How Creativity Fuels Entrepreneurship Development:</a:t>
            </a:r>
          </a:p>
          <a:p>
            <a:pPr algn="l">
              <a:spcAft>
                <a:spcPts val="300"/>
              </a:spcAft>
              <a:buFont typeface="+mj-lt"/>
              <a:buAutoNum type="arabicPeriod"/>
            </a:pPr>
            <a:r>
              <a:rPr lang="en-US" b="1" i="0" dirty="0">
                <a:solidFill>
                  <a:srgbClr val="404040"/>
                </a:solidFill>
                <a:effectLst/>
                <a:latin typeface="Inter"/>
              </a:rPr>
              <a:t>Identifying Opportunities</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Creative entrepreneurs spot trends, gaps, and opportunities that others overlook.</a:t>
            </a:r>
          </a:p>
          <a:p>
            <a:pPr marL="457200" lvl="1" indent="0" algn="l">
              <a:spcBef>
                <a:spcPts val="300"/>
              </a:spcBef>
              <a:buNone/>
            </a:pPr>
            <a:r>
              <a:rPr lang="en-US" b="0" i="0" dirty="0">
                <a:solidFill>
                  <a:srgbClr val="404040"/>
                </a:solidFill>
                <a:effectLst/>
                <a:latin typeface="Inter"/>
              </a:rPr>
              <a:t>Example: Airbnb saw the opportunity in turning unused spaces into accommodations.</a:t>
            </a:r>
          </a:p>
          <a:p>
            <a:pPr algn="l">
              <a:spcBef>
                <a:spcPts val="300"/>
              </a:spcBef>
              <a:spcAft>
                <a:spcPts val="300"/>
              </a:spcAft>
              <a:buFont typeface="+mj-lt"/>
              <a:buAutoNum type="arabicPeriod"/>
            </a:pPr>
            <a:r>
              <a:rPr lang="en-US" b="1" i="0" dirty="0">
                <a:solidFill>
                  <a:srgbClr val="404040"/>
                </a:solidFill>
                <a:effectLst/>
                <a:latin typeface="Inter"/>
              </a:rPr>
              <a:t>Designing Unique Solutions</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Creativity helps entrepreneurs design products or services that stand out.</a:t>
            </a:r>
          </a:p>
          <a:p>
            <a:pPr marL="457200" lvl="1" indent="0" algn="l">
              <a:spcBef>
                <a:spcPts val="300"/>
              </a:spcBef>
              <a:buNone/>
            </a:pPr>
            <a:r>
              <a:rPr lang="en-US" b="0" i="0" dirty="0">
                <a:solidFill>
                  <a:srgbClr val="404040"/>
                </a:solidFill>
                <a:effectLst/>
                <a:latin typeface="Inter"/>
              </a:rPr>
              <a:t>Example: Tesla’s innovative electric vehicles combined sustainability with luxury.</a:t>
            </a:r>
          </a:p>
          <a:p>
            <a:pPr algn="l">
              <a:spcBef>
                <a:spcPts val="300"/>
              </a:spcBef>
              <a:spcAft>
                <a:spcPts val="300"/>
              </a:spcAft>
              <a:buFont typeface="+mj-lt"/>
              <a:buAutoNum type="arabicPeriod"/>
            </a:pPr>
            <a:r>
              <a:rPr lang="en-US" b="1" i="0" dirty="0">
                <a:solidFill>
                  <a:srgbClr val="404040"/>
                </a:solidFill>
                <a:effectLst/>
                <a:latin typeface="Inter"/>
              </a:rPr>
              <a:t>Building a Strong Brand</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Creativity is essential for crafting a compelling brand story and identity.</a:t>
            </a:r>
          </a:p>
          <a:p>
            <a:pPr marL="457200" lvl="1" indent="0" algn="l">
              <a:spcBef>
                <a:spcPts val="300"/>
              </a:spcBef>
              <a:buNone/>
            </a:pPr>
            <a:r>
              <a:rPr lang="en-US" b="0" i="0" dirty="0">
                <a:solidFill>
                  <a:srgbClr val="404040"/>
                </a:solidFill>
                <a:effectLst/>
                <a:latin typeface="Inter"/>
              </a:rPr>
              <a:t>Example: Apple’s creative branding and design have made it a global leader.</a:t>
            </a:r>
          </a:p>
          <a:p>
            <a:pPr algn="l">
              <a:spcBef>
                <a:spcPts val="300"/>
              </a:spcBef>
              <a:spcAft>
                <a:spcPts val="300"/>
              </a:spcAft>
              <a:buFont typeface="+mj-lt"/>
              <a:buAutoNum type="arabicPeriod"/>
            </a:pPr>
            <a:r>
              <a:rPr lang="en-US" b="1" i="0" dirty="0">
                <a:solidFill>
                  <a:srgbClr val="404040"/>
                </a:solidFill>
                <a:effectLst/>
                <a:latin typeface="Inter"/>
              </a:rPr>
              <a:t>Adapting to Change</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Creative entrepreneurs thrive in uncertain environments by adapting quickly.</a:t>
            </a:r>
          </a:p>
          <a:p>
            <a:pPr marL="457200" lvl="1" indent="0" algn="l">
              <a:spcBef>
                <a:spcPts val="300"/>
              </a:spcBef>
              <a:buNone/>
            </a:pPr>
            <a:r>
              <a:rPr lang="en-US" b="0" i="0" dirty="0">
                <a:solidFill>
                  <a:srgbClr val="404040"/>
                </a:solidFill>
                <a:effectLst/>
                <a:latin typeface="Inter"/>
              </a:rPr>
              <a:t>Example: During the COVID-19 pandemic, many businesses creatively shifted to online models.</a:t>
            </a:r>
          </a:p>
          <a:p>
            <a:pPr algn="l">
              <a:spcBef>
                <a:spcPts val="300"/>
              </a:spcBef>
              <a:spcAft>
                <a:spcPts val="300"/>
              </a:spcAft>
              <a:buFont typeface="+mj-lt"/>
              <a:buAutoNum type="arabicPeriod"/>
            </a:pPr>
            <a:r>
              <a:rPr lang="en-US" b="1" i="0" dirty="0">
                <a:solidFill>
                  <a:srgbClr val="404040"/>
                </a:solidFill>
                <a:effectLst/>
                <a:latin typeface="Inter"/>
              </a:rPr>
              <a:t>Fostering a Culture of Innovation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Entrepreneurs who embrace creativity inspire their teams to think innovatively.</a:t>
            </a:r>
          </a:p>
          <a:p>
            <a:pPr marL="457200" lvl="1" indent="0" algn="l">
              <a:spcBef>
                <a:spcPts val="300"/>
              </a:spcBef>
              <a:buNone/>
            </a:pPr>
            <a:r>
              <a:rPr lang="en-US" b="0" i="0" dirty="0">
                <a:solidFill>
                  <a:srgbClr val="404040"/>
                </a:solidFill>
                <a:effectLst/>
                <a:latin typeface="Inter"/>
              </a:rPr>
              <a:t>Example: Google’s "20% time" policy encourages employees to work on creative side projects.</a:t>
            </a:r>
          </a:p>
          <a:p>
            <a:endParaRPr lang="en-CA" dirty="0"/>
          </a:p>
        </p:txBody>
      </p:sp>
    </p:spTree>
    <p:extLst>
      <p:ext uri="{BB962C8B-B14F-4D97-AF65-F5344CB8AC3E}">
        <p14:creationId xmlns:p14="http://schemas.microsoft.com/office/powerpoint/2010/main" val="4261417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2D8B4-6C80-CE3F-C2AD-FF994B32B1CA}"/>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D9CE396D-7382-09A7-520E-00E07C868DCE}"/>
              </a:ext>
            </a:extLst>
          </p:cNvPr>
          <p:cNvSpPr>
            <a:spLocks noGrp="1"/>
          </p:cNvSpPr>
          <p:nvPr>
            <p:ph idx="1"/>
          </p:nvPr>
        </p:nvSpPr>
        <p:spPr/>
        <p:txBody>
          <a:bodyPr/>
          <a:lstStyle/>
          <a:p>
            <a:pPr algn="l">
              <a:buNone/>
            </a:pPr>
            <a:r>
              <a:rPr lang="en-US" b="1" i="0" dirty="0">
                <a:solidFill>
                  <a:srgbClr val="404040"/>
                </a:solidFill>
                <a:effectLst/>
                <a:latin typeface="Inter"/>
              </a:rPr>
              <a:t>Examples of Creativity in Entrepreneurship:</a:t>
            </a:r>
          </a:p>
          <a:p>
            <a:pPr algn="l">
              <a:buFont typeface="+mj-lt"/>
              <a:buAutoNum type="arabicPeriod"/>
            </a:pPr>
            <a:r>
              <a:rPr lang="en-US" b="1" i="0" dirty="0">
                <a:solidFill>
                  <a:srgbClr val="404040"/>
                </a:solidFill>
                <a:effectLst/>
                <a:latin typeface="Inter"/>
              </a:rPr>
              <a:t>Uber</a:t>
            </a:r>
            <a:r>
              <a:rPr lang="en-US" b="0" i="0" dirty="0">
                <a:solidFill>
                  <a:srgbClr val="404040"/>
                </a:solidFill>
                <a:effectLst/>
                <a:latin typeface="Inter"/>
              </a:rPr>
              <a:t>: Revolutionized transportation by creatively combining technology with the sharing economy.</a:t>
            </a:r>
          </a:p>
          <a:p>
            <a:pPr algn="l">
              <a:spcBef>
                <a:spcPts val="300"/>
              </a:spcBef>
              <a:buFont typeface="+mj-lt"/>
              <a:buAutoNum type="arabicPeriod"/>
            </a:pPr>
            <a:r>
              <a:rPr lang="en-US" b="1" i="0" dirty="0">
                <a:solidFill>
                  <a:srgbClr val="404040"/>
                </a:solidFill>
                <a:effectLst/>
                <a:latin typeface="Inter"/>
              </a:rPr>
              <a:t>Dyson</a:t>
            </a:r>
            <a:r>
              <a:rPr lang="en-US" b="0" i="0" dirty="0">
                <a:solidFill>
                  <a:srgbClr val="404040"/>
                </a:solidFill>
                <a:effectLst/>
                <a:latin typeface="Inter"/>
              </a:rPr>
              <a:t>: Transformed the vacuum cleaner industry with innovative designs and technology.</a:t>
            </a:r>
          </a:p>
          <a:p>
            <a:pPr algn="l">
              <a:spcBef>
                <a:spcPts val="300"/>
              </a:spcBef>
              <a:buFont typeface="+mj-lt"/>
              <a:buAutoNum type="arabicPeriod"/>
            </a:pPr>
            <a:r>
              <a:rPr lang="en-US" b="1" i="0" dirty="0">
                <a:solidFill>
                  <a:srgbClr val="404040"/>
                </a:solidFill>
                <a:effectLst/>
                <a:latin typeface="Inter"/>
              </a:rPr>
              <a:t>Patagonia</a:t>
            </a:r>
            <a:r>
              <a:rPr lang="en-US" b="0" i="0" dirty="0">
                <a:solidFill>
                  <a:srgbClr val="404040"/>
                </a:solidFill>
                <a:effectLst/>
                <a:latin typeface="Inter"/>
              </a:rPr>
              <a:t>: Built a successful brand by creatively aligning its business with environmental sustainability.</a:t>
            </a:r>
          </a:p>
          <a:p>
            <a:pPr algn="l">
              <a:spcBef>
                <a:spcPts val="300"/>
              </a:spcBef>
              <a:buFont typeface="+mj-lt"/>
              <a:buAutoNum type="arabicPeriod"/>
            </a:pPr>
            <a:r>
              <a:rPr lang="en-US" b="1" i="0" dirty="0">
                <a:solidFill>
                  <a:srgbClr val="404040"/>
                </a:solidFill>
                <a:effectLst/>
                <a:latin typeface="Inter"/>
              </a:rPr>
              <a:t>Slack</a:t>
            </a:r>
            <a:r>
              <a:rPr lang="en-US" b="0" i="0" dirty="0">
                <a:solidFill>
                  <a:srgbClr val="404040"/>
                </a:solidFill>
                <a:effectLst/>
                <a:latin typeface="Inter"/>
              </a:rPr>
              <a:t>: Started as a gaming company but creatively pivoted to become a leading communication tool for teams.</a:t>
            </a:r>
          </a:p>
          <a:p>
            <a:endParaRPr lang="en-CA" dirty="0"/>
          </a:p>
        </p:txBody>
      </p:sp>
    </p:spTree>
    <p:extLst>
      <p:ext uri="{BB962C8B-B14F-4D97-AF65-F5344CB8AC3E}">
        <p14:creationId xmlns:p14="http://schemas.microsoft.com/office/powerpoint/2010/main" val="153399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6E986-683B-8722-1E7D-4B6125A2A00A}"/>
              </a:ext>
            </a:extLst>
          </p:cNvPr>
          <p:cNvSpPr>
            <a:spLocks noGrp="1"/>
          </p:cNvSpPr>
          <p:nvPr>
            <p:ph type="title"/>
          </p:nvPr>
        </p:nvSpPr>
        <p:spPr>
          <a:xfrm>
            <a:off x="838200" y="365126"/>
            <a:ext cx="10515600" cy="21497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1B58E99-81BF-37A8-FC3C-499D0D47048F}"/>
              </a:ext>
            </a:extLst>
          </p:cNvPr>
          <p:cNvSpPr>
            <a:spLocks noGrp="1"/>
          </p:cNvSpPr>
          <p:nvPr>
            <p:ph idx="1"/>
          </p:nvPr>
        </p:nvSpPr>
        <p:spPr>
          <a:xfrm>
            <a:off x="147484" y="934065"/>
            <a:ext cx="11592232" cy="5791200"/>
          </a:xfrm>
        </p:spPr>
        <p:txBody>
          <a:bodyPr>
            <a:normAutofit/>
          </a:bodyPr>
          <a:lstStyle/>
          <a:p>
            <a:pPr algn="l">
              <a:buNone/>
            </a:pPr>
            <a:r>
              <a:rPr lang="en-US" b="1" i="0" dirty="0">
                <a:solidFill>
                  <a:srgbClr val="404040"/>
                </a:solidFill>
                <a:effectLst/>
                <a:latin typeface="Inter"/>
              </a:rPr>
              <a:t>Challenges to Creativity in Entrepreneurship:</a:t>
            </a:r>
          </a:p>
          <a:p>
            <a:pPr algn="l">
              <a:buFont typeface="+mj-lt"/>
              <a:buAutoNum type="arabicPeriod"/>
            </a:pPr>
            <a:r>
              <a:rPr lang="en-US" b="1" i="0" dirty="0">
                <a:solidFill>
                  <a:srgbClr val="404040"/>
                </a:solidFill>
                <a:effectLst/>
                <a:latin typeface="Inter"/>
              </a:rPr>
              <a:t>Fear of Failure</a:t>
            </a:r>
            <a:r>
              <a:rPr lang="en-US" b="0" i="0" dirty="0">
                <a:solidFill>
                  <a:srgbClr val="404040"/>
                </a:solidFill>
                <a:effectLst/>
                <a:latin typeface="Inter"/>
              </a:rPr>
              <a:t>: Fear can stifle creativity. Entrepreneurs must embrace failure as part of the process.</a:t>
            </a:r>
          </a:p>
          <a:p>
            <a:pPr algn="l">
              <a:spcBef>
                <a:spcPts val="300"/>
              </a:spcBef>
              <a:buFont typeface="+mj-lt"/>
              <a:buAutoNum type="arabicPeriod"/>
            </a:pPr>
            <a:r>
              <a:rPr lang="en-US" b="1" i="0" dirty="0">
                <a:solidFill>
                  <a:srgbClr val="404040"/>
                </a:solidFill>
                <a:effectLst/>
                <a:latin typeface="Inter"/>
              </a:rPr>
              <a:t>Resource Constraints</a:t>
            </a:r>
            <a:r>
              <a:rPr lang="en-US" b="0" i="0" dirty="0">
                <a:solidFill>
                  <a:srgbClr val="404040"/>
                </a:solidFill>
                <a:effectLst/>
                <a:latin typeface="Inter"/>
              </a:rPr>
              <a:t>: Limited resources can limit creative options, but they can also inspire resourcefulness.</a:t>
            </a:r>
          </a:p>
          <a:p>
            <a:pPr algn="l">
              <a:spcBef>
                <a:spcPts val="300"/>
              </a:spcBef>
              <a:buFont typeface="+mj-lt"/>
              <a:buAutoNum type="arabicPeriod"/>
            </a:pPr>
            <a:r>
              <a:rPr lang="en-US" b="1" i="0" dirty="0">
                <a:solidFill>
                  <a:srgbClr val="404040"/>
                </a:solidFill>
                <a:effectLst/>
                <a:latin typeface="Inter"/>
              </a:rPr>
              <a:t>Market Pressure</a:t>
            </a:r>
            <a:r>
              <a:rPr lang="en-US" b="0" i="0" dirty="0">
                <a:solidFill>
                  <a:srgbClr val="404040"/>
                </a:solidFill>
                <a:effectLst/>
                <a:latin typeface="Inter"/>
              </a:rPr>
              <a:t>: The need to deliver quick results can sometimes discourage long-term creative thinking.</a:t>
            </a:r>
          </a:p>
          <a:p>
            <a:pPr algn="l">
              <a:spcBef>
                <a:spcPts val="300"/>
              </a:spcBef>
              <a:buFont typeface="+mj-lt"/>
              <a:buAutoNum type="arabicPeriod"/>
            </a:pPr>
            <a:r>
              <a:rPr lang="en-US" b="1" i="0" dirty="0">
                <a:solidFill>
                  <a:srgbClr val="404040"/>
                </a:solidFill>
                <a:effectLst/>
                <a:latin typeface="Inter"/>
              </a:rPr>
              <a:t>Resistance to Change</a:t>
            </a:r>
            <a:r>
              <a:rPr lang="en-US" b="0" i="0" dirty="0">
                <a:solidFill>
                  <a:srgbClr val="404040"/>
                </a:solidFill>
                <a:effectLst/>
                <a:latin typeface="Inter"/>
              </a:rPr>
              <a:t>: Some stakeholders may resist creative ideas that disrupt the status quo.</a:t>
            </a:r>
          </a:p>
          <a:p>
            <a:pPr>
              <a:buNone/>
            </a:pPr>
            <a:br>
              <a:rPr lang="en-US" dirty="0"/>
            </a:br>
            <a:endParaRPr lang="en-CA" dirty="0"/>
          </a:p>
        </p:txBody>
      </p:sp>
    </p:spTree>
    <p:extLst>
      <p:ext uri="{BB962C8B-B14F-4D97-AF65-F5344CB8AC3E}">
        <p14:creationId xmlns:p14="http://schemas.microsoft.com/office/powerpoint/2010/main" val="7789721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2D09-EB7E-981E-1B1F-075C0050D04F}"/>
              </a:ext>
            </a:extLst>
          </p:cNvPr>
          <p:cNvSpPr>
            <a:spLocks noGrp="1"/>
          </p:cNvSpPr>
          <p:nvPr>
            <p:ph type="title"/>
          </p:nvPr>
        </p:nvSpPr>
        <p:spPr>
          <a:xfrm>
            <a:off x="838200" y="365126"/>
            <a:ext cx="10515600" cy="824578"/>
          </a:xfrm>
        </p:spPr>
        <p:txBody>
          <a:bodyPr/>
          <a:lstStyle/>
          <a:p>
            <a:r>
              <a:rPr lang="en-US" dirty="0"/>
              <a:t>Conclusion </a:t>
            </a:r>
            <a:endParaRPr lang="en-CA" dirty="0"/>
          </a:p>
        </p:txBody>
      </p:sp>
      <p:sp>
        <p:nvSpPr>
          <p:cNvPr id="3" name="Content Placeholder 2">
            <a:extLst>
              <a:ext uri="{FF2B5EF4-FFF2-40B4-BE49-F238E27FC236}">
                <a16:creationId xmlns:a16="http://schemas.microsoft.com/office/drawing/2014/main" id="{A8E6A229-CF3B-234F-F3EE-CE7A14F3B1E1}"/>
              </a:ext>
            </a:extLst>
          </p:cNvPr>
          <p:cNvSpPr>
            <a:spLocks noGrp="1"/>
          </p:cNvSpPr>
          <p:nvPr>
            <p:ph idx="1"/>
          </p:nvPr>
        </p:nvSpPr>
        <p:spPr/>
        <p:txBody>
          <a:bodyPr/>
          <a:lstStyle/>
          <a:p>
            <a:r>
              <a:rPr lang="en-US" b="0" i="0" dirty="0">
                <a:solidFill>
                  <a:srgbClr val="404040"/>
                </a:solidFill>
                <a:effectLst/>
                <a:latin typeface="Inter"/>
              </a:rPr>
              <a:t>Creativity is the keystone of entrepreneurship development. It enables entrepreneurs to innovate, solve problems, and create value in unique ways. By fostering a culture of creativity, embracing experimentation, and staying customer-focused, entrepreneurs can turn their ideas into successful ventures that make a lasting impact.</a:t>
            </a:r>
            <a:endParaRPr lang="en-CA" dirty="0"/>
          </a:p>
        </p:txBody>
      </p:sp>
    </p:spTree>
    <p:extLst>
      <p:ext uri="{BB962C8B-B14F-4D97-AF65-F5344CB8AC3E}">
        <p14:creationId xmlns:p14="http://schemas.microsoft.com/office/powerpoint/2010/main" val="5382311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D547D-3755-8C93-1522-4907F3D0A123}"/>
              </a:ext>
            </a:extLst>
          </p:cNvPr>
          <p:cNvSpPr>
            <a:spLocks noGrp="1"/>
          </p:cNvSpPr>
          <p:nvPr>
            <p:ph type="title"/>
          </p:nvPr>
        </p:nvSpPr>
        <p:spPr/>
        <p:txBody>
          <a:bodyPr/>
          <a:lstStyle/>
          <a:p>
            <a:r>
              <a:rPr lang="en-US" dirty="0"/>
              <a:t>Concept of innovation </a:t>
            </a:r>
            <a:endParaRPr lang="en-CA" dirty="0"/>
          </a:p>
        </p:txBody>
      </p:sp>
      <p:sp>
        <p:nvSpPr>
          <p:cNvPr id="3" name="Content Placeholder 2">
            <a:extLst>
              <a:ext uri="{FF2B5EF4-FFF2-40B4-BE49-F238E27FC236}">
                <a16:creationId xmlns:a16="http://schemas.microsoft.com/office/drawing/2014/main" id="{FA3BB97D-C2FC-40E6-9AE6-7D3AB215B670}"/>
              </a:ext>
            </a:extLst>
          </p:cNvPr>
          <p:cNvSpPr>
            <a:spLocks noGrp="1"/>
          </p:cNvSpPr>
          <p:nvPr>
            <p:ph idx="1"/>
          </p:nvPr>
        </p:nvSpPr>
        <p:spPr/>
        <p:txBody>
          <a:bodyPr/>
          <a:lstStyle/>
          <a:p>
            <a:r>
              <a:rPr lang="en-US" dirty="0">
                <a:solidFill>
                  <a:srgbClr val="404040"/>
                </a:solidFill>
                <a:latin typeface="Inter"/>
              </a:rPr>
              <a:t>I</a:t>
            </a:r>
            <a:r>
              <a:rPr lang="en-US" b="0" i="0" dirty="0">
                <a:solidFill>
                  <a:srgbClr val="404040"/>
                </a:solidFill>
                <a:effectLst/>
                <a:latin typeface="Inter"/>
              </a:rPr>
              <a:t>nnovation is at the heart of entrepreneurship. It’s the process of turning creative ideas into valuable solutions that meet market needs, solve problems, and drive growth. In entrepreneurship, innovation isn’t just about inventing something entirely new—it’s about improving existing products, processes, or business models to create value. </a:t>
            </a:r>
            <a:endParaRPr lang="en-CA" dirty="0"/>
          </a:p>
        </p:txBody>
      </p:sp>
    </p:spTree>
    <p:extLst>
      <p:ext uri="{BB962C8B-B14F-4D97-AF65-F5344CB8AC3E}">
        <p14:creationId xmlns:p14="http://schemas.microsoft.com/office/powerpoint/2010/main" val="1019338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CE6D-A51C-740A-2785-733B6B85ADB3}"/>
              </a:ext>
            </a:extLst>
          </p:cNvPr>
          <p:cNvSpPr>
            <a:spLocks noGrp="1"/>
          </p:cNvSpPr>
          <p:nvPr>
            <p:ph type="title"/>
          </p:nvPr>
        </p:nvSpPr>
        <p:spPr>
          <a:xfrm>
            <a:off x="838200" y="365126"/>
            <a:ext cx="10515600" cy="43128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483E0EC-77FD-72E7-3B43-7E912534D11B}"/>
              </a:ext>
            </a:extLst>
          </p:cNvPr>
          <p:cNvSpPr>
            <a:spLocks noGrp="1"/>
          </p:cNvSpPr>
          <p:nvPr>
            <p:ph idx="1"/>
          </p:nvPr>
        </p:nvSpPr>
        <p:spPr>
          <a:xfrm>
            <a:off x="838200" y="1225296"/>
            <a:ext cx="10515600" cy="5480303"/>
          </a:xfrm>
        </p:spPr>
        <p:txBody>
          <a:bodyPr>
            <a:normAutofit/>
          </a:bodyPr>
          <a:lstStyle/>
          <a:p>
            <a:pPr algn="l">
              <a:buNone/>
            </a:pPr>
            <a:r>
              <a:rPr lang="en-US" b="0" i="0" dirty="0">
                <a:solidFill>
                  <a:srgbClr val="404040"/>
                </a:solidFill>
                <a:effectLst/>
                <a:latin typeface="Inter"/>
              </a:rPr>
              <a:t>Innovation in entrepreneurship refers to the process of creating and implementing new ideas, products, services, or processes that deliver value to customers and differentiate a business from its competitors. It involves:</a:t>
            </a:r>
          </a:p>
          <a:p>
            <a:pPr algn="l">
              <a:buFont typeface="Arial" panose="020B0604020202020204" pitchFamily="34" charset="0"/>
              <a:buChar char="•"/>
            </a:pPr>
            <a:r>
              <a:rPr lang="en-US" b="1" i="0" dirty="0">
                <a:solidFill>
                  <a:srgbClr val="404040"/>
                </a:solidFill>
                <a:effectLst/>
                <a:latin typeface="Inter"/>
              </a:rPr>
              <a:t>Identifying Opportunities</a:t>
            </a:r>
            <a:r>
              <a:rPr lang="en-US" b="0" i="0" dirty="0">
                <a:solidFill>
                  <a:srgbClr val="404040"/>
                </a:solidFill>
                <a:effectLst/>
                <a:latin typeface="Inter"/>
              </a:rPr>
              <a:t>: Spotting gaps or unmet needs in the market.</a:t>
            </a:r>
          </a:p>
          <a:p>
            <a:pPr algn="l">
              <a:spcBef>
                <a:spcPts val="300"/>
              </a:spcBef>
              <a:buFont typeface="Arial" panose="020B0604020202020204" pitchFamily="34" charset="0"/>
              <a:buChar char="•"/>
            </a:pPr>
            <a:r>
              <a:rPr lang="en-US" b="1" i="0" dirty="0">
                <a:solidFill>
                  <a:srgbClr val="404040"/>
                </a:solidFill>
                <a:effectLst/>
                <a:latin typeface="Inter"/>
              </a:rPr>
              <a:t>Developing Solutions</a:t>
            </a:r>
            <a:r>
              <a:rPr lang="en-US" b="0" i="0" dirty="0">
                <a:solidFill>
                  <a:srgbClr val="404040"/>
                </a:solidFill>
                <a:effectLst/>
                <a:latin typeface="Inter"/>
              </a:rPr>
              <a:t>: Creating products, services, or processes that address those needs.</a:t>
            </a:r>
          </a:p>
          <a:p>
            <a:pPr algn="l">
              <a:spcBef>
                <a:spcPts val="300"/>
              </a:spcBef>
              <a:buFont typeface="Arial" panose="020B0604020202020204" pitchFamily="34" charset="0"/>
              <a:buChar char="•"/>
            </a:pPr>
            <a:r>
              <a:rPr lang="en-US" b="1" i="0" dirty="0">
                <a:solidFill>
                  <a:srgbClr val="404040"/>
                </a:solidFill>
                <a:effectLst/>
                <a:latin typeface="Inter"/>
              </a:rPr>
              <a:t>Implementing Change</a:t>
            </a:r>
            <a:r>
              <a:rPr lang="en-US" b="0" i="0" dirty="0">
                <a:solidFill>
                  <a:srgbClr val="404040"/>
                </a:solidFill>
                <a:effectLst/>
                <a:latin typeface="Inter"/>
              </a:rPr>
              <a:t>: Bringing the solution to market and scaling it effectively.</a:t>
            </a:r>
          </a:p>
          <a:p>
            <a:pPr>
              <a:buNone/>
            </a:pPr>
            <a:br>
              <a:rPr lang="en-US" dirty="0"/>
            </a:br>
            <a:endParaRPr lang="en-CA" dirty="0"/>
          </a:p>
        </p:txBody>
      </p:sp>
    </p:spTree>
    <p:extLst>
      <p:ext uri="{BB962C8B-B14F-4D97-AF65-F5344CB8AC3E}">
        <p14:creationId xmlns:p14="http://schemas.microsoft.com/office/powerpoint/2010/main" val="33466891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DC0A2-7DA4-259B-85D2-99D0859A6B30}"/>
              </a:ext>
            </a:extLst>
          </p:cNvPr>
          <p:cNvSpPr>
            <a:spLocks noGrp="1"/>
          </p:cNvSpPr>
          <p:nvPr>
            <p:ph type="title"/>
          </p:nvPr>
        </p:nvSpPr>
        <p:spPr>
          <a:xfrm>
            <a:off x="838200" y="365125"/>
            <a:ext cx="10515600" cy="2444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320C00FF-3432-3F41-2D53-664841AA74BA}"/>
              </a:ext>
            </a:extLst>
          </p:cNvPr>
          <p:cNvSpPr>
            <a:spLocks noGrp="1"/>
          </p:cNvSpPr>
          <p:nvPr>
            <p:ph idx="1"/>
          </p:nvPr>
        </p:nvSpPr>
        <p:spPr>
          <a:xfrm>
            <a:off x="304800" y="1022554"/>
            <a:ext cx="11444748" cy="5761703"/>
          </a:xfrm>
        </p:spPr>
        <p:txBody>
          <a:bodyPr>
            <a:normAutofit/>
          </a:bodyPr>
          <a:lstStyle/>
          <a:p>
            <a:pPr algn="l">
              <a:buNone/>
            </a:pPr>
            <a:r>
              <a:rPr lang="en-US" b="1" i="0" dirty="0">
                <a:solidFill>
                  <a:srgbClr val="404040"/>
                </a:solidFill>
                <a:effectLst/>
                <a:latin typeface="Inter"/>
              </a:rPr>
              <a:t>Why is Innovation Important in Entrepreneurship?</a:t>
            </a:r>
          </a:p>
          <a:p>
            <a:pPr algn="l">
              <a:buFont typeface="+mj-lt"/>
              <a:buAutoNum type="arabicPeriod"/>
            </a:pPr>
            <a:r>
              <a:rPr lang="en-US" b="1" i="0" dirty="0">
                <a:solidFill>
                  <a:srgbClr val="404040"/>
                </a:solidFill>
                <a:effectLst/>
                <a:latin typeface="Inter"/>
              </a:rPr>
              <a:t>Competitive Advantage</a:t>
            </a:r>
            <a:r>
              <a:rPr lang="en-US" b="0" i="0" dirty="0">
                <a:solidFill>
                  <a:srgbClr val="404040"/>
                </a:solidFill>
                <a:effectLst/>
                <a:latin typeface="Inter"/>
              </a:rPr>
              <a:t>: Innovation helps businesses stand out in crowded markets.</a:t>
            </a:r>
          </a:p>
          <a:p>
            <a:pPr algn="l">
              <a:spcBef>
                <a:spcPts val="300"/>
              </a:spcBef>
              <a:buFont typeface="+mj-lt"/>
              <a:buAutoNum type="arabicPeriod"/>
            </a:pPr>
            <a:r>
              <a:rPr lang="en-US" b="1" i="0" dirty="0">
                <a:solidFill>
                  <a:srgbClr val="404040"/>
                </a:solidFill>
                <a:effectLst/>
                <a:latin typeface="Inter"/>
              </a:rPr>
              <a:t>Value Creation</a:t>
            </a:r>
            <a:r>
              <a:rPr lang="en-US" b="0" i="0" dirty="0">
                <a:solidFill>
                  <a:srgbClr val="404040"/>
                </a:solidFill>
                <a:effectLst/>
                <a:latin typeface="Inter"/>
              </a:rPr>
              <a:t>: It enables entrepreneurs to deliver unique value to customers.</a:t>
            </a:r>
          </a:p>
          <a:p>
            <a:pPr algn="l">
              <a:spcBef>
                <a:spcPts val="300"/>
              </a:spcBef>
              <a:buFont typeface="+mj-lt"/>
              <a:buAutoNum type="arabicPeriod"/>
            </a:pPr>
            <a:r>
              <a:rPr lang="en-US" b="1" i="0" dirty="0">
                <a:solidFill>
                  <a:srgbClr val="404040"/>
                </a:solidFill>
                <a:effectLst/>
                <a:latin typeface="Inter"/>
              </a:rPr>
              <a:t>Adaptability</a:t>
            </a:r>
            <a:r>
              <a:rPr lang="en-US" b="0" i="0" dirty="0">
                <a:solidFill>
                  <a:srgbClr val="404040"/>
                </a:solidFill>
                <a:effectLst/>
                <a:latin typeface="Inter"/>
              </a:rPr>
              <a:t>: Innovative businesses are better equipped to respond to changing market conditions.</a:t>
            </a:r>
          </a:p>
          <a:p>
            <a:pPr algn="l">
              <a:spcBef>
                <a:spcPts val="300"/>
              </a:spcBef>
              <a:buFont typeface="+mj-lt"/>
              <a:buAutoNum type="arabicPeriod"/>
            </a:pPr>
            <a:r>
              <a:rPr lang="en-US" b="1" i="0" dirty="0">
                <a:solidFill>
                  <a:srgbClr val="404040"/>
                </a:solidFill>
                <a:effectLst/>
                <a:latin typeface="Inter"/>
              </a:rPr>
              <a:t>Growth and Scalability</a:t>
            </a:r>
            <a:r>
              <a:rPr lang="en-US" b="0" i="0" dirty="0">
                <a:solidFill>
                  <a:srgbClr val="404040"/>
                </a:solidFill>
                <a:effectLst/>
                <a:latin typeface="Inter"/>
              </a:rPr>
              <a:t>: Innovation drives business growth by opening new markets and revenue streams.</a:t>
            </a:r>
          </a:p>
          <a:p>
            <a:pPr algn="l">
              <a:spcBef>
                <a:spcPts val="300"/>
              </a:spcBef>
              <a:buFont typeface="+mj-lt"/>
              <a:buAutoNum type="arabicPeriod"/>
            </a:pPr>
            <a:r>
              <a:rPr lang="en-US" b="1" i="0" dirty="0">
                <a:solidFill>
                  <a:srgbClr val="404040"/>
                </a:solidFill>
                <a:effectLst/>
                <a:latin typeface="Inter"/>
              </a:rPr>
              <a:t>Problem-Solving</a:t>
            </a:r>
            <a:r>
              <a:rPr lang="en-US" b="0" i="0" dirty="0">
                <a:solidFill>
                  <a:srgbClr val="404040"/>
                </a:solidFill>
                <a:effectLst/>
                <a:latin typeface="Inter"/>
              </a:rPr>
              <a:t>: It provides solutions to pressing challenges, both for customers and within the business itself.</a:t>
            </a:r>
          </a:p>
          <a:p>
            <a:endParaRPr lang="en-CA" dirty="0"/>
          </a:p>
        </p:txBody>
      </p:sp>
    </p:spTree>
    <p:extLst>
      <p:ext uri="{BB962C8B-B14F-4D97-AF65-F5344CB8AC3E}">
        <p14:creationId xmlns:p14="http://schemas.microsoft.com/office/powerpoint/2010/main" val="1486777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C477-7AA2-0BCA-8A9F-BDA61572369B}"/>
              </a:ext>
            </a:extLst>
          </p:cNvPr>
          <p:cNvSpPr>
            <a:spLocks noGrp="1"/>
          </p:cNvSpPr>
          <p:nvPr>
            <p:ph type="title"/>
          </p:nvPr>
        </p:nvSpPr>
        <p:spPr>
          <a:xfrm>
            <a:off x="838200" y="365125"/>
            <a:ext cx="10515600" cy="46078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7A8BA5A-1C16-B790-AE88-E14C4AAB830F}"/>
              </a:ext>
            </a:extLst>
          </p:cNvPr>
          <p:cNvSpPr>
            <a:spLocks noGrp="1"/>
          </p:cNvSpPr>
          <p:nvPr>
            <p:ph idx="1"/>
          </p:nvPr>
        </p:nvSpPr>
        <p:spPr>
          <a:xfrm>
            <a:off x="765048" y="927817"/>
            <a:ext cx="10515600" cy="5565058"/>
          </a:xfrm>
        </p:spPr>
        <p:txBody>
          <a:bodyPr>
            <a:normAutofit fontScale="92500" lnSpcReduction="10000"/>
          </a:bodyPr>
          <a:lstStyle/>
          <a:p>
            <a:pPr algn="l">
              <a:buNone/>
            </a:pPr>
            <a:r>
              <a:rPr lang="en-US" b="1" i="0" dirty="0">
                <a:solidFill>
                  <a:srgbClr val="404040"/>
                </a:solidFill>
                <a:effectLst/>
                <a:latin typeface="Inter"/>
              </a:rPr>
              <a:t>Types of Innovation in Entrepreneurship:</a:t>
            </a:r>
          </a:p>
          <a:p>
            <a:pPr algn="l">
              <a:spcAft>
                <a:spcPts val="300"/>
              </a:spcAft>
              <a:buFont typeface="+mj-lt"/>
              <a:buAutoNum type="arabicPeriod"/>
            </a:pPr>
            <a:r>
              <a:rPr lang="en-US" b="1" i="0" dirty="0">
                <a:solidFill>
                  <a:srgbClr val="404040"/>
                </a:solidFill>
                <a:effectLst/>
                <a:latin typeface="Inter"/>
              </a:rPr>
              <a:t>Product Innovation</a:t>
            </a:r>
            <a:r>
              <a:rPr lang="en-US" b="0" i="0" dirty="0">
                <a:solidFill>
                  <a:srgbClr val="404040"/>
                </a:solidFill>
                <a:effectLst/>
                <a:latin typeface="Inter"/>
              </a:rPr>
              <a:t>:</a:t>
            </a:r>
          </a:p>
          <a:p>
            <a:pPr marL="457200" lvl="1" indent="0" algn="l">
              <a:spcBef>
                <a:spcPts val="300"/>
              </a:spcBef>
              <a:buNone/>
            </a:pPr>
            <a:r>
              <a:rPr lang="en-US" b="1" dirty="0"/>
              <a:t>Product innovation</a:t>
            </a:r>
            <a:r>
              <a:rPr lang="en-US" dirty="0"/>
              <a:t> means </a:t>
            </a:r>
            <a:r>
              <a:rPr lang="en-US" b="1" dirty="0"/>
              <a:t>creating a completely new product</a:t>
            </a:r>
            <a:r>
              <a:rPr lang="en-US" dirty="0"/>
              <a:t> or </a:t>
            </a:r>
            <a:r>
              <a:rPr lang="en-US" b="1" dirty="0"/>
              <a:t>improving an existing one</a:t>
            </a:r>
            <a:r>
              <a:rPr lang="en-US" dirty="0"/>
              <a:t> to make it more useful, appealing, or efficient for customers.</a:t>
            </a:r>
            <a:br>
              <a:rPr lang="en-US" dirty="0"/>
            </a:br>
            <a:r>
              <a:rPr lang="en-US" dirty="0"/>
              <a:t>It focuses on </a:t>
            </a:r>
            <a:r>
              <a:rPr lang="en-US" b="1" dirty="0"/>
              <a:t>adding new features, improving performance, enhancing design, or solving user problems</a:t>
            </a:r>
            <a:r>
              <a:rPr lang="en-US" dirty="0"/>
              <a:t> in a better way than before.</a:t>
            </a:r>
            <a:endParaRPr lang="en-US" b="0" i="0" dirty="0">
              <a:solidFill>
                <a:srgbClr val="404040"/>
              </a:solidFill>
              <a:effectLst/>
              <a:latin typeface="Inter"/>
            </a:endParaRPr>
          </a:p>
          <a:p>
            <a:pPr>
              <a:buNone/>
            </a:pPr>
            <a:r>
              <a:rPr lang="en-US" b="1" dirty="0"/>
              <a:t>Key Characteristics of Product Innovation:</a:t>
            </a:r>
          </a:p>
          <a:p>
            <a:pPr marL="0" indent="0">
              <a:buNone/>
            </a:pPr>
            <a:r>
              <a:rPr lang="en-US" b="1" dirty="0"/>
              <a:t>Customer-focused:</a:t>
            </a:r>
            <a:r>
              <a:rPr lang="en-US" dirty="0"/>
              <a:t> The main goal is to meet changing customer needs or expectations.</a:t>
            </a:r>
          </a:p>
          <a:p>
            <a:pPr marL="0" indent="0">
              <a:buNone/>
            </a:pPr>
            <a:r>
              <a:rPr lang="en-US" b="1" dirty="0"/>
              <a:t>Value addition:</a:t>
            </a:r>
            <a:r>
              <a:rPr lang="en-US" dirty="0"/>
              <a:t> It provides </a:t>
            </a:r>
            <a:r>
              <a:rPr lang="en-US" i="1" dirty="0"/>
              <a:t>something new or better</a:t>
            </a:r>
            <a:r>
              <a:rPr lang="en-US" dirty="0"/>
              <a:t> — higher quality, better usability, or unique features.</a:t>
            </a:r>
          </a:p>
          <a:p>
            <a:pPr marL="0" indent="0">
              <a:buNone/>
            </a:pPr>
            <a:r>
              <a:rPr lang="en-US" b="1" dirty="0"/>
              <a:t>Competitive advantage:</a:t>
            </a:r>
            <a:r>
              <a:rPr lang="en-US" dirty="0"/>
              <a:t> Innovative products help businesses stand out from competitors.</a:t>
            </a:r>
          </a:p>
          <a:p>
            <a:pPr marL="0" indent="0">
              <a:buNone/>
            </a:pPr>
            <a:r>
              <a:rPr lang="en-US" b="1" dirty="0"/>
              <a:t>Continuous improvement:</a:t>
            </a:r>
            <a:r>
              <a:rPr lang="en-US" dirty="0"/>
              <a:t> It’s not always about creating something entirely new — even small upgrades can count.</a:t>
            </a:r>
          </a:p>
          <a:p>
            <a:pPr marL="457200" lvl="1" indent="0" algn="l">
              <a:spcBef>
                <a:spcPts val="300"/>
              </a:spcBef>
              <a:buNone/>
            </a:pPr>
            <a:endParaRPr lang="en-US" dirty="0">
              <a:solidFill>
                <a:srgbClr val="404040"/>
              </a:solidFill>
              <a:latin typeface="Inter"/>
            </a:endParaRPr>
          </a:p>
          <a:p>
            <a:pPr marL="457200" lvl="1" indent="0" algn="l">
              <a:spcBef>
                <a:spcPts val="300"/>
              </a:spcBef>
              <a:buNone/>
            </a:pPr>
            <a:endParaRPr lang="en-US" b="0" i="0" dirty="0">
              <a:solidFill>
                <a:srgbClr val="404040"/>
              </a:solidFill>
              <a:effectLst/>
              <a:latin typeface="Inter"/>
            </a:endParaRPr>
          </a:p>
          <a:p>
            <a:pPr marL="457200" lvl="1" indent="0" algn="l">
              <a:spcBef>
                <a:spcPts val="300"/>
              </a:spcBef>
              <a:buNone/>
            </a:pPr>
            <a:endParaRPr lang="en-US" dirty="0">
              <a:solidFill>
                <a:srgbClr val="404040"/>
              </a:solidFill>
              <a:latin typeface="Inter"/>
            </a:endParaRPr>
          </a:p>
          <a:p>
            <a:pPr marL="457200" lvl="1" indent="0" algn="l">
              <a:spcBef>
                <a:spcPts val="300"/>
              </a:spcBef>
              <a:buNone/>
            </a:pPr>
            <a:endParaRPr lang="en-US" b="0" i="0" dirty="0">
              <a:solidFill>
                <a:srgbClr val="404040"/>
              </a:solidFill>
              <a:effectLst/>
              <a:latin typeface="Inter"/>
            </a:endParaRPr>
          </a:p>
          <a:p>
            <a:endParaRPr lang="en-CA" dirty="0"/>
          </a:p>
        </p:txBody>
      </p:sp>
    </p:spTree>
    <p:extLst>
      <p:ext uri="{BB962C8B-B14F-4D97-AF65-F5344CB8AC3E}">
        <p14:creationId xmlns:p14="http://schemas.microsoft.com/office/powerpoint/2010/main" val="31367601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B6C9-67CF-01F6-16E7-570A5A93CB85}"/>
              </a:ext>
            </a:extLst>
          </p:cNvPr>
          <p:cNvSpPr>
            <a:spLocks noGrp="1"/>
          </p:cNvSpPr>
          <p:nvPr>
            <p:ph type="title"/>
          </p:nvPr>
        </p:nvSpPr>
        <p:spPr/>
        <p:txBody>
          <a:bodyPr/>
          <a:lstStyle/>
          <a:p>
            <a:r>
              <a:rPr lang="en-CA" dirty="0"/>
              <a:t>2. Process Innovation:</a:t>
            </a:r>
            <a:br>
              <a:rPr lang="en-CA" dirty="0"/>
            </a:br>
            <a:endParaRPr lang="en-CA" dirty="0"/>
          </a:p>
        </p:txBody>
      </p:sp>
      <p:sp>
        <p:nvSpPr>
          <p:cNvPr id="3" name="Content Placeholder 2">
            <a:extLst>
              <a:ext uri="{FF2B5EF4-FFF2-40B4-BE49-F238E27FC236}">
                <a16:creationId xmlns:a16="http://schemas.microsoft.com/office/drawing/2014/main" id="{07677D43-0816-AA72-F70C-E926A5EE21C1}"/>
              </a:ext>
            </a:extLst>
          </p:cNvPr>
          <p:cNvSpPr>
            <a:spLocks noGrp="1"/>
          </p:cNvSpPr>
          <p:nvPr>
            <p:ph idx="1"/>
          </p:nvPr>
        </p:nvSpPr>
        <p:spPr>
          <a:xfrm>
            <a:off x="838200" y="1353312"/>
            <a:ext cx="10515600" cy="4823651"/>
          </a:xfrm>
        </p:spPr>
        <p:txBody>
          <a:bodyPr/>
          <a:lstStyle/>
          <a:p>
            <a:pPr marL="457200" marR="0" lvl="1"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404040"/>
                </a:solidFill>
                <a:effectLst/>
                <a:uLnTx/>
                <a:uFillTx/>
                <a:latin typeface="Inter"/>
                <a:ea typeface="+mn-ea"/>
                <a:cs typeface="+mn-cs"/>
              </a:rPr>
              <a:t>Process Innovation refers to improving or creating new ways of producing and delivering products or services. It focuses on how things are made or done — not on the product itself. The goal is to make business operations faster, cheaper, more efficient, and higher in quality.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Key Characteristics of Process Innovation: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Efficiency improvement: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Reduces time, cost, and waste in production or delivery.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Quality enhancement: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Produces more consistent and reliable results.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Technology-driven: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Often involves automation, digital tools, or new machinery.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Customer impact: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Customers benefit indirectly through better prices, faster delivery, or improved service.</a:t>
            </a:r>
          </a:p>
          <a:p>
            <a:pPr marL="457200" marR="0" lvl="1"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endParaRPr kumimoji="0" lang="en-US" sz="3200" b="0" i="0" u="none" strike="noStrike" kern="1200" cap="none" spc="0" normalizeH="0" baseline="0" noProof="0" dirty="0">
              <a:ln>
                <a:noFill/>
              </a:ln>
              <a:solidFill>
                <a:srgbClr val="404040"/>
              </a:solidFill>
              <a:effectLst/>
              <a:uLnTx/>
              <a:uFillTx/>
              <a:latin typeface="Inter"/>
              <a:ea typeface="+mn-ea"/>
              <a:cs typeface="+mn-cs"/>
            </a:endParaRPr>
          </a:p>
          <a:p>
            <a:endParaRPr lang="en-CA" dirty="0"/>
          </a:p>
        </p:txBody>
      </p:sp>
    </p:spTree>
    <p:extLst>
      <p:ext uri="{BB962C8B-B14F-4D97-AF65-F5344CB8AC3E}">
        <p14:creationId xmlns:p14="http://schemas.microsoft.com/office/powerpoint/2010/main" val="4073360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83390-F7A9-5A89-30B9-D0D23143938E}"/>
              </a:ext>
            </a:extLst>
          </p:cNvPr>
          <p:cNvSpPr>
            <a:spLocks noGrp="1"/>
          </p:cNvSpPr>
          <p:nvPr>
            <p:ph type="title"/>
          </p:nvPr>
        </p:nvSpPr>
        <p:spPr/>
        <p:txBody>
          <a:bodyPr/>
          <a:lstStyle/>
          <a:p>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3. Business model innovation </a:t>
            </a:r>
            <a:endParaRPr lang="en-CA" dirty="0"/>
          </a:p>
        </p:txBody>
      </p:sp>
      <p:sp>
        <p:nvSpPr>
          <p:cNvPr id="3" name="Content Placeholder 2">
            <a:extLst>
              <a:ext uri="{FF2B5EF4-FFF2-40B4-BE49-F238E27FC236}">
                <a16:creationId xmlns:a16="http://schemas.microsoft.com/office/drawing/2014/main" id="{F8BDDE15-E10A-7859-33A7-622CCE030560}"/>
              </a:ext>
            </a:extLst>
          </p:cNvPr>
          <p:cNvSpPr>
            <a:spLocks noGrp="1"/>
          </p:cNvSpPr>
          <p:nvPr>
            <p:ph idx="1"/>
          </p:nvPr>
        </p:nvSpPr>
        <p:spPr/>
        <p:txBody>
          <a:bodyPr>
            <a:normAutofit fontScale="92500" lnSpcReduction="10000"/>
          </a:bodyPr>
          <a:lstStyle/>
          <a:p>
            <a:r>
              <a:rPr lang="en-US" dirty="0"/>
              <a:t>A business model is the complete roadmap detailing how an organization plans to make money. BMI is the act of </a:t>
            </a:r>
            <a:r>
              <a:rPr lang="en-US" b="1" dirty="0"/>
              <a:t>creatively redesigning</a:t>
            </a:r>
            <a:r>
              <a:rPr lang="en-US" dirty="0"/>
              <a:t> one or more of these core components to fundamentally change the way the business operates. It’s not just about a new product; it’s about establishing a </a:t>
            </a:r>
            <a:r>
              <a:rPr lang="en-US" b="1" dirty="0"/>
              <a:t>new system</a:t>
            </a:r>
            <a:r>
              <a:rPr lang="en-US" dirty="0"/>
              <a:t> that often invalidates(cancels) the old rules of the industry.</a:t>
            </a:r>
          </a:p>
          <a:p>
            <a:endParaRPr lang="en-US" dirty="0"/>
          </a:p>
          <a:p>
            <a:r>
              <a:rPr lang="en-US" b="1" dirty="0"/>
              <a:t>Business Model Innovation (BMI)</a:t>
            </a:r>
            <a:r>
              <a:rPr lang="en-US" dirty="0"/>
              <a:t> refers to the </a:t>
            </a:r>
            <a:r>
              <a:rPr lang="en-US" b="1" dirty="0"/>
              <a:t>rethinking and redesign of a company’s business model</a:t>
            </a:r>
            <a:r>
              <a:rPr lang="en-US" dirty="0"/>
              <a:t>—the way it operates, generates revenue, and delivers value to customers. It involves changing one or more components of the business model (such as the value proposition, revenue streams, customer relationships, or key resources) to achieve superior performance or create new market opportunities.</a:t>
            </a:r>
            <a:endParaRPr lang="en-CA" dirty="0"/>
          </a:p>
        </p:txBody>
      </p:sp>
    </p:spTree>
    <p:extLst>
      <p:ext uri="{BB962C8B-B14F-4D97-AF65-F5344CB8AC3E}">
        <p14:creationId xmlns:p14="http://schemas.microsoft.com/office/powerpoint/2010/main" val="20648553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F7484-4EAF-1591-3763-5E1B516FB054}"/>
              </a:ext>
            </a:extLst>
          </p:cNvPr>
          <p:cNvSpPr>
            <a:spLocks noGrp="1"/>
          </p:cNvSpPr>
          <p:nvPr>
            <p:ph type="title"/>
          </p:nvPr>
        </p:nvSpPr>
        <p:spPr>
          <a:xfrm>
            <a:off x="838200" y="365125"/>
            <a:ext cx="10797540" cy="1325563"/>
          </a:xfrm>
        </p:spPr>
        <p:txBody>
          <a:bodyPr/>
          <a:lstStyle/>
          <a:p>
            <a:r>
              <a:rPr lang="en-US" dirty="0"/>
              <a:t>Key components of business model innovation  </a:t>
            </a:r>
            <a:endParaRPr lang="en-CA" dirty="0"/>
          </a:p>
        </p:txBody>
      </p:sp>
      <p:sp>
        <p:nvSpPr>
          <p:cNvPr id="3" name="Content Placeholder 2">
            <a:extLst>
              <a:ext uri="{FF2B5EF4-FFF2-40B4-BE49-F238E27FC236}">
                <a16:creationId xmlns:a16="http://schemas.microsoft.com/office/drawing/2014/main" id="{A5A5E187-523A-CA3C-0741-FC7B50228B68}"/>
              </a:ext>
            </a:extLst>
          </p:cNvPr>
          <p:cNvSpPr>
            <a:spLocks noGrp="1"/>
          </p:cNvSpPr>
          <p:nvPr>
            <p:ph idx="1"/>
          </p:nvPr>
        </p:nvSpPr>
        <p:spPr/>
        <p:txBody>
          <a:bodyPr/>
          <a:lstStyle/>
          <a:p>
            <a:pPr algn="l">
              <a:lnSpc>
                <a:spcPts val="2100"/>
              </a:lnSpc>
              <a:spcBef>
                <a:spcPts val="1200"/>
              </a:spcBef>
              <a:spcAft>
                <a:spcPts val="1200"/>
              </a:spcAft>
              <a:buNone/>
            </a:pPr>
            <a:r>
              <a:rPr lang="en-US" b="1" dirty="0">
                <a:solidFill>
                  <a:srgbClr val="0F1115"/>
                </a:solidFill>
                <a:effectLst/>
                <a:latin typeface="quote-cjk-patch"/>
              </a:rPr>
              <a:t>1. Value Proposition Innovation</a:t>
            </a:r>
          </a:p>
          <a:p>
            <a:pPr algn="l">
              <a:spcBef>
                <a:spcPts val="1200"/>
              </a:spcBef>
              <a:spcAft>
                <a:spcPts val="1200"/>
              </a:spcAft>
              <a:buNone/>
            </a:pPr>
            <a:r>
              <a:rPr lang="en-US" b="0" i="0" dirty="0">
                <a:solidFill>
                  <a:srgbClr val="0F1115"/>
                </a:solidFill>
                <a:effectLst/>
                <a:latin typeface="quote-cjk-patch"/>
              </a:rPr>
              <a:t>This is the heart of the model. It involves redefining what product or service you offer and to whom.</a:t>
            </a:r>
          </a:p>
          <a:p>
            <a:pPr marL="0" indent="0" algn="l">
              <a:spcBef>
                <a:spcPts val="1200"/>
              </a:spcBef>
              <a:spcAft>
                <a:spcPts val="1200"/>
              </a:spcAft>
              <a:buNone/>
            </a:pPr>
            <a:r>
              <a:rPr lang="en-US" b="1" dirty="0">
                <a:solidFill>
                  <a:srgbClr val="0F1115"/>
                </a:solidFill>
                <a:latin typeface="quote-cjk-patch"/>
              </a:rPr>
              <a:t> </a:t>
            </a:r>
            <a:r>
              <a:rPr lang="en-US" dirty="0">
                <a:solidFill>
                  <a:srgbClr val="0F1115"/>
                </a:solidFill>
                <a:latin typeface="quote-cjk-patch"/>
              </a:rPr>
              <a:t>It is concerned with c</a:t>
            </a:r>
            <a:r>
              <a:rPr lang="en-US" b="0" i="0" dirty="0">
                <a:solidFill>
                  <a:srgbClr val="0F1115"/>
                </a:solidFill>
                <a:effectLst/>
                <a:latin typeface="quote-cjk-patch"/>
              </a:rPr>
              <a:t>reating a fundamentally new or dramatically improved value proposition that disrupts existing market standards.</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Netflix</a:t>
            </a:r>
            <a:r>
              <a:rPr lang="en-US" b="0" i="0" dirty="0">
                <a:solidFill>
                  <a:srgbClr val="0F1115"/>
                </a:solidFill>
                <a:effectLst/>
                <a:latin typeface="quote-cjk-patch"/>
              </a:rPr>
              <a:t> shifted from DVD rentals (a physical product) to streaming (a subscription service).</a:t>
            </a:r>
          </a:p>
          <a:p>
            <a:endParaRPr lang="en-CA" dirty="0"/>
          </a:p>
        </p:txBody>
      </p:sp>
    </p:spTree>
    <p:extLst>
      <p:ext uri="{BB962C8B-B14F-4D97-AF65-F5344CB8AC3E}">
        <p14:creationId xmlns:p14="http://schemas.microsoft.com/office/powerpoint/2010/main" val="2895440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0DA14-2769-A5EC-DD64-14A420A78E3A}"/>
              </a:ext>
            </a:extLst>
          </p:cNvPr>
          <p:cNvSpPr>
            <a:spLocks noGrp="1"/>
          </p:cNvSpPr>
          <p:nvPr>
            <p:ph type="title"/>
          </p:nvPr>
        </p:nvSpPr>
        <p:spPr/>
        <p:txBody>
          <a:bodyPr/>
          <a:lstStyle/>
          <a:p>
            <a:pPr marL="228600" marR="0" lvl="0" indent="-228600" defTabSz="914400" rtl="0" eaLnBrk="1" fontAlgn="auto" latinLnBrk="0" hangingPunct="1">
              <a:lnSpc>
                <a:spcPts val="2100"/>
              </a:lnSpc>
              <a:spcBef>
                <a:spcPts val="1200"/>
              </a:spcBef>
              <a:spcAft>
                <a:spcPts val="1200"/>
              </a:spcAft>
              <a:tabLst/>
              <a:defRPr/>
            </a:pPr>
            <a:r>
              <a:rPr kumimoji="0" lang="en-US" sz="2600" b="1" i="0" u="none" strike="noStrike" kern="1200" cap="none" spc="0" normalizeH="0" baseline="0" noProof="0" dirty="0">
                <a:ln>
                  <a:noFill/>
                </a:ln>
                <a:solidFill>
                  <a:srgbClr val="0F1115"/>
                </a:solidFill>
                <a:effectLst/>
                <a:uLnTx/>
                <a:uFillTx/>
                <a:latin typeface="quote-cjk-patch"/>
                <a:ea typeface="+mn-ea"/>
                <a:cs typeface="+mn-cs"/>
              </a:rPr>
              <a:t>2. Customer Segment &amp; Relationship Innovation</a:t>
            </a:r>
            <a:br>
              <a:rPr kumimoji="0" lang="en-US" sz="26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B442EEB2-80B2-DBBB-3F06-3D423CD521FF}"/>
              </a:ext>
            </a:extLst>
          </p:cNvPr>
          <p:cNvSpPr>
            <a:spLocks noGrp="1"/>
          </p:cNvSpPr>
          <p:nvPr>
            <p:ph idx="1"/>
          </p:nvPr>
        </p:nvSpPr>
        <p:spPr/>
        <p:txBody>
          <a:bodyPr>
            <a:normAutofit/>
          </a:bodyPr>
          <a:lstStyle/>
          <a:p>
            <a:pPr algn="l">
              <a:spcBef>
                <a:spcPts val="1200"/>
              </a:spcBef>
              <a:spcAft>
                <a:spcPts val="1200"/>
              </a:spcAft>
              <a:buNone/>
            </a:pPr>
            <a:r>
              <a:rPr lang="en-US" b="0" i="0" dirty="0">
                <a:solidFill>
                  <a:srgbClr val="0F1115"/>
                </a:solidFill>
                <a:effectLst/>
                <a:latin typeface="quote-cjk-patch"/>
              </a:rPr>
              <a:t>This involves finding new customers or creating new ways to interact with and serve existing ones.</a:t>
            </a:r>
          </a:p>
          <a:p>
            <a:pPr marL="0" indent="0" algn="l">
              <a:spcBef>
                <a:spcPts val="1200"/>
              </a:spcBef>
              <a:spcAft>
                <a:spcPts val="1200"/>
              </a:spcAft>
              <a:buNone/>
            </a:pPr>
            <a:r>
              <a:rPr lang="en-US" dirty="0">
                <a:solidFill>
                  <a:srgbClr val="0F1115"/>
                </a:solidFill>
                <a:latin typeface="quote-cjk-patch"/>
              </a:rPr>
              <a:t>It is concerned with</a:t>
            </a:r>
            <a:r>
              <a:rPr lang="en-US" i="0" dirty="0">
                <a:solidFill>
                  <a:srgbClr val="0F1115"/>
                </a:solidFill>
                <a:effectLst/>
                <a:latin typeface="quote-cjk-patch"/>
              </a:rPr>
              <a:t> </a:t>
            </a:r>
            <a:r>
              <a:rPr lang="en-US" dirty="0">
                <a:solidFill>
                  <a:srgbClr val="0F1115"/>
                </a:solidFill>
                <a:latin typeface="quote-cjk-patch"/>
              </a:rPr>
              <a:t>i</a:t>
            </a:r>
            <a:r>
              <a:rPr lang="en-US" b="0" i="0" dirty="0">
                <a:solidFill>
                  <a:srgbClr val="0F1115"/>
                </a:solidFill>
                <a:effectLst/>
                <a:latin typeface="quote-cjk-patch"/>
              </a:rPr>
              <a:t>dentifying and targeting underserved or entirely new customer groups.</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450"/>
              </a:spcBef>
              <a:spcAft>
                <a:spcPts val="1200"/>
              </a:spcAft>
              <a:buFont typeface="Arial" panose="020B0604020202020204" pitchFamily="34" charset="0"/>
              <a:buChar char="•"/>
            </a:pPr>
            <a:r>
              <a:rPr lang="en-US" b="1" i="0" dirty="0">
                <a:solidFill>
                  <a:srgbClr val="0F1115"/>
                </a:solidFill>
                <a:effectLst/>
                <a:latin typeface="quote-cjk-patch"/>
              </a:rPr>
              <a:t>Tesla</a:t>
            </a:r>
            <a:r>
              <a:rPr lang="en-US" b="0" i="0" dirty="0">
                <a:solidFill>
                  <a:srgbClr val="0F1115"/>
                </a:solidFill>
                <a:effectLst/>
                <a:latin typeface="quote-cjk-patch"/>
              </a:rPr>
              <a:t> sells directly to consumers online, bypassing traditional dealerships and building a direct relationship.</a:t>
            </a:r>
          </a:p>
          <a:p>
            <a:endParaRPr lang="en-CA" dirty="0"/>
          </a:p>
        </p:txBody>
      </p:sp>
    </p:spTree>
    <p:extLst>
      <p:ext uri="{BB962C8B-B14F-4D97-AF65-F5344CB8AC3E}">
        <p14:creationId xmlns:p14="http://schemas.microsoft.com/office/powerpoint/2010/main" val="32115182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97B3-873A-DC0A-DC5E-510D36B05C9A}"/>
              </a:ext>
            </a:extLst>
          </p:cNvPr>
          <p:cNvSpPr>
            <a:spLocks noGrp="1"/>
          </p:cNvSpPr>
          <p:nvPr>
            <p:ph type="title"/>
          </p:nvPr>
        </p:nvSpPr>
        <p:spPr/>
        <p:txBody>
          <a:bodyPr/>
          <a:lstStyle/>
          <a:p>
            <a:pPr marL="228600" marR="0" lvl="0" indent="-228600" defTabSz="914400" rtl="0" eaLnBrk="1" fontAlgn="auto" latinLnBrk="0" hangingPunct="1">
              <a:lnSpc>
                <a:spcPts val="2100"/>
              </a:lnSpc>
              <a:spcBef>
                <a:spcPts val="1200"/>
              </a:spcBef>
              <a:spcAft>
                <a:spcPts val="1200"/>
              </a:spcAft>
              <a:tabLst/>
              <a:defRPr/>
            </a:pPr>
            <a:r>
              <a:rPr kumimoji="0" lang="en-US" sz="2800" b="1" i="0" u="none" strike="noStrike" kern="1200" cap="none" spc="0" normalizeH="0" baseline="0" noProof="0" dirty="0">
                <a:ln>
                  <a:noFill/>
                </a:ln>
                <a:solidFill>
                  <a:srgbClr val="0F1115"/>
                </a:solidFill>
                <a:effectLst/>
                <a:uLnTx/>
                <a:uFillTx/>
                <a:latin typeface="quote-cjk-patch"/>
                <a:ea typeface="+mn-ea"/>
                <a:cs typeface="+mn-cs"/>
              </a:rPr>
              <a:t>3. Channel Innovation (Delivery Innovation)</a:t>
            </a:r>
            <a:br>
              <a:rPr kumimoji="0" lang="en-US" sz="28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E374F3A8-B572-17D2-C98D-6D8B45DA470C}"/>
              </a:ext>
            </a:extLst>
          </p:cNvPr>
          <p:cNvSpPr>
            <a:spLocks noGrp="1"/>
          </p:cNvSpPr>
          <p:nvPr>
            <p:ph idx="1"/>
          </p:nvPr>
        </p:nvSpPr>
        <p:spPr/>
        <p:txBody>
          <a:bodyPr>
            <a:normAutofit/>
          </a:bodyPr>
          <a:lstStyle/>
          <a:p>
            <a:pPr algn="l">
              <a:spcBef>
                <a:spcPts val="1200"/>
              </a:spcBef>
              <a:spcAft>
                <a:spcPts val="1200"/>
              </a:spcAft>
              <a:buNone/>
            </a:pPr>
            <a:r>
              <a:rPr lang="en-US" b="0" i="0" dirty="0">
                <a:solidFill>
                  <a:srgbClr val="0F1115"/>
                </a:solidFill>
                <a:effectLst/>
                <a:latin typeface="quote-cjk-patch"/>
              </a:rPr>
              <a:t>This focuses on </a:t>
            </a:r>
            <a:r>
              <a:rPr lang="en-US" b="0" i="1" dirty="0">
                <a:solidFill>
                  <a:srgbClr val="0F1115"/>
                </a:solidFill>
                <a:effectLst/>
                <a:latin typeface="quote-cjk-patch"/>
              </a:rPr>
              <a:t>how</a:t>
            </a:r>
            <a:r>
              <a:rPr lang="en-US" b="0" i="0" dirty="0">
                <a:solidFill>
                  <a:srgbClr val="0F1115"/>
                </a:solidFill>
                <a:effectLst/>
                <a:latin typeface="quote-cjk-patch"/>
              </a:rPr>
              <a:t> the value proposition reaches the customer.</a:t>
            </a:r>
          </a:p>
          <a:p>
            <a:pPr marL="0" indent="0" algn="l">
              <a:spcBef>
                <a:spcPts val="1200"/>
              </a:spcBef>
              <a:spcAft>
                <a:spcPts val="1200"/>
              </a:spcAft>
              <a:buNone/>
            </a:pPr>
            <a:r>
              <a:rPr lang="en-US" b="1" dirty="0">
                <a:solidFill>
                  <a:srgbClr val="0F1115"/>
                </a:solidFill>
                <a:latin typeface="quote-cjk-patch"/>
              </a:rPr>
              <a:t> </a:t>
            </a:r>
            <a:r>
              <a:rPr lang="en-US" b="0" i="0" dirty="0">
                <a:solidFill>
                  <a:srgbClr val="0F1115"/>
                </a:solidFill>
                <a:effectLst/>
                <a:latin typeface="quote-cjk-patch"/>
              </a:rPr>
              <a:t>Finding new, more efficient, or more impactful ways to deliver your product or service to the customer.</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Dell</a:t>
            </a:r>
            <a:r>
              <a:rPr lang="en-US" b="0" i="0" dirty="0">
                <a:solidFill>
                  <a:srgbClr val="0F1115"/>
                </a:solidFill>
                <a:effectLst/>
                <a:latin typeface="quote-cjk-patch"/>
              </a:rPr>
              <a:t> pioneered selling custom-built computers directly to consumers online, bypassing retail stores.</a:t>
            </a:r>
          </a:p>
          <a:p>
            <a:endParaRPr lang="en-CA" dirty="0"/>
          </a:p>
        </p:txBody>
      </p:sp>
    </p:spTree>
    <p:extLst>
      <p:ext uri="{BB962C8B-B14F-4D97-AF65-F5344CB8AC3E}">
        <p14:creationId xmlns:p14="http://schemas.microsoft.com/office/powerpoint/2010/main" val="1129737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86472-9224-AA9A-97CA-947F7E24FEE6}"/>
              </a:ext>
            </a:extLst>
          </p:cNvPr>
          <p:cNvSpPr>
            <a:spLocks noGrp="1"/>
          </p:cNvSpPr>
          <p:nvPr>
            <p:ph type="title"/>
          </p:nvPr>
        </p:nvSpPr>
        <p:spPr/>
        <p:txBody>
          <a:bodyPr/>
          <a:lstStyle/>
          <a:p>
            <a:pPr marL="228600" marR="0" lvl="0" indent="-228600" defTabSz="914400" rtl="0" eaLnBrk="1" fontAlgn="auto" latinLnBrk="0" hangingPunct="1">
              <a:lnSpc>
                <a:spcPts val="2100"/>
              </a:lnSpc>
              <a:spcBef>
                <a:spcPts val="1200"/>
              </a:spcBef>
              <a:spcAft>
                <a:spcPts val="1200"/>
              </a:spcAft>
              <a:tabLst/>
              <a:defRPr/>
            </a:pPr>
            <a:r>
              <a:rPr kumimoji="0" lang="en-US" sz="2800" b="1" i="0" u="none" strike="noStrike" kern="1200" cap="none" spc="0" normalizeH="0" baseline="0" noProof="0" dirty="0">
                <a:ln>
                  <a:noFill/>
                </a:ln>
                <a:solidFill>
                  <a:srgbClr val="0F1115"/>
                </a:solidFill>
                <a:effectLst/>
                <a:uLnTx/>
                <a:uFillTx/>
                <a:latin typeface="quote-cjk-patch"/>
                <a:ea typeface="+mn-ea"/>
                <a:cs typeface="+mn-cs"/>
              </a:rPr>
              <a:t>4.Revenue Model Innovation</a:t>
            </a:r>
            <a:br>
              <a:rPr kumimoji="0" lang="en-US" sz="28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77F92B92-8F99-7BB0-8615-115367CE0B93}"/>
              </a:ext>
            </a:extLst>
          </p:cNvPr>
          <p:cNvSpPr>
            <a:spLocks noGrp="1"/>
          </p:cNvSpPr>
          <p:nvPr>
            <p:ph idx="1"/>
          </p:nvPr>
        </p:nvSpPr>
        <p:spPr/>
        <p:txBody>
          <a:bodyPr>
            <a:normAutofit/>
          </a:bodyPr>
          <a:lstStyle/>
          <a:p>
            <a:pPr algn="l">
              <a:spcBef>
                <a:spcPts val="1200"/>
              </a:spcBef>
              <a:spcAft>
                <a:spcPts val="1200"/>
              </a:spcAft>
              <a:buNone/>
            </a:pPr>
            <a:r>
              <a:rPr lang="en-US" b="0" i="0" dirty="0">
                <a:solidFill>
                  <a:srgbClr val="0F1115"/>
                </a:solidFill>
                <a:effectLst/>
                <a:latin typeface="quote-cjk-patch"/>
              </a:rPr>
              <a:t>This is about changing how the company makes money.</a:t>
            </a:r>
          </a:p>
          <a:p>
            <a:pPr marL="0" indent="0" algn="l">
              <a:spcBef>
                <a:spcPts val="1200"/>
              </a:spcBef>
              <a:spcAft>
                <a:spcPts val="1200"/>
              </a:spcAft>
              <a:buNone/>
            </a:pPr>
            <a:r>
              <a:rPr lang="en-US" b="0" i="0" dirty="0">
                <a:solidFill>
                  <a:srgbClr val="0F1115"/>
                </a:solidFill>
                <a:effectLst/>
                <a:latin typeface="quote-cjk-patch"/>
              </a:rPr>
              <a:t> Altering the pricing mechanisms and revenue streams. This is often the most visible form of innovation.</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Adobe</a:t>
            </a:r>
            <a:r>
              <a:rPr lang="en-US" b="0" i="0" dirty="0">
                <a:solidFill>
                  <a:srgbClr val="0F1115"/>
                </a:solidFill>
                <a:effectLst/>
                <a:latin typeface="quote-cjk-patch"/>
              </a:rPr>
              <a:t> moved from selling expensive, perpetual software licenses to a subscription-based cloud service (SaaS).</a:t>
            </a:r>
          </a:p>
          <a:p>
            <a:pPr marL="742950" lvl="1" indent="-285750" algn="l">
              <a:spcBef>
                <a:spcPts val="450"/>
              </a:spcBef>
              <a:spcAft>
                <a:spcPts val="1200"/>
              </a:spcAft>
              <a:buFont typeface="Arial" panose="020B0604020202020204" pitchFamily="34" charset="0"/>
              <a:buChar char="•"/>
            </a:pPr>
            <a:r>
              <a:rPr lang="en-US" b="1" i="0" dirty="0">
                <a:solidFill>
                  <a:srgbClr val="0F1115"/>
                </a:solidFill>
                <a:effectLst/>
                <a:latin typeface="quote-cjk-patch"/>
              </a:rPr>
              <a:t>Google</a:t>
            </a:r>
            <a:r>
              <a:rPr lang="en-US" b="0" i="0" dirty="0">
                <a:solidFill>
                  <a:srgbClr val="0F1115"/>
                </a:solidFill>
                <a:effectLst/>
                <a:latin typeface="quote-cjk-patch"/>
              </a:rPr>
              <a:t> and </a:t>
            </a:r>
            <a:r>
              <a:rPr lang="en-US" b="1" i="0" dirty="0">
                <a:solidFill>
                  <a:srgbClr val="0F1115"/>
                </a:solidFill>
                <a:effectLst/>
                <a:latin typeface="quote-cjk-patch"/>
              </a:rPr>
              <a:t>Facebook</a:t>
            </a:r>
            <a:r>
              <a:rPr lang="en-US" b="0" i="0" dirty="0">
                <a:solidFill>
                  <a:srgbClr val="0F1115"/>
                </a:solidFill>
                <a:effectLst/>
                <a:latin typeface="quote-cjk-patch"/>
              </a:rPr>
              <a:t> provide free services to users but generate revenue through advertising.</a:t>
            </a:r>
          </a:p>
          <a:p>
            <a:endParaRPr lang="en-CA" dirty="0"/>
          </a:p>
        </p:txBody>
      </p:sp>
    </p:spTree>
    <p:extLst>
      <p:ext uri="{BB962C8B-B14F-4D97-AF65-F5344CB8AC3E}">
        <p14:creationId xmlns:p14="http://schemas.microsoft.com/office/powerpoint/2010/main" val="174969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5ADF4-D590-9EEB-6F3E-36F91B347166}"/>
              </a:ext>
            </a:extLst>
          </p:cNvPr>
          <p:cNvSpPr>
            <a:spLocks noGrp="1"/>
          </p:cNvSpPr>
          <p:nvPr>
            <p:ph type="title"/>
          </p:nvPr>
        </p:nvSpPr>
        <p:spPr/>
        <p:txBody>
          <a:bodyPr/>
          <a:lstStyle/>
          <a:p>
            <a:pPr marL="228600" marR="0" lvl="0" indent="-228600" defTabSz="914400" rtl="0" eaLnBrk="1" fontAlgn="auto" latinLnBrk="0" hangingPunct="1">
              <a:lnSpc>
                <a:spcPts val="2100"/>
              </a:lnSpc>
              <a:spcBef>
                <a:spcPts val="1200"/>
              </a:spcBef>
              <a:spcAft>
                <a:spcPts val="1200"/>
              </a:spcAft>
              <a:tabLst/>
              <a:defRPr/>
            </a:pPr>
            <a:r>
              <a:rPr kumimoji="0" lang="en-US" sz="2600" b="1" i="0" u="none" strike="noStrike" kern="1200" cap="none" spc="0" normalizeH="0" baseline="0" noProof="0" dirty="0">
                <a:ln>
                  <a:noFill/>
                </a:ln>
                <a:solidFill>
                  <a:srgbClr val="0F1115"/>
                </a:solidFill>
                <a:effectLst/>
                <a:uLnTx/>
                <a:uFillTx/>
                <a:latin typeface="quote-cjk-patch"/>
                <a:ea typeface="+mn-ea"/>
                <a:cs typeface="+mn-cs"/>
              </a:rPr>
              <a:t>5. Key Activities &amp; Resources Innovation</a:t>
            </a:r>
            <a:br>
              <a:rPr kumimoji="0" lang="en-US" sz="26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202092E2-AC69-9F68-04BE-79E33431962B}"/>
              </a:ext>
            </a:extLst>
          </p:cNvPr>
          <p:cNvSpPr>
            <a:spLocks noGrp="1"/>
          </p:cNvSpPr>
          <p:nvPr>
            <p:ph idx="1"/>
          </p:nvPr>
        </p:nvSpPr>
        <p:spPr/>
        <p:txBody>
          <a:bodyPr>
            <a:normAutofit/>
          </a:bodyPr>
          <a:lstStyle/>
          <a:p>
            <a:pPr algn="l">
              <a:spcBef>
                <a:spcPts val="1200"/>
              </a:spcBef>
              <a:spcAft>
                <a:spcPts val="1200"/>
              </a:spcAft>
              <a:buNone/>
            </a:pPr>
            <a:r>
              <a:rPr lang="en-US" b="0" i="0" dirty="0">
                <a:solidFill>
                  <a:srgbClr val="0F1115"/>
                </a:solidFill>
                <a:effectLst/>
                <a:latin typeface="quote-cjk-patch"/>
              </a:rPr>
              <a:t>This involves rethinking the most important things a company must </a:t>
            </a:r>
            <a:r>
              <a:rPr lang="en-US" b="0" i="1" dirty="0">
                <a:solidFill>
                  <a:srgbClr val="0F1115"/>
                </a:solidFill>
                <a:effectLst/>
                <a:latin typeface="quote-cjk-patch"/>
              </a:rPr>
              <a:t>do</a:t>
            </a:r>
            <a:r>
              <a:rPr lang="en-US" b="0" i="0" dirty="0">
                <a:solidFill>
                  <a:srgbClr val="0F1115"/>
                </a:solidFill>
                <a:effectLst/>
                <a:latin typeface="quote-cjk-patch"/>
              </a:rPr>
              <a:t> and </a:t>
            </a:r>
            <a:r>
              <a:rPr lang="en-US" b="0" i="1" dirty="0">
                <a:solidFill>
                  <a:srgbClr val="0F1115"/>
                </a:solidFill>
                <a:effectLst/>
                <a:latin typeface="quote-cjk-patch"/>
              </a:rPr>
              <a:t>own</a:t>
            </a:r>
            <a:r>
              <a:rPr lang="en-US" b="0" i="0" dirty="0">
                <a:solidFill>
                  <a:srgbClr val="0F1115"/>
                </a:solidFill>
                <a:effectLst/>
                <a:latin typeface="quote-cjk-patch"/>
              </a:rPr>
              <a:t> to make the model work.</a:t>
            </a:r>
          </a:p>
          <a:p>
            <a:pPr algn="l">
              <a:spcBef>
                <a:spcPts val="1200"/>
              </a:spcBef>
              <a:spcAft>
                <a:spcPts val="1200"/>
              </a:spcAft>
              <a:buFont typeface="Arial" panose="020B0604020202020204" pitchFamily="34" charset="0"/>
              <a:buChar char="•"/>
            </a:pPr>
            <a:r>
              <a:rPr lang="en-US" b="0" i="0" dirty="0">
                <a:solidFill>
                  <a:srgbClr val="0F1115"/>
                </a:solidFill>
                <a:effectLst/>
                <a:latin typeface="quote-cjk-patch"/>
              </a:rPr>
              <a:t>Changing the core operational and infrastructural building blocks of the business.</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Amazon Web Services (AWS)</a:t>
            </a:r>
            <a:r>
              <a:rPr lang="en-US" b="0" i="0" dirty="0">
                <a:solidFill>
                  <a:srgbClr val="0F1115"/>
                </a:solidFill>
                <a:effectLst/>
                <a:latin typeface="quote-cjk-patch"/>
              </a:rPr>
              <a:t> leveraged its massive internal infrastructure (a key resource) into a new, external revenue stream.</a:t>
            </a:r>
          </a:p>
          <a:p>
            <a:pPr marL="742950" lvl="1" indent="-285750" algn="l">
              <a:spcBef>
                <a:spcPts val="450"/>
              </a:spcBef>
              <a:spcAft>
                <a:spcPts val="1200"/>
              </a:spcAft>
              <a:buFont typeface="Arial" panose="020B0604020202020204" pitchFamily="34" charset="0"/>
              <a:buChar char="•"/>
            </a:pPr>
            <a:r>
              <a:rPr lang="en-US" b="1" i="0" dirty="0">
                <a:solidFill>
                  <a:srgbClr val="0F1115"/>
                </a:solidFill>
                <a:effectLst/>
                <a:latin typeface="quote-cjk-patch"/>
              </a:rPr>
              <a:t>Apple</a:t>
            </a:r>
            <a:r>
              <a:rPr lang="en-US" b="0" i="0" dirty="0">
                <a:solidFill>
                  <a:srgbClr val="0F1115"/>
                </a:solidFill>
                <a:effectLst/>
                <a:latin typeface="quote-cjk-patch"/>
              </a:rPr>
              <a:t> designs its products but outsources manufacturing, focusing its key activities on design, marketing, and ecosystem development.</a:t>
            </a:r>
          </a:p>
          <a:p>
            <a:endParaRPr lang="en-CA" dirty="0"/>
          </a:p>
        </p:txBody>
      </p:sp>
    </p:spTree>
    <p:extLst>
      <p:ext uri="{BB962C8B-B14F-4D97-AF65-F5344CB8AC3E}">
        <p14:creationId xmlns:p14="http://schemas.microsoft.com/office/powerpoint/2010/main" val="24954293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2B727-EF1E-F9A4-EA88-6AE5C3FF643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4AD3062-061C-0708-AF74-213E3DB48244}"/>
              </a:ext>
            </a:extLst>
          </p:cNvPr>
          <p:cNvSpPr>
            <a:spLocks noGrp="1"/>
          </p:cNvSpPr>
          <p:nvPr>
            <p:ph idx="1"/>
          </p:nvPr>
        </p:nvSpPr>
        <p:spPr/>
        <p:txBody>
          <a:bodyPr>
            <a:normAutofit/>
          </a:bodyPr>
          <a:lstStyle/>
          <a:p>
            <a:pPr algn="l">
              <a:lnSpc>
                <a:spcPts val="2100"/>
              </a:lnSpc>
              <a:spcBef>
                <a:spcPts val="1200"/>
              </a:spcBef>
              <a:spcAft>
                <a:spcPts val="1200"/>
              </a:spcAft>
              <a:buNone/>
            </a:pPr>
            <a:r>
              <a:rPr lang="en-US" b="1" dirty="0">
                <a:solidFill>
                  <a:srgbClr val="0F1115"/>
                </a:solidFill>
                <a:effectLst/>
                <a:latin typeface="quote-cjk-patch"/>
              </a:rPr>
              <a:t>6. Key Partnerships  Innovation</a:t>
            </a:r>
          </a:p>
          <a:p>
            <a:pPr algn="l">
              <a:spcBef>
                <a:spcPts val="1200"/>
              </a:spcBef>
              <a:spcAft>
                <a:spcPts val="1200"/>
              </a:spcAft>
              <a:buNone/>
            </a:pPr>
            <a:r>
              <a:rPr lang="en-US" b="0" i="0" dirty="0">
                <a:solidFill>
                  <a:srgbClr val="0F1115"/>
                </a:solidFill>
                <a:effectLst/>
                <a:latin typeface="quote-cjk-patch"/>
              </a:rPr>
              <a:t>This component focuses on creating a network of partners to enhance the business model.</a:t>
            </a:r>
          </a:p>
          <a:p>
            <a:pPr algn="l">
              <a:spcBef>
                <a:spcPts val="1200"/>
              </a:spcBef>
              <a:spcAft>
                <a:spcPts val="1200"/>
              </a:spcAft>
              <a:buFont typeface="Arial" panose="020B0604020202020204" pitchFamily="34" charset="0"/>
              <a:buChar char="•"/>
            </a:pPr>
            <a:r>
              <a:rPr lang="en-US" b="1" i="0" dirty="0">
                <a:solidFill>
                  <a:srgbClr val="0F1115"/>
                </a:solidFill>
                <a:effectLst/>
                <a:latin typeface="quote-cjk-patch"/>
              </a:rPr>
              <a:t>What it is:</a:t>
            </a:r>
            <a:r>
              <a:rPr lang="en-US" b="0" i="0" dirty="0">
                <a:solidFill>
                  <a:srgbClr val="0F1115"/>
                </a:solidFill>
                <a:effectLst/>
                <a:latin typeface="quote-cjk-patch"/>
              </a:rPr>
              <a:t> Forming strategic alliances to share resources, reduce risk, access new markets, or create a more convincing value proposition.</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Airbnb</a:t>
            </a:r>
            <a:r>
              <a:rPr lang="en-US" b="0" i="0" dirty="0">
                <a:solidFill>
                  <a:srgbClr val="0F1115"/>
                </a:solidFill>
                <a:effectLst/>
                <a:latin typeface="quote-cjk-patch"/>
              </a:rPr>
              <a:t> built its entire model on a partnership with property owners, avoiding the capital expenditure of owning real estate.</a:t>
            </a:r>
          </a:p>
        </p:txBody>
      </p:sp>
    </p:spTree>
    <p:extLst>
      <p:ext uri="{BB962C8B-B14F-4D97-AF65-F5344CB8AC3E}">
        <p14:creationId xmlns:p14="http://schemas.microsoft.com/office/powerpoint/2010/main" val="20835938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87EC-C9FC-50C0-7DC6-6396A985E23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DA1A7B6-462E-50A3-E270-64D9995B8E91}"/>
              </a:ext>
            </a:extLst>
          </p:cNvPr>
          <p:cNvSpPr>
            <a:spLocks noGrp="1"/>
          </p:cNvSpPr>
          <p:nvPr>
            <p:ph idx="1"/>
          </p:nvPr>
        </p:nvSpPr>
        <p:spPr/>
        <p:txBody>
          <a:bodyPr>
            <a:normAutofit fontScale="85000" lnSpcReduction="20000"/>
          </a:bodyPr>
          <a:lstStyle/>
          <a:p>
            <a:pPr>
              <a:lnSpc>
                <a:spcPts val="2100"/>
              </a:lnSpc>
              <a:spcBef>
                <a:spcPts val="1200"/>
              </a:spcBef>
              <a:spcAft>
                <a:spcPts val="1200"/>
              </a:spcAft>
              <a:buNone/>
            </a:pPr>
            <a:r>
              <a:rPr lang="en-US" b="1" dirty="0">
                <a:solidFill>
                  <a:srgbClr val="0F1115"/>
                </a:solidFill>
                <a:latin typeface="quote-cjk-patch"/>
              </a:rPr>
              <a:t>7. Cost Structure Innovation</a:t>
            </a:r>
          </a:p>
          <a:p>
            <a:pPr>
              <a:spcBef>
                <a:spcPts val="1200"/>
              </a:spcBef>
              <a:spcAft>
                <a:spcPts val="1200"/>
              </a:spcAft>
              <a:buNone/>
            </a:pPr>
            <a:r>
              <a:rPr lang="en-US" dirty="0">
                <a:solidFill>
                  <a:srgbClr val="0F1115"/>
                </a:solidFill>
                <a:latin typeface="quote-cjk-patch"/>
              </a:rPr>
              <a:t>This is about fundamentally re-architecting the cost base of the business.</a:t>
            </a:r>
          </a:p>
          <a:p>
            <a:pPr>
              <a:spcBef>
                <a:spcPts val="1200"/>
              </a:spcBef>
              <a:spcAft>
                <a:spcPts val="1200"/>
              </a:spcAft>
            </a:pPr>
            <a:r>
              <a:rPr lang="en-US" b="1" dirty="0">
                <a:solidFill>
                  <a:srgbClr val="0F1115"/>
                </a:solidFill>
                <a:latin typeface="quote-cjk-patch"/>
              </a:rPr>
              <a:t>What it is:</a:t>
            </a:r>
            <a:r>
              <a:rPr lang="en-US" dirty="0">
                <a:solidFill>
                  <a:srgbClr val="0F1115"/>
                </a:solidFill>
                <a:latin typeface="quote-cjk-patch"/>
              </a:rPr>
              <a:t> Creating a new cost structure that is radically more efficient or shifts costs to another party.</a:t>
            </a:r>
          </a:p>
          <a:p>
            <a:pPr>
              <a:spcBef>
                <a:spcPts val="450"/>
              </a:spcBef>
              <a:spcAft>
                <a:spcPts val="600"/>
              </a:spcAft>
            </a:pPr>
            <a:r>
              <a:rPr lang="en-US" b="1" dirty="0">
                <a:solidFill>
                  <a:srgbClr val="0F1115"/>
                </a:solidFill>
                <a:latin typeface="quote-cjk-patch"/>
              </a:rPr>
              <a:t>Examples:</a:t>
            </a:r>
            <a:endParaRPr lang="en-US" dirty="0">
              <a:solidFill>
                <a:srgbClr val="0F1115"/>
              </a:solidFill>
              <a:latin typeface="quote-cjk-patch"/>
            </a:endParaRPr>
          </a:p>
          <a:p>
            <a:pPr marL="742950" lvl="1" indent="-285750">
              <a:spcBef>
                <a:spcPts val="300"/>
              </a:spcBef>
              <a:spcAft>
                <a:spcPts val="1200"/>
              </a:spcAft>
            </a:pPr>
            <a:r>
              <a:rPr lang="en-US" b="1" dirty="0">
                <a:solidFill>
                  <a:srgbClr val="0F1115"/>
                </a:solidFill>
                <a:latin typeface="quote-cjk-patch"/>
              </a:rPr>
              <a:t>IKEA</a:t>
            </a:r>
            <a:r>
              <a:rPr lang="en-US" dirty="0">
                <a:solidFill>
                  <a:srgbClr val="0F1115"/>
                </a:solidFill>
                <a:latin typeface="quote-cjk-patch"/>
              </a:rPr>
              <a:t> shifted the cost of assembly and transportation to the customer, allowing for lower prices.</a:t>
            </a:r>
          </a:p>
          <a:p>
            <a:pPr marL="742950" lvl="1" indent="-285750">
              <a:spcBef>
                <a:spcPts val="450"/>
              </a:spcBef>
              <a:spcAft>
                <a:spcPts val="1200"/>
              </a:spcAft>
            </a:pPr>
            <a:r>
              <a:rPr lang="en-US" b="1" dirty="0">
                <a:solidFill>
                  <a:srgbClr val="0F1115"/>
                </a:solidFill>
                <a:latin typeface="quote-cjk-patch"/>
              </a:rPr>
              <a:t>Uber</a:t>
            </a:r>
            <a:r>
              <a:rPr lang="en-US" dirty="0">
                <a:solidFill>
                  <a:srgbClr val="0F1115"/>
                </a:solidFill>
                <a:latin typeface="quote-cjk-patch"/>
              </a:rPr>
              <a:t> operates without the capital costs of owning a vehicle fleet, creating a variable cost structure instead of a fixed one.</a:t>
            </a:r>
          </a:p>
          <a:p>
            <a:pPr>
              <a:buNone/>
            </a:pPr>
            <a:br>
              <a:rPr lang="en-US" dirty="0"/>
            </a:br>
            <a:endParaRPr lang="en-CA" dirty="0"/>
          </a:p>
          <a:p>
            <a:endParaRPr lang="en-CA" dirty="0"/>
          </a:p>
        </p:txBody>
      </p:sp>
    </p:spTree>
    <p:extLst>
      <p:ext uri="{BB962C8B-B14F-4D97-AF65-F5344CB8AC3E}">
        <p14:creationId xmlns:p14="http://schemas.microsoft.com/office/powerpoint/2010/main" val="4505752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ED61C-DDD1-2812-324F-7E5204F11557}"/>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2F56C1F7-89E4-8297-2E3E-0883CA6B7DCD}"/>
              </a:ext>
            </a:extLst>
          </p:cNvPr>
          <p:cNvSpPr>
            <a:spLocks noGrp="1"/>
          </p:cNvSpPr>
          <p:nvPr>
            <p:ph idx="1"/>
          </p:nvPr>
        </p:nvSpPr>
        <p:spPr>
          <a:xfrm>
            <a:off x="838200" y="1160206"/>
            <a:ext cx="10515600" cy="5016757"/>
          </a:xfrm>
        </p:spPr>
        <p:txBody>
          <a:bodyPr/>
          <a:lstStyle/>
          <a:p>
            <a:pPr algn="l">
              <a:buNone/>
            </a:pPr>
            <a:r>
              <a:rPr lang="en-US" b="1" i="0" dirty="0">
                <a:solidFill>
                  <a:srgbClr val="404040"/>
                </a:solidFill>
                <a:effectLst/>
                <a:latin typeface="Inter"/>
              </a:rPr>
              <a:t>Challenges to Innovation in Entrepreneurship:</a:t>
            </a:r>
          </a:p>
          <a:p>
            <a:pPr algn="l">
              <a:buFont typeface="+mj-lt"/>
              <a:buAutoNum type="arabicPeriod"/>
            </a:pPr>
            <a:r>
              <a:rPr lang="en-US" b="1" i="0" dirty="0">
                <a:solidFill>
                  <a:srgbClr val="404040"/>
                </a:solidFill>
                <a:effectLst/>
                <a:latin typeface="Inter"/>
              </a:rPr>
              <a:t>Resource Constraints</a:t>
            </a:r>
            <a:r>
              <a:rPr lang="en-US" b="0" i="0" dirty="0">
                <a:solidFill>
                  <a:srgbClr val="404040"/>
                </a:solidFill>
                <a:effectLst/>
                <a:latin typeface="Inter"/>
              </a:rPr>
              <a:t>: Limited funding, time, or expertise can hinder innovation.</a:t>
            </a:r>
          </a:p>
          <a:p>
            <a:pPr algn="l">
              <a:spcBef>
                <a:spcPts val="300"/>
              </a:spcBef>
              <a:buFont typeface="+mj-lt"/>
              <a:buAutoNum type="arabicPeriod"/>
            </a:pPr>
            <a:r>
              <a:rPr lang="en-US" b="1" i="0" dirty="0">
                <a:solidFill>
                  <a:srgbClr val="404040"/>
                </a:solidFill>
                <a:effectLst/>
                <a:latin typeface="Inter"/>
              </a:rPr>
              <a:t>Resistance to Change</a:t>
            </a:r>
            <a:r>
              <a:rPr lang="en-US" b="0" i="0" dirty="0">
                <a:solidFill>
                  <a:srgbClr val="404040"/>
                </a:solidFill>
                <a:effectLst/>
                <a:latin typeface="Inter"/>
              </a:rPr>
              <a:t>: Employees or stakeholders may resist new ideas or processes.</a:t>
            </a:r>
          </a:p>
          <a:p>
            <a:pPr algn="l">
              <a:spcBef>
                <a:spcPts val="300"/>
              </a:spcBef>
              <a:buFont typeface="+mj-lt"/>
              <a:buAutoNum type="arabicPeriod"/>
            </a:pPr>
            <a:r>
              <a:rPr lang="en-US" b="1" i="0" dirty="0">
                <a:solidFill>
                  <a:srgbClr val="404040"/>
                </a:solidFill>
                <a:effectLst/>
                <a:latin typeface="Inter"/>
              </a:rPr>
              <a:t>Market Uncertainty</a:t>
            </a:r>
            <a:r>
              <a:rPr lang="en-US" b="0" i="0" dirty="0">
                <a:solidFill>
                  <a:srgbClr val="404040"/>
                </a:solidFill>
                <a:effectLst/>
                <a:latin typeface="Inter"/>
              </a:rPr>
              <a:t>: Predicting customer needs and market trends can be difficult.</a:t>
            </a:r>
          </a:p>
          <a:p>
            <a:pPr algn="l">
              <a:spcBef>
                <a:spcPts val="300"/>
              </a:spcBef>
              <a:buFont typeface="+mj-lt"/>
              <a:buAutoNum type="arabicPeriod"/>
            </a:pPr>
            <a:r>
              <a:rPr lang="en-US" b="1" i="0" dirty="0">
                <a:solidFill>
                  <a:srgbClr val="404040"/>
                </a:solidFill>
                <a:effectLst/>
                <a:latin typeface="Inter"/>
              </a:rPr>
              <a:t>Regulatory Barriers</a:t>
            </a:r>
            <a:r>
              <a:rPr lang="en-US" b="0" i="0" dirty="0">
                <a:solidFill>
                  <a:srgbClr val="404040"/>
                </a:solidFill>
                <a:effectLst/>
                <a:latin typeface="Inter"/>
              </a:rPr>
              <a:t>: Legal or regulatory hurdles can slow down innovation.</a:t>
            </a:r>
          </a:p>
          <a:p>
            <a:endParaRPr lang="en-CA" dirty="0"/>
          </a:p>
        </p:txBody>
      </p:sp>
    </p:spTree>
    <p:extLst>
      <p:ext uri="{BB962C8B-B14F-4D97-AF65-F5344CB8AC3E}">
        <p14:creationId xmlns:p14="http://schemas.microsoft.com/office/powerpoint/2010/main" val="6544906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1FF9-DE83-F784-E61A-C58151BC250C}"/>
              </a:ext>
            </a:extLst>
          </p:cNvPr>
          <p:cNvSpPr>
            <a:spLocks noGrp="1"/>
          </p:cNvSpPr>
          <p:nvPr>
            <p:ph type="title"/>
          </p:nvPr>
        </p:nvSpPr>
        <p:spPr/>
        <p:txBody>
          <a:bodyPr/>
          <a:lstStyle/>
          <a:p>
            <a:r>
              <a:rPr lang="en-US" dirty="0"/>
              <a:t>Concept of opportunity recognition </a:t>
            </a:r>
            <a:endParaRPr lang="en-CA" dirty="0"/>
          </a:p>
        </p:txBody>
      </p:sp>
      <p:sp>
        <p:nvSpPr>
          <p:cNvPr id="3" name="Content Placeholder 2">
            <a:extLst>
              <a:ext uri="{FF2B5EF4-FFF2-40B4-BE49-F238E27FC236}">
                <a16:creationId xmlns:a16="http://schemas.microsoft.com/office/drawing/2014/main" id="{9D9F31CD-7CD8-6F73-8225-404C653AC360}"/>
              </a:ext>
            </a:extLst>
          </p:cNvPr>
          <p:cNvSpPr>
            <a:spLocks noGrp="1"/>
          </p:cNvSpPr>
          <p:nvPr>
            <p:ph idx="1"/>
          </p:nvPr>
        </p:nvSpPr>
        <p:spPr/>
        <p:txBody>
          <a:bodyPr/>
          <a:lstStyle/>
          <a:p>
            <a:r>
              <a:rPr lang="en-US" b="1" i="0" dirty="0">
                <a:solidFill>
                  <a:srgbClr val="404040"/>
                </a:solidFill>
                <a:effectLst/>
                <a:latin typeface="Inter"/>
              </a:rPr>
              <a:t>Opportunity Recognition</a:t>
            </a:r>
            <a:r>
              <a:rPr lang="en-US" b="0" i="0" dirty="0">
                <a:solidFill>
                  <a:srgbClr val="404040"/>
                </a:solidFill>
                <a:effectLst/>
                <a:latin typeface="Inter"/>
              </a:rPr>
              <a:t> is one of the most critical skills in entrepreneurship. It refers to the ability to identify and evaluate potential business opportunities that can be transformed into successful ventures. </a:t>
            </a:r>
            <a:endParaRPr lang="en-CA" dirty="0"/>
          </a:p>
        </p:txBody>
      </p:sp>
    </p:spTree>
    <p:extLst>
      <p:ext uri="{BB962C8B-B14F-4D97-AF65-F5344CB8AC3E}">
        <p14:creationId xmlns:p14="http://schemas.microsoft.com/office/powerpoint/2010/main" val="513550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EB363-6E47-0268-2558-499B23C5451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F2A51A7-3B27-ACBE-AC17-8CDD5DD88924}"/>
              </a:ext>
            </a:extLst>
          </p:cNvPr>
          <p:cNvSpPr>
            <a:spLocks noGrp="1"/>
          </p:cNvSpPr>
          <p:nvPr>
            <p:ph idx="1"/>
          </p:nvPr>
        </p:nvSpPr>
        <p:spPr/>
        <p:txBody>
          <a:bodyPr/>
          <a:lstStyle/>
          <a:p>
            <a:pPr algn="l">
              <a:buNone/>
            </a:pPr>
            <a:r>
              <a:rPr lang="en-US" b="0" i="0" dirty="0">
                <a:solidFill>
                  <a:srgbClr val="404040"/>
                </a:solidFill>
                <a:effectLst/>
                <a:latin typeface="Inter"/>
              </a:rPr>
              <a:t>In entrepreneurship, an </a:t>
            </a:r>
            <a:r>
              <a:rPr lang="en-US" b="1" i="0" dirty="0">
                <a:solidFill>
                  <a:srgbClr val="404040"/>
                </a:solidFill>
                <a:effectLst/>
                <a:latin typeface="Inter"/>
              </a:rPr>
              <a:t>opportunity</a:t>
            </a:r>
            <a:r>
              <a:rPr lang="en-US" b="0" i="0" dirty="0">
                <a:solidFill>
                  <a:srgbClr val="404040"/>
                </a:solidFill>
                <a:effectLst/>
                <a:latin typeface="Inter"/>
              </a:rPr>
              <a:t> refers to a favorable set of conditions that creates the potential for a new business idea, product, service, or venture to succeed. It represents a chance to address a market need, solve a problem, or capitalize on a trend in a way that generates value for customers and profit for the entrepreneur.</a:t>
            </a:r>
          </a:p>
          <a:p>
            <a:pPr algn="l"/>
            <a:r>
              <a:rPr lang="en-US" b="0" i="0" dirty="0">
                <a:solidFill>
                  <a:srgbClr val="404040"/>
                </a:solidFill>
                <a:effectLst/>
                <a:latin typeface="Inter"/>
              </a:rPr>
              <a:t>Opportunities are the foundation of entrepreneurship—they are what entrepreneurs seek, recognize, and act upon to create successful businesses. </a:t>
            </a:r>
            <a:endParaRPr lang="en-CA" dirty="0"/>
          </a:p>
        </p:txBody>
      </p:sp>
    </p:spTree>
    <p:extLst>
      <p:ext uri="{BB962C8B-B14F-4D97-AF65-F5344CB8AC3E}">
        <p14:creationId xmlns:p14="http://schemas.microsoft.com/office/powerpoint/2010/main" val="8351415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08368-4E54-B280-CA97-158005B913E1}"/>
              </a:ext>
            </a:extLst>
          </p:cNvPr>
          <p:cNvSpPr>
            <a:spLocks noGrp="1"/>
          </p:cNvSpPr>
          <p:nvPr>
            <p:ph type="title"/>
          </p:nvPr>
        </p:nvSpPr>
        <p:spPr>
          <a:xfrm>
            <a:off x="838200" y="365125"/>
            <a:ext cx="10515600" cy="17564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CCAA416F-369F-4819-43F7-6EF9EF4C4A17}"/>
              </a:ext>
            </a:extLst>
          </p:cNvPr>
          <p:cNvSpPr>
            <a:spLocks noGrp="1"/>
          </p:cNvSpPr>
          <p:nvPr>
            <p:ph idx="1"/>
          </p:nvPr>
        </p:nvSpPr>
        <p:spPr>
          <a:xfrm>
            <a:off x="838200" y="707923"/>
            <a:ext cx="10515600" cy="5469040"/>
          </a:xfrm>
        </p:spPr>
        <p:txBody>
          <a:bodyPr/>
          <a:lstStyle/>
          <a:p>
            <a:pPr algn="l">
              <a:buNone/>
            </a:pPr>
            <a:r>
              <a:rPr lang="en-US" b="0" i="0" dirty="0">
                <a:solidFill>
                  <a:srgbClr val="404040"/>
                </a:solidFill>
                <a:effectLst/>
                <a:latin typeface="Inter"/>
              </a:rPr>
              <a:t>Opportunity recognition involves:</a:t>
            </a:r>
          </a:p>
          <a:p>
            <a:pPr algn="l">
              <a:buFont typeface="+mj-lt"/>
              <a:buAutoNum type="arabicPeriod"/>
            </a:pPr>
            <a:r>
              <a:rPr lang="en-US" b="1" i="0" dirty="0">
                <a:solidFill>
                  <a:srgbClr val="404040"/>
                </a:solidFill>
                <a:effectLst/>
                <a:latin typeface="Inter"/>
              </a:rPr>
              <a:t>Identifying Needs or Problems</a:t>
            </a:r>
            <a:r>
              <a:rPr lang="en-US" b="0" i="0" dirty="0">
                <a:solidFill>
                  <a:srgbClr val="404040"/>
                </a:solidFill>
                <a:effectLst/>
                <a:latin typeface="Inter"/>
              </a:rPr>
              <a:t>: Recognizing unmet customer needs or market inefficiencies.</a:t>
            </a:r>
          </a:p>
          <a:p>
            <a:pPr algn="l">
              <a:spcBef>
                <a:spcPts val="300"/>
              </a:spcBef>
              <a:buFont typeface="+mj-lt"/>
              <a:buAutoNum type="arabicPeriod"/>
            </a:pPr>
            <a:r>
              <a:rPr lang="en-US" b="1" i="0" dirty="0">
                <a:solidFill>
                  <a:srgbClr val="404040"/>
                </a:solidFill>
                <a:effectLst/>
                <a:latin typeface="Inter"/>
              </a:rPr>
              <a:t>Generating Ideas</a:t>
            </a:r>
            <a:r>
              <a:rPr lang="en-US" b="0" i="0" dirty="0">
                <a:solidFill>
                  <a:srgbClr val="404040"/>
                </a:solidFill>
                <a:effectLst/>
                <a:latin typeface="Inter"/>
              </a:rPr>
              <a:t>: Brainstorming potential solutions or business ideas.</a:t>
            </a:r>
          </a:p>
          <a:p>
            <a:pPr algn="l">
              <a:spcBef>
                <a:spcPts val="300"/>
              </a:spcBef>
              <a:buFont typeface="+mj-lt"/>
              <a:buAutoNum type="arabicPeriod"/>
            </a:pPr>
            <a:r>
              <a:rPr lang="en-US" b="1" i="0" dirty="0">
                <a:solidFill>
                  <a:srgbClr val="404040"/>
                </a:solidFill>
                <a:effectLst/>
                <a:latin typeface="Inter"/>
              </a:rPr>
              <a:t>Evaluating Feasibility</a:t>
            </a:r>
            <a:r>
              <a:rPr lang="en-US" b="0" i="0" dirty="0">
                <a:solidFill>
                  <a:srgbClr val="404040"/>
                </a:solidFill>
                <a:effectLst/>
                <a:latin typeface="Inter"/>
              </a:rPr>
              <a:t>: Assessing whether the idea is viable, profitable, and aligned with market demand.</a:t>
            </a:r>
          </a:p>
          <a:p>
            <a:pPr algn="l">
              <a:spcBef>
                <a:spcPts val="300"/>
              </a:spcBef>
              <a:buFont typeface="+mj-lt"/>
              <a:buAutoNum type="arabicPeriod"/>
            </a:pPr>
            <a:r>
              <a:rPr lang="en-US" b="1" i="0" dirty="0">
                <a:solidFill>
                  <a:srgbClr val="404040"/>
                </a:solidFill>
                <a:effectLst/>
                <a:latin typeface="Inter"/>
              </a:rPr>
              <a:t>Taking Action</a:t>
            </a:r>
            <a:r>
              <a:rPr lang="en-US" b="0" i="0" dirty="0">
                <a:solidFill>
                  <a:srgbClr val="404040"/>
                </a:solidFill>
                <a:effectLst/>
                <a:latin typeface="Inter"/>
              </a:rPr>
              <a:t>: Deciding to pursue the opportunity and turning it into a business.</a:t>
            </a:r>
          </a:p>
          <a:p>
            <a:endParaRPr lang="en-CA" dirty="0"/>
          </a:p>
        </p:txBody>
      </p:sp>
    </p:spTree>
    <p:extLst>
      <p:ext uri="{BB962C8B-B14F-4D97-AF65-F5344CB8AC3E}">
        <p14:creationId xmlns:p14="http://schemas.microsoft.com/office/powerpoint/2010/main" val="26985683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018C-7DEC-B6A1-E404-8D2F41D1C47B}"/>
              </a:ext>
            </a:extLst>
          </p:cNvPr>
          <p:cNvSpPr>
            <a:spLocks noGrp="1"/>
          </p:cNvSpPr>
          <p:nvPr>
            <p:ph type="title"/>
          </p:nvPr>
        </p:nvSpPr>
        <p:spPr>
          <a:xfrm>
            <a:off x="838200" y="365126"/>
            <a:ext cx="10515600" cy="20514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824A8B1-952C-8990-9E96-A0239F453998}"/>
              </a:ext>
            </a:extLst>
          </p:cNvPr>
          <p:cNvSpPr>
            <a:spLocks noGrp="1"/>
          </p:cNvSpPr>
          <p:nvPr>
            <p:ph idx="1"/>
          </p:nvPr>
        </p:nvSpPr>
        <p:spPr>
          <a:xfrm>
            <a:off x="838200" y="1002890"/>
            <a:ext cx="10515600" cy="5855110"/>
          </a:xfrm>
        </p:spPr>
        <p:txBody>
          <a:bodyPr/>
          <a:lstStyle/>
          <a:p>
            <a:pPr algn="l">
              <a:buNone/>
            </a:pPr>
            <a:r>
              <a:rPr lang="en-US" b="1" i="0" dirty="0">
                <a:solidFill>
                  <a:srgbClr val="404040"/>
                </a:solidFill>
                <a:effectLst/>
                <a:latin typeface="Inter"/>
              </a:rPr>
              <a:t>Why is Opportunity Recognition Important?</a:t>
            </a:r>
          </a:p>
          <a:p>
            <a:pPr algn="l">
              <a:buFont typeface="+mj-lt"/>
              <a:buAutoNum type="arabicPeriod"/>
            </a:pPr>
            <a:r>
              <a:rPr lang="en-US" b="1" i="0" dirty="0">
                <a:solidFill>
                  <a:srgbClr val="404040"/>
                </a:solidFill>
                <a:effectLst/>
                <a:latin typeface="Inter"/>
              </a:rPr>
              <a:t>Drives Innovation</a:t>
            </a:r>
            <a:r>
              <a:rPr lang="en-US" b="0" i="0" dirty="0">
                <a:solidFill>
                  <a:srgbClr val="404040"/>
                </a:solidFill>
                <a:effectLst/>
                <a:latin typeface="Inter"/>
              </a:rPr>
              <a:t>: Entrepreneurs who recognize opportunities often create innovative products or services.</a:t>
            </a:r>
          </a:p>
          <a:p>
            <a:pPr algn="l">
              <a:spcBef>
                <a:spcPts val="300"/>
              </a:spcBef>
              <a:buFont typeface="+mj-lt"/>
              <a:buAutoNum type="arabicPeriod"/>
            </a:pPr>
            <a:r>
              <a:rPr lang="en-US" b="1" i="0" dirty="0">
                <a:solidFill>
                  <a:srgbClr val="404040"/>
                </a:solidFill>
                <a:effectLst/>
                <a:latin typeface="Inter"/>
              </a:rPr>
              <a:t>Creates Competitive Advantage</a:t>
            </a:r>
            <a:r>
              <a:rPr lang="en-US" b="0" i="0" dirty="0">
                <a:solidFill>
                  <a:srgbClr val="404040"/>
                </a:solidFill>
                <a:effectLst/>
                <a:latin typeface="Inter"/>
              </a:rPr>
              <a:t>: Early identification of opportunities allows businesses to establish themselves before competitors.</a:t>
            </a:r>
          </a:p>
          <a:p>
            <a:pPr algn="l">
              <a:spcBef>
                <a:spcPts val="300"/>
              </a:spcBef>
              <a:buFont typeface="+mj-lt"/>
              <a:buAutoNum type="arabicPeriod"/>
            </a:pPr>
            <a:r>
              <a:rPr lang="en-US" b="1" i="0" dirty="0">
                <a:solidFill>
                  <a:srgbClr val="404040"/>
                </a:solidFill>
                <a:effectLst/>
                <a:latin typeface="Inter"/>
              </a:rPr>
              <a:t>Fuels Growth</a:t>
            </a:r>
            <a:r>
              <a:rPr lang="en-US" b="0" i="0" dirty="0">
                <a:solidFill>
                  <a:srgbClr val="404040"/>
                </a:solidFill>
                <a:effectLst/>
                <a:latin typeface="Inter"/>
              </a:rPr>
              <a:t>: Recognizing and capitalizing on opportunities is essential for business growth and scalability.</a:t>
            </a:r>
          </a:p>
          <a:p>
            <a:pPr algn="l">
              <a:spcBef>
                <a:spcPts val="300"/>
              </a:spcBef>
              <a:buFont typeface="+mj-lt"/>
              <a:buAutoNum type="arabicPeriod"/>
            </a:pPr>
            <a:r>
              <a:rPr lang="en-US" b="1" i="0" dirty="0">
                <a:solidFill>
                  <a:srgbClr val="404040"/>
                </a:solidFill>
                <a:effectLst/>
                <a:latin typeface="Inter"/>
              </a:rPr>
              <a:t>Solves Problems</a:t>
            </a:r>
            <a:r>
              <a:rPr lang="en-US" b="0" i="0" dirty="0">
                <a:solidFill>
                  <a:srgbClr val="404040"/>
                </a:solidFill>
                <a:effectLst/>
                <a:latin typeface="Inter"/>
              </a:rPr>
              <a:t>: Entrepreneurs address real-world challenges, creating value for customers and society.</a:t>
            </a:r>
          </a:p>
          <a:p>
            <a:endParaRPr lang="en-CA" dirty="0"/>
          </a:p>
        </p:txBody>
      </p:sp>
    </p:spTree>
    <p:extLst>
      <p:ext uri="{BB962C8B-B14F-4D97-AF65-F5344CB8AC3E}">
        <p14:creationId xmlns:p14="http://schemas.microsoft.com/office/powerpoint/2010/main" val="8692389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A9C8F-53C9-3212-4984-FED0474EE00B}"/>
              </a:ext>
            </a:extLst>
          </p:cNvPr>
          <p:cNvSpPr>
            <a:spLocks noGrp="1"/>
          </p:cNvSpPr>
          <p:nvPr>
            <p:ph type="title"/>
          </p:nvPr>
        </p:nvSpPr>
        <p:spPr/>
        <p:txBody>
          <a:bodyPr/>
          <a:lstStyle/>
          <a:p>
            <a:r>
              <a:rPr lang="en-US" dirty="0"/>
              <a:t> </a:t>
            </a:r>
            <a:endParaRPr lang="en-CA" dirty="0"/>
          </a:p>
        </p:txBody>
      </p:sp>
      <p:sp>
        <p:nvSpPr>
          <p:cNvPr id="3" name="Content Placeholder 2">
            <a:extLst>
              <a:ext uri="{FF2B5EF4-FFF2-40B4-BE49-F238E27FC236}">
                <a16:creationId xmlns:a16="http://schemas.microsoft.com/office/drawing/2014/main" id="{D6A25386-1681-7255-5C90-76FA415FE7BE}"/>
              </a:ext>
            </a:extLst>
          </p:cNvPr>
          <p:cNvSpPr>
            <a:spLocks noGrp="1"/>
          </p:cNvSpPr>
          <p:nvPr>
            <p:ph idx="1"/>
          </p:nvPr>
        </p:nvSpPr>
        <p:spPr/>
        <p:txBody>
          <a:bodyPr/>
          <a:lstStyle/>
          <a:p>
            <a:r>
              <a:rPr lang="en-US" b="0" i="0" dirty="0">
                <a:solidFill>
                  <a:srgbClr val="404040"/>
                </a:solidFill>
                <a:effectLst/>
                <a:latin typeface="Inter"/>
              </a:rPr>
              <a:t>Opportunity recognition is the foundation of entrepreneurship. It enables entrepreneurs to identify and capitalize on market gaps, creating value for customers and driving business success. By staying curious, analytical, and open to new ideas, entrepreneurs can unlock countless opportunities and turn them into thriving ventures.</a:t>
            </a:r>
            <a:endParaRPr lang="en-CA" dirty="0"/>
          </a:p>
        </p:txBody>
      </p:sp>
    </p:spTree>
    <p:extLst>
      <p:ext uri="{BB962C8B-B14F-4D97-AF65-F5344CB8AC3E}">
        <p14:creationId xmlns:p14="http://schemas.microsoft.com/office/powerpoint/2010/main" val="4466143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4DEC-B05B-5E91-991B-E48163FC0E5E}"/>
              </a:ext>
            </a:extLst>
          </p:cNvPr>
          <p:cNvSpPr>
            <a:spLocks noGrp="1"/>
          </p:cNvSpPr>
          <p:nvPr>
            <p:ph type="title"/>
          </p:nvPr>
        </p:nvSpPr>
        <p:spPr>
          <a:xfrm>
            <a:off x="838200" y="365126"/>
            <a:ext cx="10515600" cy="42145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37B9472-AD36-4EC5-7263-D965DB255C36}"/>
              </a:ext>
            </a:extLst>
          </p:cNvPr>
          <p:cNvSpPr>
            <a:spLocks noGrp="1"/>
          </p:cNvSpPr>
          <p:nvPr>
            <p:ph idx="1"/>
          </p:nvPr>
        </p:nvSpPr>
        <p:spPr>
          <a:xfrm>
            <a:off x="838200" y="1160206"/>
            <a:ext cx="10515600" cy="5016757"/>
          </a:xfrm>
        </p:spPr>
        <p:txBody>
          <a:bodyPr>
            <a:normAutofit lnSpcReduction="10000"/>
          </a:bodyPr>
          <a:lstStyle/>
          <a:p>
            <a:pPr algn="l">
              <a:buNone/>
            </a:pPr>
            <a:r>
              <a:rPr lang="en-US" b="1" i="0" dirty="0">
                <a:solidFill>
                  <a:srgbClr val="404040"/>
                </a:solidFill>
                <a:effectLst/>
                <a:latin typeface="Inter"/>
              </a:rPr>
              <a:t>How Entrepreneurs Recognize Opportunities:</a:t>
            </a:r>
          </a:p>
          <a:p>
            <a:pPr algn="l">
              <a:spcAft>
                <a:spcPts val="300"/>
              </a:spcAft>
              <a:buFont typeface="+mj-lt"/>
              <a:buAutoNum type="arabicPeriod"/>
            </a:pPr>
            <a:r>
              <a:rPr lang="en-US" b="1" i="0" dirty="0">
                <a:solidFill>
                  <a:srgbClr val="404040"/>
                </a:solidFill>
                <a:effectLst/>
                <a:latin typeface="Inter"/>
              </a:rPr>
              <a:t>Observation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Paying attention to market trends, customer behavior, and emerging technologies.</a:t>
            </a:r>
          </a:p>
          <a:p>
            <a:pPr algn="l">
              <a:spcBef>
                <a:spcPts val="300"/>
              </a:spcBef>
              <a:spcAft>
                <a:spcPts val="300"/>
              </a:spcAft>
              <a:buFont typeface="+mj-lt"/>
              <a:buAutoNum type="arabicPeriod"/>
            </a:pPr>
            <a:r>
              <a:rPr lang="en-US" b="1" i="0" dirty="0">
                <a:solidFill>
                  <a:srgbClr val="404040"/>
                </a:solidFill>
                <a:effectLst/>
                <a:latin typeface="Inter"/>
              </a:rPr>
              <a:t>Problem-Solving</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Identifying pain points and brainstorming solutions.</a:t>
            </a:r>
          </a:p>
          <a:p>
            <a:pPr algn="l">
              <a:spcBef>
                <a:spcPts val="300"/>
              </a:spcBef>
              <a:spcAft>
                <a:spcPts val="300"/>
              </a:spcAft>
              <a:buFont typeface="+mj-lt"/>
              <a:buAutoNum type="arabicPeriod"/>
            </a:pPr>
            <a:r>
              <a:rPr lang="en-US" b="1" i="0" dirty="0">
                <a:solidFill>
                  <a:srgbClr val="404040"/>
                </a:solidFill>
                <a:effectLst/>
                <a:latin typeface="Inter"/>
              </a:rPr>
              <a:t>Networking</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Engaging with others to gain insights and spot trends.</a:t>
            </a:r>
          </a:p>
          <a:p>
            <a:pPr algn="l">
              <a:spcBef>
                <a:spcPts val="300"/>
              </a:spcBef>
              <a:spcAft>
                <a:spcPts val="300"/>
              </a:spcAft>
              <a:buFont typeface="+mj-lt"/>
              <a:buAutoNum type="arabicPeriod"/>
            </a:pPr>
            <a:r>
              <a:rPr lang="en-US" b="1" i="0" dirty="0">
                <a:solidFill>
                  <a:srgbClr val="404040"/>
                </a:solidFill>
                <a:effectLst/>
                <a:latin typeface="Inter"/>
              </a:rPr>
              <a:t>Experimentation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Testing ideas through prototypes, MVPs (Minimum Viable Products), or pilot programs.</a:t>
            </a:r>
          </a:p>
          <a:p>
            <a:pPr algn="l">
              <a:spcBef>
                <a:spcPts val="300"/>
              </a:spcBef>
              <a:spcAft>
                <a:spcPts val="300"/>
              </a:spcAft>
              <a:buFont typeface="+mj-lt"/>
              <a:buAutoNum type="arabicPeriod"/>
            </a:pPr>
            <a:r>
              <a:rPr lang="en-US" b="1" i="0" dirty="0">
                <a:solidFill>
                  <a:srgbClr val="404040"/>
                </a:solidFill>
                <a:effectLst/>
                <a:latin typeface="Inter"/>
              </a:rPr>
              <a:t>Research</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Conducting market research to validate the opportunity.</a:t>
            </a:r>
          </a:p>
          <a:p>
            <a:endParaRPr lang="en-CA" dirty="0"/>
          </a:p>
        </p:txBody>
      </p:sp>
    </p:spTree>
    <p:extLst>
      <p:ext uri="{BB962C8B-B14F-4D97-AF65-F5344CB8AC3E}">
        <p14:creationId xmlns:p14="http://schemas.microsoft.com/office/powerpoint/2010/main" val="11281407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5B476-E71E-B75D-4FAD-4AC7705F2D31}"/>
              </a:ext>
            </a:extLst>
          </p:cNvPr>
          <p:cNvSpPr>
            <a:spLocks noGrp="1"/>
          </p:cNvSpPr>
          <p:nvPr>
            <p:ph type="title"/>
          </p:nvPr>
        </p:nvSpPr>
        <p:spPr/>
        <p:txBody>
          <a:bodyPr/>
          <a:lstStyle/>
          <a:p>
            <a:r>
              <a:rPr lang="en-US" dirty="0"/>
              <a:t>Business idea </a:t>
            </a:r>
            <a:endParaRPr lang="en-CA" dirty="0"/>
          </a:p>
        </p:txBody>
      </p:sp>
      <p:sp>
        <p:nvSpPr>
          <p:cNvPr id="3" name="Content Placeholder 2">
            <a:extLst>
              <a:ext uri="{FF2B5EF4-FFF2-40B4-BE49-F238E27FC236}">
                <a16:creationId xmlns:a16="http://schemas.microsoft.com/office/drawing/2014/main" id="{1F1B7DF3-111D-9669-6958-BD10C6164196}"/>
              </a:ext>
            </a:extLst>
          </p:cNvPr>
          <p:cNvSpPr>
            <a:spLocks noGrp="1"/>
          </p:cNvSpPr>
          <p:nvPr>
            <p:ph idx="1"/>
          </p:nvPr>
        </p:nvSpPr>
        <p:spPr/>
        <p:txBody>
          <a:bodyPr>
            <a:normAutofit lnSpcReduction="10000"/>
          </a:bodyPr>
          <a:lstStyle/>
          <a:p>
            <a:r>
              <a:rPr lang="en-US" b="0" i="0" dirty="0">
                <a:solidFill>
                  <a:srgbClr val="404040"/>
                </a:solidFill>
                <a:effectLst/>
                <a:latin typeface="Inter"/>
              </a:rPr>
              <a:t>A </a:t>
            </a:r>
            <a:r>
              <a:rPr lang="en-US" b="1" i="0" dirty="0">
                <a:solidFill>
                  <a:srgbClr val="404040"/>
                </a:solidFill>
                <a:effectLst/>
                <a:latin typeface="Inter"/>
              </a:rPr>
              <a:t>business idea</a:t>
            </a:r>
            <a:r>
              <a:rPr lang="en-US" b="0" i="0" dirty="0">
                <a:solidFill>
                  <a:srgbClr val="404040"/>
                </a:solidFill>
                <a:effectLst/>
                <a:latin typeface="Inter"/>
              </a:rPr>
              <a:t> is a concept or proposal for a product, service, or venture that has the potential to generate revenue and solve a specific problem or meet a market need. It is the foundational thought or vision that sparks the creation of a business. A good business idea is innovative, feasible, and aligned with market demand, and it serves as the starting point for developing a business plan and launching a venture.</a:t>
            </a:r>
          </a:p>
          <a:p>
            <a:r>
              <a:rPr lang="en-US" b="0" i="0" dirty="0">
                <a:solidFill>
                  <a:srgbClr val="404040"/>
                </a:solidFill>
                <a:effectLst/>
                <a:latin typeface="Inter"/>
              </a:rPr>
              <a:t>A business idea is the seed from which a successful venture grows. It represents an innovative solution to a problem or a way to meet a market need. By identifying, validating, and refining a strong business idea, entrepreneurs can create value for customers and build profitable, sustainable businesses.</a:t>
            </a:r>
            <a:endParaRPr lang="en-CA" dirty="0"/>
          </a:p>
        </p:txBody>
      </p:sp>
    </p:spTree>
    <p:extLst>
      <p:ext uri="{BB962C8B-B14F-4D97-AF65-F5344CB8AC3E}">
        <p14:creationId xmlns:p14="http://schemas.microsoft.com/office/powerpoint/2010/main" val="17433039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DF806-9572-E79D-5CE8-330DA22577DF}"/>
              </a:ext>
            </a:extLst>
          </p:cNvPr>
          <p:cNvSpPr>
            <a:spLocks noGrp="1"/>
          </p:cNvSpPr>
          <p:nvPr>
            <p:ph type="title"/>
          </p:nvPr>
        </p:nvSpPr>
        <p:spPr/>
        <p:txBody>
          <a:bodyPr/>
          <a:lstStyle/>
          <a:p>
            <a:r>
              <a:rPr lang="en-US" dirty="0"/>
              <a:t>Sources of new business ideas </a:t>
            </a:r>
            <a:endParaRPr lang="en-CA" dirty="0"/>
          </a:p>
        </p:txBody>
      </p:sp>
      <p:sp>
        <p:nvSpPr>
          <p:cNvPr id="3" name="Content Placeholder 2">
            <a:extLst>
              <a:ext uri="{FF2B5EF4-FFF2-40B4-BE49-F238E27FC236}">
                <a16:creationId xmlns:a16="http://schemas.microsoft.com/office/drawing/2014/main" id="{3136F7DF-F876-7AFE-2CBB-C7C7576F611F}"/>
              </a:ext>
            </a:extLst>
          </p:cNvPr>
          <p:cNvSpPr>
            <a:spLocks noGrp="1"/>
          </p:cNvSpPr>
          <p:nvPr>
            <p:ph idx="1"/>
          </p:nvPr>
        </p:nvSpPr>
        <p:spPr/>
        <p:txBody>
          <a:bodyPr/>
          <a:lstStyle/>
          <a:p>
            <a:r>
              <a:rPr lang="en-US" b="0" i="0" dirty="0">
                <a:solidFill>
                  <a:srgbClr val="404040"/>
                </a:solidFill>
                <a:effectLst/>
                <a:latin typeface="Inter"/>
              </a:rPr>
              <a:t>New business ideas can come from a variety of sources, often stemming from observing problems, trends, or unmet needs in the market. Here are some of the </a:t>
            </a:r>
            <a:r>
              <a:rPr lang="en-US" b="1" i="0" dirty="0">
                <a:solidFill>
                  <a:srgbClr val="404040"/>
                </a:solidFill>
                <a:effectLst/>
                <a:latin typeface="Inter"/>
              </a:rPr>
              <a:t>most common sources of new business ideas</a:t>
            </a:r>
            <a:r>
              <a:rPr lang="en-US" b="0" i="0" dirty="0">
                <a:solidFill>
                  <a:srgbClr val="404040"/>
                </a:solidFill>
                <a:effectLst/>
                <a:latin typeface="Inter"/>
              </a:rPr>
              <a:t>:</a:t>
            </a:r>
            <a:br>
              <a:rPr lang="en-US" dirty="0"/>
            </a:br>
            <a:endParaRPr lang="en-CA" dirty="0"/>
          </a:p>
        </p:txBody>
      </p:sp>
    </p:spTree>
    <p:extLst>
      <p:ext uri="{BB962C8B-B14F-4D97-AF65-F5344CB8AC3E}">
        <p14:creationId xmlns:p14="http://schemas.microsoft.com/office/powerpoint/2010/main" val="14868618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20AC2-347A-8423-9D53-831CB0836E87}"/>
              </a:ext>
            </a:extLst>
          </p:cNvPr>
          <p:cNvSpPr>
            <a:spLocks noGrp="1"/>
          </p:cNvSpPr>
          <p:nvPr>
            <p:ph type="title"/>
          </p:nvPr>
        </p:nvSpPr>
        <p:spPr>
          <a:xfrm>
            <a:off x="838200" y="365125"/>
            <a:ext cx="10515600" cy="60826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5613284-370C-01B2-C486-4729BE255DAB}"/>
              </a:ext>
            </a:extLst>
          </p:cNvPr>
          <p:cNvSpPr>
            <a:spLocks noGrp="1"/>
          </p:cNvSpPr>
          <p:nvPr>
            <p:ph idx="1"/>
          </p:nvPr>
        </p:nvSpPr>
        <p:spPr>
          <a:xfrm>
            <a:off x="838200" y="1238865"/>
            <a:ext cx="10515600" cy="4938098"/>
          </a:xfrm>
        </p:spPr>
        <p:txBody>
          <a:bodyPr/>
          <a:lstStyle/>
          <a:p>
            <a:pPr algn="l">
              <a:buNone/>
            </a:pPr>
            <a:r>
              <a:rPr lang="en-US" b="1" i="0" dirty="0">
                <a:solidFill>
                  <a:srgbClr val="404040"/>
                </a:solidFill>
                <a:effectLst/>
                <a:latin typeface="Inter"/>
              </a:rPr>
              <a:t> Personal Experiences and Frustrations</a:t>
            </a:r>
          </a:p>
          <a:p>
            <a:pPr algn="l">
              <a:buFont typeface="Arial" panose="020B0604020202020204" pitchFamily="34" charset="0"/>
              <a:buChar char="•"/>
            </a:pPr>
            <a:r>
              <a:rPr lang="en-US" b="0" i="0" dirty="0">
                <a:solidFill>
                  <a:srgbClr val="404040"/>
                </a:solidFill>
                <a:effectLst/>
                <a:latin typeface="Inter"/>
              </a:rPr>
              <a:t>Entrepreneurs often get ideas from their own daily lives, hobbies, or challenges.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Sara Blakely created </a:t>
            </a:r>
            <a:r>
              <a:rPr lang="en-US" b="1" i="0" dirty="0">
                <a:solidFill>
                  <a:srgbClr val="404040"/>
                </a:solidFill>
                <a:effectLst/>
                <a:latin typeface="Inter"/>
              </a:rPr>
              <a:t>Spanx</a:t>
            </a:r>
            <a:r>
              <a:rPr lang="en-US" b="0" i="0" dirty="0">
                <a:solidFill>
                  <a:srgbClr val="404040"/>
                </a:solidFill>
                <a:effectLst/>
                <a:latin typeface="Inter"/>
              </a:rPr>
              <a:t> after struggling to find comfortable shapewear.</a:t>
            </a:r>
          </a:p>
          <a:p>
            <a:endParaRPr lang="en-CA" dirty="0"/>
          </a:p>
        </p:txBody>
      </p:sp>
    </p:spTree>
    <p:extLst>
      <p:ext uri="{BB962C8B-B14F-4D97-AF65-F5344CB8AC3E}">
        <p14:creationId xmlns:p14="http://schemas.microsoft.com/office/powerpoint/2010/main" val="38349721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33934-2606-2852-DEC0-6AEF5F3F5EB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2BBFEC0-E40A-1AD8-FABF-2644A4ACCCD8}"/>
              </a:ext>
            </a:extLst>
          </p:cNvPr>
          <p:cNvSpPr>
            <a:spLocks noGrp="1"/>
          </p:cNvSpPr>
          <p:nvPr>
            <p:ph idx="1"/>
          </p:nvPr>
        </p:nvSpPr>
        <p:spPr/>
        <p:txBody>
          <a:bodyPr/>
          <a:lstStyle/>
          <a:p>
            <a:pPr algn="l">
              <a:buNone/>
            </a:pPr>
            <a:r>
              <a:rPr lang="en-US" b="1" i="0" dirty="0">
                <a:solidFill>
                  <a:srgbClr val="404040"/>
                </a:solidFill>
                <a:effectLst/>
                <a:latin typeface="Inter"/>
              </a:rPr>
              <a:t>Market Gaps and Unmet Needs</a:t>
            </a:r>
          </a:p>
          <a:p>
            <a:pPr algn="l">
              <a:buFont typeface="Arial" panose="020B0604020202020204" pitchFamily="34" charset="0"/>
              <a:buChar char="•"/>
            </a:pPr>
            <a:r>
              <a:rPr lang="en-US" b="0" i="0" dirty="0">
                <a:solidFill>
                  <a:srgbClr val="404040"/>
                </a:solidFill>
                <a:effectLst/>
                <a:latin typeface="Inter"/>
              </a:rPr>
              <a:t>Identifying gaps in the market where customer needs are not being fully met.</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t>
            </a:r>
            <a:r>
              <a:rPr lang="en-US" b="1" i="0" dirty="0">
                <a:solidFill>
                  <a:srgbClr val="404040"/>
                </a:solidFill>
                <a:effectLst/>
                <a:latin typeface="Inter"/>
              </a:rPr>
              <a:t>Warby Parker</a:t>
            </a:r>
            <a:r>
              <a:rPr lang="en-US" b="0" i="0" dirty="0">
                <a:solidFill>
                  <a:srgbClr val="404040"/>
                </a:solidFill>
                <a:effectLst/>
                <a:latin typeface="Inter"/>
              </a:rPr>
              <a:t> addressed the lack of affordable, stylish eyewear.</a:t>
            </a:r>
          </a:p>
          <a:p>
            <a:endParaRPr lang="en-CA" dirty="0"/>
          </a:p>
        </p:txBody>
      </p:sp>
    </p:spTree>
    <p:extLst>
      <p:ext uri="{BB962C8B-B14F-4D97-AF65-F5344CB8AC3E}">
        <p14:creationId xmlns:p14="http://schemas.microsoft.com/office/powerpoint/2010/main" val="18471746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DE0-7259-21A9-2DB0-08F8DD65A23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35627F7-A131-E5B9-0539-58EC8F1D6E89}"/>
              </a:ext>
            </a:extLst>
          </p:cNvPr>
          <p:cNvSpPr>
            <a:spLocks noGrp="1"/>
          </p:cNvSpPr>
          <p:nvPr>
            <p:ph idx="1"/>
          </p:nvPr>
        </p:nvSpPr>
        <p:spPr/>
        <p:txBody>
          <a:bodyPr/>
          <a:lstStyle/>
          <a:p>
            <a:pPr algn="l">
              <a:buNone/>
            </a:pPr>
            <a:r>
              <a:rPr lang="en-US" b="1" i="0" dirty="0">
                <a:solidFill>
                  <a:srgbClr val="404040"/>
                </a:solidFill>
                <a:effectLst/>
                <a:latin typeface="Inter"/>
              </a:rPr>
              <a:t>Customer Feedback</a:t>
            </a:r>
          </a:p>
          <a:p>
            <a:pPr algn="l">
              <a:buFont typeface="Arial" panose="020B0604020202020204" pitchFamily="34" charset="0"/>
              <a:buChar char="•"/>
            </a:pPr>
            <a:r>
              <a:rPr lang="en-US" b="0" i="0" dirty="0">
                <a:solidFill>
                  <a:srgbClr val="404040"/>
                </a:solidFill>
                <a:effectLst/>
                <a:latin typeface="Inter"/>
              </a:rPr>
              <a:t>Listening to customers’ complaints, suggestions, or pain points can spark new ideas.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t>
            </a:r>
            <a:r>
              <a:rPr lang="en-US" b="1" i="0" dirty="0">
                <a:solidFill>
                  <a:srgbClr val="404040"/>
                </a:solidFill>
                <a:effectLst/>
                <a:latin typeface="Inter"/>
              </a:rPr>
              <a:t>Slack</a:t>
            </a:r>
            <a:r>
              <a:rPr lang="en-US" b="0" i="0" dirty="0">
                <a:solidFill>
                  <a:srgbClr val="404040"/>
                </a:solidFill>
                <a:effectLst/>
                <a:latin typeface="Inter"/>
              </a:rPr>
              <a:t> was developed based on the need for better team communication tools.</a:t>
            </a:r>
          </a:p>
          <a:p>
            <a:endParaRPr lang="en-CA" dirty="0"/>
          </a:p>
        </p:txBody>
      </p:sp>
    </p:spTree>
    <p:extLst>
      <p:ext uri="{BB962C8B-B14F-4D97-AF65-F5344CB8AC3E}">
        <p14:creationId xmlns:p14="http://schemas.microsoft.com/office/powerpoint/2010/main" val="29540907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2EDB8-E77B-181D-26C1-4613F58EE4A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51088DC-BD95-F946-FDB8-3A1F586A5C40}"/>
              </a:ext>
            </a:extLst>
          </p:cNvPr>
          <p:cNvSpPr>
            <a:spLocks noGrp="1"/>
          </p:cNvSpPr>
          <p:nvPr>
            <p:ph idx="1"/>
          </p:nvPr>
        </p:nvSpPr>
        <p:spPr/>
        <p:txBody>
          <a:bodyPr>
            <a:normAutofit fontScale="92500" lnSpcReduction="10000"/>
          </a:bodyPr>
          <a:lstStyle/>
          <a:p>
            <a:r>
              <a:rPr lang="en-US" dirty="0"/>
              <a:t>Industry Trends</a:t>
            </a:r>
          </a:p>
          <a:p>
            <a:r>
              <a:rPr lang="en-US" dirty="0"/>
              <a:t>Observing emerging trends in consumer behavior, technology, or demographics.</a:t>
            </a:r>
          </a:p>
          <a:p>
            <a:r>
              <a:rPr lang="en-US" dirty="0"/>
              <a:t>Example: The rise of health-conscious consumers led to businesses like Beyond Meat and Peloton.</a:t>
            </a:r>
          </a:p>
          <a:p>
            <a:endParaRPr lang="en-US" dirty="0"/>
          </a:p>
          <a:p>
            <a:pPr marL="0" indent="0">
              <a:buNone/>
            </a:pPr>
            <a:r>
              <a:rPr lang="en-US" dirty="0"/>
              <a:t>Technological Advances</a:t>
            </a:r>
          </a:p>
          <a:p>
            <a:r>
              <a:rPr lang="en-US" dirty="0"/>
              <a:t>New technologies often create opportunities for innovative products or services.</a:t>
            </a:r>
          </a:p>
          <a:p>
            <a:r>
              <a:rPr lang="en-US" dirty="0"/>
              <a:t>Example: The development of smartphones led to the creation of apps like Uber and Instagram</a:t>
            </a:r>
            <a:endParaRPr lang="en-CA" dirty="0"/>
          </a:p>
        </p:txBody>
      </p:sp>
    </p:spTree>
    <p:extLst>
      <p:ext uri="{BB962C8B-B14F-4D97-AF65-F5344CB8AC3E}">
        <p14:creationId xmlns:p14="http://schemas.microsoft.com/office/powerpoint/2010/main" val="21703147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2F73F-BECE-5EC2-BC14-F4DC20840F8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24A4621-F0CC-A740-3B18-BCF368278495}"/>
              </a:ext>
            </a:extLst>
          </p:cNvPr>
          <p:cNvSpPr>
            <a:spLocks noGrp="1"/>
          </p:cNvSpPr>
          <p:nvPr>
            <p:ph idx="1"/>
          </p:nvPr>
        </p:nvSpPr>
        <p:spPr/>
        <p:txBody>
          <a:bodyPr/>
          <a:lstStyle/>
          <a:p>
            <a:pPr algn="l">
              <a:buNone/>
            </a:pPr>
            <a:r>
              <a:rPr lang="en-US" b="1" i="0" dirty="0">
                <a:solidFill>
                  <a:srgbClr val="404040"/>
                </a:solidFill>
                <a:effectLst/>
                <a:latin typeface="Inter"/>
              </a:rPr>
              <a:t>Competitor Analysis</a:t>
            </a:r>
          </a:p>
          <a:p>
            <a:pPr algn="l">
              <a:buFont typeface="Arial" panose="020B0604020202020204" pitchFamily="34" charset="0"/>
              <a:buChar char="•"/>
            </a:pPr>
            <a:r>
              <a:rPr lang="en-US" b="0" i="0" dirty="0">
                <a:solidFill>
                  <a:srgbClr val="404040"/>
                </a:solidFill>
                <a:effectLst/>
                <a:latin typeface="Inter"/>
              </a:rPr>
              <a:t>Identifying weaknesses or gaps in competitors’ offerings and improving upon them.</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t>
            </a:r>
            <a:r>
              <a:rPr lang="en-US" b="1" i="0" dirty="0">
                <a:solidFill>
                  <a:srgbClr val="404040"/>
                </a:solidFill>
                <a:effectLst/>
                <a:latin typeface="Inter"/>
              </a:rPr>
              <a:t>Zoom</a:t>
            </a:r>
            <a:r>
              <a:rPr lang="en-US" b="0" i="0" dirty="0">
                <a:solidFill>
                  <a:srgbClr val="404040"/>
                </a:solidFill>
                <a:effectLst/>
                <a:latin typeface="Inter"/>
              </a:rPr>
              <a:t> improved upon existing video conferencing tools by focusing on simplicity and reliability.</a:t>
            </a:r>
          </a:p>
          <a:p>
            <a:endParaRPr lang="en-CA" dirty="0"/>
          </a:p>
        </p:txBody>
      </p:sp>
    </p:spTree>
    <p:extLst>
      <p:ext uri="{BB962C8B-B14F-4D97-AF65-F5344CB8AC3E}">
        <p14:creationId xmlns:p14="http://schemas.microsoft.com/office/powerpoint/2010/main" val="7395926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31AA-69D9-7294-EC6F-8385F4A2FB1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6B9C05B-E152-88A7-44E6-CED5AF36148E}"/>
              </a:ext>
            </a:extLst>
          </p:cNvPr>
          <p:cNvSpPr>
            <a:spLocks noGrp="1"/>
          </p:cNvSpPr>
          <p:nvPr>
            <p:ph idx="1"/>
          </p:nvPr>
        </p:nvSpPr>
        <p:spPr/>
        <p:txBody>
          <a:bodyPr/>
          <a:lstStyle/>
          <a:p>
            <a:pPr algn="l">
              <a:buNone/>
            </a:pPr>
            <a:r>
              <a:rPr lang="en-US" b="1" i="0" dirty="0">
                <a:solidFill>
                  <a:srgbClr val="404040"/>
                </a:solidFill>
                <a:effectLst/>
                <a:latin typeface="Inter"/>
              </a:rPr>
              <a:t>Social and Environmental Challenges</a:t>
            </a:r>
          </a:p>
          <a:p>
            <a:pPr algn="l">
              <a:buFont typeface="Arial" panose="020B0604020202020204" pitchFamily="34" charset="0"/>
              <a:buChar char="•"/>
            </a:pPr>
            <a:r>
              <a:rPr lang="en-US" b="0" i="0" dirty="0">
                <a:solidFill>
                  <a:srgbClr val="404040"/>
                </a:solidFill>
                <a:effectLst/>
                <a:latin typeface="Inter"/>
              </a:rPr>
              <a:t>Addressing social or environmental issues can lead to impactful business ideas.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t>
            </a:r>
            <a:r>
              <a:rPr lang="en-US" b="1" i="0" dirty="0">
                <a:solidFill>
                  <a:srgbClr val="404040"/>
                </a:solidFill>
                <a:effectLst/>
                <a:latin typeface="Inter"/>
              </a:rPr>
              <a:t>TOMS Shoes</a:t>
            </a:r>
            <a:r>
              <a:rPr lang="en-US" b="0" i="0" dirty="0">
                <a:solidFill>
                  <a:srgbClr val="404040"/>
                </a:solidFill>
                <a:effectLst/>
                <a:latin typeface="Inter"/>
              </a:rPr>
              <a:t> created a "One for One" model, donating a pair of shoes for every pair sold.</a:t>
            </a:r>
          </a:p>
          <a:p>
            <a:endParaRPr lang="en-CA" dirty="0"/>
          </a:p>
        </p:txBody>
      </p:sp>
    </p:spTree>
    <p:extLst>
      <p:ext uri="{BB962C8B-B14F-4D97-AF65-F5344CB8AC3E}">
        <p14:creationId xmlns:p14="http://schemas.microsoft.com/office/powerpoint/2010/main" val="7875762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A5F4-A27A-C8DA-D63F-88CFAF84AE8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2FBF244-8FA0-EF08-FD71-CC2D5276342D}"/>
              </a:ext>
            </a:extLst>
          </p:cNvPr>
          <p:cNvSpPr>
            <a:spLocks noGrp="1"/>
          </p:cNvSpPr>
          <p:nvPr>
            <p:ph idx="1"/>
          </p:nvPr>
        </p:nvSpPr>
        <p:spPr/>
        <p:txBody>
          <a:bodyPr/>
          <a:lstStyle/>
          <a:p>
            <a:pPr algn="l">
              <a:buNone/>
            </a:pPr>
            <a:r>
              <a:rPr lang="en-US" b="1" i="0" dirty="0">
                <a:solidFill>
                  <a:srgbClr val="404040"/>
                </a:solidFill>
                <a:effectLst/>
                <a:latin typeface="Inter"/>
              </a:rPr>
              <a:t>Hobbies and Passions</a:t>
            </a:r>
          </a:p>
          <a:p>
            <a:pPr algn="l">
              <a:buFont typeface="Arial" panose="020B0604020202020204" pitchFamily="34" charset="0"/>
              <a:buChar char="•"/>
            </a:pPr>
            <a:r>
              <a:rPr lang="en-US" b="0" i="0" dirty="0">
                <a:solidFill>
                  <a:srgbClr val="404040"/>
                </a:solidFill>
                <a:effectLst/>
                <a:latin typeface="Inter"/>
              </a:rPr>
              <a:t>Turning personal interests or hobbies into a business.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 fitness enthusiast might start a gym or create a fitness app.</a:t>
            </a:r>
          </a:p>
          <a:p>
            <a:endParaRPr lang="en-CA" dirty="0"/>
          </a:p>
        </p:txBody>
      </p:sp>
    </p:spTree>
    <p:extLst>
      <p:ext uri="{BB962C8B-B14F-4D97-AF65-F5344CB8AC3E}">
        <p14:creationId xmlns:p14="http://schemas.microsoft.com/office/powerpoint/2010/main" val="31798165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D20C-F89B-9C77-7FA3-472ED8FB799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A9D6C30-29A9-DDAC-FA73-E253934B9BD3}"/>
              </a:ext>
            </a:extLst>
          </p:cNvPr>
          <p:cNvSpPr>
            <a:spLocks noGrp="1"/>
          </p:cNvSpPr>
          <p:nvPr>
            <p:ph idx="1"/>
          </p:nvPr>
        </p:nvSpPr>
        <p:spPr/>
        <p:txBody>
          <a:bodyPr/>
          <a:lstStyle/>
          <a:p>
            <a:pPr algn="l">
              <a:buNone/>
            </a:pPr>
            <a:r>
              <a:rPr lang="en-US" b="1" i="0" dirty="0">
                <a:solidFill>
                  <a:srgbClr val="404040"/>
                </a:solidFill>
                <a:effectLst/>
                <a:latin typeface="Inter"/>
              </a:rPr>
              <a:t>Networking and Collaboration</a:t>
            </a:r>
          </a:p>
          <a:p>
            <a:pPr algn="l">
              <a:buFont typeface="Arial" panose="020B0604020202020204" pitchFamily="34" charset="0"/>
              <a:buChar char="•"/>
            </a:pPr>
            <a:r>
              <a:rPr lang="en-US" b="0" i="0" dirty="0">
                <a:solidFill>
                  <a:srgbClr val="404040"/>
                </a:solidFill>
                <a:effectLst/>
                <a:latin typeface="Inter"/>
              </a:rPr>
              <a:t>Engaging with others, such as industry experts, mentors, or peers, can spark new ideas.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Collaborating with tech experts to develop a new software solution.</a:t>
            </a:r>
          </a:p>
          <a:p>
            <a:endParaRPr lang="en-CA" dirty="0"/>
          </a:p>
        </p:txBody>
      </p:sp>
    </p:spTree>
    <p:extLst>
      <p:ext uri="{BB962C8B-B14F-4D97-AF65-F5344CB8AC3E}">
        <p14:creationId xmlns:p14="http://schemas.microsoft.com/office/powerpoint/2010/main" val="140931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C1702-CE86-075C-E83E-66A5F70A06F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1AB8E8D-4E17-4D23-218A-EE66664A76DB}"/>
              </a:ext>
            </a:extLst>
          </p:cNvPr>
          <p:cNvSpPr>
            <a:spLocks noGrp="1"/>
          </p:cNvSpPr>
          <p:nvPr>
            <p:ph idx="1"/>
          </p:nvPr>
        </p:nvSpPr>
        <p:spPr/>
        <p:txBody>
          <a:bodyPr/>
          <a:lstStyle/>
          <a:p>
            <a:pPr algn="l">
              <a:buNone/>
            </a:pPr>
            <a:r>
              <a:rPr lang="en-US" b="1" i="0" dirty="0">
                <a:solidFill>
                  <a:srgbClr val="404040"/>
                </a:solidFill>
                <a:effectLst/>
                <a:latin typeface="Inter"/>
              </a:rPr>
              <a:t>Economic and Regulatory Changes</a:t>
            </a:r>
          </a:p>
          <a:p>
            <a:pPr algn="l">
              <a:buFont typeface="Arial" panose="020B0604020202020204" pitchFamily="34" charset="0"/>
              <a:buChar char="•"/>
            </a:pPr>
            <a:r>
              <a:rPr lang="en-US" b="0" i="0" dirty="0">
                <a:solidFill>
                  <a:srgbClr val="404040"/>
                </a:solidFill>
                <a:effectLst/>
                <a:latin typeface="Inter"/>
              </a:rPr>
              <a:t>Changes in laws, policies, or economic conditions can create new opportunities.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Renewable energy incentives led to opportunities in solar and wind power industries.</a:t>
            </a:r>
          </a:p>
          <a:p>
            <a:endParaRPr lang="en-CA" dirty="0"/>
          </a:p>
        </p:txBody>
      </p:sp>
    </p:spTree>
    <p:extLst>
      <p:ext uri="{BB962C8B-B14F-4D97-AF65-F5344CB8AC3E}">
        <p14:creationId xmlns:p14="http://schemas.microsoft.com/office/powerpoint/2010/main" val="19508646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1212-31AE-A2BB-BE14-B15E4278991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34BEF27-1399-A5C9-AB36-A61C5C803DE2}"/>
              </a:ext>
            </a:extLst>
          </p:cNvPr>
          <p:cNvSpPr>
            <a:spLocks noGrp="1"/>
          </p:cNvSpPr>
          <p:nvPr>
            <p:ph idx="1"/>
          </p:nvPr>
        </p:nvSpPr>
        <p:spPr/>
        <p:txBody>
          <a:bodyPr/>
          <a:lstStyle/>
          <a:p>
            <a:pPr algn="l">
              <a:buNone/>
            </a:pPr>
            <a:r>
              <a:rPr lang="en-US" b="1" i="0" dirty="0">
                <a:solidFill>
                  <a:srgbClr val="404040"/>
                </a:solidFill>
                <a:effectLst/>
                <a:latin typeface="Inter"/>
              </a:rPr>
              <a:t>Research and Development (R&amp;D)</a:t>
            </a:r>
          </a:p>
          <a:p>
            <a:pPr algn="l">
              <a:buFont typeface="Arial" panose="020B0604020202020204" pitchFamily="34" charset="0"/>
              <a:buChar char="•"/>
            </a:pPr>
            <a:r>
              <a:rPr lang="en-US" b="0" i="0" dirty="0">
                <a:solidFill>
                  <a:srgbClr val="404040"/>
                </a:solidFill>
                <a:effectLst/>
                <a:latin typeface="Inter"/>
              </a:rPr>
              <a:t>Investing in R&amp;D to explore new technologies, products, or processes.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Pharmaceutical companies developing new drugs or treatments.</a:t>
            </a:r>
          </a:p>
          <a:p>
            <a:endParaRPr lang="en-CA" dirty="0"/>
          </a:p>
        </p:txBody>
      </p:sp>
    </p:spTree>
    <p:extLst>
      <p:ext uri="{BB962C8B-B14F-4D97-AF65-F5344CB8AC3E}">
        <p14:creationId xmlns:p14="http://schemas.microsoft.com/office/powerpoint/2010/main" val="23044183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89833-0A4E-CF7D-32BF-6570D9CF8B8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93B641A-B96F-47A4-328D-01F6AB85BED1}"/>
              </a:ext>
            </a:extLst>
          </p:cNvPr>
          <p:cNvSpPr>
            <a:spLocks noGrp="1"/>
          </p:cNvSpPr>
          <p:nvPr>
            <p:ph idx="1"/>
          </p:nvPr>
        </p:nvSpPr>
        <p:spPr/>
        <p:txBody>
          <a:bodyPr/>
          <a:lstStyle/>
          <a:p>
            <a:pPr algn="l">
              <a:buNone/>
            </a:pPr>
            <a:r>
              <a:rPr lang="en-US" b="1" i="0" dirty="0">
                <a:solidFill>
                  <a:srgbClr val="404040"/>
                </a:solidFill>
                <a:effectLst/>
                <a:latin typeface="Inter"/>
              </a:rPr>
              <a:t>Franchising or Replication</a:t>
            </a:r>
          </a:p>
          <a:p>
            <a:pPr algn="l">
              <a:buFont typeface="Arial" panose="020B0604020202020204" pitchFamily="34" charset="0"/>
              <a:buChar char="•"/>
            </a:pPr>
            <a:r>
              <a:rPr lang="en-US" b="0" i="0" dirty="0">
                <a:solidFill>
                  <a:srgbClr val="404040"/>
                </a:solidFill>
                <a:effectLst/>
                <a:latin typeface="Inter"/>
              </a:rPr>
              <a:t>Replicating a successful business model in a new location or market.</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Opening a franchise of a popular fast-food chain like </a:t>
            </a:r>
            <a:r>
              <a:rPr lang="en-US" b="1" i="0" dirty="0">
                <a:solidFill>
                  <a:srgbClr val="404040"/>
                </a:solidFill>
                <a:effectLst/>
                <a:latin typeface="Inter"/>
              </a:rPr>
              <a:t>McDonald’s</a:t>
            </a:r>
            <a:r>
              <a:rPr lang="en-US" b="0" i="0" dirty="0">
                <a:solidFill>
                  <a:srgbClr val="404040"/>
                </a:solidFill>
                <a:effectLst/>
                <a:latin typeface="Inter"/>
              </a:rPr>
              <a:t> or </a:t>
            </a:r>
            <a:r>
              <a:rPr lang="en-US" b="1" i="0" dirty="0">
                <a:solidFill>
                  <a:srgbClr val="404040"/>
                </a:solidFill>
                <a:effectLst/>
                <a:latin typeface="Inter"/>
              </a:rPr>
              <a:t>Subway</a:t>
            </a:r>
            <a:r>
              <a:rPr lang="en-US" b="0" i="0" dirty="0">
                <a:solidFill>
                  <a:srgbClr val="404040"/>
                </a:solidFill>
                <a:effectLst/>
                <a:latin typeface="Inter"/>
              </a:rPr>
              <a:t>.</a:t>
            </a:r>
          </a:p>
          <a:p>
            <a:endParaRPr lang="en-CA" dirty="0"/>
          </a:p>
        </p:txBody>
      </p:sp>
    </p:spTree>
    <p:extLst>
      <p:ext uri="{BB962C8B-B14F-4D97-AF65-F5344CB8AC3E}">
        <p14:creationId xmlns:p14="http://schemas.microsoft.com/office/powerpoint/2010/main" val="4212505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F22C1-6F23-2B0C-42AD-876905F8A73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F2F5D82-B8C4-626A-61AF-DA7A8E994D9A}"/>
              </a:ext>
            </a:extLst>
          </p:cNvPr>
          <p:cNvSpPr>
            <a:spLocks noGrp="1"/>
          </p:cNvSpPr>
          <p:nvPr>
            <p:ph idx="1"/>
          </p:nvPr>
        </p:nvSpPr>
        <p:spPr/>
        <p:txBody>
          <a:bodyPr/>
          <a:lstStyle/>
          <a:p>
            <a:pPr algn="l">
              <a:buNone/>
            </a:pPr>
            <a:r>
              <a:rPr lang="en-US" b="1" i="0" dirty="0">
                <a:solidFill>
                  <a:srgbClr val="404040"/>
                </a:solidFill>
                <a:effectLst/>
                <a:latin typeface="Inter"/>
              </a:rPr>
              <a:t> Global Inspiration</a:t>
            </a:r>
          </a:p>
          <a:p>
            <a:pPr algn="l">
              <a:buFont typeface="Arial" panose="020B0604020202020204" pitchFamily="34" charset="0"/>
              <a:buChar char="•"/>
            </a:pPr>
            <a:r>
              <a:rPr lang="en-US" b="0" i="0" dirty="0">
                <a:solidFill>
                  <a:srgbClr val="404040"/>
                </a:solidFill>
                <a:effectLst/>
                <a:latin typeface="Inter"/>
              </a:rPr>
              <a:t>Adapting successful ideas from other countries or cultures to your local market.</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Bringing a popular international food trend to your region.</a:t>
            </a:r>
          </a:p>
          <a:p>
            <a:endParaRPr lang="en-CA" dirty="0"/>
          </a:p>
        </p:txBody>
      </p:sp>
    </p:spTree>
    <p:extLst>
      <p:ext uri="{BB962C8B-B14F-4D97-AF65-F5344CB8AC3E}">
        <p14:creationId xmlns:p14="http://schemas.microsoft.com/office/powerpoint/2010/main" val="6184791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E948-4E75-19D0-120D-3C0297F1733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4DD4B7F-C124-988E-DB26-F163EBA2E3A7}"/>
              </a:ext>
            </a:extLst>
          </p:cNvPr>
          <p:cNvSpPr>
            <a:spLocks noGrp="1"/>
          </p:cNvSpPr>
          <p:nvPr>
            <p:ph idx="1"/>
          </p:nvPr>
        </p:nvSpPr>
        <p:spPr/>
        <p:txBody>
          <a:bodyPr/>
          <a:lstStyle/>
          <a:p>
            <a:pPr algn="l">
              <a:buNone/>
            </a:pPr>
            <a:r>
              <a:rPr lang="en-US" b="1" i="0" dirty="0">
                <a:solidFill>
                  <a:srgbClr val="404040"/>
                </a:solidFill>
                <a:effectLst/>
                <a:latin typeface="Inter"/>
              </a:rPr>
              <a:t>Academic and Scientific Research</a:t>
            </a:r>
          </a:p>
          <a:p>
            <a:pPr algn="l">
              <a:buFont typeface="Arial" panose="020B0604020202020204" pitchFamily="34" charset="0"/>
              <a:buChar char="•"/>
            </a:pPr>
            <a:r>
              <a:rPr lang="en-US" b="0" i="0" dirty="0">
                <a:solidFill>
                  <a:srgbClr val="404040"/>
                </a:solidFill>
                <a:effectLst/>
                <a:latin typeface="Inter"/>
              </a:rPr>
              <a:t>Translating research findings into practical, marketable solutions.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Biotech companies commercializing breakthroughs in medical research.</a:t>
            </a:r>
          </a:p>
          <a:p>
            <a:endParaRPr lang="en-CA" dirty="0"/>
          </a:p>
        </p:txBody>
      </p:sp>
    </p:spTree>
    <p:extLst>
      <p:ext uri="{BB962C8B-B14F-4D97-AF65-F5344CB8AC3E}">
        <p14:creationId xmlns:p14="http://schemas.microsoft.com/office/powerpoint/2010/main" val="20035746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108AC-F753-2AF1-B458-E3A9255AB98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6A30374-DC4F-1E74-FD82-FB98177ABFB8}"/>
              </a:ext>
            </a:extLst>
          </p:cNvPr>
          <p:cNvSpPr>
            <a:spLocks noGrp="1"/>
          </p:cNvSpPr>
          <p:nvPr>
            <p:ph idx="1"/>
          </p:nvPr>
        </p:nvSpPr>
        <p:spPr/>
        <p:txBody>
          <a:bodyPr/>
          <a:lstStyle/>
          <a:p>
            <a:pPr algn="l">
              <a:buNone/>
            </a:pPr>
            <a:r>
              <a:rPr lang="en-US" b="1" i="0" dirty="0">
                <a:solidFill>
                  <a:srgbClr val="404040"/>
                </a:solidFill>
                <a:effectLst/>
                <a:latin typeface="Inter"/>
              </a:rPr>
              <a:t>Economic Downturns or Crises</a:t>
            </a:r>
          </a:p>
          <a:p>
            <a:pPr algn="l">
              <a:buFont typeface="Arial" panose="020B0604020202020204" pitchFamily="34" charset="0"/>
              <a:buChar char="•"/>
            </a:pPr>
            <a:r>
              <a:rPr lang="en-US" b="0" i="0" dirty="0">
                <a:solidFill>
                  <a:srgbClr val="404040"/>
                </a:solidFill>
                <a:effectLst/>
                <a:latin typeface="Inter"/>
              </a:rPr>
              <a:t>Challenges like recessions or pandemics can create new opportunities.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The COVID-19 pandemic led to a surge in demand for remote work tools like </a:t>
            </a:r>
            <a:r>
              <a:rPr lang="en-US" b="1" i="0" dirty="0">
                <a:solidFill>
                  <a:srgbClr val="404040"/>
                </a:solidFill>
                <a:effectLst/>
                <a:latin typeface="Inter"/>
              </a:rPr>
              <a:t>Zoom</a:t>
            </a:r>
            <a:r>
              <a:rPr lang="en-US" b="0" i="0" dirty="0">
                <a:solidFill>
                  <a:srgbClr val="404040"/>
                </a:solidFill>
                <a:effectLst/>
                <a:latin typeface="Inter"/>
              </a:rPr>
              <a:t> and </a:t>
            </a:r>
            <a:r>
              <a:rPr lang="en-US" b="1" i="0" dirty="0">
                <a:solidFill>
                  <a:srgbClr val="404040"/>
                </a:solidFill>
                <a:effectLst/>
                <a:latin typeface="Inter"/>
              </a:rPr>
              <a:t>Microsoft Teams</a:t>
            </a:r>
            <a:r>
              <a:rPr lang="en-US" b="0" i="0" dirty="0">
                <a:solidFill>
                  <a:srgbClr val="404040"/>
                </a:solidFill>
                <a:effectLst/>
                <a:latin typeface="Inter"/>
              </a:rPr>
              <a:t>.</a:t>
            </a:r>
          </a:p>
          <a:p>
            <a:endParaRPr lang="en-CA" dirty="0"/>
          </a:p>
        </p:txBody>
      </p:sp>
    </p:spTree>
    <p:extLst>
      <p:ext uri="{BB962C8B-B14F-4D97-AF65-F5344CB8AC3E}">
        <p14:creationId xmlns:p14="http://schemas.microsoft.com/office/powerpoint/2010/main" val="33072020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0B0C-2DD8-7E6F-EE95-35DF115DBA9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34B5AF2-203E-D96D-FAC8-6175C1D5ECD7}"/>
              </a:ext>
            </a:extLst>
          </p:cNvPr>
          <p:cNvSpPr>
            <a:spLocks noGrp="1"/>
          </p:cNvSpPr>
          <p:nvPr>
            <p:ph idx="1"/>
          </p:nvPr>
        </p:nvSpPr>
        <p:spPr/>
        <p:txBody>
          <a:bodyPr/>
          <a:lstStyle/>
          <a:p>
            <a:r>
              <a:rPr lang="en-US" b="0" i="0" dirty="0">
                <a:solidFill>
                  <a:srgbClr val="404040"/>
                </a:solidFill>
                <a:effectLst/>
                <a:latin typeface="Inter"/>
              </a:rPr>
              <a:t>New business ideas can come from anywhere—personal experiences, market gaps, technological advances, or even accidental discoveries. The key is to stay observant, curious, and open to opportunities. By identifying problems and developing innovative solutions, entrepreneurs can turn ideas into successful ventures.</a:t>
            </a:r>
            <a:endParaRPr lang="en-CA" dirty="0"/>
          </a:p>
        </p:txBody>
      </p:sp>
    </p:spTree>
    <p:extLst>
      <p:ext uri="{BB962C8B-B14F-4D97-AF65-F5344CB8AC3E}">
        <p14:creationId xmlns:p14="http://schemas.microsoft.com/office/powerpoint/2010/main" val="1443037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325B1-44E2-7C7A-7DB0-CAB9C4261B6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E32CEE1-821E-FABE-87D1-D97F76869EC6}"/>
              </a:ext>
            </a:extLst>
          </p:cNvPr>
          <p:cNvSpPr>
            <a:spLocks noGrp="1"/>
          </p:cNvSpPr>
          <p:nvPr>
            <p:ph idx="1"/>
          </p:nvPr>
        </p:nvSpPr>
        <p:spPr/>
        <p:txBody>
          <a:bodyPr>
            <a:normAutofit fontScale="92500" lnSpcReduction="20000"/>
          </a:bodyPr>
          <a:lstStyle/>
          <a:p>
            <a:pPr algn="l">
              <a:lnSpc>
                <a:spcPts val="2250"/>
              </a:lnSpc>
              <a:spcBef>
                <a:spcPts val="2400"/>
              </a:spcBef>
              <a:spcAft>
                <a:spcPts val="1200"/>
              </a:spcAft>
              <a:buNone/>
            </a:pPr>
            <a:r>
              <a:rPr lang="en-US" b="1" dirty="0">
                <a:solidFill>
                  <a:srgbClr val="0F1115"/>
                </a:solidFill>
                <a:effectLst/>
                <a:latin typeface="quote-cjk-patch"/>
              </a:rPr>
              <a:t>What is a Value Proposition?</a:t>
            </a:r>
          </a:p>
          <a:p>
            <a:pPr algn="l">
              <a:spcBef>
                <a:spcPts val="1200"/>
              </a:spcBef>
              <a:spcAft>
                <a:spcPts val="1200"/>
              </a:spcAft>
              <a:buNone/>
            </a:pPr>
            <a:r>
              <a:rPr lang="en-US" b="0" i="0" dirty="0">
                <a:solidFill>
                  <a:srgbClr val="0F1115"/>
                </a:solidFill>
                <a:effectLst/>
                <a:latin typeface="quote-cjk-patch"/>
              </a:rPr>
              <a:t>A </a:t>
            </a:r>
            <a:r>
              <a:rPr lang="en-US" b="1" i="0" dirty="0">
                <a:solidFill>
                  <a:srgbClr val="0F1115"/>
                </a:solidFill>
                <a:effectLst/>
                <a:latin typeface="quote-cjk-patch"/>
              </a:rPr>
              <a:t>Value Proposition</a:t>
            </a:r>
            <a:r>
              <a:rPr lang="en-US" b="0" i="0" dirty="0">
                <a:solidFill>
                  <a:srgbClr val="0F1115"/>
                </a:solidFill>
                <a:effectLst/>
                <a:latin typeface="quote-cjk-patch"/>
              </a:rPr>
              <a:t> is a clear, convincing statement that explains:</a:t>
            </a:r>
          </a:p>
          <a:p>
            <a:pPr algn="l">
              <a:spcBef>
                <a:spcPts val="1200"/>
              </a:spcBef>
              <a:spcAft>
                <a:spcPts val="1200"/>
              </a:spcAft>
              <a:buFont typeface="Arial" panose="020B0604020202020204" pitchFamily="34" charset="0"/>
              <a:buChar char="•"/>
            </a:pPr>
            <a:r>
              <a:rPr lang="en-US" b="1" i="0" dirty="0">
                <a:solidFill>
                  <a:srgbClr val="0F1115"/>
                </a:solidFill>
                <a:effectLst/>
                <a:latin typeface="quote-cjk-patch"/>
              </a:rPr>
              <a:t>How your product or service solves a customer's problem.</a:t>
            </a:r>
            <a:endParaRPr lang="en-US" b="0" i="0" dirty="0">
              <a:solidFill>
                <a:srgbClr val="0F1115"/>
              </a:solidFill>
              <a:effectLst/>
              <a:latin typeface="quote-cjk-patch"/>
            </a:endParaRP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What specific benefits they can expect.</a:t>
            </a:r>
            <a:endParaRPr lang="en-US" b="0" i="0" dirty="0">
              <a:solidFill>
                <a:srgbClr val="0F1115"/>
              </a:solidFill>
              <a:effectLst/>
              <a:latin typeface="quote-cjk-patch"/>
            </a:endParaRP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Why they should buy from you and not from a competitor.</a:t>
            </a:r>
            <a:endParaRPr lang="en-US" b="0" i="0" dirty="0">
              <a:solidFill>
                <a:srgbClr val="0F1115"/>
              </a:solidFill>
              <a:effectLst/>
              <a:latin typeface="quote-cjk-patch"/>
            </a:endParaRPr>
          </a:p>
          <a:p>
            <a:pPr algn="l">
              <a:spcBef>
                <a:spcPts val="1200"/>
              </a:spcBef>
              <a:spcAft>
                <a:spcPts val="1200"/>
              </a:spcAft>
              <a:buNone/>
            </a:pPr>
            <a:r>
              <a:rPr lang="en-US" b="0" i="0" dirty="0">
                <a:solidFill>
                  <a:srgbClr val="0F1115"/>
                </a:solidFill>
                <a:effectLst/>
                <a:latin typeface="quote-cjk-patch"/>
              </a:rPr>
              <a:t>It is the primary reason a potential customer chooses one brand over another.</a:t>
            </a:r>
          </a:p>
          <a:p>
            <a:pPr>
              <a:buNone/>
            </a:pPr>
            <a:br>
              <a:rPr lang="en-US" dirty="0"/>
            </a:br>
            <a:endParaRPr lang="en-CA" dirty="0"/>
          </a:p>
        </p:txBody>
      </p:sp>
    </p:spTree>
    <p:extLst>
      <p:ext uri="{BB962C8B-B14F-4D97-AF65-F5344CB8AC3E}">
        <p14:creationId xmlns:p14="http://schemas.microsoft.com/office/powerpoint/2010/main" val="7805789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038FC-F4A2-44C0-D869-A9E6B74A09D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FD1475A-81CC-9081-7248-77B26A589179}"/>
              </a:ext>
            </a:extLst>
          </p:cNvPr>
          <p:cNvSpPr>
            <a:spLocks noGrp="1"/>
          </p:cNvSpPr>
          <p:nvPr>
            <p:ph idx="1"/>
          </p:nvPr>
        </p:nvSpPr>
        <p:spPr/>
        <p:txBody>
          <a:bodyPr>
            <a:normAutofit fontScale="85000" lnSpcReduction="10000"/>
          </a:bodyPr>
          <a:lstStyle/>
          <a:p>
            <a:pPr algn="l">
              <a:lnSpc>
                <a:spcPts val="2250"/>
              </a:lnSpc>
              <a:spcBef>
                <a:spcPts val="2400"/>
              </a:spcBef>
              <a:spcAft>
                <a:spcPts val="1200"/>
              </a:spcAft>
              <a:buNone/>
            </a:pPr>
            <a:r>
              <a:rPr lang="en-US" b="1" dirty="0">
                <a:solidFill>
                  <a:srgbClr val="0F1115"/>
                </a:solidFill>
                <a:effectLst/>
                <a:latin typeface="quote-cjk-patch"/>
              </a:rPr>
              <a:t>Examples Based on the Nepali Context You Provided:</a:t>
            </a:r>
          </a:p>
          <a:p>
            <a:pPr algn="l">
              <a:spcBef>
                <a:spcPts val="1200"/>
              </a:spcBef>
              <a:spcAft>
                <a:spcPts val="600"/>
              </a:spcAft>
              <a:buFont typeface="+mj-lt"/>
              <a:buAutoNum type="arabicPeriod"/>
            </a:pPr>
            <a:r>
              <a:rPr lang="en-US" b="1" i="0" dirty="0" err="1">
                <a:solidFill>
                  <a:srgbClr val="0F1115"/>
                </a:solidFill>
                <a:effectLst/>
                <a:latin typeface="quote-cjk-patch"/>
              </a:rPr>
              <a:t>eSewa</a:t>
            </a:r>
            <a:r>
              <a:rPr lang="en-US" b="1" i="0" dirty="0">
                <a:solidFill>
                  <a:srgbClr val="0F1115"/>
                </a:solidFill>
                <a:effectLst/>
                <a:latin typeface="quote-cjk-patch"/>
              </a:rPr>
              <a:t> (Digital Wallet &amp; Payment Service)</a:t>
            </a:r>
            <a:endParaRPr lang="en-US" b="0" i="0" dirty="0">
              <a:solidFill>
                <a:srgbClr val="0F1115"/>
              </a:solidFill>
              <a:effectLst/>
              <a:latin typeface="quote-cjk-patch"/>
            </a:endParaRPr>
          </a:p>
          <a:p>
            <a:pPr marL="742950" lvl="1" indent="-285750" algn="l">
              <a:spcBef>
                <a:spcPts val="300"/>
              </a:spcBef>
              <a:spcAft>
                <a:spcPts val="1200"/>
              </a:spcAft>
              <a:buFont typeface="+mj-lt"/>
              <a:buAutoNum type="arabicPeriod"/>
            </a:pPr>
            <a:r>
              <a:rPr lang="en-US" b="1" i="0" dirty="0">
                <a:solidFill>
                  <a:srgbClr val="0F1115"/>
                </a:solidFill>
                <a:effectLst/>
                <a:latin typeface="quote-cjk-patch"/>
              </a:rPr>
              <a:t>Value Proposition:</a:t>
            </a:r>
            <a:r>
              <a:rPr lang="en-US" b="0" i="0" dirty="0">
                <a:solidFill>
                  <a:srgbClr val="0F1115"/>
                </a:solidFill>
                <a:effectLst/>
                <a:latin typeface="quote-cjk-patch"/>
              </a:rPr>
              <a:t> "Pay all your bills (electricity, water, internet) in one place, directly from your phone. </a:t>
            </a:r>
            <a:r>
              <a:rPr lang="en-US" b="1" i="0" dirty="0">
                <a:solidFill>
                  <a:srgbClr val="0F1115"/>
                </a:solidFill>
                <a:effectLst/>
                <a:latin typeface="quote-cjk-patch"/>
              </a:rPr>
              <a:t>Save time and avoid the hassle</a:t>
            </a:r>
            <a:r>
              <a:rPr lang="en-US" b="0" i="0" dirty="0">
                <a:solidFill>
                  <a:srgbClr val="0F1115"/>
                </a:solidFill>
                <a:effectLst/>
                <a:latin typeface="quote-cjk-patch"/>
              </a:rPr>
              <a:t> of standing in long queues."</a:t>
            </a:r>
          </a:p>
          <a:p>
            <a:pPr marL="742950" lvl="1" indent="-285750" algn="l">
              <a:spcBef>
                <a:spcPts val="450"/>
              </a:spcBef>
              <a:spcAft>
                <a:spcPts val="1200"/>
              </a:spcAft>
              <a:buFont typeface="+mj-lt"/>
              <a:buAutoNum type="arabicPeriod"/>
            </a:pPr>
            <a:r>
              <a:rPr lang="en-US" b="0" i="1" dirty="0">
                <a:solidFill>
                  <a:srgbClr val="0F1115"/>
                </a:solidFill>
                <a:effectLst/>
                <a:latin typeface="quote-cjk-patch"/>
              </a:rPr>
              <a:t>This is relevant (solves bill payment problems), quantifies value (saves time), and is differentiated (all-in-one platform).</a:t>
            </a:r>
            <a:endParaRPr lang="en-US" b="0" i="0" dirty="0">
              <a:solidFill>
                <a:srgbClr val="0F1115"/>
              </a:solidFill>
              <a:effectLst/>
              <a:latin typeface="quote-cjk-patch"/>
            </a:endParaRPr>
          </a:p>
          <a:p>
            <a:pPr algn="l">
              <a:spcBef>
                <a:spcPts val="450"/>
              </a:spcBef>
              <a:spcAft>
                <a:spcPts val="600"/>
              </a:spcAft>
              <a:buFont typeface="+mj-lt"/>
              <a:buAutoNum type="arabicPeriod"/>
            </a:pPr>
            <a:r>
              <a:rPr lang="en-US" b="1" i="0" dirty="0" err="1">
                <a:solidFill>
                  <a:srgbClr val="0F1115"/>
                </a:solidFill>
                <a:effectLst/>
                <a:latin typeface="quote-cjk-patch"/>
              </a:rPr>
              <a:t>Daraz</a:t>
            </a:r>
            <a:r>
              <a:rPr lang="en-US" b="1" i="0" dirty="0">
                <a:solidFill>
                  <a:srgbClr val="0F1115"/>
                </a:solidFill>
                <a:effectLst/>
                <a:latin typeface="quote-cjk-patch"/>
              </a:rPr>
              <a:t> (E-commerce Platform)</a:t>
            </a:r>
            <a:endParaRPr lang="en-US" b="0" i="0" dirty="0">
              <a:solidFill>
                <a:srgbClr val="0F1115"/>
              </a:solidFill>
              <a:effectLst/>
              <a:latin typeface="quote-cjk-patch"/>
            </a:endParaRPr>
          </a:p>
          <a:p>
            <a:pPr marL="742950" lvl="1" indent="-285750" algn="l">
              <a:spcBef>
                <a:spcPts val="300"/>
              </a:spcBef>
              <a:spcAft>
                <a:spcPts val="1200"/>
              </a:spcAft>
              <a:buFont typeface="+mj-lt"/>
              <a:buAutoNum type="arabicPeriod"/>
            </a:pPr>
            <a:r>
              <a:rPr lang="en-US" b="1" i="0" dirty="0">
                <a:solidFill>
                  <a:srgbClr val="0F1115"/>
                </a:solidFill>
                <a:effectLst/>
                <a:latin typeface="quote-cjk-patch"/>
              </a:rPr>
              <a:t>Value Proposition:</a:t>
            </a:r>
            <a:r>
              <a:rPr lang="en-US" b="0" i="0" dirty="0">
                <a:solidFill>
                  <a:srgbClr val="0F1115"/>
                </a:solidFill>
                <a:effectLst/>
                <a:latin typeface="quote-cjk-patch"/>
              </a:rPr>
              <a:t> "Shop online for thousands of products with </a:t>
            </a:r>
            <a:r>
              <a:rPr lang="en-US" b="1" i="0" dirty="0">
                <a:solidFill>
                  <a:srgbClr val="0F1115"/>
                </a:solidFill>
                <a:effectLst/>
                <a:latin typeface="quote-cjk-patch"/>
              </a:rPr>
              <a:t>Cash on Delivery</a:t>
            </a:r>
            <a:r>
              <a:rPr lang="en-US" b="0" i="0" dirty="0">
                <a:solidFill>
                  <a:srgbClr val="0F1115"/>
                </a:solidFill>
                <a:effectLst/>
                <a:latin typeface="quote-cjk-patch"/>
              </a:rPr>
              <a:t>. Enjoy a </a:t>
            </a:r>
            <a:r>
              <a:rPr lang="en-US" b="1" i="0" dirty="0">
                <a:solidFill>
                  <a:srgbClr val="0F1115"/>
                </a:solidFill>
                <a:effectLst/>
                <a:latin typeface="quote-cjk-patch"/>
              </a:rPr>
              <a:t>risk-free and convenient</a:t>
            </a:r>
            <a:r>
              <a:rPr lang="en-US" b="0" i="0" dirty="0">
                <a:solidFill>
                  <a:srgbClr val="0F1115"/>
                </a:solidFill>
                <a:effectLst/>
                <a:latin typeface="quote-cjk-patch"/>
              </a:rPr>
              <a:t> shopping experience from the comfort of your home."</a:t>
            </a:r>
          </a:p>
          <a:p>
            <a:pPr marL="742950" lvl="1" indent="-285750" algn="l">
              <a:spcBef>
                <a:spcPts val="450"/>
              </a:spcBef>
              <a:spcAft>
                <a:spcPts val="1200"/>
              </a:spcAft>
              <a:buFont typeface="+mj-lt"/>
              <a:buAutoNum type="arabicPeriod"/>
            </a:pPr>
            <a:r>
              <a:rPr lang="en-US" b="0" i="1" dirty="0">
                <a:solidFill>
                  <a:srgbClr val="0F1115"/>
                </a:solidFill>
                <a:effectLst/>
                <a:latin typeface="quote-cjk-patch"/>
              </a:rPr>
              <a:t>This is relevant (safe online shopping), quantifies value (convenience, risk-free), and is differentiated (Cash on Delivery).</a:t>
            </a:r>
            <a:endParaRPr lang="en-US" b="0" i="0" dirty="0">
              <a:solidFill>
                <a:srgbClr val="0F1115"/>
              </a:solidFill>
              <a:effectLst/>
              <a:latin typeface="quote-cjk-patch"/>
            </a:endParaRPr>
          </a:p>
          <a:p>
            <a:endParaRPr lang="en-CA" dirty="0"/>
          </a:p>
        </p:txBody>
      </p:sp>
    </p:spTree>
    <p:extLst>
      <p:ext uri="{BB962C8B-B14F-4D97-AF65-F5344CB8AC3E}">
        <p14:creationId xmlns:p14="http://schemas.microsoft.com/office/powerpoint/2010/main" val="8766459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CF754-921D-4E94-C2E5-5F67A021E7E3}"/>
              </a:ext>
            </a:extLst>
          </p:cNvPr>
          <p:cNvSpPr>
            <a:spLocks noGrp="1"/>
          </p:cNvSpPr>
          <p:nvPr>
            <p:ph type="title"/>
          </p:nvPr>
        </p:nvSpPr>
        <p:spPr>
          <a:xfrm>
            <a:off x="838200" y="365125"/>
            <a:ext cx="10515600" cy="1207643"/>
          </a:xfrm>
        </p:spPr>
        <p:txBody>
          <a:bodyPr/>
          <a:lstStyle/>
          <a:p>
            <a:r>
              <a:rPr lang="en-US" dirty="0"/>
              <a:t> MVP</a:t>
            </a:r>
            <a:endParaRPr lang="en-CA" dirty="0"/>
          </a:p>
        </p:txBody>
      </p:sp>
      <p:sp>
        <p:nvSpPr>
          <p:cNvPr id="3" name="Content Placeholder 2">
            <a:extLst>
              <a:ext uri="{FF2B5EF4-FFF2-40B4-BE49-F238E27FC236}">
                <a16:creationId xmlns:a16="http://schemas.microsoft.com/office/drawing/2014/main" id="{EBBED5CF-EB8E-27EC-8BEF-D8EDFA760D4C}"/>
              </a:ext>
            </a:extLst>
          </p:cNvPr>
          <p:cNvSpPr>
            <a:spLocks noGrp="1"/>
          </p:cNvSpPr>
          <p:nvPr>
            <p:ph idx="1"/>
          </p:nvPr>
        </p:nvSpPr>
        <p:spPr>
          <a:xfrm>
            <a:off x="838200" y="1280160"/>
            <a:ext cx="10515600" cy="4896803"/>
          </a:xfrm>
        </p:spPr>
        <p:txBody>
          <a:bodyPr>
            <a:normAutofit/>
          </a:bodyPr>
          <a:lstStyle/>
          <a:p>
            <a:r>
              <a:rPr lang="en-US" b="1" dirty="0"/>
              <a:t>MVP (Minimum Viable Product) in Entrepreneurship</a:t>
            </a:r>
          </a:p>
          <a:p>
            <a:pPr algn="just"/>
            <a:r>
              <a:rPr lang="en-US" b="0" i="0" dirty="0">
                <a:solidFill>
                  <a:srgbClr val="001D35"/>
                </a:solidFill>
                <a:effectLst/>
                <a:latin typeface="Google Sans"/>
              </a:rPr>
              <a:t>A minimum viable product (MVP) is the simplest version of a product with just enough features to be useful for early customers and to gather their feedback. It is a strategic approach to product development that allows companies to test their core idea, learn from real users, and build a more complete product based on validated learning with minimal initial effort and time.</a:t>
            </a:r>
            <a:endParaRPr lang="en-CA" dirty="0"/>
          </a:p>
        </p:txBody>
      </p:sp>
    </p:spTree>
    <p:extLst>
      <p:ext uri="{BB962C8B-B14F-4D97-AF65-F5344CB8AC3E}">
        <p14:creationId xmlns:p14="http://schemas.microsoft.com/office/powerpoint/2010/main" val="11254140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A5FE2-0745-385A-1CE9-66978087446E}"/>
              </a:ext>
            </a:extLst>
          </p:cNvPr>
          <p:cNvSpPr>
            <a:spLocks noGrp="1"/>
          </p:cNvSpPr>
          <p:nvPr>
            <p:ph type="title"/>
          </p:nvPr>
        </p:nvSpPr>
        <p:spPr>
          <a:xfrm>
            <a:off x="838200" y="886968"/>
            <a:ext cx="10515600" cy="803720"/>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Key components and characteristics</a:t>
            </a:r>
            <a:b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D7892C81-2B3C-334A-7AC2-8EE911192EC5}"/>
              </a:ext>
            </a:extLst>
          </p:cNvPr>
          <p:cNvSpPr>
            <a:spLocks noGrp="1"/>
          </p:cNvSpPr>
          <p:nvPr>
            <p:ph idx="1"/>
          </p:nvPr>
        </p:nvSpPr>
        <p:spPr>
          <a:xfrm>
            <a:off x="838200" y="1399032"/>
            <a:ext cx="10515600" cy="4787075"/>
          </a:xfrm>
        </p:spPr>
        <p:txBody>
          <a:bodyPr>
            <a:normAutofit lnSpcReduction="10000"/>
          </a:bodyPr>
          <a:lstStyle/>
          <a:p>
            <a:r>
              <a:rPr lang="en-US" dirty="0"/>
              <a:t>Minimal features: An MVP includes only the core functionality needed to solve a specific user problem and be viable, leaving advanced features for later development.</a:t>
            </a:r>
          </a:p>
          <a:p>
            <a:r>
              <a:rPr lang="en-US" dirty="0"/>
              <a:t>Usable: It must be simple enough for customers to understand and use without frustration.</a:t>
            </a:r>
          </a:p>
          <a:p>
            <a:r>
              <a:rPr lang="en-US" dirty="0"/>
              <a:t>Valuable: It must provide enough value to make users want to try it and provide feedback.</a:t>
            </a:r>
          </a:p>
          <a:p>
            <a:r>
              <a:rPr lang="en-US" dirty="0"/>
              <a:t>Feasible: It should be achievable within a reasonable timeframe and budget.</a:t>
            </a:r>
          </a:p>
          <a:p>
            <a:r>
              <a:rPr lang="en-US" dirty="0"/>
              <a:t>Feedback loop: An MVP includes a mechanism for collecting user feedback, such as surveys, analytics, or direct testing, to guide future improvements. </a:t>
            </a:r>
            <a:endParaRPr lang="en-CA" dirty="0"/>
          </a:p>
        </p:txBody>
      </p:sp>
    </p:spTree>
    <p:extLst>
      <p:ext uri="{BB962C8B-B14F-4D97-AF65-F5344CB8AC3E}">
        <p14:creationId xmlns:p14="http://schemas.microsoft.com/office/powerpoint/2010/main" val="29045256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E9EA0-03E0-03D9-E79C-71A1DA3A8524}"/>
              </a:ext>
            </a:extLst>
          </p:cNvPr>
          <p:cNvSpPr>
            <a:spLocks noGrp="1"/>
          </p:cNvSpPr>
          <p:nvPr>
            <p:ph type="title"/>
          </p:nvPr>
        </p:nvSpPr>
        <p:spPr>
          <a:xfrm>
            <a:off x="838200" y="365126"/>
            <a:ext cx="10515600" cy="7378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AB24A8C-FF46-C1AA-A1EF-72DE177FBE1B}"/>
              </a:ext>
            </a:extLst>
          </p:cNvPr>
          <p:cNvSpPr>
            <a:spLocks noGrp="1"/>
          </p:cNvSpPr>
          <p:nvPr>
            <p:ph idx="1"/>
          </p:nvPr>
        </p:nvSpPr>
        <p:spPr>
          <a:xfrm>
            <a:off x="466344" y="685800"/>
            <a:ext cx="11457432" cy="6172200"/>
          </a:xfrm>
        </p:spPr>
        <p:txBody>
          <a:bodyPr>
            <a:normAutofit fontScale="62500" lnSpcReduction="20000"/>
          </a:bodyPr>
          <a:lstStyle/>
          <a:p>
            <a:r>
              <a:rPr lang="en-US" b="1" dirty="0"/>
              <a:t>MVP</a:t>
            </a:r>
            <a:r>
              <a:rPr lang="en-US" dirty="0"/>
              <a:t> stands for </a:t>
            </a:r>
            <a:r>
              <a:rPr lang="en-US" b="1" dirty="0"/>
              <a:t>Minimum Viable Product</a:t>
            </a:r>
            <a:r>
              <a:rPr lang="en-US" dirty="0"/>
              <a:t>.</a:t>
            </a:r>
          </a:p>
          <a:p>
            <a:r>
              <a:rPr lang="en-US" dirty="0"/>
              <a:t>It is a concept used in business, startups, and product development.</a:t>
            </a:r>
          </a:p>
          <a:p>
            <a:r>
              <a:rPr lang="en-US" b="1" dirty="0"/>
              <a:t>Meaning of MVP:</a:t>
            </a:r>
          </a:p>
          <a:p>
            <a:r>
              <a:rPr lang="en-US" b="1" dirty="0"/>
              <a:t>MVP is the simplest version of a product</a:t>
            </a:r>
            <a:r>
              <a:rPr lang="en-US" dirty="0"/>
              <a:t> that has just enough features to satisfy early users and gather feedback.</a:t>
            </a:r>
            <a:br>
              <a:rPr lang="en-US" dirty="0"/>
            </a:br>
            <a:r>
              <a:rPr lang="en-US" dirty="0"/>
              <a:t>It is not the final product—it is the </a:t>
            </a:r>
            <a:r>
              <a:rPr lang="en-US" b="1" dirty="0"/>
              <a:t>basic working version</a:t>
            </a:r>
            <a:r>
              <a:rPr lang="en-US" dirty="0"/>
              <a:t> built to test an idea quickly and cheaply.</a:t>
            </a:r>
          </a:p>
          <a:p>
            <a:r>
              <a:rPr lang="en-US" b="1" dirty="0"/>
              <a:t>Key points:</a:t>
            </a:r>
          </a:p>
          <a:p>
            <a:r>
              <a:rPr lang="en-US" b="1" dirty="0"/>
              <a:t>Minimum:</a:t>
            </a:r>
            <a:r>
              <a:rPr lang="en-US" dirty="0"/>
              <a:t> Only essential features are included</a:t>
            </a:r>
          </a:p>
          <a:p>
            <a:r>
              <a:rPr lang="en-US" b="1" dirty="0"/>
              <a:t>Viable:</a:t>
            </a:r>
            <a:r>
              <a:rPr lang="en-US" dirty="0"/>
              <a:t> It works well enough to be used</a:t>
            </a:r>
          </a:p>
          <a:p>
            <a:r>
              <a:rPr lang="en-US" b="1" dirty="0"/>
              <a:t>Product:</a:t>
            </a:r>
            <a:r>
              <a:rPr lang="en-US" dirty="0"/>
              <a:t> A real, usable version—not just an idea</a:t>
            </a:r>
          </a:p>
          <a:p>
            <a:r>
              <a:rPr lang="en-US" b="1" dirty="0"/>
              <a:t>Why MVP is important?</a:t>
            </a:r>
          </a:p>
          <a:p>
            <a:r>
              <a:rPr lang="en-US" dirty="0"/>
              <a:t>Saves </a:t>
            </a:r>
            <a:r>
              <a:rPr lang="en-US" b="1" dirty="0"/>
              <a:t>time and money</a:t>
            </a:r>
            <a:endParaRPr lang="en-US" dirty="0"/>
          </a:p>
          <a:p>
            <a:r>
              <a:rPr lang="en-US" dirty="0"/>
              <a:t>Helps test whether users actually like the idea</a:t>
            </a:r>
          </a:p>
          <a:p>
            <a:r>
              <a:rPr lang="en-US" dirty="0"/>
              <a:t>Provides </a:t>
            </a:r>
            <a:r>
              <a:rPr lang="en-US" b="1" dirty="0"/>
              <a:t>real feedback</a:t>
            </a:r>
            <a:r>
              <a:rPr lang="en-US" dirty="0"/>
              <a:t> for improvement</a:t>
            </a:r>
          </a:p>
          <a:p>
            <a:r>
              <a:rPr lang="en-US" dirty="0"/>
              <a:t>Avoids building features people don’t need</a:t>
            </a:r>
          </a:p>
          <a:p>
            <a:r>
              <a:rPr lang="en-US" dirty="0"/>
              <a:t>Helps a startup </a:t>
            </a:r>
            <a:r>
              <a:rPr lang="en-US" b="1" dirty="0"/>
              <a:t>enter the market faster</a:t>
            </a:r>
            <a:endParaRPr lang="en-US" dirty="0"/>
          </a:p>
          <a:p>
            <a:pPr marL="0" indent="0">
              <a:buNone/>
            </a:pPr>
            <a:r>
              <a:rPr lang="en-US" b="1" dirty="0"/>
              <a:t>Example of an MVP:</a:t>
            </a:r>
          </a:p>
          <a:p>
            <a:r>
              <a:rPr lang="en-US" dirty="0"/>
              <a:t>If you want to create a food delivery app:</a:t>
            </a:r>
          </a:p>
          <a:p>
            <a:r>
              <a:rPr lang="en-US" dirty="0"/>
              <a:t>Final product idea: Notifications, map tracking, wallet, offers, delivery rating, etc.</a:t>
            </a:r>
          </a:p>
          <a:p>
            <a:r>
              <a:rPr lang="en-US" dirty="0"/>
              <a:t>MVP version: Users can browse menu, place an order, and pay. (Only the core features)</a:t>
            </a:r>
          </a:p>
          <a:p>
            <a:endParaRPr lang="en-CA" dirty="0"/>
          </a:p>
        </p:txBody>
      </p:sp>
    </p:spTree>
    <p:extLst>
      <p:ext uri="{BB962C8B-B14F-4D97-AF65-F5344CB8AC3E}">
        <p14:creationId xmlns:p14="http://schemas.microsoft.com/office/powerpoint/2010/main" val="11219863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6B034-5F26-4987-D35E-2EC20EDEA756}"/>
              </a:ext>
            </a:extLst>
          </p:cNvPr>
          <p:cNvSpPr>
            <a:spLocks noGrp="1"/>
          </p:cNvSpPr>
          <p:nvPr>
            <p:ph type="title"/>
          </p:nvPr>
        </p:nvSpPr>
        <p:spPr>
          <a:xfrm>
            <a:off x="838200" y="960120"/>
            <a:ext cx="10515600" cy="730568"/>
          </a:xfrm>
        </p:spPr>
        <p:txBody>
          <a:bodyPr>
            <a:normAutofit fontScale="90000"/>
          </a:bodyPr>
          <a:lstStyle/>
          <a:p>
            <a:r>
              <a:rPr lang="en-CA" dirty="0"/>
              <a:t>Purpose and benefits</a:t>
            </a:r>
            <a:br>
              <a:rPr lang="en-CA" dirty="0"/>
            </a:br>
            <a:endParaRPr lang="en-CA" dirty="0"/>
          </a:p>
        </p:txBody>
      </p:sp>
      <p:sp>
        <p:nvSpPr>
          <p:cNvPr id="3" name="Content Placeholder 2">
            <a:extLst>
              <a:ext uri="{FF2B5EF4-FFF2-40B4-BE49-F238E27FC236}">
                <a16:creationId xmlns:a16="http://schemas.microsoft.com/office/drawing/2014/main" id="{D5B78659-C5E3-6363-CAE1-FD78EECBD41F}"/>
              </a:ext>
            </a:extLst>
          </p:cNvPr>
          <p:cNvSpPr>
            <a:spLocks noGrp="1"/>
          </p:cNvSpPr>
          <p:nvPr>
            <p:ph idx="1"/>
          </p:nvPr>
        </p:nvSpPr>
        <p:spPr/>
        <p:txBody>
          <a:bodyPr>
            <a:normAutofit lnSpcReduction="10000"/>
          </a:bodyPr>
          <a:lstStyle/>
          <a:p>
            <a:r>
              <a:rPr lang="en-US" dirty="0"/>
              <a:t>Test hypotheses: It helps validate a product's core idea and market demand before investing heavily in development. </a:t>
            </a:r>
          </a:p>
          <a:p>
            <a:r>
              <a:rPr lang="en-US" dirty="0"/>
              <a:t>Gather customer feedback: Early and frequent feedback from real users helps make informed decisions about future development. </a:t>
            </a:r>
          </a:p>
          <a:p>
            <a:r>
              <a:rPr lang="en-US" dirty="0"/>
              <a:t>Faster time to market: It allows a product to be introduced to the market much faster than a traditional, fully-featured approach. </a:t>
            </a:r>
          </a:p>
          <a:p>
            <a:r>
              <a:rPr lang="en-US" dirty="0"/>
              <a:t>Minimize waste: It reduces the effort and resources spent on building features that customers may not want. </a:t>
            </a:r>
          </a:p>
          <a:p>
            <a:r>
              <a:rPr lang="en-US" dirty="0"/>
              <a:t>Competitive advantage: Being the first to market with a solution can provide a competitive edge. </a:t>
            </a:r>
            <a:endParaRPr lang="en-CA" dirty="0"/>
          </a:p>
        </p:txBody>
      </p:sp>
    </p:spTree>
    <p:extLst>
      <p:ext uri="{BB962C8B-B14F-4D97-AF65-F5344CB8AC3E}">
        <p14:creationId xmlns:p14="http://schemas.microsoft.com/office/powerpoint/2010/main" val="20347112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28CDD-FFC1-5F76-A7F8-31D9F54A14FB}"/>
              </a:ext>
            </a:extLst>
          </p:cNvPr>
          <p:cNvSpPr>
            <a:spLocks noGrp="1"/>
          </p:cNvSpPr>
          <p:nvPr>
            <p:ph type="title"/>
          </p:nvPr>
        </p:nvSpPr>
        <p:spPr>
          <a:xfrm>
            <a:off x="838200" y="365125"/>
            <a:ext cx="10515600" cy="55841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DB85A0F-9F1E-CC77-D7C3-9C643EF7FD0F}"/>
              </a:ext>
            </a:extLst>
          </p:cNvPr>
          <p:cNvSpPr>
            <a:spLocks noGrp="1"/>
          </p:cNvSpPr>
          <p:nvPr>
            <p:ph idx="1"/>
          </p:nvPr>
        </p:nvSpPr>
        <p:spPr>
          <a:xfrm>
            <a:off x="838200" y="1261872"/>
            <a:ext cx="10515600" cy="4915091"/>
          </a:xfrm>
        </p:spPr>
        <p:txBody>
          <a:bodyPr>
            <a:normAutofit/>
          </a:bodyPr>
          <a:lstStyle/>
          <a:p>
            <a:r>
              <a:rPr lang="en-CA" b="1" dirty="0"/>
              <a:t>COMMON SOURCES OF NEW VENTURE IDEAS</a:t>
            </a:r>
            <a:endParaRPr lang="en-CA" dirty="0"/>
          </a:p>
          <a:p>
            <a:r>
              <a:rPr lang="en-CA" dirty="0"/>
              <a:t>Generating new business ideas is an important component of grabbing new business opportunities in the market. It is more difficult to get good business opportunity in all the time. It comes from an establishment of a system to generate a large number of ideas so that one idea may get an opportunity for a business. It is not possible for anyone to come up with an idea and in the very first instance, convert it into a business opportunity. The entrepreneurial idea of a project or product should be feasible, financially sound, technically possible and socially acceptable and should fulfill utility of prospective customers. The following are the common sources of generating new ideas:</a:t>
            </a:r>
          </a:p>
          <a:p>
            <a:endParaRPr lang="en-CA" dirty="0"/>
          </a:p>
        </p:txBody>
      </p:sp>
    </p:spTree>
    <p:extLst>
      <p:ext uri="{BB962C8B-B14F-4D97-AF65-F5344CB8AC3E}">
        <p14:creationId xmlns:p14="http://schemas.microsoft.com/office/powerpoint/2010/main" val="17600282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FB428-69C9-9D84-CC98-59D252F3DDF4}"/>
              </a:ext>
            </a:extLst>
          </p:cNvPr>
          <p:cNvSpPr>
            <a:spLocks noGrp="1"/>
          </p:cNvSpPr>
          <p:nvPr>
            <p:ph type="title"/>
          </p:nvPr>
        </p:nvSpPr>
        <p:spPr/>
        <p:txBody>
          <a:bodyPr/>
          <a:lstStyle/>
          <a:p>
            <a:r>
              <a:rPr lang="en-US" dirty="0"/>
              <a:t>Sources of idea generation </a:t>
            </a:r>
            <a:endParaRPr lang="en-CA" dirty="0"/>
          </a:p>
        </p:txBody>
      </p:sp>
      <p:sp>
        <p:nvSpPr>
          <p:cNvPr id="3" name="Content Placeholder 2">
            <a:extLst>
              <a:ext uri="{FF2B5EF4-FFF2-40B4-BE49-F238E27FC236}">
                <a16:creationId xmlns:a16="http://schemas.microsoft.com/office/drawing/2014/main" id="{48EE283E-4970-4BB1-F081-838979E8F53B}"/>
              </a:ext>
            </a:extLst>
          </p:cNvPr>
          <p:cNvSpPr>
            <a:spLocks noGrp="1"/>
          </p:cNvSpPr>
          <p:nvPr>
            <p:ph idx="1"/>
          </p:nvPr>
        </p:nvSpPr>
        <p:spPr/>
        <p:txBody>
          <a:bodyPr>
            <a:normAutofit fontScale="85000" lnSpcReduction="20000"/>
          </a:bodyPr>
          <a:lstStyle/>
          <a:p>
            <a:pPr lvl="0"/>
            <a:r>
              <a:rPr lang="en-CA" b="1" dirty="0"/>
              <a:t>Consumers:</a:t>
            </a:r>
            <a:r>
              <a:rPr lang="en-CA" dirty="0"/>
              <a:t> Consumers are said to be the primary source of generating new ideas. Consumers are the source of revenue and no business entity can survive without consumers. However, consumers' want in terms of preferences, tastes, and liking are changing on the basis of changing environment of the society. In research it is found that some potential customers give very good information and suggestion of changing marketing trend. It facilitates entrepreneurs to generate new concept, idea and strategy to promote market.</a:t>
            </a:r>
          </a:p>
          <a:p>
            <a:pPr lvl="0"/>
            <a:r>
              <a:rPr lang="en-CA" b="1" dirty="0"/>
              <a:t>Market study:</a:t>
            </a:r>
            <a:r>
              <a:rPr lang="en-CA" dirty="0"/>
              <a:t> Market study is also an important source of generating new business ideas. Marketing information can be obtained through sales officers, advertising agencies, marketing agencies, dealers, and also through marketing research. Entrepreneurs can get detail information of changing marketing trend through these sources. Such information involves changing needs and expectations of customers, competitors’ strategies, new technology introduced etc. It helps the entrepreneurs to develop new marketing strategies to fulfill business objectives.</a:t>
            </a:r>
          </a:p>
          <a:p>
            <a:endParaRPr lang="en-CA" dirty="0"/>
          </a:p>
        </p:txBody>
      </p:sp>
    </p:spTree>
    <p:extLst>
      <p:ext uri="{BB962C8B-B14F-4D97-AF65-F5344CB8AC3E}">
        <p14:creationId xmlns:p14="http://schemas.microsoft.com/office/powerpoint/2010/main" val="39031187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4241-AAF9-F3BA-BDC2-F7DDCE5909D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9EE0AE6-041B-753C-CBF6-2B158610F0F9}"/>
              </a:ext>
            </a:extLst>
          </p:cNvPr>
          <p:cNvSpPr>
            <a:spLocks noGrp="1"/>
          </p:cNvSpPr>
          <p:nvPr>
            <p:ph idx="1"/>
          </p:nvPr>
        </p:nvSpPr>
        <p:spPr/>
        <p:txBody>
          <a:bodyPr>
            <a:normAutofit fontScale="85000" lnSpcReduction="20000"/>
          </a:bodyPr>
          <a:lstStyle/>
          <a:p>
            <a:pPr lvl="0"/>
            <a:r>
              <a:rPr lang="en-CA" b="1" dirty="0"/>
              <a:t>Distributors and suppliers:</a:t>
            </a:r>
            <a:r>
              <a:rPr lang="en-CA" dirty="0"/>
              <a:t> Distribution channel members such as distributors, suppliers, dealers are said to be the market intermediaries. They serve as a very effective source of generating new business ideas for entrepreneurs. They deal with ultimate consumers and hence they know better about changing wants of consumers. They also provide information of new products introduced by the competitors. Such real feedback of distributors and suppliers forces the entrepreneurs to involve in research and development work to generate new ideas.</a:t>
            </a:r>
          </a:p>
          <a:p>
            <a:pPr lvl="0"/>
            <a:r>
              <a:rPr lang="en-CA" b="1" dirty="0"/>
              <a:t>Competitors:</a:t>
            </a:r>
            <a:r>
              <a:rPr lang="en-CA" dirty="0"/>
              <a:t> In open market economy there is competition in every sector of business. In different situation the competitors introduce new concept, ideas, knowledge and strategies in the market. Such competitors' activities would provide direct and immediate impact on business activities of the entrepreneur. Detail information of competitors' activities facilitates the entrepreneur to know the weaknesses in his products and services. It guides the entrepreneur for involvement of new product development activity.</a:t>
            </a:r>
          </a:p>
          <a:p>
            <a:endParaRPr lang="en-CA" dirty="0"/>
          </a:p>
        </p:txBody>
      </p:sp>
    </p:spTree>
    <p:extLst>
      <p:ext uri="{BB962C8B-B14F-4D97-AF65-F5344CB8AC3E}">
        <p14:creationId xmlns:p14="http://schemas.microsoft.com/office/powerpoint/2010/main" val="31318147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5F68F-4C6F-05C1-EF81-92327732BC2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1AEF14A-A9AD-97E9-088D-3ABE7195700E}"/>
              </a:ext>
            </a:extLst>
          </p:cNvPr>
          <p:cNvSpPr>
            <a:spLocks noGrp="1"/>
          </p:cNvSpPr>
          <p:nvPr>
            <p:ph idx="1"/>
          </p:nvPr>
        </p:nvSpPr>
        <p:spPr/>
        <p:txBody>
          <a:bodyPr>
            <a:normAutofit fontScale="85000" lnSpcReduction="20000"/>
          </a:bodyPr>
          <a:lstStyle/>
          <a:p>
            <a:pPr lvl="0"/>
            <a:r>
              <a:rPr lang="en-CA" b="1" dirty="0"/>
              <a:t>Government:</a:t>
            </a:r>
            <a:r>
              <a:rPr lang="en-CA" dirty="0"/>
              <a:t> In some situation, the government can also be an important source in generating new product ideas. Government is an autonomous and powerful institution and it is responsible for formulation of rules and regulation for the interest of general public and for fair trading activities. Many times, government regulations become key source of new idea generation. Entrepreneurs can develop new business idea by considering opportunities provided by new government rules and regulations.</a:t>
            </a:r>
          </a:p>
          <a:p>
            <a:pPr lvl="0"/>
            <a:r>
              <a:rPr lang="en-CA" b="1" dirty="0"/>
              <a:t>Employees:</a:t>
            </a:r>
            <a:r>
              <a:rPr lang="en-CA" dirty="0"/>
              <a:t> All level of employees from top level to subordinate level of management can be the great source of ideas. All the employees do work through mutual interaction, discussion, support and control to each other. Team work of employees is an important source of generating new ideas. In the course of doing assigned job, employees may face complex problems and issues. They have to solve work related problems through interaction and sharing their knowledge and experience. Continuous interaction of team members and sharing knowledge can help to generate new idea to solve work related problems.</a:t>
            </a:r>
          </a:p>
          <a:p>
            <a:endParaRPr lang="en-CA" dirty="0"/>
          </a:p>
        </p:txBody>
      </p:sp>
    </p:spTree>
    <p:extLst>
      <p:ext uri="{BB962C8B-B14F-4D97-AF65-F5344CB8AC3E}">
        <p14:creationId xmlns:p14="http://schemas.microsoft.com/office/powerpoint/2010/main" val="21890868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950B3-411B-9C21-A62F-EA818BC296E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0D76D85-EC7B-904C-4540-FE2948BF6CCB}"/>
              </a:ext>
            </a:extLst>
          </p:cNvPr>
          <p:cNvSpPr>
            <a:spLocks noGrp="1"/>
          </p:cNvSpPr>
          <p:nvPr>
            <p:ph idx="1"/>
          </p:nvPr>
        </p:nvSpPr>
        <p:spPr/>
        <p:txBody>
          <a:bodyPr>
            <a:normAutofit fontScale="85000" lnSpcReduction="10000"/>
          </a:bodyPr>
          <a:lstStyle/>
          <a:p>
            <a:pPr lvl="0"/>
            <a:r>
              <a:rPr lang="en-CA" b="1" dirty="0"/>
              <a:t>Mass media:</a:t>
            </a:r>
            <a:r>
              <a:rPr lang="en-CA" dirty="0"/>
              <a:t> Mass media is also said to be the source of generating new ideas for grabbing business opportunities. Mass media involves television, newspapers, internet, magazines, radio and social media. A successful entrepreneur is taking a careful vision at the advertisement and business news published in these media. Through careful study business news of newspaper and magazine, a creative entrepreneur can easily come across a business idea. Media also provides latest information of changing new business trend in the market which encourages the entrepreneurs to generate new idea of business.</a:t>
            </a:r>
          </a:p>
          <a:p>
            <a:pPr lvl="0"/>
            <a:r>
              <a:rPr lang="en-CA" b="1" dirty="0"/>
              <a:t>Personal experience:</a:t>
            </a:r>
            <a:r>
              <a:rPr lang="en-CA" dirty="0"/>
              <a:t> Personal experience facilitates individuals to gain practical knowledge in the concerned field of business. Most of the ideas of successful businessmen are a result of the experiences in their own area of business. They become perfect in their own area of job. Since, they are experienced so they do imagination for doing business in different way. They can make the most use of their skills and experiences as crucial sources of business ideas generation.</a:t>
            </a:r>
          </a:p>
          <a:p>
            <a:endParaRPr lang="en-CA" dirty="0"/>
          </a:p>
        </p:txBody>
      </p:sp>
    </p:spTree>
    <p:extLst>
      <p:ext uri="{BB962C8B-B14F-4D97-AF65-F5344CB8AC3E}">
        <p14:creationId xmlns:p14="http://schemas.microsoft.com/office/powerpoint/2010/main" val="33845484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9A49-B5D0-32F0-7295-5BE3433016C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DD80528-173F-1274-3383-9DEB0E0A3AED}"/>
              </a:ext>
            </a:extLst>
          </p:cNvPr>
          <p:cNvSpPr>
            <a:spLocks noGrp="1"/>
          </p:cNvSpPr>
          <p:nvPr>
            <p:ph idx="1"/>
          </p:nvPr>
        </p:nvSpPr>
        <p:spPr/>
        <p:txBody>
          <a:bodyPr>
            <a:normAutofit fontScale="85000" lnSpcReduction="10000"/>
          </a:bodyPr>
          <a:lstStyle/>
          <a:p>
            <a:pPr lvl="0"/>
            <a:r>
              <a:rPr lang="en-CA" b="1" dirty="0"/>
              <a:t>Existing products and services</a:t>
            </a:r>
            <a:r>
              <a:rPr lang="en-CA" dirty="0"/>
              <a:t>: The close observation of existing products and services available in the market is said to be an important source of new idea generation for grabbing business opportunity. The analysis of existing products and services available in the market can facilitate to identity their shortcoming and drawback. By realizing weaknesses in existing product and services, a creative entrepreneur can decide to offer better products and services to fulfill changing needs of consumers.</a:t>
            </a:r>
          </a:p>
          <a:p>
            <a:pPr lvl="0"/>
            <a:r>
              <a:rPr lang="en-CA" b="1" dirty="0"/>
              <a:t>Research and development</a:t>
            </a:r>
            <a:r>
              <a:rPr lang="en-CA" dirty="0"/>
              <a:t>: It is an important source of new idea generation for business. Research and development is the formal department of any entity to generate new ideas. This department involves in research work based on future business plan of the organization. Research activity suggests what and how a new product can be produced to fulfill the changing demand of the customers. It is found that many new product development and new entity establishments are outcome of research and development activity.</a:t>
            </a:r>
          </a:p>
          <a:p>
            <a:endParaRPr lang="en-CA" dirty="0"/>
          </a:p>
        </p:txBody>
      </p:sp>
    </p:spTree>
    <p:extLst>
      <p:ext uri="{BB962C8B-B14F-4D97-AF65-F5344CB8AC3E}">
        <p14:creationId xmlns:p14="http://schemas.microsoft.com/office/powerpoint/2010/main" val="1846392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286B-36D7-FD0A-C288-8D3166C4296C}"/>
              </a:ext>
            </a:extLst>
          </p:cNvPr>
          <p:cNvSpPr>
            <a:spLocks noGrp="1"/>
          </p:cNvSpPr>
          <p:nvPr>
            <p:ph type="title"/>
          </p:nvPr>
        </p:nvSpPr>
        <p:spPr/>
        <p:txBody>
          <a:bodyPr/>
          <a:lstStyle/>
          <a:p>
            <a:r>
              <a:rPr lang="en-US" dirty="0"/>
              <a:t>Methods of idea generation </a:t>
            </a:r>
            <a:endParaRPr lang="en-CA" dirty="0"/>
          </a:p>
        </p:txBody>
      </p:sp>
      <p:sp>
        <p:nvSpPr>
          <p:cNvPr id="3" name="Content Placeholder 2">
            <a:extLst>
              <a:ext uri="{FF2B5EF4-FFF2-40B4-BE49-F238E27FC236}">
                <a16:creationId xmlns:a16="http://schemas.microsoft.com/office/drawing/2014/main" id="{130C5E4A-9FF4-5272-A4DD-1196DEA2F1C1}"/>
              </a:ext>
            </a:extLst>
          </p:cNvPr>
          <p:cNvSpPr>
            <a:spLocks noGrp="1"/>
          </p:cNvSpPr>
          <p:nvPr>
            <p:ph idx="1"/>
          </p:nvPr>
        </p:nvSpPr>
        <p:spPr>
          <a:xfrm>
            <a:off x="838200" y="1380744"/>
            <a:ext cx="10515600" cy="4796219"/>
          </a:xfrm>
        </p:spPr>
        <p:txBody>
          <a:bodyPr>
            <a:normAutofit fontScale="70000" lnSpcReduction="20000"/>
          </a:bodyPr>
          <a:lstStyle/>
          <a:p>
            <a:r>
              <a:rPr lang="en-CA" b="1" dirty="0"/>
              <a:t>Brainstorming:</a:t>
            </a:r>
            <a:r>
              <a:rPr lang="en-CA" dirty="0"/>
              <a:t> </a:t>
            </a:r>
            <a:r>
              <a:rPr lang="en-US" b="1" dirty="0"/>
              <a:t>Brainstorming</a:t>
            </a:r>
            <a:r>
              <a:rPr lang="en-US" dirty="0"/>
              <a:t> is a creative thinking technique used to generate a large number of ideas or solutions in a short amount of time. The goal is </a:t>
            </a:r>
            <a:r>
              <a:rPr lang="en-US" b="1" dirty="0"/>
              <a:t>quantity over quality at first</a:t>
            </a:r>
            <a:r>
              <a:rPr lang="en-US" dirty="0"/>
              <a:t>—you try to come up with as many ideas as possible without judging or evaluating them.</a:t>
            </a:r>
          </a:p>
          <a:p>
            <a:r>
              <a:rPr lang="en-US" dirty="0"/>
              <a:t>Here’s what characterizes brainstorming:</a:t>
            </a:r>
          </a:p>
          <a:p>
            <a:r>
              <a:rPr lang="en-US" b="1" dirty="0"/>
              <a:t>Open, free thinking:</a:t>
            </a:r>
            <a:r>
              <a:rPr lang="en-US" dirty="0"/>
              <a:t> Any idea is welcome, even if it seems unrealistic or unusual.</a:t>
            </a:r>
          </a:p>
          <a:p>
            <a:r>
              <a:rPr lang="en-US" b="1" dirty="0"/>
              <a:t>No criticism:</a:t>
            </a:r>
            <a:r>
              <a:rPr lang="en-US" dirty="0"/>
              <a:t> During the idea-generation phase, participants don’t evaluate or reject ideas.</a:t>
            </a:r>
          </a:p>
          <a:p>
            <a:r>
              <a:rPr lang="en-US" b="1" dirty="0"/>
              <a:t>Collaboration:</a:t>
            </a:r>
            <a:r>
              <a:rPr lang="en-US" dirty="0"/>
              <a:t> Often done in groups so people can build on each other’s ideas.</a:t>
            </a:r>
          </a:p>
          <a:p>
            <a:r>
              <a:rPr lang="en-US" b="1" dirty="0"/>
              <a:t>Creativity boost:</a:t>
            </a:r>
            <a:r>
              <a:rPr lang="en-US" dirty="0"/>
              <a:t> Helps break out of routine thinking and discover new perspectives.</a:t>
            </a:r>
          </a:p>
          <a:p>
            <a:r>
              <a:rPr lang="en-US" dirty="0"/>
              <a:t>After brainstorming, the ideas are reviewed, refined, and evaluated to find the best solutions.</a:t>
            </a:r>
          </a:p>
          <a:p>
            <a:pPr lvl="0"/>
            <a:r>
              <a:rPr lang="en-CA" dirty="0"/>
              <a:t>In this technique, about </a:t>
            </a:r>
            <a:r>
              <a:rPr lang="en-CA" b="1" dirty="0"/>
              <a:t>5 to 10 people</a:t>
            </a:r>
            <a:r>
              <a:rPr lang="en-CA" dirty="0"/>
              <a:t> sit around the table generate ideas in the form of </a:t>
            </a:r>
            <a:r>
              <a:rPr lang="en-CA" b="1" dirty="0"/>
              <a:t>free association</a:t>
            </a:r>
            <a:r>
              <a:rPr lang="en-CA" dirty="0"/>
              <a:t>. At the initial stage of brainstorming team members </a:t>
            </a:r>
            <a:r>
              <a:rPr lang="en-CA" b="1" dirty="0"/>
              <a:t>motivate each other to generate new ideas</a:t>
            </a:r>
            <a:r>
              <a:rPr lang="en-CA" dirty="0"/>
              <a:t>. Everyone focuses on the ideas that can provide solution to the specific problem. The brain storming session is facilitated by the </a:t>
            </a:r>
            <a:r>
              <a:rPr lang="en-CA" b="1" dirty="0"/>
              <a:t>team leader or manager</a:t>
            </a:r>
            <a:r>
              <a:rPr lang="en-CA" dirty="0"/>
              <a:t>. He observes all the interactions of members and notes down the key points of ideas generated by the members for solution of a problem or issue. Finally, all the members come into a final solution of the problem either through </a:t>
            </a:r>
            <a:r>
              <a:rPr lang="en-CA" b="1" dirty="0"/>
              <a:t>mutual consent or majority of consent</a:t>
            </a:r>
            <a:r>
              <a:rPr lang="en-CA" dirty="0"/>
              <a:t>.</a:t>
            </a:r>
          </a:p>
          <a:p>
            <a:endParaRPr lang="en-CA" dirty="0"/>
          </a:p>
        </p:txBody>
      </p:sp>
    </p:spTree>
    <p:extLst>
      <p:ext uri="{BB962C8B-B14F-4D97-AF65-F5344CB8AC3E}">
        <p14:creationId xmlns:p14="http://schemas.microsoft.com/office/powerpoint/2010/main" val="34760595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FE9E7-9358-B6AB-94CA-524F2759FB69}"/>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D1792909-6909-7D68-F1DE-E48D82024854}"/>
              </a:ext>
            </a:extLst>
          </p:cNvPr>
          <p:cNvSpPr>
            <a:spLocks noGrp="1"/>
          </p:cNvSpPr>
          <p:nvPr>
            <p:ph idx="1"/>
          </p:nvPr>
        </p:nvSpPr>
        <p:spPr>
          <a:xfrm>
            <a:off x="838200" y="1133856"/>
            <a:ext cx="10515600" cy="5043107"/>
          </a:xfrm>
        </p:spPr>
        <p:txBody>
          <a:bodyPr>
            <a:normAutofit lnSpcReduction="10000"/>
          </a:bodyPr>
          <a:lstStyle/>
          <a:p>
            <a:r>
              <a:rPr lang="en-CA" b="1" dirty="0"/>
              <a:t>Focus group: </a:t>
            </a:r>
            <a:r>
              <a:rPr lang="en-CA" dirty="0"/>
              <a:t>A focus group is a form of qualitative research in which a group of people are asked about their attitude towards a product, service, concept, advertisement, idea, or packaging. The term "focus group" refers to a researcher interviewing several people at once. The interviewer sets the focus in the session, but generally has relatively little control over the conversation. Participants can freely discuss the given topic. The goal is to explore perceptions, ideas, and values in a group of individuals and how their feelings can affect their behavior. Focus group discussions are used to examine individuals' perceptions and experiences of a particular topic. There are four components in the process of working with focus groups: design and planning, selection of participants, carrying out the discussion session, and analyzing and reporting the results.</a:t>
            </a:r>
          </a:p>
          <a:p>
            <a:endParaRPr lang="en-CA" dirty="0"/>
          </a:p>
        </p:txBody>
      </p:sp>
    </p:spTree>
    <p:extLst>
      <p:ext uri="{BB962C8B-B14F-4D97-AF65-F5344CB8AC3E}">
        <p14:creationId xmlns:p14="http://schemas.microsoft.com/office/powerpoint/2010/main" val="15412781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1806-C00D-1422-4EAE-14BFA465701B}"/>
              </a:ext>
            </a:extLst>
          </p:cNvPr>
          <p:cNvSpPr>
            <a:spLocks noGrp="1"/>
          </p:cNvSpPr>
          <p:nvPr>
            <p:ph type="title"/>
          </p:nvPr>
        </p:nvSpPr>
        <p:spPr>
          <a:xfrm>
            <a:off x="838200" y="365125"/>
            <a:ext cx="10515600" cy="787019"/>
          </a:xfrm>
        </p:spPr>
        <p:txBody>
          <a:bodyPr/>
          <a:lstStyle/>
          <a:p>
            <a:endParaRPr lang="en-CA" dirty="0"/>
          </a:p>
        </p:txBody>
      </p:sp>
      <p:sp>
        <p:nvSpPr>
          <p:cNvPr id="3" name="Content Placeholder 2">
            <a:extLst>
              <a:ext uri="{FF2B5EF4-FFF2-40B4-BE49-F238E27FC236}">
                <a16:creationId xmlns:a16="http://schemas.microsoft.com/office/drawing/2014/main" id="{C8AB7FBC-2169-A29E-3EAC-3072456D7077}"/>
              </a:ext>
            </a:extLst>
          </p:cNvPr>
          <p:cNvSpPr>
            <a:spLocks noGrp="1"/>
          </p:cNvSpPr>
          <p:nvPr>
            <p:ph idx="1"/>
          </p:nvPr>
        </p:nvSpPr>
        <p:spPr>
          <a:xfrm>
            <a:off x="838200" y="1453896"/>
            <a:ext cx="10515600" cy="4723067"/>
          </a:xfrm>
        </p:spPr>
        <p:txBody>
          <a:bodyPr>
            <a:normAutofit fontScale="77500" lnSpcReduction="20000"/>
          </a:bodyPr>
          <a:lstStyle/>
          <a:p>
            <a:r>
              <a:rPr lang="en-US" dirty="0"/>
              <a:t>A </a:t>
            </a:r>
            <a:r>
              <a:rPr lang="en-US" b="1" dirty="0"/>
              <a:t>focus group</a:t>
            </a:r>
            <a:r>
              <a:rPr lang="en-US" dirty="0"/>
              <a:t> is a research method in which a small, diverse group of people (usually 6–12 participants) is brought together to discuss a specific topic, product, idea, or service under the guidance of a trained moderator.</a:t>
            </a:r>
          </a:p>
          <a:p>
            <a:r>
              <a:rPr lang="en-US" b="1" dirty="0"/>
              <a:t>Key features of a focus group:</a:t>
            </a:r>
          </a:p>
          <a:p>
            <a:r>
              <a:rPr lang="en-US" b="1" dirty="0"/>
              <a:t>Group discussion:</a:t>
            </a:r>
            <a:r>
              <a:rPr lang="en-US" dirty="0"/>
              <a:t> Participants share opinions, experiences, and reactions.</a:t>
            </a:r>
          </a:p>
          <a:p>
            <a:r>
              <a:rPr lang="en-US" b="1" dirty="0"/>
              <a:t>Moderator-led:</a:t>
            </a:r>
            <a:r>
              <a:rPr lang="en-US" dirty="0"/>
              <a:t> A facilitator asks questions, keeps the conversation on track, and encourages everyone to participate.</a:t>
            </a:r>
          </a:p>
          <a:p>
            <a:r>
              <a:rPr lang="en-US" b="1" dirty="0"/>
              <a:t>Qualitative insights:</a:t>
            </a:r>
            <a:r>
              <a:rPr lang="en-US" dirty="0"/>
              <a:t> The goal is to understand attitudes, motivations, and perceptions, not to collect numerical data.</a:t>
            </a:r>
          </a:p>
          <a:p>
            <a:r>
              <a:rPr lang="en-US" b="1" dirty="0"/>
              <a:t>Interactive setting:</a:t>
            </a:r>
            <a:r>
              <a:rPr lang="en-US" dirty="0"/>
              <a:t> The interaction among participants often reveals deeper insights than individual interviews.</a:t>
            </a:r>
          </a:p>
          <a:p>
            <a:r>
              <a:rPr lang="en-US" b="1" dirty="0"/>
              <a:t>Purpose:</a:t>
            </a:r>
          </a:p>
          <a:p>
            <a:r>
              <a:rPr lang="en-US" dirty="0"/>
              <a:t>Focus groups are commonly used in marketing, product development, education, social sciences, and policy research to understand how people think and feel about something.</a:t>
            </a:r>
          </a:p>
          <a:p>
            <a:endParaRPr lang="en-CA" dirty="0"/>
          </a:p>
        </p:txBody>
      </p:sp>
    </p:spTree>
    <p:extLst>
      <p:ext uri="{BB962C8B-B14F-4D97-AF65-F5344CB8AC3E}">
        <p14:creationId xmlns:p14="http://schemas.microsoft.com/office/powerpoint/2010/main" val="8584804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A51B-F49B-16CA-E5DA-1CA7D13139BE}"/>
              </a:ext>
            </a:extLst>
          </p:cNvPr>
          <p:cNvSpPr>
            <a:spLocks noGrp="1"/>
          </p:cNvSpPr>
          <p:nvPr>
            <p:ph type="title"/>
          </p:nvPr>
        </p:nvSpPr>
        <p:spPr>
          <a:xfrm>
            <a:off x="838200" y="681037"/>
            <a:ext cx="10515600" cy="196787"/>
          </a:xfrm>
        </p:spPr>
        <p:txBody>
          <a:bodyPr>
            <a:normAutofit fontScale="90000"/>
          </a:bodyPr>
          <a:lstStyle/>
          <a:p>
            <a:r>
              <a:rPr lang="en-US" sz="3100" dirty="0"/>
              <a:t>Here are the </a:t>
            </a:r>
            <a:r>
              <a:rPr lang="en-US" sz="3100" b="1" dirty="0"/>
              <a:t>key differences between brainstorming and focus groups</a:t>
            </a:r>
            <a:r>
              <a:rPr lang="en-US" sz="3100" dirty="0"/>
              <a:t>:</a:t>
            </a:r>
            <a:br>
              <a:rPr lang="en-US" dirty="0"/>
            </a:br>
            <a:endParaRPr lang="en-CA" dirty="0"/>
          </a:p>
        </p:txBody>
      </p:sp>
      <p:sp>
        <p:nvSpPr>
          <p:cNvPr id="3" name="Content Placeholder 2">
            <a:extLst>
              <a:ext uri="{FF2B5EF4-FFF2-40B4-BE49-F238E27FC236}">
                <a16:creationId xmlns:a16="http://schemas.microsoft.com/office/drawing/2014/main" id="{EF5DD145-5636-BDE5-8B3E-7DE64631C63B}"/>
              </a:ext>
            </a:extLst>
          </p:cNvPr>
          <p:cNvSpPr>
            <a:spLocks noGrp="1"/>
          </p:cNvSpPr>
          <p:nvPr>
            <p:ph idx="1"/>
          </p:nvPr>
        </p:nvSpPr>
        <p:spPr>
          <a:xfrm>
            <a:off x="548640" y="749808"/>
            <a:ext cx="10805160" cy="5427155"/>
          </a:xfrm>
        </p:spPr>
        <p:txBody>
          <a:bodyPr>
            <a:normAutofit fontScale="55000" lnSpcReduction="20000"/>
          </a:bodyPr>
          <a:lstStyle/>
          <a:p>
            <a:r>
              <a:rPr lang="en-US" b="1" dirty="0"/>
              <a:t>1. Purpose</a:t>
            </a:r>
          </a:p>
          <a:p>
            <a:r>
              <a:rPr lang="en-US" b="1" dirty="0"/>
              <a:t>Brainstorming:</a:t>
            </a:r>
            <a:r>
              <a:rPr lang="en-US" dirty="0"/>
              <a:t> To generate as many ideas or solutions as possible.</a:t>
            </a:r>
          </a:p>
          <a:p>
            <a:r>
              <a:rPr lang="en-US" b="1" dirty="0"/>
              <a:t>Focus Group:</a:t>
            </a:r>
            <a:r>
              <a:rPr lang="en-US" dirty="0"/>
              <a:t> To gather opinions, perceptions, and attitudes about a topic or product.</a:t>
            </a:r>
          </a:p>
          <a:p>
            <a:r>
              <a:rPr lang="en-US" b="1" dirty="0"/>
              <a:t>2. Nature of Discussion</a:t>
            </a:r>
          </a:p>
          <a:p>
            <a:r>
              <a:rPr lang="en-US" b="1" dirty="0"/>
              <a:t>Brainstorming:</a:t>
            </a:r>
            <a:r>
              <a:rPr lang="en-US" dirty="0"/>
              <a:t> Free-flowing, creative idea generation; no evaluation during the session.</a:t>
            </a:r>
          </a:p>
          <a:p>
            <a:r>
              <a:rPr lang="en-US" b="1" dirty="0"/>
              <a:t>Focus Group:</a:t>
            </a:r>
            <a:r>
              <a:rPr lang="en-US" dirty="0"/>
              <a:t> Guided discussion with specific questions to understand viewpoints.</a:t>
            </a:r>
          </a:p>
          <a:p>
            <a:r>
              <a:rPr lang="en-US" b="1" dirty="0"/>
              <a:t>3. Role of the Moderator</a:t>
            </a:r>
          </a:p>
          <a:p>
            <a:r>
              <a:rPr lang="en-US" b="1" dirty="0"/>
              <a:t>Brainstorming:</a:t>
            </a:r>
            <a:r>
              <a:rPr lang="en-US" dirty="0"/>
              <a:t> Facilitator encourages creativity and idea flow.</a:t>
            </a:r>
          </a:p>
          <a:p>
            <a:r>
              <a:rPr lang="en-US" b="1" dirty="0"/>
              <a:t>Focus Group:</a:t>
            </a:r>
            <a:r>
              <a:rPr lang="en-US" dirty="0"/>
              <a:t> Moderator asks structured questions and controls the discussion to gather insights.</a:t>
            </a:r>
          </a:p>
          <a:p>
            <a:r>
              <a:rPr lang="en-US" b="1" dirty="0"/>
              <a:t>4. Participants’ Interaction</a:t>
            </a:r>
          </a:p>
          <a:p>
            <a:r>
              <a:rPr lang="en-US" b="1" dirty="0"/>
              <a:t>Brainstorming:</a:t>
            </a:r>
            <a:r>
              <a:rPr lang="en-US" dirty="0"/>
              <a:t> Participants build on each other’s ideas; all ideas are encouraged.</a:t>
            </a:r>
          </a:p>
          <a:p>
            <a:r>
              <a:rPr lang="en-US" b="1" dirty="0"/>
              <a:t>Focus Group:</a:t>
            </a:r>
            <a:r>
              <a:rPr lang="en-US" dirty="0"/>
              <a:t> Participants react to questions and each other’s opinions, often comparing experiences.</a:t>
            </a:r>
          </a:p>
          <a:p>
            <a:r>
              <a:rPr lang="en-US" b="1" dirty="0"/>
              <a:t>5. Outcome</a:t>
            </a:r>
          </a:p>
          <a:p>
            <a:r>
              <a:rPr lang="en-US" b="1" dirty="0"/>
              <a:t>Brainstorming:</a:t>
            </a:r>
            <a:r>
              <a:rPr lang="en-US" dirty="0"/>
              <a:t> A large list of potential ideas or solutions.</a:t>
            </a:r>
          </a:p>
          <a:p>
            <a:r>
              <a:rPr lang="en-US" b="1" dirty="0"/>
              <a:t>Focus Group:</a:t>
            </a:r>
            <a:r>
              <a:rPr lang="en-US" dirty="0"/>
              <a:t> Detailed qualitative data about people’s feelings, motivations, and attitudes.</a:t>
            </a:r>
          </a:p>
          <a:p>
            <a:r>
              <a:rPr lang="en-US" b="1" dirty="0"/>
              <a:t>6. Evaluation</a:t>
            </a:r>
          </a:p>
          <a:p>
            <a:r>
              <a:rPr lang="en-US" b="1" dirty="0"/>
              <a:t>Brainstorming:</a:t>
            </a:r>
            <a:r>
              <a:rPr lang="en-US" dirty="0"/>
              <a:t> Evaluation happens </a:t>
            </a:r>
            <a:r>
              <a:rPr lang="en-US" i="1" dirty="0"/>
              <a:t>after</a:t>
            </a:r>
            <a:r>
              <a:rPr lang="en-US" dirty="0"/>
              <a:t> idea generation.</a:t>
            </a:r>
          </a:p>
          <a:p>
            <a:r>
              <a:rPr lang="en-US" b="1" dirty="0"/>
              <a:t>Focus Group:</a:t>
            </a:r>
            <a:r>
              <a:rPr lang="en-US" dirty="0"/>
              <a:t> Opinions are evaluated and interpreted </a:t>
            </a:r>
            <a:r>
              <a:rPr lang="en-US" i="1" dirty="0"/>
              <a:t>during</a:t>
            </a:r>
            <a:r>
              <a:rPr lang="en-US" dirty="0"/>
              <a:t> the analysis phase.</a:t>
            </a:r>
            <a:endParaRPr lang="en-CA" dirty="0"/>
          </a:p>
        </p:txBody>
      </p:sp>
    </p:spTree>
    <p:extLst>
      <p:ext uri="{BB962C8B-B14F-4D97-AF65-F5344CB8AC3E}">
        <p14:creationId xmlns:p14="http://schemas.microsoft.com/office/powerpoint/2010/main" val="20249620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6F831-A540-2C6A-A10B-F578740CDBFC}"/>
              </a:ext>
            </a:extLst>
          </p:cNvPr>
          <p:cNvSpPr>
            <a:spLocks noGrp="1"/>
          </p:cNvSpPr>
          <p:nvPr>
            <p:ph type="title"/>
          </p:nvPr>
        </p:nvSpPr>
        <p:spPr>
          <a:xfrm>
            <a:off x="838200" y="365125"/>
            <a:ext cx="10515600" cy="42125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1EC51D2-D967-7E30-3495-A8FEA73453F6}"/>
              </a:ext>
            </a:extLst>
          </p:cNvPr>
          <p:cNvSpPr>
            <a:spLocks noGrp="1"/>
          </p:cNvSpPr>
          <p:nvPr>
            <p:ph idx="1"/>
          </p:nvPr>
        </p:nvSpPr>
        <p:spPr>
          <a:xfrm>
            <a:off x="838200" y="1124712"/>
            <a:ext cx="10515600" cy="5440680"/>
          </a:xfrm>
        </p:spPr>
        <p:txBody>
          <a:bodyPr>
            <a:normAutofit fontScale="85000" lnSpcReduction="20000"/>
          </a:bodyPr>
          <a:lstStyle/>
          <a:p>
            <a:pPr lvl="0"/>
            <a:r>
              <a:rPr lang="en-CA" b="1" dirty="0"/>
              <a:t>Problem inventory analysis</a:t>
            </a:r>
            <a:r>
              <a:rPr lang="en-CA" dirty="0"/>
              <a:t>: It is a method of obtaining new ideas and solutions by focusing on problems. Under this technique, the customers are provided a list of problems associated with the existing products or service. They are asked to discuss about the products or service that have similar problems. Through discussion with potential customer about product features and problems associated with it. It facilitates to find out real problem. This method should be better used for generating new ideas for testing and evaluation. The careful analysis of this technique facilitates to develop new products or service. It becomes possible by analyzing the problems associated with the existing product or service.</a:t>
            </a:r>
          </a:p>
          <a:p>
            <a:pPr lvl="0"/>
            <a:r>
              <a:rPr lang="en-CA" b="1" dirty="0"/>
              <a:t>The Delphi technique</a:t>
            </a:r>
            <a:r>
              <a:rPr lang="en-CA" dirty="0"/>
              <a:t>: This technique is developed in Rand Corporation. In this technique a group of experts in their own sector of knowledge are asked to give their opinions about the problems. All the members write down their ideas, suggestions, and solution of the problem and send to the central location. All these opinions are handled by a central coordinator, who consolidates the opinion. Again, this information is sent back to the experts for further analysis and opinions. This process is continued until and unless final conclusion comes into consent. This method is more time consuming and suitable only for long term complex issues.</a:t>
            </a:r>
          </a:p>
          <a:p>
            <a:endParaRPr lang="en-CA" dirty="0"/>
          </a:p>
        </p:txBody>
      </p:sp>
    </p:spTree>
    <p:extLst>
      <p:ext uri="{BB962C8B-B14F-4D97-AF65-F5344CB8AC3E}">
        <p14:creationId xmlns:p14="http://schemas.microsoft.com/office/powerpoint/2010/main" val="249545144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7F318-C438-F9DD-D70D-6006C7011CED}"/>
              </a:ext>
            </a:extLst>
          </p:cNvPr>
          <p:cNvSpPr>
            <a:spLocks noGrp="1"/>
          </p:cNvSpPr>
          <p:nvPr>
            <p:ph type="title"/>
          </p:nvPr>
        </p:nvSpPr>
        <p:spPr>
          <a:xfrm>
            <a:off x="838200" y="365125"/>
            <a:ext cx="10515600" cy="49441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2CF53231-E649-37A5-2B00-680863FC1D30}"/>
              </a:ext>
            </a:extLst>
          </p:cNvPr>
          <p:cNvSpPr>
            <a:spLocks noGrp="1"/>
          </p:cNvSpPr>
          <p:nvPr>
            <p:ph idx="1"/>
          </p:nvPr>
        </p:nvSpPr>
        <p:spPr>
          <a:xfrm>
            <a:off x="838200" y="1216152"/>
            <a:ext cx="10515600" cy="4960811"/>
          </a:xfrm>
        </p:spPr>
        <p:txBody>
          <a:bodyPr>
            <a:normAutofit fontScale="92500" lnSpcReduction="20000"/>
          </a:bodyPr>
          <a:lstStyle/>
          <a:p>
            <a:pPr lvl="0"/>
            <a:r>
              <a:rPr lang="en-CA" b="1" dirty="0"/>
              <a:t>Checklist method</a:t>
            </a:r>
            <a:r>
              <a:rPr lang="en-CA" dirty="0"/>
              <a:t>: </a:t>
            </a:r>
            <a:r>
              <a:rPr lang="en-US" dirty="0"/>
              <a:t>When a problem is found in a business, a team is created to think of solutions. The team makes a list of all the issues related to the problem. If needed, they also prepare questions using words like </a:t>
            </a:r>
            <a:r>
              <a:rPr lang="en-US" i="1" dirty="0"/>
              <a:t>which, why, where, when,</a:t>
            </a:r>
            <a:r>
              <a:rPr lang="en-US" dirty="0"/>
              <a:t> and </a:t>
            </a:r>
            <a:r>
              <a:rPr lang="en-US" i="1" dirty="0"/>
              <a:t>who</a:t>
            </a:r>
            <a:r>
              <a:rPr lang="en-US" dirty="0"/>
              <a:t> to understand the problem better. By answering these questions step-by-step, they can come up with creative solutions. In the end, the team writes a report that includes all the issues and the solutions and submits it to the management. Entrepreneurs can use this method to create new ideas or to focus on improving a specific part of their business.</a:t>
            </a:r>
          </a:p>
          <a:p>
            <a:pPr lvl="0"/>
            <a:r>
              <a:rPr lang="en-CA" b="1" dirty="0"/>
              <a:t>Forced relationship</a:t>
            </a:r>
            <a:r>
              <a:rPr lang="en-CA" dirty="0"/>
              <a:t>: </a:t>
            </a:r>
            <a:r>
              <a:rPr lang="en-US" dirty="0"/>
              <a:t>This method involves connecting two things that are very different from each other to get new ideas. By comparing and combining unrelated products, people can discover new ways to improve value for customers. For example, to make a car more useful, someone might think about adding things like a sound system, air conditioning, airbags, FM radio, mobile phone features, internet, and other facilities. Mixing these unrelated features helps create a better product for customers.</a:t>
            </a:r>
            <a:endParaRPr lang="en-CA" dirty="0"/>
          </a:p>
        </p:txBody>
      </p:sp>
    </p:spTree>
    <p:extLst>
      <p:ext uri="{BB962C8B-B14F-4D97-AF65-F5344CB8AC3E}">
        <p14:creationId xmlns:p14="http://schemas.microsoft.com/office/powerpoint/2010/main" val="32055465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24FF-8534-9D4C-F358-3493DF2A15A1}"/>
              </a:ext>
            </a:extLst>
          </p:cNvPr>
          <p:cNvSpPr>
            <a:spLocks noGrp="1"/>
          </p:cNvSpPr>
          <p:nvPr>
            <p:ph type="title"/>
          </p:nvPr>
        </p:nvSpPr>
        <p:spPr>
          <a:xfrm>
            <a:off x="838200" y="365125"/>
            <a:ext cx="10515600" cy="16522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EE4E6F70-8F5C-81C6-E182-9DAB4E6F6290}"/>
              </a:ext>
            </a:extLst>
          </p:cNvPr>
          <p:cNvSpPr>
            <a:spLocks noGrp="1"/>
          </p:cNvSpPr>
          <p:nvPr>
            <p:ph idx="1"/>
          </p:nvPr>
        </p:nvSpPr>
        <p:spPr>
          <a:xfrm>
            <a:off x="365760" y="621792"/>
            <a:ext cx="11475720" cy="6080760"/>
          </a:xfrm>
        </p:spPr>
        <p:txBody>
          <a:bodyPr>
            <a:normAutofit lnSpcReduction="10000"/>
          </a:bodyPr>
          <a:lstStyle/>
          <a:p>
            <a:r>
              <a:rPr lang="en-CA" b="1" dirty="0"/>
              <a:t>Attribute Analysis:</a:t>
            </a:r>
            <a:r>
              <a:rPr lang="en-CA" dirty="0"/>
              <a:t> </a:t>
            </a:r>
            <a:r>
              <a:rPr lang="en-US" b="1" dirty="0"/>
              <a:t>Attribute analysis</a:t>
            </a:r>
            <a:r>
              <a:rPr lang="en-US" dirty="0"/>
              <a:t> means breaking a problem, idea, or product into smaller parts and studying each part carefully. It helps us think about how to improve a product or service step-by-step. In this method, we list all the features of a product and look for small changes or new ideas that can add value.</a:t>
            </a:r>
          </a:p>
          <a:p>
            <a:r>
              <a:rPr lang="en-US" dirty="0"/>
              <a:t>The process includes:</a:t>
            </a:r>
          </a:p>
          <a:p>
            <a:r>
              <a:rPr lang="en-US" dirty="0"/>
              <a:t>Identifying the main features of the product.</a:t>
            </a:r>
          </a:p>
          <a:p>
            <a:r>
              <a:rPr lang="en-US" dirty="0"/>
              <a:t>Generating different alternatives for each feature.</a:t>
            </a:r>
          </a:p>
          <a:p>
            <a:r>
              <a:rPr lang="en-US" dirty="0"/>
              <a:t>Evaluating these alternatives.</a:t>
            </a:r>
          </a:p>
          <a:p>
            <a:r>
              <a:rPr lang="en-US" dirty="0"/>
              <a:t>Creating a new or improved product with better features.</a:t>
            </a:r>
          </a:p>
          <a:p>
            <a:r>
              <a:rPr lang="en-US" dirty="0"/>
              <a:t>For example: </a:t>
            </a:r>
            <a:r>
              <a:rPr lang="en-US" b="1" dirty="0"/>
              <a:t>Product A + Product B = New Creation.</a:t>
            </a:r>
            <a:br>
              <a:rPr lang="en-US" dirty="0"/>
            </a:br>
            <a:r>
              <a:rPr lang="en-US" dirty="0"/>
              <a:t>We start by listing all the basic features like color, shape, and size. Then we look at which features can be changed without affecting the main function of the product. This helps in developing new or improved products.</a:t>
            </a:r>
          </a:p>
          <a:p>
            <a:endParaRPr lang="en-CA" dirty="0"/>
          </a:p>
        </p:txBody>
      </p:sp>
    </p:spTree>
    <p:extLst>
      <p:ext uri="{BB962C8B-B14F-4D97-AF65-F5344CB8AC3E}">
        <p14:creationId xmlns:p14="http://schemas.microsoft.com/office/powerpoint/2010/main" val="10366591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73D81-CE98-99E1-C888-EADDECB1E267}"/>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4E27E24-EBC4-6C82-FF37-CC9499DC7D7D}"/>
              </a:ext>
            </a:extLst>
          </p:cNvPr>
          <p:cNvSpPr>
            <a:spLocks noGrp="1"/>
          </p:cNvSpPr>
          <p:nvPr>
            <p:ph idx="1"/>
          </p:nvPr>
        </p:nvSpPr>
        <p:spPr>
          <a:xfrm>
            <a:off x="838200" y="865240"/>
            <a:ext cx="10515600" cy="5627634"/>
          </a:xfrm>
        </p:spPr>
        <p:txBody>
          <a:bodyPr>
            <a:normAutofit fontScale="85000" lnSpcReduction="20000"/>
          </a:bodyPr>
          <a:lstStyle/>
          <a:p>
            <a:r>
              <a:rPr lang="en-CA" b="1" dirty="0"/>
              <a:t>Mind map:</a:t>
            </a:r>
            <a:br>
              <a:rPr lang="en-US" dirty="0"/>
            </a:br>
            <a:r>
              <a:rPr lang="en-US" dirty="0"/>
              <a:t>A mind map is a picture that helps you organize information and ideas in a clear and connected way. It makes thinking, learning, and remembering easier by showing how different ideas link to each other.</a:t>
            </a:r>
          </a:p>
          <a:p>
            <a:r>
              <a:rPr lang="en-US" b="1" dirty="0"/>
              <a:t>What a mind map looks like:</a:t>
            </a:r>
            <a:endParaRPr lang="en-US" dirty="0"/>
          </a:p>
          <a:p>
            <a:r>
              <a:rPr lang="en-US" dirty="0"/>
              <a:t>You write the main idea in the center (for example, “Environment”).</a:t>
            </a:r>
          </a:p>
          <a:p>
            <a:r>
              <a:rPr lang="en-US" dirty="0"/>
              <a:t>From the center, you draw lines for the big subtopics (like Pollution, Conservation, Climate).</a:t>
            </a:r>
          </a:p>
          <a:p>
            <a:r>
              <a:rPr lang="en-US" dirty="0"/>
              <a:t>From each subtopic, you draw smaller lines for related ideas (like under Pollution → Air, Water, Noise).</a:t>
            </a:r>
          </a:p>
          <a:p>
            <a:r>
              <a:rPr lang="en-US" dirty="0"/>
              <a:t>It looks like a spider web or a tree with branches spreading outward.</a:t>
            </a:r>
          </a:p>
          <a:p>
            <a:r>
              <a:rPr lang="en-US" b="1" dirty="0"/>
              <a:t>Key features of a mind map:</a:t>
            </a:r>
            <a:endParaRPr lang="en-US" dirty="0"/>
          </a:p>
          <a:p>
            <a:r>
              <a:rPr lang="en-US" dirty="0"/>
              <a:t>Main idea in the middle</a:t>
            </a:r>
          </a:p>
          <a:p>
            <a:r>
              <a:rPr lang="en-US" dirty="0"/>
              <a:t>Branches going outward</a:t>
            </a:r>
          </a:p>
          <a:p>
            <a:r>
              <a:rPr lang="en-US" dirty="0"/>
              <a:t>Uses keywords, pictures, and colors</a:t>
            </a:r>
          </a:p>
          <a:p>
            <a:r>
              <a:rPr lang="en-US" dirty="0"/>
              <a:t>Shows how ideas are connected to each other</a:t>
            </a:r>
          </a:p>
          <a:p>
            <a:endParaRPr lang="en-CA" dirty="0"/>
          </a:p>
        </p:txBody>
      </p:sp>
    </p:spTree>
    <p:extLst>
      <p:ext uri="{BB962C8B-B14F-4D97-AF65-F5344CB8AC3E}">
        <p14:creationId xmlns:p14="http://schemas.microsoft.com/office/powerpoint/2010/main" val="38251757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452A-0E00-4488-6446-7F6B42BB418C}"/>
              </a:ext>
            </a:extLst>
          </p:cNvPr>
          <p:cNvSpPr>
            <a:spLocks noGrp="1"/>
          </p:cNvSpPr>
          <p:nvPr>
            <p:ph type="title"/>
          </p:nvPr>
        </p:nvSpPr>
        <p:spPr>
          <a:xfrm>
            <a:off x="838200" y="365125"/>
            <a:ext cx="10515600" cy="5492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C5DA8A2-569E-7CD7-BD12-CFCC0A1571CA}"/>
              </a:ext>
            </a:extLst>
          </p:cNvPr>
          <p:cNvSpPr>
            <a:spLocks noGrp="1"/>
          </p:cNvSpPr>
          <p:nvPr>
            <p:ph idx="1"/>
          </p:nvPr>
        </p:nvSpPr>
        <p:spPr>
          <a:xfrm>
            <a:off x="838200" y="1362456"/>
            <a:ext cx="10515600" cy="4814507"/>
          </a:xfrm>
        </p:spPr>
        <p:txBody>
          <a:bodyPr>
            <a:normAutofit fontScale="85000" lnSpcReduction="10000"/>
          </a:bodyPr>
          <a:lstStyle/>
          <a:p>
            <a:pPr lvl="0"/>
            <a:r>
              <a:rPr lang="en-CA" b="1" dirty="0"/>
              <a:t>Library and internet research:</a:t>
            </a:r>
            <a:r>
              <a:rPr lang="en-CA" dirty="0"/>
              <a:t> Business ideas may be generated from trade journals, industry specific magazines, and industry reports etc. Such reports and publications can be obtained in the library of FNCCI, NCC, central library etc. Similarly, many businesses related information can be obtained through internet search. The close observation and study of such report and publication helps to generate new business idea. It is the reason that creative entrepreneurs always study the new business-related journal, articles and publications.</a:t>
            </a:r>
          </a:p>
          <a:p>
            <a:pPr lvl="0"/>
            <a:r>
              <a:rPr lang="en-CA" b="1" dirty="0"/>
              <a:t>Survey method:</a:t>
            </a:r>
            <a:r>
              <a:rPr lang="en-CA" dirty="0"/>
              <a:t> Usually, this method is used by the entrepreneurs who want to introduce new product in the market or existing product in new market. It is used for gathering information from a sample of potential customers. Survey can be accomplished through different means such as distributing questionnaire, making short interview, group discussion with target individuals and groups. It is useful for getting opinion, views, suggestion and other related information of customers. This facilitates the entrepreneurs to take decision for introduction of new products and services in the market or not.</a:t>
            </a:r>
          </a:p>
          <a:p>
            <a:endParaRPr lang="en-CA" dirty="0"/>
          </a:p>
        </p:txBody>
      </p:sp>
    </p:spTree>
    <p:extLst>
      <p:ext uri="{BB962C8B-B14F-4D97-AF65-F5344CB8AC3E}">
        <p14:creationId xmlns:p14="http://schemas.microsoft.com/office/powerpoint/2010/main" val="4243590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TotalTime>
  <Words>10285</Words>
  <Application>Microsoft Office PowerPoint</Application>
  <PresentationFormat>Widescreen</PresentationFormat>
  <Paragraphs>565</Paragraphs>
  <Slides>102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102</vt:i4>
      </vt:variant>
    </vt:vector>
  </HeadingPairs>
  <TitlesOfParts>
    <vt:vector size="112" baseType="lpstr">
      <vt:lpstr>Arial</vt:lpstr>
      <vt:lpstr>Calibri</vt:lpstr>
      <vt:lpstr>Calibri Light</vt:lpstr>
      <vt:lpstr>Google Sans</vt:lpstr>
      <vt:lpstr>Google Sans Text</vt:lpstr>
      <vt:lpstr>Inter</vt:lpstr>
      <vt:lpstr>quote-cjk-patch</vt:lpstr>
      <vt:lpstr>Symbol</vt:lpstr>
      <vt:lpstr>Times New Roman</vt:lpstr>
      <vt:lpstr>Office Theme</vt:lpstr>
      <vt:lpstr>Creativity, Innovation and MVP</vt:lpstr>
      <vt:lpstr>Concept of creativity </vt:lpstr>
      <vt:lpstr>PowerPoint Presentation</vt:lpstr>
      <vt:lpstr> Key Aspects of Creativity in Entrepreneurship: </vt:lpstr>
      <vt:lpstr>PowerPoint Presentation</vt:lpstr>
      <vt:lpstr>Concept of innovation </vt:lpstr>
      <vt:lpstr>PowerPoint Presentation</vt:lpstr>
      <vt:lpstr>PowerPoint Presentation</vt:lpstr>
      <vt:lpstr>Key Elements of Innovation in Entrepreneurship: </vt:lpstr>
      <vt:lpstr>Types of Innovation in Entrepreneurship: </vt:lpstr>
      <vt:lpstr>Product innovation </vt:lpstr>
      <vt:lpstr>PowerPoint Presentation</vt:lpstr>
      <vt:lpstr>Importance of Innovation in Entrepreneurship: </vt:lpstr>
      <vt:lpstr>Service innovation </vt:lpstr>
      <vt:lpstr>Process innovation </vt:lpstr>
      <vt:lpstr>Business Model Innovation </vt:lpstr>
      <vt:lpstr>Social Innovation (SI)</vt:lpstr>
      <vt:lpstr>Examples of Innovation in Entrepreneurship: </vt:lpstr>
      <vt:lpstr>Key Differences</vt:lpstr>
      <vt:lpstr>  1. Creativity </vt:lpstr>
      <vt:lpstr>2. Innovation </vt:lpstr>
      <vt:lpstr>3. Idea Generation </vt:lpstr>
      <vt:lpstr>PowerPoint Presentation</vt:lpstr>
      <vt:lpstr>Concept of opportunity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Methods and tools of idea generation </vt:lpstr>
      <vt:lpstr>PowerPoint Presentation</vt:lpstr>
      <vt:lpstr>PowerPoint Presentation</vt:lpstr>
      <vt:lpstr>PowerPoint Presentation</vt:lpstr>
      <vt:lpstr>Concept of Creativity </vt:lpstr>
      <vt:lpstr>PowerPoint Presentation</vt:lpstr>
      <vt:lpstr>PowerPoint Presentation</vt:lpstr>
      <vt:lpstr>PowerPoint Presentation</vt:lpstr>
      <vt:lpstr>PowerPoint Presentation</vt:lpstr>
      <vt:lpstr>PowerPoint Presentation</vt:lpstr>
      <vt:lpstr>Conclusion </vt:lpstr>
      <vt:lpstr>Concept of innovation </vt:lpstr>
      <vt:lpstr>PowerPoint Presentation</vt:lpstr>
      <vt:lpstr>PowerPoint Presentation</vt:lpstr>
      <vt:lpstr>PowerPoint Presentation</vt:lpstr>
      <vt:lpstr>2. Process Innovation: </vt:lpstr>
      <vt:lpstr>3. Business model innovation </vt:lpstr>
      <vt:lpstr>Key components of business model innovation  </vt:lpstr>
      <vt:lpstr>2. Customer Segment &amp; Relationship Innovation </vt:lpstr>
      <vt:lpstr>3. Channel Innovation (Delivery Innovation) </vt:lpstr>
      <vt:lpstr>4.Revenue Model Innovation </vt:lpstr>
      <vt:lpstr>5. Key Activities &amp; Resources Innovation </vt:lpstr>
      <vt:lpstr>PowerPoint Presentation</vt:lpstr>
      <vt:lpstr>PowerPoint Presentation</vt:lpstr>
      <vt:lpstr>PowerPoint Presentation</vt:lpstr>
      <vt:lpstr>Concept of opportunity recognition </vt:lpstr>
      <vt:lpstr>PowerPoint Presentation</vt:lpstr>
      <vt:lpstr>PowerPoint Presentation</vt:lpstr>
      <vt:lpstr>PowerPoint Presentation</vt:lpstr>
      <vt:lpstr> </vt:lpstr>
      <vt:lpstr>PowerPoint Presentation</vt:lpstr>
      <vt:lpstr>Business idea </vt:lpstr>
      <vt:lpstr>Sources of new business ideas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MVP</vt:lpstr>
      <vt:lpstr>Key components and characteristics </vt:lpstr>
      <vt:lpstr>PowerPoint Presentation</vt:lpstr>
      <vt:lpstr>Purpose and benefits </vt:lpstr>
      <vt:lpstr>PowerPoint Presentation</vt:lpstr>
      <vt:lpstr>Sources of idea generation </vt:lpstr>
      <vt:lpstr>PowerPoint Presentation</vt:lpstr>
      <vt:lpstr>PowerPoint Presentation</vt:lpstr>
      <vt:lpstr>PowerPoint Presentation</vt:lpstr>
      <vt:lpstr>PowerPoint Presentation</vt:lpstr>
      <vt:lpstr>Methods of idea generation </vt:lpstr>
      <vt:lpstr>PowerPoint Presentation</vt:lpstr>
      <vt:lpstr>PowerPoint Presentation</vt:lpstr>
      <vt:lpstr>Here are the key differences between brainstorming and focus groups: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84</cp:revision>
  <dcterms:created xsi:type="dcterms:W3CDTF">2025-03-18T12:18:22Z</dcterms:created>
  <dcterms:modified xsi:type="dcterms:W3CDTF">2025-11-27T08:29:26Z</dcterms:modified>
</cp:coreProperties>
</file>