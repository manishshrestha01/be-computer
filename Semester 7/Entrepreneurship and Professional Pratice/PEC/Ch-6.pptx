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58" r:id="rId5"/>
    <p:sldId id="259" r:id="rId6"/>
    <p:sldId id="260" r:id="rId7"/>
    <p:sldId id="261" r:id="rId8"/>
    <p:sldId id="262" r:id="rId9"/>
    <p:sldId id="293" r:id="rId10"/>
    <p:sldId id="294" r:id="rId11"/>
    <p:sldId id="295" r:id="rId12"/>
    <p:sldId id="296" r:id="rId13"/>
    <p:sldId id="297" r:id="rId14"/>
    <p:sldId id="298" r:id="rId15"/>
    <p:sldId id="299" r:id="rId16"/>
    <p:sldId id="263" r:id="rId17"/>
    <p:sldId id="264" r:id="rId18"/>
    <p:sldId id="266" r:id="rId19"/>
    <p:sldId id="267" r:id="rId20"/>
    <p:sldId id="280" r:id="rId21"/>
    <p:sldId id="268" r:id="rId22"/>
    <p:sldId id="269" r:id="rId23"/>
    <p:sldId id="270" r:id="rId24"/>
    <p:sldId id="271" r:id="rId25"/>
    <p:sldId id="272" r:id="rId26"/>
    <p:sldId id="273" r:id="rId27"/>
    <p:sldId id="275" r:id="rId28"/>
    <p:sldId id="281" r:id="rId29"/>
    <p:sldId id="278" r:id="rId30"/>
    <p:sldId id="285" r:id="rId31"/>
    <p:sldId id="286" r:id="rId32"/>
    <p:sldId id="287" r:id="rId33"/>
    <p:sldId id="300" r:id="rId34"/>
    <p:sldId id="301" r:id="rId35"/>
    <p:sldId id="302" r:id="rId36"/>
    <p:sldId id="303" r:id="rId37"/>
    <p:sldId id="304" r:id="rId38"/>
    <p:sldId id="305" r:id="rId39"/>
    <p:sldId id="306" r:id="rId40"/>
    <p:sldId id="307" r:id="rId41"/>
    <p:sldId id="308" r:id="rId42"/>
    <p:sldId id="309" r:id="rId43"/>
    <p:sldId id="288" r:id="rId44"/>
    <p:sldId id="289" r:id="rId45"/>
    <p:sldId id="290" r:id="rId46"/>
    <p:sldId id="310" r:id="rId47"/>
    <p:sldId id="311" r:id="rId48"/>
    <p:sldId id="312" r:id="rId49"/>
    <p:sldId id="313" r:id="rId50"/>
    <p:sldId id="314" r:id="rId51"/>
    <p:sldId id="31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1F51F-6476-0859-722E-F31E723D01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2F83182-77EB-DC1F-0D01-B6FC272EED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3F3485B-D75E-00E3-2DEB-8B87AE4872CF}"/>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5" name="Footer Placeholder 4">
            <a:extLst>
              <a:ext uri="{FF2B5EF4-FFF2-40B4-BE49-F238E27FC236}">
                <a16:creationId xmlns:a16="http://schemas.microsoft.com/office/drawing/2014/main" id="{792A9363-D96E-A11C-2070-1B67B3C756C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3E106FF-3C18-DAD8-CBC9-66789953554C}"/>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271004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688C9-5D05-48B8-244E-590A114176C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264E481-DB7C-D765-C207-3A17E67ED0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CB8F515-3F2A-D0C8-0EC1-7216AB6555AA}"/>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5" name="Footer Placeholder 4">
            <a:extLst>
              <a:ext uri="{FF2B5EF4-FFF2-40B4-BE49-F238E27FC236}">
                <a16:creationId xmlns:a16="http://schemas.microsoft.com/office/drawing/2014/main" id="{2CA70EBE-552C-0A0E-7BEA-E254F5740DA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270F1EE-D3E0-E458-AC20-A215584F3C80}"/>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33016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73BE0-C149-B9F3-FF2A-F26108A7FA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9101AF0-0002-7CF2-3CE2-2C51375388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09670F-0E70-F582-239A-2BB2D27523C3}"/>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5" name="Footer Placeholder 4">
            <a:extLst>
              <a:ext uri="{FF2B5EF4-FFF2-40B4-BE49-F238E27FC236}">
                <a16:creationId xmlns:a16="http://schemas.microsoft.com/office/drawing/2014/main" id="{984F7FFA-6CD1-EAB5-58C9-C5601788842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F0660F6-7542-279E-9A39-391CA4E9C119}"/>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415664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0232B-24DE-333E-F969-971A37C21F8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1F615BD-970C-BC76-10E4-ED80797B67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5BA3EC27-7488-540A-6A89-608907CEEF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8FF74BC-6284-FA51-472D-C4E846EC29C4}"/>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6" name="Footer Placeholder 5">
            <a:extLst>
              <a:ext uri="{FF2B5EF4-FFF2-40B4-BE49-F238E27FC236}">
                <a16:creationId xmlns:a16="http://schemas.microsoft.com/office/drawing/2014/main" id="{EA2462B4-BDDE-45FD-C1B2-A231B7F5684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D9CC828-4BC0-2ECD-DE9D-2880D53437D4}"/>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3487481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5B8C4-5439-5A49-9512-071E6FE5A8B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D5D6B93-8654-6004-692D-5AE8003F25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6B9191-EE34-6B2F-195C-CC82763BDB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886D9DB-50F6-FB28-2E86-F540D43A80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3209CA-93E7-BE63-1281-CBC6488073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B77EC25-5833-FCC8-59C2-4556249F1D3F}"/>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8" name="Footer Placeholder 7">
            <a:extLst>
              <a:ext uri="{FF2B5EF4-FFF2-40B4-BE49-F238E27FC236}">
                <a16:creationId xmlns:a16="http://schemas.microsoft.com/office/drawing/2014/main" id="{A8C6650F-A12B-5C8D-6CDD-C3C45429E4D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D9CC5C8-2658-66F7-D051-F44025CB5578}"/>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1372272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5527C-4CB0-B245-69EC-4BBEA8711F4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50D5425-0A84-C785-D240-289916AAC4A8}"/>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4" name="Footer Placeholder 3">
            <a:extLst>
              <a:ext uri="{FF2B5EF4-FFF2-40B4-BE49-F238E27FC236}">
                <a16:creationId xmlns:a16="http://schemas.microsoft.com/office/drawing/2014/main" id="{EDC70910-49B6-A360-CB97-BBBC775E7B4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54A9715-9C6A-5B33-931C-D9A92E07EF08}"/>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4185922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336315-588B-B44B-E28D-61492070C93A}"/>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3" name="Footer Placeholder 2">
            <a:extLst>
              <a:ext uri="{FF2B5EF4-FFF2-40B4-BE49-F238E27FC236}">
                <a16:creationId xmlns:a16="http://schemas.microsoft.com/office/drawing/2014/main" id="{FD8E77C8-1E0D-C7E4-3664-C544E4A0287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C65F318-4D25-BEB8-00B9-E502A1B82029}"/>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1881104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F29AA-4DB5-9E7E-E2B2-8C57896B88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819A2BF-4086-CE6D-0B99-675CD7DDBE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6CF3E71-4C9D-F87F-7A4F-5E5796AEE7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ED6531-EDEF-0617-0CF8-ECFE2902BEA7}"/>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6" name="Footer Placeholder 5">
            <a:extLst>
              <a:ext uri="{FF2B5EF4-FFF2-40B4-BE49-F238E27FC236}">
                <a16:creationId xmlns:a16="http://schemas.microsoft.com/office/drawing/2014/main" id="{B9387366-3435-28C6-A858-8C935E06024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7CBAE3F-7DFF-A6EF-1E10-5FC42A3A8445}"/>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2408764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E2BFA-FD8B-1231-8408-DDF4F8D78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CB273DE-D98D-2183-649A-620BF01431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54D99D1-BC4F-DE7F-0544-35858DB28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2DC3E3-B5B0-C013-9D37-9D33DE1A6CA4}"/>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6" name="Footer Placeholder 5">
            <a:extLst>
              <a:ext uri="{FF2B5EF4-FFF2-40B4-BE49-F238E27FC236}">
                <a16:creationId xmlns:a16="http://schemas.microsoft.com/office/drawing/2014/main" id="{EB02396B-3C1C-D8B8-BADA-BBBC1093E24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09889AA-B69F-94F4-7A99-F4F67D75DC15}"/>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3257112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ADA29-A775-2A20-1A5A-24BFC3099EC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509E5B9-4238-779E-A1E7-3CD25AA60F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574213F-B5CC-0DE5-F3E9-9CE25E4B85FE}"/>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5" name="Footer Placeholder 4">
            <a:extLst>
              <a:ext uri="{FF2B5EF4-FFF2-40B4-BE49-F238E27FC236}">
                <a16:creationId xmlns:a16="http://schemas.microsoft.com/office/drawing/2014/main" id="{39C3B9A6-D1B2-7E6C-E802-2CFE70A15FB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1772171-59CB-9E35-EDDC-016FF95D8E3D}"/>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3103996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0A31E6-1214-BC56-18E5-27E8AB3148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AE079FB-20D1-D78C-7A49-9CFDEA574E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8497A70-8975-3975-C724-3544F69361F2}"/>
              </a:ext>
            </a:extLst>
          </p:cNvPr>
          <p:cNvSpPr>
            <a:spLocks noGrp="1"/>
          </p:cNvSpPr>
          <p:nvPr>
            <p:ph type="dt" sz="half" idx="10"/>
          </p:nvPr>
        </p:nvSpPr>
        <p:spPr/>
        <p:txBody>
          <a:bodyPr/>
          <a:lstStyle/>
          <a:p>
            <a:fld id="{7AC1A185-7B1F-4128-8B7A-F08B8B6EB522}" type="datetimeFigureOut">
              <a:rPr lang="en-CA" smtClean="0"/>
              <a:t>2026-01-18</a:t>
            </a:fld>
            <a:endParaRPr lang="en-CA"/>
          </a:p>
        </p:txBody>
      </p:sp>
      <p:sp>
        <p:nvSpPr>
          <p:cNvPr id="5" name="Footer Placeholder 4">
            <a:extLst>
              <a:ext uri="{FF2B5EF4-FFF2-40B4-BE49-F238E27FC236}">
                <a16:creationId xmlns:a16="http://schemas.microsoft.com/office/drawing/2014/main" id="{AE14FB71-B54E-3715-E9E7-3A08AA51143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D70803D-D482-CB06-0663-C8EB2517EED0}"/>
              </a:ext>
            </a:extLst>
          </p:cNvPr>
          <p:cNvSpPr>
            <a:spLocks noGrp="1"/>
          </p:cNvSpPr>
          <p:nvPr>
            <p:ph type="sldNum" sz="quarter" idx="12"/>
          </p:nvPr>
        </p:nvSpPr>
        <p:spPr/>
        <p:txBody>
          <a:bodyPr/>
          <a:lstStyle/>
          <a:p>
            <a:fld id="{493331C1-2519-46A3-9859-66156161B5CE}" type="slidenum">
              <a:rPr lang="en-CA" smtClean="0"/>
              <a:t>‹#›</a:t>
            </a:fld>
            <a:endParaRPr lang="en-CA"/>
          </a:p>
        </p:txBody>
      </p:sp>
    </p:spTree>
    <p:extLst>
      <p:ext uri="{BB962C8B-B14F-4D97-AF65-F5344CB8AC3E}">
        <p14:creationId xmlns:p14="http://schemas.microsoft.com/office/powerpoint/2010/main" val="1646003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F89B43-99C1-E7B4-4044-53565691C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C2ECB27-1359-772D-5EB2-27DD7196A9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8135F37-286C-7E09-FB21-D1250A4562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C1A185-7B1F-4128-8B7A-F08B8B6EB522}" type="datetimeFigureOut">
              <a:rPr lang="en-CA" smtClean="0"/>
              <a:t>2026-01-18</a:t>
            </a:fld>
            <a:endParaRPr lang="en-CA"/>
          </a:p>
        </p:txBody>
      </p:sp>
      <p:sp>
        <p:nvSpPr>
          <p:cNvPr id="5" name="Footer Placeholder 4">
            <a:extLst>
              <a:ext uri="{FF2B5EF4-FFF2-40B4-BE49-F238E27FC236}">
                <a16:creationId xmlns:a16="http://schemas.microsoft.com/office/drawing/2014/main" id="{9FF05474-CCAC-C740-E893-592D128A5D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A590E86A-24D1-F437-5E92-0D1DF96A5A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3331C1-2519-46A3-9859-66156161B5CE}" type="slidenum">
              <a:rPr lang="en-CA" smtClean="0"/>
              <a:t>‹#›</a:t>
            </a:fld>
            <a:endParaRPr lang="en-CA"/>
          </a:p>
        </p:txBody>
      </p:sp>
    </p:spTree>
    <p:extLst>
      <p:ext uri="{BB962C8B-B14F-4D97-AF65-F5344CB8AC3E}">
        <p14:creationId xmlns:p14="http://schemas.microsoft.com/office/powerpoint/2010/main" val="4166524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50272-F1D2-3A50-935D-E86F3C546423}"/>
              </a:ext>
            </a:extLst>
          </p:cNvPr>
          <p:cNvSpPr>
            <a:spLocks noGrp="1"/>
          </p:cNvSpPr>
          <p:nvPr>
            <p:ph type="ctrTitle"/>
          </p:nvPr>
        </p:nvSpPr>
        <p:spPr>
          <a:xfrm>
            <a:off x="1524000" y="740665"/>
            <a:ext cx="9144000" cy="859536"/>
          </a:xfrm>
        </p:spPr>
        <p:txBody>
          <a:bodyPr>
            <a:noAutofit/>
          </a:bodyPr>
          <a:lstStyle/>
          <a:p>
            <a:br>
              <a:rPr lang="en-US" sz="2800" b="1" dirty="0"/>
            </a:br>
            <a:br>
              <a:rPr lang="en-US" sz="2800" b="1" dirty="0"/>
            </a:br>
            <a:br>
              <a:rPr lang="en-US" sz="2800" b="1" dirty="0"/>
            </a:br>
            <a:br>
              <a:rPr lang="en-US" sz="2800" b="1" dirty="0"/>
            </a:br>
            <a:r>
              <a:rPr lang="en-US" sz="2800" b="1" dirty="0"/>
              <a:t>Unit VI: Legal Issues for Professional Practice                        </a:t>
            </a:r>
            <a:br>
              <a:rPr lang="en-CA" sz="2800" dirty="0"/>
            </a:br>
            <a:endParaRPr lang="en-CA" sz="2800" dirty="0"/>
          </a:p>
        </p:txBody>
      </p:sp>
      <p:sp>
        <p:nvSpPr>
          <p:cNvPr id="3" name="Subtitle 2">
            <a:extLst>
              <a:ext uri="{FF2B5EF4-FFF2-40B4-BE49-F238E27FC236}">
                <a16:creationId xmlns:a16="http://schemas.microsoft.com/office/drawing/2014/main" id="{9F0C31BD-39C2-1558-DCF8-4EA0982A8D3A}"/>
              </a:ext>
            </a:extLst>
          </p:cNvPr>
          <p:cNvSpPr>
            <a:spLocks noGrp="1"/>
          </p:cNvSpPr>
          <p:nvPr>
            <p:ph type="subTitle" idx="1"/>
          </p:nvPr>
        </p:nvSpPr>
        <p:spPr>
          <a:xfrm>
            <a:off x="1524000" y="1197864"/>
            <a:ext cx="9144000" cy="5102352"/>
          </a:xfrm>
        </p:spPr>
        <p:txBody>
          <a:bodyPr>
            <a:normAutofit/>
          </a:bodyPr>
          <a:lstStyle/>
          <a:p>
            <a:pPr algn="l"/>
            <a:r>
              <a:rPr lang="en-US" b="1" dirty="0"/>
              <a:t>  (5 Hrs.) </a:t>
            </a:r>
            <a:endParaRPr lang="en-CA" dirty="0"/>
          </a:p>
          <a:p>
            <a:pPr algn="l"/>
            <a:r>
              <a:rPr lang="en-US" dirty="0"/>
              <a:t>6.1 Intellectual Properties </a:t>
            </a:r>
            <a:endParaRPr lang="en-CA" dirty="0"/>
          </a:p>
          <a:p>
            <a:pPr algn="l"/>
            <a:r>
              <a:rPr lang="en-US" dirty="0"/>
              <a:t>6.1.1 Copyright, patent, design, trademark, and trade-secrets</a:t>
            </a:r>
            <a:endParaRPr lang="en-CA" dirty="0"/>
          </a:p>
          <a:p>
            <a:pPr algn="l"/>
            <a:r>
              <a:rPr lang="en-US" dirty="0"/>
              <a:t>6.1.2 IP Laws</a:t>
            </a:r>
            <a:endParaRPr lang="en-CA" dirty="0"/>
          </a:p>
          <a:p>
            <a:pPr algn="l"/>
            <a:r>
              <a:rPr lang="en-US" dirty="0"/>
              <a:t>6.2 IT related policies and laws in Nepal</a:t>
            </a:r>
            <a:endParaRPr lang="en-CA" dirty="0"/>
          </a:p>
          <a:p>
            <a:pPr algn="l"/>
            <a:r>
              <a:rPr lang="en-US" dirty="0"/>
              <a:t>6.2.1 ICT Policy</a:t>
            </a:r>
            <a:endParaRPr lang="en-CA" dirty="0"/>
          </a:p>
          <a:p>
            <a:pPr algn="l"/>
            <a:r>
              <a:rPr lang="en-US" dirty="0"/>
              <a:t>6.2.2 Electronics Transaction Act</a:t>
            </a:r>
            <a:endParaRPr lang="en-CA" dirty="0"/>
          </a:p>
          <a:p>
            <a:pPr algn="l"/>
            <a:r>
              <a:rPr lang="en-US" dirty="0"/>
              <a:t>6.2.3 Communication Act</a:t>
            </a:r>
            <a:endParaRPr lang="en-CA" dirty="0"/>
          </a:p>
          <a:p>
            <a:pPr algn="l"/>
            <a:r>
              <a:rPr lang="en-US" dirty="0"/>
              <a:t>6.3 Legal issues for startup</a:t>
            </a:r>
            <a:endParaRPr lang="en-CA" dirty="0"/>
          </a:p>
          <a:p>
            <a:pPr algn="l"/>
            <a:r>
              <a:rPr lang="en-US" dirty="0"/>
              <a:t>6.3.1 Business registration in Nepal</a:t>
            </a:r>
            <a:endParaRPr lang="en-CA" dirty="0"/>
          </a:p>
          <a:p>
            <a:pPr algn="l"/>
            <a:r>
              <a:rPr lang="en-US" dirty="0"/>
              <a:t>6.3.2 Taxation and compliance requirements</a:t>
            </a:r>
            <a:endParaRPr lang="en-CA" dirty="0"/>
          </a:p>
        </p:txBody>
      </p:sp>
    </p:spTree>
    <p:extLst>
      <p:ext uri="{BB962C8B-B14F-4D97-AF65-F5344CB8AC3E}">
        <p14:creationId xmlns:p14="http://schemas.microsoft.com/office/powerpoint/2010/main" val="2131218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C3C2-C526-1A17-9046-460C56F4B62D}"/>
              </a:ext>
            </a:extLst>
          </p:cNvPr>
          <p:cNvSpPr>
            <a:spLocks noGrp="1"/>
          </p:cNvSpPr>
          <p:nvPr>
            <p:ph type="title"/>
          </p:nvPr>
        </p:nvSpPr>
        <p:spPr/>
        <p:txBody>
          <a:bodyPr/>
          <a:lstStyle/>
          <a:p>
            <a:r>
              <a:rPr lang="en-US" dirty="0"/>
              <a:t>Intellectual Properties</a:t>
            </a:r>
            <a:endParaRPr lang="en-CA" dirty="0"/>
          </a:p>
        </p:txBody>
      </p:sp>
      <p:sp>
        <p:nvSpPr>
          <p:cNvPr id="3" name="Content Placeholder 2">
            <a:extLst>
              <a:ext uri="{FF2B5EF4-FFF2-40B4-BE49-F238E27FC236}">
                <a16:creationId xmlns:a16="http://schemas.microsoft.com/office/drawing/2014/main" id="{26B6020A-6634-1EA9-8C61-89C3E51FE3FD}"/>
              </a:ext>
            </a:extLst>
          </p:cNvPr>
          <p:cNvSpPr>
            <a:spLocks noGrp="1"/>
          </p:cNvSpPr>
          <p:nvPr>
            <p:ph idx="1"/>
          </p:nvPr>
        </p:nvSpPr>
        <p:spPr>
          <a:xfrm>
            <a:off x="256032" y="1408176"/>
            <a:ext cx="11622024" cy="4750499"/>
          </a:xfrm>
        </p:spPr>
        <p:txBody>
          <a:bodyPr>
            <a:normAutofit fontScale="92500" lnSpcReduction="10000"/>
          </a:bodyPr>
          <a:lstStyle/>
          <a:p>
            <a:r>
              <a:rPr lang="en-US" dirty="0"/>
              <a:t>The concept of </a:t>
            </a:r>
            <a:r>
              <a:rPr lang="en-US" b="1" dirty="0"/>
              <a:t>intellectual property</a:t>
            </a:r>
            <a:r>
              <a:rPr lang="en-US" dirty="0"/>
              <a:t> is designed to cover ownership of literary and artistic works, inventions and creations. In other words, intellectual property means the legal property which results from intellectual activity in the industry, scientific and artistic fields. The main purpose of intellectual property law is to encourage the creation of a large variety of intellectual goods. To achieve this, the law gives people and businesses property rights to the information and intellectual goods they create. This gives economic incentive for their creation, because it allows people to earn profit from the information and intellectual goods they create.</a:t>
            </a:r>
          </a:p>
          <a:p>
            <a:r>
              <a:rPr lang="en-US" b="1" dirty="0"/>
              <a:t>Intellectual property rights (IPRs)</a:t>
            </a:r>
            <a:r>
              <a:rPr lang="en-US" dirty="0"/>
              <a:t> are legal and institutional devices to protect creations of the mind such as inventions and innovations. Any artistic works such as music, art, video, literature, designs, words, and expressions are also protected by intellectual property rights. Researchers or inventors can get incentive in return of their investment of knowledge by IPRs through patents, copyrights, trademarks, and trade secret.</a:t>
            </a:r>
          </a:p>
          <a:p>
            <a:endParaRPr lang="en-CA" dirty="0"/>
          </a:p>
        </p:txBody>
      </p:sp>
    </p:spTree>
    <p:extLst>
      <p:ext uri="{BB962C8B-B14F-4D97-AF65-F5344CB8AC3E}">
        <p14:creationId xmlns:p14="http://schemas.microsoft.com/office/powerpoint/2010/main" val="742812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84980-C14A-9AD3-B80F-C9BC4ADB466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5C6701B-3246-CC77-CF21-425442DB2782}"/>
              </a:ext>
            </a:extLst>
          </p:cNvPr>
          <p:cNvSpPr>
            <a:spLocks noGrp="1"/>
          </p:cNvSpPr>
          <p:nvPr>
            <p:ph idx="1"/>
          </p:nvPr>
        </p:nvSpPr>
        <p:spPr/>
        <p:txBody>
          <a:bodyPr/>
          <a:lstStyle/>
          <a:p>
            <a:r>
              <a:rPr lang="en-US" dirty="0"/>
              <a:t>Countries have laws to protect intellectual property for two main reasons. One is to give statutory expression to the moral and economic rights of creators in their creations and such rights of the public in access to those creations. The second is to promote creativity and the dissemination and application of its results and to encourage fair trading which would contribute to economic and social development. The convention establishing the </a:t>
            </a:r>
            <a:r>
              <a:rPr lang="en-US" b="1" dirty="0"/>
              <a:t>World Intellectual Property Organization (WIPO)</a:t>
            </a:r>
            <a:r>
              <a:rPr lang="en-US" dirty="0"/>
              <a:t>, concluded in Stockholm on July 14, 1967 (Art. 2(viii)) provides that intellectual property shall include rights relating to:</a:t>
            </a:r>
          </a:p>
          <a:p>
            <a:endParaRPr lang="en-CA" dirty="0"/>
          </a:p>
        </p:txBody>
      </p:sp>
    </p:spTree>
    <p:extLst>
      <p:ext uri="{BB962C8B-B14F-4D97-AF65-F5344CB8AC3E}">
        <p14:creationId xmlns:p14="http://schemas.microsoft.com/office/powerpoint/2010/main" val="4203622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8F75B-3B52-8068-4CA5-9AF3B90810C3}"/>
              </a:ext>
            </a:extLst>
          </p:cNvPr>
          <p:cNvSpPr>
            <a:spLocks noGrp="1"/>
          </p:cNvSpPr>
          <p:nvPr>
            <p:ph type="title"/>
          </p:nvPr>
        </p:nvSpPr>
        <p:spPr>
          <a:xfrm>
            <a:off x="838200" y="365125"/>
            <a:ext cx="10515600" cy="51269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8B9F1EE-75B8-32E7-0E4F-67FFD88AF08E}"/>
              </a:ext>
            </a:extLst>
          </p:cNvPr>
          <p:cNvSpPr>
            <a:spLocks noGrp="1"/>
          </p:cNvSpPr>
          <p:nvPr>
            <p:ph idx="1"/>
          </p:nvPr>
        </p:nvSpPr>
        <p:spPr>
          <a:xfrm>
            <a:off x="466344" y="1106424"/>
            <a:ext cx="11164824" cy="5386451"/>
          </a:xfrm>
        </p:spPr>
        <p:txBody>
          <a:bodyPr>
            <a:normAutofit/>
          </a:bodyPr>
          <a:lstStyle/>
          <a:p>
            <a:r>
              <a:rPr lang="en-US" dirty="0"/>
              <a:t>Literary, artistic and scientific works;</a:t>
            </a:r>
          </a:p>
          <a:p>
            <a:r>
              <a:rPr lang="en-US" dirty="0"/>
              <a:t>Performances of performing artists, phonograms and broadcasts;</a:t>
            </a:r>
          </a:p>
          <a:p>
            <a:r>
              <a:rPr lang="en-US" dirty="0"/>
              <a:t>Inventions in all fields of human behavior;</a:t>
            </a:r>
          </a:p>
          <a:p>
            <a:r>
              <a:rPr lang="en-US" dirty="0"/>
              <a:t>Scientific discoveries;</a:t>
            </a:r>
          </a:p>
          <a:p>
            <a:r>
              <a:rPr lang="en-US" dirty="0"/>
              <a:t>Industrial designs;</a:t>
            </a:r>
          </a:p>
          <a:p>
            <a:r>
              <a:rPr lang="en-US" dirty="0"/>
              <a:t>Trademarks, service marks, and commercial names and designations;</a:t>
            </a:r>
          </a:p>
          <a:p>
            <a:r>
              <a:rPr lang="en-US" dirty="0"/>
              <a:t>Protection against unfair competition and all other rights resulting from intellectual activity in industrial scientific, literary or artistic fields</a:t>
            </a:r>
          </a:p>
          <a:p>
            <a:r>
              <a:rPr lang="en-US" dirty="0"/>
              <a:t>In Nepal, Patent Design and Trademark Act 1965, Copyright Act, 2002 and Integrated Intellectual Property Policy 2017 are the laws regulating intellectual property.</a:t>
            </a:r>
          </a:p>
          <a:p>
            <a:endParaRPr lang="en-CA" dirty="0"/>
          </a:p>
        </p:txBody>
      </p:sp>
    </p:spTree>
    <p:extLst>
      <p:ext uri="{BB962C8B-B14F-4D97-AF65-F5344CB8AC3E}">
        <p14:creationId xmlns:p14="http://schemas.microsoft.com/office/powerpoint/2010/main" val="985396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7F8D-7F7B-37CA-582A-2789B51BFBA3}"/>
              </a:ext>
            </a:extLst>
          </p:cNvPr>
          <p:cNvSpPr>
            <a:spLocks noGrp="1"/>
          </p:cNvSpPr>
          <p:nvPr>
            <p:ph type="title"/>
          </p:nvPr>
        </p:nvSpPr>
        <p:spPr>
          <a:xfrm>
            <a:off x="838200" y="521208"/>
            <a:ext cx="10515600" cy="1169480"/>
          </a:xfrm>
        </p:spPr>
        <p:txBody>
          <a:bodyPr>
            <a:normAutofit fontScale="90000"/>
          </a:bodyPr>
          <a:lstStyle/>
          <a:p>
            <a:r>
              <a:rPr lang="en-US" b="1" dirty="0"/>
              <a:t>TYPES OF INTELLECTUAL PROPERTY</a:t>
            </a:r>
            <a:br>
              <a:rPr lang="en-US" dirty="0"/>
            </a:br>
            <a:endParaRPr lang="en-CA" dirty="0"/>
          </a:p>
        </p:txBody>
      </p:sp>
      <p:sp>
        <p:nvSpPr>
          <p:cNvPr id="3" name="Content Placeholder 2">
            <a:extLst>
              <a:ext uri="{FF2B5EF4-FFF2-40B4-BE49-F238E27FC236}">
                <a16:creationId xmlns:a16="http://schemas.microsoft.com/office/drawing/2014/main" id="{58DF432F-C0C8-916B-0EFF-36BB84612E2C}"/>
              </a:ext>
            </a:extLst>
          </p:cNvPr>
          <p:cNvSpPr>
            <a:spLocks noGrp="1"/>
          </p:cNvSpPr>
          <p:nvPr>
            <p:ph idx="1"/>
          </p:nvPr>
        </p:nvSpPr>
        <p:spPr/>
        <p:txBody>
          <a:bodyPr/>
          <a:lstStyle/>
          <a:p>
            <a:r>
              <a:rPr lang="en-US" dirty="0"/>
              <a:t>The major intellectual property rights of Nepal involve </a:t>
            </a:r>
            <a:r>
              <a:rPr lang="en-US" b="1" dirty="0"/>
              <a:t>Patent, Design and Trademark Act 1965; Copyright Act, 2002</a:t>
            </a:r>
            <a:r>
              <a:rPr lang="en-US" dirty="0"/>
              <a:t> and </a:t>
            </a:r>
            <a:r>
              <a:rPr lang="en-US" b="1" dirty="0"/>
              <a:t>Integrated Intellectual Property Policy 2017</a:t>
            </a:r>
            <a:r>
              <a:rPr lang="en-US" dirty="0"/>
              <a:t> are the laws regulating intellectual property. However, the following are the common types of intellectual property rights in Nepal:</a:t>
            </a:r>
          </a:p>
          <a:p>
            <a:endParaRPr lang="en-CA" dirty="0"/>
          </a:p>
        </p:txBody>
      </p:sp>
    </p:spTree>
    <p:extLst>
      <p:ext uri="{BB962C8B-B14F-4D97-AF65-F5344CB8AC3E}">
        <p14:creationId xmlns:p14="http://schemas.microsoft.com/office/powerpoint/2010/main" val="1746931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14B52-432D-19FA-B80A-3D208F17D387}"/>
              </a:ext>
            </a:extLst>
          </p:cNvPr>
          <p:cNvSpPr>
            <a:spLocks noGrp="1"/>
          </p:cNvSpPr>
          <p:nvPr>
            <p:ph type="title"/>
          </p:nvPr>
        </p:nvSpPr>
        <p:spPr>
          <a:xfrm>
            <a:off x="838200" y="365125"/>
            <a:ext cx="10515600" cy="17437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722E15AE-1C3B-373C-7D99-6583B3884803}"/>
              </a:ext>
            </a:extLst>
          </p:cNvPr>
          <p:cNvSpPr>
            <a:spLocks noGrp="1"/>
          </p:cNvSpPr>
          <p:nvPr>
            <p:ph idx="1"/>
          </p:nvPr>
        </p:nvSpPr>
        <p:spPr>
          <a:xfrm>
            <a:off x="838200" y="841248"/>
            <a:ext cx="10515600" cy="5335715"/>
          </a:xfrm>
        </p:spPr>
        <p:txBody>
          <a:bodyPr>
            <a:normAutofit fontScale="92500" lnSpcReduction="10000"/>
          </a:bodyPr>
          <a:lstStyle/>
          <a:p>
            <a:r>
              <a:rPr lang="en-US" b="1" dirty="0"/>
              <a:t>1. Patent Right:</a:t>
            </a:r>
            <a:r>
              <a:rPr lang="en-US" dirty="0"/>
              <a:t> A patent is a special right granted by the government for creation of an </a:t>
            </a:r>
            <a:r>
              <a:rPr lang="en-US" b="1" dirty="0"/>
              <a:t>invention</a:t>
            </a:r>
            <a:r>
              <a:rPr lang="en-US" dirty="0"/>
              <a:t>. It is a type of intellectual property right which allows the holder of the right to use and sale an invention for economic objectives. It provides protection to owner of invention, not to exploit by other to copy, sale, use, offer for sale, or import without authorization of the owner of the patent. Invention may be a new process, machine, manufacture, composition of matter. A person or institution that has got a patent right has an </a:t>
            </a:r>
            <a:r>
              <a:rPr lang="en-US" b="1" dirty="0"/>
              <a:t>exclusive right</a:t>
            </a:r>
            <a:r>
              <a:rPr lang="en-US" dirty="0"/>
              <a:t>.</a:t>
            </a:r>
          </a:p>
          <a:p>
            <a:r>
              <a:rPr lang="en-US" b="1" dirty="0"/>
              <a:t>2. Copyright:</a:t>
            </a:r>
            <a:r>
              <a:rPr lang="en-US" dirty="0"/>
              <a:t> Copyright refers to the legal protection of an </a:t>
            </a:r>
            <a:r>
              <a:rPr lang="en-US" b="1" dirty="0"/>
              <a:t>author's creative work</a:t>
            </a:r>
            <a:r>
              <a:rPr lang="en-US" dirty="0"/>
              <a:t>. It is a type of intellectual property that provides </a:t>
            </a:r>
            <a:r>
              <a:rPr lang="en-US" b="1" dirty="0"/>
              <a:t>exclusive publication, distribution, and usage rights</a:t>
            </a:r>
            <a:r>
              <a:rPr lang="en-US" dirty="0"/>
              <a:t> for the author. Any unique content that the </a:t>
            </a:r>
            <a:r>
              <a:rPr lang="en-US" b="1" dirty="0"/>
              <a:t>author</a:t>
            </a:r>
            <a:r>
              <a:rPr lang="en-US" dirty="0"/>
              <a:t> has created cannot be used or published by anyone else without the </a:t>
            </a:r>
            <a:r>
              <a:rPr lang="en-US" b="1" dirty="0"/>
              <a:t>pre-permission</a:t>
            </a:r>
            <a:r>
              <a:rPr lang="en-US" dirty="0"/>
              <a:t> of the author. The length of copyright protection may vary from country to country, but it usually lasts for the life of the author plus 50 to 100 years.</a:t>
            </a:r>
          </a:p>
          <a:p>
            <a:endParaRPr lang="en-CA" dirty="0"/>
          </a:p>
        </p:txBody>
      </p:sp>
    </p:spTree>
    <p:extLst>
      <p:ext uri="{BB962C8B-B14F-4D97-AF65-F5344CB8AC3E}">
        <p14:creationId xmlns:p14="http://schemas.microsoft.com/office/powerpoint/2010/main" val="1414805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0A06-1F78-4082-7239-AA3F4B5583EB}"/>
              </a:ext>
            </a:extLst>
          </p:cNvPr>
          <p:cNvSpPr>
            <a:spLocks noGrp="1"/>
          </p:cNvSpPr>
          <p:nvPr>
            <p:ph type="title"/>
          </p:nvPr>
        </p:nvSpPr>
        <p:spPr>
          <a:xfrm>
            <a:off x="838200" y="264668"/>
            <a:ext cx="10515600" cy="416370"/>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6A4A7DFE-B512-3C74-ACA0-DF1A43D0F153}"/>
              </a:ext>
            </a:extLst>
          </p:cNvPr>
          <p:cNvSpPr>
            <a:spLocks noGrp="1"/>
          </p:cNvSpPr>
          <p:nvPr>
            <p:ph idx="1"/>
          </p:nvPr>
        </p:nvSpPr>
        <p:spPr>
          <a:xfrm>
            <a:off x="838200" y="1042416"/>
            <a:ext cx="10515600" cy="5134547"/>
          </a:xfrm>
        </p:spPr>
        <p:txBody>
          <a:bodyPr>
            <a:normAutofit fontScale="70000" lnSpcReduction="20000"/>
          </a:bodyPr>
          <a:lstStyle/>
          <a:p>
            <a:r>
              <a:rPr lang="en-US" b="1" dirty="0"/>
              <a:t>3. Industrial Design:</a:t>
            </a:r>
            <a:r>
              <a:rPr lang="en-US" dirty="0"/>
              <a:t> Industrial design is a kind of intellectual property which gives an </a:t>
            </a:r>
            <a:r>
              <a:rPr lang="en-US" b="1" dirty="0"/>
              <a:t>exclusive right</a:t>
            </a:r>
            <a:r>
              <a:rPr lang="en-US" dirty="0"/>
              <a:t> to a person who has created a novel appearance of a product. It protects the appearance of a product, which results from attributes such as its shape, colors or materials. In a legal sense, an industrial design constitutes the </a:t>
            </a:r>
            <a:r>
              <a:rPr lang="en-US" b="1" dirty="0"/>
              <a:t>ornamental aspect of an article</a:t>
            </a:r>
            <a:r>
              <a:rPr lang="en-US" dirty="0"/>
              <a:t>. Design right was started in the United Kingdom in 1787 with the Designing and Printing of Linen Act and have expanded from there.</a:t>
            </a:r>
          </a:p>
          <a:p>
            <a:r>
              <a:rPr lang="en-US" b="1" dirty="0"/>
              <a:t>4. Trademarks:</a:t>
            </a:r>
            <a:r>
              <a:rPr lang="en-US" dirty="0"/>
              <a:t> Trade-mark means </a:t>
            </a:r>
            <a:r>
              <a:rPr lang="en-US" b="1" dirty="0"/>
              <a:t>word, symbol, or picture or a combination</a:t>
            </a:r>
            <a:r>
              <a:rPr lang="en-US" dirty="0"/>
              <a:t> thereof to be used by any firm, company or individual in its. It involves any sign capable of being represented graphically and </a:t>
            </a:r>
            <a:r>
              <a:rPr lang="en-US" b="1" dirty="0"/>
              <a:t>distinguishing goods and services of a company from those of others</a:t>
            </a:r>
            <a:r>
              <a:rPr lang="en-US" dirty="0"/>
              <a:t>. A trademark consists of words, figurative elements, letters, numeral or the shape of goods or the packaging. It can be a combination of color, typestyle and shape or it can be just shape and color. It is mark of quality that the company wants to communicate to the consumers.</a:t>
            </a:r>
          </a:p>
          <a:p>
            <a:r>
              <a:rPr lang="en-US" b="1" dirty="0"/>
              <a:t>5. Trade Secrets:</a:t>
            </a:r>
            <a:r>
              <a:rPr lang="en-US" dirty="0"/>
              <a:t> Trade secrets are a type of intellectual property that comprise formulas, practices, processes, designs, instruments, patterns, or gatherings of information that have inherent </a:t>
            </a:r>
            <a:r>
              <a:rPr lang="en-US" b="1" dirty="0"/>
              <a:t>economic value</a:t>
            </a:r>
            <a:r>
              <a:rPr lang="en-US" dirty="0"/>
              <a:t>. They are any </a:t>
            </a:r>
            <a:r>
              <a:rPr lang="en-US" b="1" dirty="0"/>
              <a:t>confidential business information</a:t>
            </a:r>
            <a:r>
              <a:rPr lang="en-US" dirty="0"/>
              <a:t> which provides an enterprise a </a:t>
            </a:r>
            <a:r>
              <a:rPr lang="en-US" b="1" dirty="0"/>
              <a:t>competitive advantage</a:t>
            </a:r>
            <a:r>
              <a:rPr lang="en-US" dirty="0"/>
              <a:t>. They are not generally known or readily ascertainable to others, and which the owner takes reasonable measures to keep secret. It is not known or reasonably no ascertainable to others by which a business can obtain an economic advantage over competitors. They involve manufacturing or industrial secrets and commercial secrets.</a:t>
            </a:r>
          </a:p>
          <a:p>
            <a:endParaRPr lang="en-CA" dirty="0"/>
          </a:p>
        </p:txBody>
      </p:sp>
    </p:spTree>
    <p:extLst>
      <p:ext uri="{BB962C8B-B14F-4D97-AF65-F5344CB8AC3E}">
        <p14:creationId xmlns:p14="http://schemas.microsoft.com/office/powerpoint/2010/main" val="358949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6EBD8-9C8B-5DBE-45B8-4B93E3BA104B}"/>
              </a:ext>
            </a:extLst>
          </p:cNvPr>
          <p:cNvSpPr>
            <a:spLocks noGrp="1"/>
          </p:cNvSpPr>
          <p:nvPr>
            <p:ph type="title"/>
          </p:nvPr>
        </p:nvSpPr>
        <p:spPr/>
        <p:txBody>
          <a:bodyPr/>
          <a:lstStyle/>
          <a:p>
            <a:r>
              <a:rPr lang="en-US" dirty="0"/>
              <a:t>IP Laws</a:t>
            </a:r>
            <a:endParaRPr lang="en-CA" dirty="0"/>
          </a:p>
        </p:txBody>
      </p:sp>
      <p:sp>
        <p:nvSpPr>
          <p:cNvPr id="3" name="Content Placeholder 2">
            <a:extLst>
              <a:ext uri="{FF2B5EF4-FFF2-40B4-BE49-F238E27FC236}">
                <a16:creationId xmlns:a16="http://schemas.microsoft.com/office/drawing/2014/main" id="{052976C1-A22A-FEB1-8E85-19143C676729}"/>
              </a:ext>
            </a:extLst>
          </p:cNvPr>
          <p:cNvSpPr>
            <a:spLocks noGrp="1"/>
          </p:cNvSpPr>
          <p:nvPr>
            <p:ph idx="1"/>
          </p:nvPr>
        </p:nvSpPr>
        <p:spPr>
          <a:xfrm>
            <a:off x="475488" y="1371600"/>
            <a:ext cx="10878312" cy="4805363"/>
          </a:xfrm>
        </p:spPr>
        <p:txBody>
          <a:bodyPr/>
          <a:lstStyle/>
          <a:p>
            <a:r>
              <a:rPr lang="en-US" b="1" dirty="0"/>
              <a:t>Intellectual Property (IP)</a:t>
            </a:r>
            <a:r>
              <a:rPr lang="en-US" dirty="0"/>
              <a:t> means the </a:t>
            </a:r>
            <a:r>
              <a:rPr lang="en-US" b="1" dirty="0"/>
              <a:t>creations of the mind</a:t>
            </a:r>
            <a:r>
              <a:rPr lang="en-US" dirty="0"/>
              <a:t> — things you invent, design, or create — that the law protects so others can’t copy or misuse them without your permission.</a:t>
            </a:r>
          </a:p>
          <a:p>
            <a:r>
              <a:rPr lang="en-US" dirty="0"/>
              <a:t>Examples:</a:t>
            </a:r>
          </a:p>
          <a:p>
            <a:r>
              <a:rPr lang="en-US" dirty="0"/>
              <a:t>A company’s </a:t>
            </a:r>
            <a:r>
              <a:rPr lang="en-US" b="1" dirty="0"/>
              <a:t>logo or brand name</a:t>
            </a:r>
            <a:endParaRPr lang="en-US" dirty="0"/>
          </a:p>
          <a:p>
            <a:r>
              <a:rPr lang="en-US" dirty="0"/>
              <a:t>A new </a:t>
            </a:r>
            <a:r>
              <a:rPr lang="en-US" b="1" dirty="0"/>
              <a:t>machine or technology</a:t>
            </a:r>
            <a:endParaRPr lang="en-US" dirty="0"/>
          </a:p>
          <a:p>
            <a:r>
              <a:rPr lang="en-US" dirty="0"/>
              <a:t>A </a:t>
            </a:r>
            <a:r>
              <a:rPr lang="en-US" b="1" dirty="0"/>
              <a:t>song, book, software, or film</a:t>
            </a:r>
            <a:endParaRPr lang="en-US" dirty="0"/>
          </a:p>
          <a:p>
            <a:r>
              <a:rPr lang="en-US" dirty="0"/>
              <a:t>A </a:t>
            </a:r>
            <a:r>
              <a:rPr lang="en-US" b="1" dirty="0"/>
              <a:t>unique product design</a:t>
            </a:r>
            <a:endParaRPr lang="en-US" dirty="0"/>
          </a:p>
          <a:p>
            <a:r>
              <a:rPr lang="en-US" dirty="0"/>
              <a:t>IP rights give you </a:t>
            </a:r>
            <a:r>
              <a:rPr lang="en-US" b="1" dirty="0"/>
              <a:t>ownership and control</a:t>
            </a:r>
            <a:r>
              <a:rPr lang="en-US" dirty="0"/>
              <a:t> over your creations.</a:t>
            </a:r>
          </a:p>
          <a:p>
            <a:endParaRPr lang="en-CA" dirty="0"/>
          </a:p>
        </p:txBody>
      </p:sp>
    </p:spTree>
    <p:extLst>
      <p:ext uri="{BB962C8B-B14F-4D97-AF65-F5344CB8AC3E}">
        <p14:creationId xmlns:p14="http://schemas.microsoft.com/office/powerpoint/2010/main" val="2272703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DF0F6-6F1B-0FD8-EBD1-0E75D8A1A41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51E5E03-1B16-3731-6C9D-CFDB9AD4832D}"/>
              </a:ext>
            </a:extLst>
          </p:cNvPr>
          <p:cNvSpPr>
            <a:spLocks noGrp="1"/>
          </p:cNvSpPr>
          <p:nvPr>
            <p:ph idx="1"/>
          </p:nvPr>
        </p:nvSpPr>
        <p:spPr/>
        <p:txBody>
          <a:bodyPr>
            <a:normAutofit/>
          </a:bodyPr>
          <a:lstStyle/>
          <a:p>
            <a:r>
              <a:rPr lang="en-US" dirty="0"/>
              <a:t>Intellectual Property (IP) laws are legal frameworks that protect creations of the human mind, such as inventions, literary and artistic works, designs, symbols, names, and images used in commerce. Almost every country in the world has IP laws, and Nepal also has its own IP-related laws, such as patent, trademark, copyright, and industrial design laws.</a:t>
            </a:r>
          </a:p>
          <a:p>
            <a:endParaRPr lang="en-CA" dirty="0"/>
          </a:p>
        </p:txBody>
      </p:sp>
    </p:spTree>
    <p:extLst>
      <p:ext uri="{BB962C8B-B14F-4D97-AF65-F5344CB8AC3E}">
        <p14:creationId xmlns:p14="http://schemas.microsoft.com/office/powerpoint/2010/main" val="3812613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B609-EE35-2727-C6E9-C8EC626ACD39}"/>
              </a:ext>
            </a:extLst>
          </p:cNvPr>
          <p:cNvSpPr>
            <a:spLocks noGrp="1"/>
          </p:cNvSpPr>
          <p:nvPr>
            <p:ph type="title"/>
          </p:nvPr>
        </p:nvSpPr>
        <p:spPr>
          <a:xfrm>
            <a:off x="838200" y="923544"/>
            <a:ext cx="10515600" cy="767144"/>
          </a:xfrm>
        </p:spPr>
        <p:txBody>
          <a:bodyPr>
            <a:normAutofit fontScale="90000"/>
          </a:bodyPr>
          <a:lstStyle/>
          <a:p>
            <a:r>
              <a:rPr lang="en-US" b="1" dirty="0"/>
              <a:t>Why IP laws are needed:</a:t>
            </a:r>
            <a:br>
              <a:rPr lang="en-US" dirty="0"/>
            </a:br>
            <a:endParaRPr lang="en-CA" dirty="0"/>
          </a:p>
        </p:txBody>
      </p:sp>
      <p:sp>
        <p:nvSpPr>
          <p:cNvPr id="3" name="Content Placeholder 2">
            <a:extLst>
              <a:ext uri="{FF2B5EF4-FFF2-40B4-BE49-F238E27FC236}">
                <a16:creationId xmlns:a16="http://schemas.microsoft.com/office/drawing/2014/main" id="{0208BC11-68E5-B0DC-DB1B-59161E8E18B1}"/>
              </a:ext>
            </a:extLst>
          </p:cNvPr>
          <p:cNvSpPr>
            <a:spLocks noGrp="1"/>
          </p:cNvSpPr>
          <p:nvPr>
            <p:ph idx="1"/>
          </p:nvPr>
        </p:nvSpPr>
        <p:spPr/>
        <p:txBody>
          <a:bodyPr>
            <a:normAutofit/>
          </a:bodyPr>
          <a:lstStyle/>
          <a:p>
            <a:r>
              <a:rPr lang="en-US" b="1" dirty="0"/>
              <a:t>Protection of creators’ rights</a:t>
            </a:r>
            <a:br>
              <a:rPr lang="en-US" dirty="0"/>
            </a:br>
            <a:r>
              <a:rPr lang="en-US" dirty="0"/>
              <a:t>IP laws give legal recognition to the moral and economic rights of creators and inventors. When people know their ideas and creations will be protected from unauthorized copying or misuse, they feel secure and motivated to create more.</a:t>
            </a:r>
          </a:p>
          <a:p>
            <a:endParaRPr lang="en-CA" dirty="0"/>
          </a:p>
        </p:txBody>
      </p:sp>
    </p:spTree>
    <p:extLst>
      <p:ext uri="{BB962C8B-B14F-4D97-AF65-F5344CB8AC3E}">
        <p14:creationId xmlns:p14="http://schemas.microsoft.com/office/powerpoint/2010/main" val="3809254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3E963-800C-C0F7-9DD3-6ABD563D878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5787CE4-5F12-63C3-061F-2CB42DB5F4FC}"/>
              </a:ext>
            </a:extLst>
          </p:cNvPr>
          <p:cNvSpPr>
            <a:spLocks noGrp="1"/>
          </p:cNvSpPr>
          <p:nvPr>
            <p:ph idx="1"/>
          </p:nvPr>
        </p:nvSpPr>
        <p:spPr/>
        <p:txBody>
          <a:bodyPr>
            <a:normAutofit/>
          </a:bodyPr>
          <a:lstStyle/>
          <a:p>
            <a:r>
              <a:rPr lang="en-US" b="1" dirty="0"/>
              <a:t>Encouragement of innovation and creativity</a:t>
            </a:r>
            <a:br>
              <a:rPr lang="en-US" dirty="0"/>
            </a:br>
            <a:r>
              <a:rPr lang="en-US" dirty="0"/>
              <a:t>By granting exclusive rights for a limited period, IP laws encourage individuals and businesses to invest time, effort, and resources in research, innovation, art, and technology. Without protection, others could copy inventions or creative works without any cost, discouraging innovation.</a:t>
            </a:r>
          </a:p>
          <a:p>
            <a:endParaRPr lang="en-CA" dirty="0"/>
          </a:p>
        </p:txBody>
      </p:sp>
    </p:spTree>
    <p:extLst>
      <p:ext uri="{BB962C8B-B14F-4D97-AF65-F5344CB8AC3E}">
        <p14:creationId xmlns:p14="http://schemas.microsoft.com/office/powerpoint/2010/main" val="3043811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F2546-5E7F-F128-FEC1-20F193CA7AF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F7151CD-2D05-8AD8-DA9C-C8258CF96E79}"/>
              </a:ext>
            </a:extLst>
          </p:cNvPr>
          <p:cNvSpPr>
            <a:spLocks noGrp="1"/>
          </p:cNvSpPr>
          <p:nvPr>
            <p:ph idx="1"/>
          </p:nvPr>
        </p:nvSpPr>
        <p:spPr/>
        <p:txBody>
          <a:bodyPr>
            <a:normAutofit/>
          </a:bodyPr>
          <a:lstStyle/>
          <a:p>
            <a:r>
              <a:rPr lang="en-US" b="1" dirty="0"/>
              <a:t>Economic growth and development</a:t>
            </a:r>
            <a:br>
              <a:rPr lang="en-US" dirty="0"/>
            </a:br>
            <a:r>
              <a:rPr lang="en-US" dirty="0"/>
              <a:t>IP laws promote fair competition and help businesses grow. Protected inventions, brands, and designs can be commercialized, licensed, or sold, which creates jobs, attracts investment, and contributes to national economic development. For a developing country like Nepal, IP protection is important to support local industries and entrepreneurs.</a:t>
            </a:r>
          </a:p>
          <a:p>
            <a:endParaRPr lang="en-CA" dirty="0"/>
          </a:p>
        </p:txBody>
      </p:sp>
    </p:spTree>
    <p:extLst>
      <p:ext uri="{BB962C8B-B14F-4D97-AF65-F5344CB8AC3E}">
        <p14:creationId xmlns:p14="http://schemas.microsoft.com/office/powerpoint/2010/main" val="2221093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A9D10-A7A8-6F98-8814-DD5E2B54C04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1611868-5A1B-1A26-55FF-36C3E0DF7E5F}"/>
              </a:ext>
            </a:extLst>
          </p:cNvPr>
          <p:cNvSpPr>
            <a:spLocks noGrp="1"/>
          </p:cNvSpPr>
          <p:nvPr>
            <p:ph idx="1"/>
          </p:nvPr>
        </p:nvSpPr>
        <p:spPr/>
        <p:txBody>
          <a:bodyPr>
            <a:normAutofit/>
          </a:bodyPr>
          <a:lstStyle/>
          <a:p>
            <a:r>
              <a:rPr lang="en-US" b="1" dirty="0"/>
              <a:t>Consumer protection and fair trading</a:t>
            </a:r>
            <a:br>
              <a:rPr lang="en-US" dirty="0"/>
            </a:br>
            <a:r>
              <a:rPr lang="en-US" dirty="0"/>
              <a:t>IP laws, especially trademark laws, help consumers identify the source and quality of goods and services. They prevent confusion, fake products, and unfair business practices, ensuring fair trading in the market.</a:t>
            </a:r>
          </a:p>
          <a:p>
            <a:endParaRPr lang="en-CA" dirty="0"/>
          </a:p>
        </p:txBody>
      </p:sp>
    </p:spTree>
    <p:extLst>
      <p:ext uri="{BB962C8B-B14F-4D97-AF65-F5344CB8AC3E}">
        <p14:creationId xmlns:p14="http://schemas.microsoft.com/office/powerpoint/2010/main" val="959658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6AC78-C2DB-2EF4-A7C9-A11AA46D84D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20AD362-761B-0AFE-5882-685284B12208}"/>
              </a:ext>
            </a:extLst>
          </p:cNvPr>
          <p:cNvSpPr>
            <a:spLocks noGrp="1"/>
          </p:cNvSpPr>
          <p:nvPr>
            <p:ph idx="1"/>
          </p:nvPr>
        </p:nvSpPr>
        <p:spPr/>
        <p:txBody>
          <a:bodyPr>
            <a:normAutofit/>
          </a:bodyPr>
          <a:lstStyle/>
          <a:p>
            <a:r>
              <a:rPr lang="en-US" b="1" dirty="0"/>
              <a:t>Promotion of knowledge sharing</a:t>
            </a:r>
            <a:br>
              <a:rPr lang="en-US" dirty="0"/>
            </a:br>
            <a:r>
              <a:rPr lang="en-US" dirty="0"/>
              <a:t>Although IP laws grant exclusive rights, they also promote the dissemination of knowledge. For example, patent systems require inventors to disclose their inventions to the public, which helps others learn and build upon existing knowledge after the protection period ends.</a:t>
            </a:r>
          </a:p>
          <a:p>
            <a:endParaRPr lang="en-CA" dirty="0"/>
          </a:p>
        </p:txBody>
      </p:sp>
    </p:spTree>
    <p:extLst>
      <p:ext uri="{BB962C8B-B14F-4D97-AF65-F5344CB8AC3E}">
        <p14:creationId xmlns:p14="http://schemas.microsoft.com/office/powerpoint/2010/main" val="2199236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97857-763C-2F73-4C80-03BC1A64BBC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ED34EDC-604B-BE91-2F6D-C99A78B55D99}"/>
              </a:ext>
            </a:extLst>
          </p:cNvPr>
          <p:cNvSpPr>
            <a:spLocks noGrp="1"/>
          </p:cNvSpPr>
          <p:nvPr>
            <p:ph idx="1"/>
          </p:nvPr>
        </p:nvSpPr>
        <p:spPr/>
        <p:txBody>
          <a:bodyPr/>
          <a:lstStyle/>
          <a:p>
            <a:r>
              <a:rPr lang="en-US" b="1" dirty="0"/>
              <a:t>International recognition and compliance</a:t>
            </a:r>
            <a:br>
              <a:rPr lang="en-US" dirty="0"/>
            </a:br>
            <a:r>
              <a:rPr lang="en-US" dirty="0"/>
              <a:t>Countries with strong IP laws can participate effectively in international trade and agreements, such as those under the World Intellectual Property Organization (WIPO). Nepal’s IP laws help it comply with international standards and protect Nepali creators’ rights abroad as well.</a:t>
            </a:r>
          </a:p>
          <a:p>
            <a:r>
              <a:rPr lang="en-US" b="1" dirty="0"/>
              <a:t>In summary</a:t>
            </a:r>
            <a:r>
              <a:rPr lang="en-US" dirty="0"/>
              <a:t>, IP laws are necessary to balance the interests of creators, businesses, and the public. They protect creativity and innovation, encourage economic and social development, ensure fair competition, and support both national and global trade.</a:t>
            </a:r>
          </a:p>
          <a:p>
            <a:endParaRPr lang="en-CA" dirty="0"/>
          </a:p>
        </p:txBody>
      </p:sp>
    </p:spTree>
    <p:extLst>
      <p:ext uri="{BB962C8B-B14F-4D97-AF65-F5344CB8AC3E}">
        <p14:creationId xmlns:p14="http://schemas.microsoft.com/office/powerpoint/2010/main" val="1098706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0BD8-8180-962E-ECCF-794315477DCF}"/>
              </a:ext>
            </a:extLst>
          </p:cNvPr>
          <p:cNvSpPr>
            <a:spLocks noGrp="1"/>
          </p:cNvSpPr>
          <p:nvPr>
            <p:ph type="title"/>
          </p:nvPr>
        </p:nvSpPr>
        <p:spPr>
          <a:xfrm>
            <a:off x="838200" y="365125"/>
            <a:ext cx="10515600" cy="814451"/>
          </a:xfrm>
        </p:spPr>
        <p:txBody>
          <a:bodyPr/>
          <a:lstStyle/>
          <a:p>
            <a:r>
              <a:rPr lang="en-US" dirty="0"/>
              <a:t>IP Laws in Nepal </a:t>
            </a:r>
            <a:endParaRPr lang="en-CA" dirty="0"/>
          </a:p>
        </p:txBody>
      </p:sp>
      <p:sp>
        <p:nvSpPr>
          <p:cNvPr id="3" name="Content Placeholder 2">
            <a:extLst>
              <a:ext uri="{FF2B5EF4-FFF2-40B4-BE49-F238E27FC236}">
                <a16:creationId xmlns:a16="http://schemas.microsoft.com/office/drawing/2014/main" id="{049EFC5B-88B5-5E93-BD62-B328BBCD7528}"/>
              </a:ext>
            </a:extLst>
          </p:cNvPr>
          <p:cNvSpPr>
            <a:spLocks noGrp="1"/>
          </p:cNvSpPr>
          <p:nvPr>
            <p:ph idx="1"/>
          </p:nvPr>
        </p:nvSpPr>
        <p:spPr>
          <a:xfrm>
            <a:off x="838200" y="1179576"/>
            <a:ext cx="10515600" cy="5532120"/>
          </a:xfrm>
        </p:spPr>
        <p:txBody>
          <a:bodyPr>
            <a:normAutofit fontScale="77500" lnSpcReduction="20000"/>
          </a:bodyPr>
          <a:lstStyle/>
          <a:p>
            <a:r>
              <a:rPr lang="en-US" b="1" dirty="0"/>
              <a:t>1. Patent, Design and Trademark Act, 1965</a:t>
            </a:r>
          </a:p>
          <a:p>
            <a:r>
              <a:rPr lang="en-US" dirty="0"/>
              <a:t>This is Nepal’s oldest and main IP law. It covers:</a:t>
            </a:r>
          </a:p>
          <a:p>
            <a:r>
              <a:rPr lang="en-US" b="1" dirty="0"/>
              <a:t>🔹 Patent</a:t>
            </a:r>
          </a:p>
          <a:p>
            <a:r>
              <a:rPr lang="en-US" dirty="0"/>
              <a:t>Protects new inventions or processes.</a:t>
            </a:r>
          </a:p>
          <a:p>
            <a:r>
              <a:rPr lang="en-US" dirty="0"/>
              <a:t>Granted for </a:t>
            </a:r>
            <a:r>
              <a:rPr lang="en-US" b="1" dirty="0"/>
              <a:t>20 years</a:t>
            </a:r>
            <a:r>
              <a:rPr lang="en-US" dirty="0"/>
              <a:t>.</a:t>
            </a:r>
          </a:p>
          <a:p>
            <a:r>
              <a:rPr lang="en-US" dirty="0"/>
              <a:t>Must be </a:t>
            </a:r>
            <a:r>
              <a:rPr lang="en-US" b="1" dirty="0"/>
              <a:t>novel</a:t>
            </a:r>
            <a:r>
              <a:rPr lang="en-US" dirty="0"/>
              <a:t>, </a:t>
            </a:r>
            <a:r>
              <a:rPr lang="en-US" b="1" dirty="0"/>
              <a:t>useful</a:t>
            </a:r>
            <a:r>
              <a:rPr lang="en-US" dirty="0"/>
              <a:t>, and </a:t>
            </a:r>
            <a:r>
              <a:rPr lang="en-US" b="1" dirty="0"/>
              <a:t>inventive</a:t>
            </a:r>
            <a:r>
              <a:rPr lang="en-US" dirty="0"/>
              <a:t>.</a:t>
            </a:r>
          </a:p>
          <a:p>
            <a:r>
              <a:rPr lang="en-US" dirty="0"/>
              <a:t>Example: A new water purifier invented by a Nepali engineer.</a:t>
            </a:r>
          </a:p>
          <a:p>
            <a:r>
              <a:rPr lang="en-US" b="1" dirty="0"/>
              <a:t>🔹 Design</a:t>
            </a:r>
          </a:p>
          <a:p>
            <a:r>
              <a:rPr lang="en-US" dirty="0"/>
              <a:t>Protects the </a:t>
            </a:r>
            <a:r>
              <a:rPr lang="en-US" b="1" dirty="0"/>
              <a:t>appearance or shape</a:t>
            </a:r>
            <a:r>
              <a:rPr lang="en-US" dirty="0"/>
              <a:t> of a product.</a:t>
            </a:r>
          </a:p>
          <a:p>
            <a:r>
              <a:rPr lang="en-US" dirty="0"/>
              <a:t>Granted for </a:t>
            </a:r>
            <a:r>
              <a:rPr lang="en-US" b="1" dirty="0"/>
              <a:t>5 years</a:t>
            </a:r>
            <a:r>
              <a:rPr lang="en-US" dirty="0"/>
              <a:t>, renewable twice (up to 15 years).</a:t>
            </a:r>
          </a:p>
          <a:p>
            <a:r>
              <a:rPr lang="en-US" dirty="0"/>
              <a:t>Example: A unique bottle or jewelry design.</a:t>
            </a:r>
          </a:p>
          <a:p>
            <a:r>
              <a:rPr lang="en-US" b="1" dirty="0"/>
              <a:t>🔹 Trademark</a:t>
            </a:r>
          </a:p>
          <a:p>
            <a:r>
              <a:rPr lang="en-US" dirty="0"/>
              <a:t>Protects brand identity: </a:t>
            </a:r>
            <a:r>
              <a:rPr lang="en-US" b="1" dirty="0"/>
              <a:t>name, logo, slogan, or symbol</a:t>
            </a:r>
            <a:r>
              <a:rPr lang="en-US" dirty="0"/>
              <a:t>.</a:t>
            </a:r>
          </a:p>
          <a:p>
            <a:r>
              <a:rPr lang="en-US" dirty="0"/>
              <a:t>Granted for </a:t>
            </a:r>
            <a:r>
              <a:rPr lang="en-US" b="1" dirty="0"/>
              <a:t>7 years</a:t>
            </a:r>
            <a:r>
              <a:rPr lang="en-US" dirty="0"/>
              <a:t>, renewable indefinitely.</a:t>
            </a:r>
          </a:p>
          <a:p>
            <a:r>
              <a:rPr lang="en-US" dirty="0"/>
              <a:t>Example: “</a:t>
            </a:r>
            <a:r>
              <a:rPr lang="en-US" dirty="0" err="1"/>
              <a:t>Ncell</a:t>
            </a:r>
            <a:r>
              <a:rPr lang="en-US" dirty="0"/>
              <a:t>,” “Red Bull,” or your startup’s logo.</a:t>
            </a:r>
          </a:p>
          <a:p>
            <a:endParaRPr lang="en-CA" dirty="0"/>
          </a:p>
        </p:txBody>
      </p:sp>
    </p:spTree>
    <p:extLst>
      <p:ext uri="{BB962C8B-B14F-4D97-AF65-F5344CB8AC3E}">
        <p14:creationId xmlns:p14="http://schemas.microsoft.com/office/powerpoint/2010/main" val="2756921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09196-B2F9-DA9A-0DBF-02D66DE490B9}"/>
              </a:ext>
            </a:extLst>
          </p:cNvPr>
          <p:cNvSpPr>
            <a:spLocks noGrp="1"/>
          </p:cNvSpPr>
          <p:nvPr>
            <p:ph type="title"/>
          </p:nvPr>
        </p:nvSpPr>
        <p:spPr>
          <a:xfrm>
            <a:off x="838200" y="681037"/>
            <a:ext cx="10515600" cy="1009651"/>
          </a:xfrm>
        </p:spPr>
        <p:txBody>
          <a:bodyPr>
            <a:normAutofit fontScale="90000"/>
          </a:bodyPr>
          <a:lstStyle/>
          <a:p>
            <a:r>
              <a:rPr lang="en-US" b="1" dirty="0"/>
              <a:t>2. Copyright Act, 2002</a:t>
            </a:r>
            <a:br>
              <a:rPr lang="en-US" b="1" dirty="0"/>
            </a:br>
            <a:endParaRPr lang="en-CA" dirty="0"/>
          </a:p>
        </p:txBody>
      </p:sp>
      <p:sp>
        <p:nvSpPr>
          <p:cNvPr id="3" name="Content Placeholder 2">
            <a:extLst>
              <a:ext uri="{FF2B5EF4-FFF2-40B4-BE49-F238E27FC236}">
                <a16:creationId xmlns:a16="http://schemas.microsoft.com/office/drawing/2014/main" id="{8244C4B5-A9B2-831A-5F8D-347BE417F868}"/>
              </a:ext>
            </a:extLst>
          </p:cNvPr>
          <p:cNvSpPr>
            <a:spLocks noGrp="1"/>
          </p:cNvSpPr>
          <p:nvPr>
            <p:ph idx="1"/>
          </p:nvPr>
        </p:nvSpPr>
        <p:spPr>
          <a:xfrm>
            <a:off x="838200" y="1286128"/>
            <a:ext cx="10515600" cy="4730623"/>
          </a:xfrm>
        </p:spPr>
        <p:txBody>
          <a:bodyPr>
            <a:normAutofit fontScale="92500" lnSpcReduction="10000"/>
          </a:bodyPr>
          <a:lstStyle/>
          <a:p>
            <a:r>
              <a:rPr lang="en-US" dirty="0"/>
              <a:t>Protects </a:t>
            </a:r>
            <a:r>
              <a:rPr lang="en-US" b="1" dirty="0"/>
              <a:t>creative and artistic works</a:t>
            </a:r>
            <a:r>
              <a:rPr lang="en-US" dirty="0"/>
              <a:t>, including:</a:t>
            </a:r>
          </a:p>
          <a:p>
            <a:r>
              <a:rPr lang="en-US" dirty="0"/>
              <a:t>Books, articles, poetry, films</a:t>
            </a:r>
          </a:p>
          <a:p>
            <a:r>
              <a:rPr lang="en-US" dirty="0"/>
              <a:t>Software, apps, databases</a:t>
            </a:r>
          </a:p>
          <a:p>
            <a:r>
              <a:rPr lang="en-US" dirty="0"/>
              <a:t>Paintings, music, photography</a:t>
            </a:r>
          </a:p>
          <a:p>
            <a:r>
              <a:rPr lang="en-US" b="1" dirty="0"/>
              <a:t>Duration</a:t>
            </a:r>
            <a:r>
              <a:rPr lang="en-US" dirty="0"/>
              <a:t>:</a:t>
            </a:r>
          </a:p>
          <a:p>
            <a:r>
              <a:rPr lang="en-US" dirty="0"/>
              <a:t>Lifetime of the author + </a:t>
            </a:r>
            <a:r>
              <a:rPr lang="en-US" b="1" dirty="0"/>
              <a:t>50 years after death</a:t>
            </a:r>
            <a:r>
              <a:rPr lang="en-US" dirty="0"/>
              <a:t>.</a:t>
            </a:r>
          </a:p>
          <a:p>
            <a:r>
              <a:rPr lang="en-US" b="1" dirty="0"/>
              <a:t>Rights</a:t>
            </a:r>
            <a:r>
              <a:rPr lang="en-US" dirty="0"/>
              <a:t>:</a:t>
            </a:r>
          </a:p>
          <a:p>
            <a:r>
              <a:rPr lang="en-US" dirty="0"/>
              <a:t>Economic rights (to sell, license, reproduce)</a:t>
            </a:r>
          </a:p>
          <a:p>
            <a:r>
              <a:rPr lang="en-US" dirty="0"/>
              <a:t>Moral rights (to be identified as the creator)</a:t>
            </a:r>
          </a:p>
          <a:p>
            <a:r>
              <a:rPr lang="en-US" dirty="0"/>
              <a:t>Example: A Nepali songwriter owns copyright over their song — others can’t use it without permission.</a:t>
            </a:r>
          </a:p>
          <a:p>
            <a:endParaRPr lang="en-CA" dirty="0"/>
          </a:p>
        </p:txBody>
      </p:sp>
    </p:spTree>
    <p:extLst>
      <p:ext uri="{BB962C8B-B14F-4D97-AF65-F5344CB8AC3E}">
        <p14:creationId xmlns:p14="http://schemas.microsoft.com/office/powerpoint/2010/main" val="2573203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94545-1957-9ADD-925A-6955A3D79339}"/>
              </a:ext>
            </a:extLst>
          </p:cNvPr>
          <p:cNvSpPr>
            <a:spLocks noGrp="1"/>
          </p:cNvSpPr>
          <p:nvPr>
            <p:ph type="title"/>
          </p:nvPr>
        </p:nvSpPr>
        <p:spPr/>
        <p:txBody>
          <a:bodyPr/>
          <a:lstStyle/>
          <a:p>
            <a:r>
              <a:rPr lang="en-US" dirty="0"/>
              <a:t>IT related policies and laws in Nepal</a:t>
            </a:r>
            <a:endParaRPr lang="en-CA" dirty="0"/>
          </a:p>
        </p:txBody>
      </p:sp>
      <p:sp>
        <p:nvSpPr>
          <p:cNvPr id="3" name="Content Placeholder 2">
            <a:extLst>
              <a:ext uri="{FF2B5EF4-FFF2-40B4-BE49-F238E27FC236}">
                <a16:creationId xmlns:a16="http://schemas.microsoft.com/office/drawing/2014/main" id="{DC4E6764-D0F1-70C7-BCCB-A379E69FFE88}"/>
              </a:ext>
            </a:extLst>
          </p:cNvPr>
          <p:cNvSpPr>
            <a:spLocks noGrp="1"/>
          </p:cNvSpPr>
          <p:nvPr>
            <p:ph idx="1"/>
          </p:nvPr>
        </p:nvSpPr>
        <p:spPr>
          <a:xfrm>
            <a:off x="274320" y="1825625"/>
            <a:ext cx="11475720" cy="4351338"/>
          </a:xfrm>
        </p:spPr>
        <p:txBody>
          <a:bodyPr/>
          <a:lstStyle/>
          <a:p>
            <a:pPr>
              <a:buNone/>
            </a:pPr>
            <a:r>
              <a:rPr lang="en-US" dirty="0"/>
              <a:t>Nepal’s government has introduced several </a:t>
            </a:r>
            <a:r>
              <a:rPr lang="en-US" b="1" dirty="0"/>
              <a:t>laws, policies, and regulations</a:t>
            </a:r>
            <a:r>
              <a:rPr lang="en-US" dirty="0"/>
              <a:t> to promote and regulate the </a:t>
            </a:r>
            <a:r>
              <a:rPr lang="en-US" b="1" dirty="0"/>
              <a:t>Information and Communication Technology (ICT)</a:t>
            </a:r>
            <a:r>
              <a:rPr lang="en-US" dirty="0"/>
              <a:t> sector.</a:t>
            </a:r>
            <a:br>
              <a:rPr lang="en-US" dirty="0"/>
            </a:br>
            <a:r>
              <a:rPr lang="en-US" dirty="0"/>
              <a:t>These cover </a:t>
            </a:r>
            <a:r>
              <a:rPr lang="en-US" b="1" dirty="0"/>
              <a:t>e-governance, digital transactions, cyber-security, data protection, and IT infrastructure</a:t>
            </a:r>
            <a:r>
              <a:rPr lang="en-US" dirty="0"/>
              <a:t>.</a:t>
            </a:r>
          </a:p>
          <a:p>
            <a:endParaRPr lang="en-CA" dirty="0"/>
          </a:p>
        </p:txBody>
      </p:sp>
    </p:spTree>
    <p:extLst>
      <p:ext uri="{BB962C8B-B14F-4D97-AF65-F5344CB8AC3E}">
        <p14:creationId xmlns:p14="http://schemas.microsoft.com/office/powerpoint/2010/main" val="2097426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BFED-492B-57CB-694F-4E9228D868D1}"/>
              </a:ext>
            </a:extLst>
          </p:cNvPr>
          <p:cNvSpPr>
            <a:spLocks noGrp="1"/>
          </p:cNvSpPr>
          <p:nvPr>
            <p:ph type="title"/>
          </p:nvPr>
        </p:nvSpPr>
        <p:spPr>
          <a:xfrm>
            <a:off x="838200" y="566928"/>
            <a:ext cx="10515600" cy="548640"/>
          </a:xfrm>
        </p:spPr>
        <p:txBody>
          <a:bodyPr>
            <a:normAutofit fontScale="90000"/>
          </a:bodyPr>
          <a:lstStyle/>
          <a:p>
            <a:r>
              <a:rPr lang="en-US" b="1" dirty="0"/>
              <a:t>1. Electronic Transactions Act (ETA), 2063 (2008)</a:t>
            </a:r>
            <a:br>
              <a:rPr lang="en-US" b="1" dirty="0"/>
            </a:br>
            <a:endParaRPr lang="en-CA" dirty="0"/>
          </a:p>
        </p:txBody>
      </p:sp>
      <p:sp>
        <p:nvSpPr>
          <p:cNvPr id="3" name="Content Placeholder 2">
            <a:extLst>
              <a:ext uri="{FF2B5EF4-FFF2-40B4-BE49-F238E27FC236}">
                <a16:creationId xmlns:a16="http://schemas.microsoft.com/office/drawing/2014/main" id="{5F37CDCC-7DD1-4F94-ECED-1D480700D4AA}"/>
              </a:ext>
            </a:extLst>
          </p:cNvPr>
          <p:cNvSpPr>
            <a:spLocks noGrp="1"/>
          </p:cNvSpPr>
          <p:nvPr>
            <p:ph idx="1"/>
          </p:nvPr>
        </p:nvSpPr>
        <p:spPr>
          <a:xfrm>
            <a:off x="448056" y="978408"/>
            <a:ext cx="10905744" cy="5532120"/>
          </a:xfrm>
        </p:spPr>
        <p:txBody>
          <a:bodyPr>
            <a:normAutofit fontScale="92500" lnSpcReduction="10000"/>
          </a:bodyPr>
          <a:lstStyle/>
          <a:p>
            <a:r>
              <a:rPr lang="en-US" b="1" dirty="0"/>
              <a:t>Main IT law of Nepal</a:t>
            </a:r>
            <a:endParaRPr lang="en-US" dirty="0"/>
          </a:p>
          <a:p>
            <a:pPr marL="0" indent="0">
              <a:buNone/>
            </a:pPr>
            <a:r>
              <a:rPr lang="en-US" b="1" dirty="0"/>
              <a:t> Purpose:</a:t>
            </a:r>
          </a:p>
          <a:p>
            <a:r>
              <a:rPr lang="en-US" dirty="0"/>
              <a:t>Give </a:t>
            </a:r>
            <a:r>
              <a:rPr lang="en-US" b="1" dirty="0"/>
              <a:t>legal recognition</a:t>
            </a:r>
            <a:r>
              <a:rPr lang="en-US" dirty="0"/>
              <a:t> to electronic records, transactions, and digital signatures.</a:t>
            </a:r>
          </a:p>
          <a:p>
            <a:r>
              <a:rPr lang="en-US" dirty="0"/>
              <a:t>Regulate </a:t>
            </a:r>
            <a:r>
              <a:rPr lang="en-US" b="1" dirty="0"/>
              <a:t>cybercrimes and misuse</a:t>
            </a:r>
            <a:r>
              <a:rPr lang="en-US" dirty="0"/>
              <a:t> of computers and online platforms.</a:t>
            </a:r>
          </a:p>
          <a:p>
            <a:r>
              <a:rPr lang="en-US" b="1" dirty="0"/>
              <a:t>Key Provisions:</a:t>
            </a:r>
          </a:p>
          <a:p>
            <a:r>
              <a:rPr lang="en-US" dirty="0"/>
              <a:t>Legal validity of </a:t>
            </a:r>
            <a:r>
              <a:rPr lang="en-US" b="1" dirty="0"/>
              <a:t>digital signatures</a:t>
            </a:r>
            <a:r>
              <a:rPr lang="en-US" dirty="0"/>
              <a:t> and </a:t>
            </a:r>
            <a:r>
              <a:rPr lang="en-US" b="1" dirty="0"/>
              <a:t>electronic records</a:t>
            </a:r>
            <a:r>
              <a:rPr lang="en-US" dirty="0"/>
              <a:t>.</a:t>
            </a:r>
          </a:p>
          <a:p>
            <a:r>
              <a:rPr lang="en-US" b="1" dirty="0"/>
              <a:t>Licensing of Certifying Authorities</a:t>
            </a:r>
            <a:r>
              <a:rPr lang="en-US" dirty="0"/>
              <a:t> for digital signatures.</a:t>
            </a:r>
          </a:p>
          <a:p>
            <a:r>
              <a:rPr lang="en-US" b="1" dirty="0"/>
              <a:t>Cybercrime offenses</a:t>
            </a:r>
            <a:r>
              <a:rPr lang="en-US" dirty="0"/>
              <a:t> like hacking, data theft, online fraud, and defamation.</a:t>
            </a:r>
          </a:p>
          <a:p>
            <a:r>
              <a:rPr lang="en-US" dirty="0"/>
              <a:t>Jurisdiction extends to offenses </a:t>
            </a:r>
            <a:r>
              <a:rPr lang="en-US" b="1" dirty="0"/>
              <a:t>committed outside Nepal</a:t>
            </a:r>
            <a:r>
              <a:rPr lang="en-US" dirty="0"/>
              <a:t> affecting Nepalese systems.</a:t>
            </a:r>
          </a:p>
          <a:p>
            <a:pPr marL="0" indent="0">
              <a:buNone/>
            </a:pPr>
            <a:r>
              <a:rPr lang="en-US" b="1" dirty="0"/>
              <a:t>Authority:</a:t>
            </a:r>
          </a:p>
          <a:p>
            <a:r>
              <a:rPr lang="en-US" dirty="0"/>
              <a:t>Ministry of Communication and Information Technology (</a:t>
            </a:r>
            <a:r>
              <a:rPr lang="en-US" dirty="0" err="1"/>
              <a:t>MoCIT</a:t>
            </a:r>
            <a:r>
              <a:rPr lang="en-US" dirty="0"/>
              <a:t>).</a:t>
            </a:r>
          </a:p>
          <a:p>
            <a:endParaRPr lang="en-CA" dirty="0"/>
          </a:p>
        </p:txBody>
      </p:sp>
    </p:spTree>
    <p:extLst>
      <p:ext uri="{BB962C8B-B14F-4D97-AF65-F5344CB8AC3E}">
        <p14:creationId xmlns:p14="http://schemas.microsoft.com/office/powerpoint/2010/main" val="2329170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CC220-674C-FE27-4890-9C899936C011}"/>
              </a:ext>
            </a:extLst>
          </p:cNvPr>
          <p:cNvSpPr>
            <a:spLocks noGrp="1"/>
          </p:cNvSpPr>
          <p:nvPr>
            <p:ph type="title"/>
          </p:nvPr>
        </p:nvSpPr>
        <p:spPr/>
        <p:txBody>
          <a:bodyPr/>
          <a:lstStyle/>
          <a:p>
            <a:endParaRPr lang="en-CA" dirty="0"/>
          </a:p>
        </p:txBody>
      </p:sp>
      <p:pic>
        <p:nvPicPr>
          <p:cNvPr id="20" name="Content Placeholder 19">
            <a:extLst>
              <a:ext uri="{FF2B5EF4-FFF2-40B4-BE49-F238E27FC236}">
                <a16:creationId xmlns:a16="http://schemas.microsoft.com/office/drawing/2014/main" id="{D5E4EEC8-C200-D460-323F-B6921A07EB9E}"/>
              </a:ext>
            </a:extLst>
          </p:cNvPr>
          <p:cNvPicPr>
            <a:picLocks noGrp="1" noChangeAspect="1"/>
          </p:cNvPicPr>
          <p:nvPr>
            <p:ph idx="1"/>
          </p:nvPr>
        </p:nvPicPr>
        <p:blipFill>
          <a:blip r:embed="rId2"/>
          <a:stretch>
            <a:fillRect/>
          </a:stretch>
        </p:blipFill>
        <p:spPr>
          <a:xfrm>
            <a:off x="1780032" y="2011680"/>
            <a:ext cx="8631936" cy="4279391"/>
          </a:xfrm>
          <a:prstGeom prst="rect">
            <a:avLst/>
          </a:prstGeom>
        </p:spPr>
      </p:pic>
    </p:spTree>
    <p:extLst>
      <p:ext uri="{BB962C8B-B14F-4D97-AF65-F5344CB8AC3E}">
        <p14:creationId xmlns:p14="http://schemas.microsoft.com/office/powerpoint/2010/main" val="3553746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99EFA-8A66-2828-63FB-99B5C969F9F5}"/>
              </a:ext>
            </a:extLst>
          </p:cNvPr>
          <p:cNvSpPr>
            <a:spLocks noGrp="1"/>
          </p:cNvSpPr>
          <p:nvPr>
            <p:ph type="title"/>
          </p:nvPr>
        </p:nvSpPr>
        <p:spPr>
          <a:xfrm>
            <a:off x="838200" y="877824"/>
            <a:ext cx="10515600" cy="812864"/>
          </a:xfrm>
        </p:spPr>
        <p:txBody>
          <a:bodyPr>
            <a:normAutofit fontScale="90000"/>
          </a:bodyPr>
          <a:lstStyle/>
          <a:p>
            <a:r>
              <a:rPr lang="en-US" b="1" dirty="0"/>
              <a:t>Cyber Security Policy, 2080 (2023)</a:t>
            </a:r>
            <a:br>
              <a:rPr lang="en-US" b="1" dirty="0"/>
            </a:br>
            <a:endParaRPr lang="en-CA" dirty="0"/>
          </a:p>
        </p:txBody>
      </p:sp>
      <p:sp>
        <p:nvSpPr>
          <p:cNvPr id="3" name="Content Placeholder 2">
            <a:extLst>
              <a:ext uri="{FF2B5EF4-FFF2-40B4-BE49-F238E27FC236}">
                <a16:creationId xmlns:a16="http://schemas.microsoft.com/office/drawing/2014/main" id="{38570D28-FCDC-6FE7-F8D2-63418CA1201F}"/>
              </a:ext>
            </a:extLst>
          </p:cNvPr>
          <p:cNvSpPr>
            <a:spLocks noGrp="1"/>
          </p:cNvSpPr>
          <p:nvPr>
            <p:ph idx="1"/>
          </p:nvPr>
        </p:nvSpPr>
        <p:spPr/>
        <p:txBody>
          <a:bodyPr/>
          <a:lstStyle/>
          <a:p>
            <a:r>
              <a:rPr lang="en-US" b="1" dirty="0"/>
              <a:t>New digital policy focusing on online safety and resilience.</a:t>
            </a:r>
            <a:endParaRPr lang="en-US" dirty="0"/>
          </a:p>
          <a:p>
            <a:r>
              <a:rPr lang="en-US" b="1" dirty="0"/>
              <a:t>Objectives:</a:t>
            </a:r>
          </a:p>
          <a:p>
            <a:r>
              <a:rPr lang="en-US" dirty="0"/>
              <a:t>Protect national ICT infrastructure and sensitive data.</a:t>
            </a:r>
          </a:p>
          <a:p>
            <a:r>
              <a:rPr lang="en-US" dirty="0"/>
              <a:t>Establish </a:t>
            </a:r>
            <a:r>
              <a:rPr lang="en-US" b="1" dirty="0"/>
              <a:t>Cyber Security Operation Centers (CSOCs)</a:t>
            </a:r>
            <a:r>
              <a:rPr lang="en-US" dirty="0"/>
              <a:t>.</a:t>
            </a:r>
          </a:p>
          <a:p>
            <a:r>
              <a:rPr lang="en-US" dirty="0"/>
              <a:t>Promote </a:t>
            </a:r>
            <a:r>
              <a:rPr lang="en-US" b="1" dirty="0"/>
              <a:t>cyber awareness, capacity building, and collaboration</a:t>
            </a:r>
            <a:r>
              <a:rPr lang="en-US" dirty="0"/>
              <a:t>.</a:t>
            </a:r>
          </a:p>
          <a:p>
            <a:r>
              <a:rPr lang="en-US" dirty="0"/>
              <a:t>Define </a:t>
            </a:r>
            <a:r>
              <a:rPr lang="en-US" b="1" dirty="0"/>
              <a:t>responsibilities for government, private sector, and citizens</a:t>
            </a:r>
            <a:r>
              <a:rPr lang="en-US" dirty="0"/>
              <a:t> in maintaining cybersecurity.</a:t>
            </a:r>
          </a:p>
          <a:p>
            <a:endParaRPr lang="en-CA" dirty="0"/>
          </a:p>
        </p:txBody>
      </p:sp>
    </p:spTree>
    <p:extLst>
      <p:ext uri="{BB962C8B-B14F-4D97-AF65-F5344CB8AC3E}">
        <p14:creationId xmlns:p14="http://schemas.microsoft.com/office/powerpoint/2010/main" val="3504685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EDDB-C7BB-670C-D3EA-40C4FC3EEBFE}"/>
              </a:ext>
            </a:extLst>
          </p:cNvPr>
          <p:cNvSpPr>
            <a:spLocks noGrp="1"/>
          </p:cNvSpPr>
          <p:nvPr>
            <p:ph type="title"/>
          </p:nvPr>
        </p:nvSpPr>
        <p:spPr/>
        <p:txBody>
          <a:bodyPr>
            <a:normAutofit/>
          </a:bodyPr>
          <a:lstStyle/>
          <a:p>
            <a:br>
              <a:rPr lang="en-US" b="1" dirty="0"/>
            </a:br>
            <a:endParaRPr lang="en-CA" dirty="0"/>
          </a:p>
        </p:txBody>
      </p:sp>
      <p:sp>
        <p:nvSpPr>
          <p:cNvPr id="3" name="Content Placeholder 2">
            <a:extLst>
              <a:ext uri="{FF2B5EF4-FFF2-40B4-BE49-F238E27FC236}">
                <a16:creationId xmlns:a16="http://schemas.microsoft.com/office/drawing/2014/main" id="{0433728D-FB05-2055-0A1A-B4E2E9114368}"/>
              </a:ext>
            </a:extLst>
          </p:cNvPr>
          <p:cNvSpPr>
            <a:spLocks noGrp="1"/>
          </p:cNvSpPr>
          <p:nvPr>
            <p:ph idx="1"/>
          </p:nvPr>
        </p:nvSpPr>
        <p:spPr>
          <a:xfrm>
            <a:off x="838200" y="1289304"/>
            <a:ext cx="10515600" cy="4887659"/>
          </a:xfrm>
        </p:spPr>
        <p:txBody>
          <a:bodyPr/>
          <a:lstStyle/>
          <a:p>
            <a:r>
              <a:rPr lang="en-US" dirty="0"/>
              <a:t>The primary goal of the policy is to establish a </a:t>
            </a:r>
            <a:r>
              <a:rPr lang="en-US" b="1" dirty="0"/>
              <a:t>secure and resilient cyber space</a:t>
            </a:r>
            <a:r>
              <a:rPr lang="en-US" dirty="0"/>
              <a:t> to safeguard the country's information, data, and technology systems from constantly evolving cyber threats. It aims to address the current lack of a comprehensive legal and institutional framework for cybersecurity.</a:t>
            </a:r>
          </a:p>
          <a:p>
            <a:endParaRPr lang="en-CA" dirty="0"/>
          </a:p>
        </p:txBody>
      </p:sp>
    </p:spTree>
    <p:extLst>
      <p:ext uri="{BB962C8B-B14F-4D97-AF65-F5344CB8AC3E}">
        <p14:creationId xmlns:p14="http://schemas.microsoft.com/office/powerpoint/2010/main" val="1260095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8C4A-C655-6123-AC14-A6D2A5ED0D9E}"/>
              </a:ext>
            </a:extLst>
          </p:cNvPr>
          <p:cNvSpPr>
            <a:spLocks noGrp="1"/>
          </p:cNvSpPr>
          <p:nvPr>
            <p:ph type="title"/>
          </p:nvPr>
        </p:nvSpPr>
        <p:spPr/>
        <p:txBody>
          <a:bodyPr/>
          <a:lstStyle/>
          <a:p>
            <a:r>
              <a:rPr lang="en-US" b="1" dirty="0"/>
              <a:t>Key Objectives of the Policy</a:t>
            </a:r>
            <a:endParaRPr lang="en-CA" dirty="0"/>
          </a:p>
        </p:txBody>
      </p:sp>
      <p:sp>
        <p:nvSpPr>
          <p:cNvPr id="3" name="Content Placeholder 2">
            <a:extLst>
              <a:ext uri="{FF2B5EF4-FFF2-40B4-BE49-F238E27FC236}">
                <a16:creationId xmlns:a16="http://schemas.microsoft.com/office/drawing/2014/main" id="{2DEB8C92-2C55-4178-84AC-1BB46F364483}"/>
              </a:ext>
            </a:extLst>
          </p:cNvPr>
          <p:cNvSpPr>
            <a:spLocks noGrp="1"/>
          </p:cNvSpPr>
          <p:nvPr>
            <p:ph idx="1"/>
          </p:nvPr>
        </p:nvSpPr>
        <p:spPr>
          <a:xfrm>
            <a:off x="838200" y="1280160"/>
            <a:ext cx="10515600" cy="5413248"/>
          </a:xfrm>
        </p:spPr>
        <p:txBody>
          <a:bodyPr>
            <a:normAutofit fontScale="85000" lnSpcReduction="20000"/>
          </a:bodyPr>
          <a:lstStyle/>
          <a:p>
            <a:pPr marL="0" indent="0">
              <a:buNone/>
            </a:pPr>
            <a:endParaRPr lang="en-US" b="1" dirty="0"/>
          </a:p>
          <a:p>
            <a:r>
              <a:rPr lang="en-US" dirty="0"/>
              <a:t>The policy focuses on five main objectives to achieve its long-term vision:</a:t>
            </a:r>
          </a:p>
          <a:p>
            <a:r>
              <a:rPr lang="en-US" b="1" dirty="0"/>
              <a:t>Legal &amp; Institutional Framework:</a:t>
            </a:r>
            <a:r>
              <a:rPr lang="en-US" dirty="0"/>
              <a:t> To establish the necessary </a:t>
            </a:r>
            <a:r>
              <a:rPr lang="en-US" b="1" dirty="0"/>
              <a:t>legal and institutional structures</a:t>
            </a:r>
            <a:r>
              <a:rPr lang="en-US" dirty="0"/>
              <a:t> to build a secure cyber space, including setting up dedicated bodies.</a:t>
            </a:r>
          </a:p>
          <a:p>
            <a:r>
              <a:rPr lang="en-US" b="1" dirty="0"/>
              <a:t>Critical Infrastructure Protection:</a:t>
            </a:r>
            <a:r>
              <a:rPr lang="en-US" dirty="0"/>
              <a:t> To identify, reduce the risk of cyber-attacks on, and </a:t>
            </a:r>
            <a:r>
              <a:rPr lang="en-US" b="1" dirty="0"/>
              <a:t>protect the National Critical Infrastructure</a:t>
            </a:r>
            <a:r>
              <a:rPr lang="en-US" dirty="0"/>
              <a:t> (like government data centers, financial systems, and essential services).</a:t>
            </a:r>
          </a:p>
          <a:p>
            <a:r>
              <a:rPr lang="en-US" b="1" dirty="0"/>
              <a:t>Capacity Building:</a:t>
            </a:r>
            <a:r>
              <a:rPr lang="en-US" dirty="0"/>
              <a:t> To enhance </a:t>
            </a:r>
            <a:r>
              <a:rPr lang="en-US" b="1" dirty="0"/>
              <a:t>cyber security research</a:t>
            </a:r>
            <a:r>
              <a:rPr lang="en-US" dirty="0"/>
              <a:t>, human resource development, and the capacity of the existing workforce through training and skill development.</a:t>
            </a:r>
          </a:p>
          <a:p>
            <a:r>
              <a:rPr lang="en-US" b="1" dirty="0"/>
              <a:t>Service Reliability:</a:t>
            </a:r>
            <a:r>
              <a:rPr lang="en-US" dirty="0"/>
              <a:t> To improve the </a:t>
            </a:r>
            <a:r>
              <a:rPr lang="en-US" b="1" dirty="0"/>
              <a:t>reliability and security</a:t>
            </a:r>
            <a:r>
              <a:rPr lang="en-US" dirty="0"/>
              <a:t> of digital technology-based services offered to citizens and businesses.</a:t>
            </a:r>
          </a:p>
          <a:p>
            <a:r>
              <a:rPr lang="en-US" b="1" dirty="0"/>
              <a:t>International Cooperation:</a:t>
            </a:r>
            <a:r>
              <a:rPr lang="en-US" dirty="0"/>
              <a:t> To facilitate </a:t>
            </a:r>
            <a:r>
              <a:rPr lang="en-US" b="1" dirty="0"/>
              <a:t>bilateral, regional, and international coordination</a:t>
            </a:r>
            <a:r>
              <a:rPr lang="en-US" dirty="0"/>
              <a:t> for knowledge sharing and assistance to mitigate cyber risks, as cyber-attacks are borderless.</a:t>
            </a:r>
          </a:p>
          <a:p>
            <a:endParaRPr lang="en-CA" dirty="0"/>
          </a:p>
        </p:txBody>
      </p:sp>
    </p:spTree>
    <p:extLst>
      <p:ext uri="{BB962C8B-B14F-4D97-AF65-F5344CB8AC3E}">
        <p14:creationId xmlns:p14="http://schemas.microsoft.com/office/powerpoint/2010/main" val="2070595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AF610-5FAA-59B7-DB74-F9644FDDEE81}"/>
              </a:ext>
            </a:extLst>
          </p:cNvPr>
          <p:cNvSpPr>
            <a:spLocks noGrp="1"/>
          </p:cNvSpPr>
          <p:nvPr>
            <p:ph type="title"/>
          </p:nvPr>
        </p:nvSpPr>
        <p:spPr>
          <a:xfrm>
            <a:off x="838200" y="681037"/>
            <a:ext cx="10515600" cy="1009651"/>
          </a:xfrm>
        </p:spPr>
        <p:txBody>
          <a:bodyPr>
            <a:normAutofit fontScale="90000"/>
          </a:bodyPr>
          <a:lstStyle/>
          <a:p>
            <a:r>
              <a:rPr lang="en-US" b="1" dirty="0"/>
              <a:t>Telecommunications Act, 2053 (1997)</a:t>
            </a:r>
            <a:br>
              <a:rPr lang="en-US" b="1" dirty="0"/>
            </a:br>
            <a:endParaRPr lang="en-CA" dirty="0"/>
          </a:p>
        </p:txBody>
      </p:sp>
      <p:sp>
        <p:nvSpPr>
          <p:cNvPr id="3" name="Content Placeholder 2">
            <a:extLst>
              <a:ext uri="{FF2B5EF4-FFF2-40B4-BE49-F238E27FC236}">
                <a16:creationId xmlns:a16="http://schemas.microsoft.com/office/drawing/2014/main" id="{607BAC8E-54C8-1135-AC90-57E48E4524A2}"/>
              </a:ext>
            </a:extLst>
          </p:cNvPr>
          <p:cNvSpPr>
            <a:spLocks noGrp="1"/>
          </p:cNvSpPr>
          <p:nvPr>
            <p:ph idx="1"/>
          </p:nvPr>
        </p:nvSpPr>
        <p:spPr>
          <a:xfrm>
            <a:off x="530352" y="1453896"/>
            <a:ext cx="10823448" cy="4723067"/>
          </a:xfrm>
        </p:spPr>
        <p:txBody>
          <a:bodyPr/>
          <a:lstStyle/>
          <a:p>
            <a:r>
              <a:rPr lang="en-US" b="1" dirty="0"/>
              <a:t>Key Provisions of the Telecommunications Act, 2053 (1997)</a:t>
            </a:r>
          </a:p>
          <a:p>
            <a:r>
              <a:rPr lang="en-US" dirty="0"/>
              <a:t>The main purpose of the Act is to make telecommunication services </a:t>
            </a:r>
            <a:r>
              <a:rPr lang="en-US" b="1" dirty="0"/>
              <a:t>reliable</a:t>
            </a:r>
            <a:r>
              <a:rPr lang="en-US" dirty="0"/>
              <a:t> and </a:t>
            </a:r>
            <a:r>
              <a:rPr lang="en-US" b="1" dirty="0"/>
              <a:t>easily available</a:t>
            </a:r>
            <a:r>
              <a:rPr lang="en-US" dirty="0"/>
              <a:t> to the public while providing a structured framework for regulation and development.</a:t>
            </a:r>
          </a:p>
          <a:p>
            <a:r>
              <a:rPr lang="en-US" dirty="0"/>
              <a:t>The primary law governing the telecommunications sector in Nepal is the </a:t>
            </a:r>
            <a:r>
              <a:rPr lang="en-US" b="1" dirty="0"/>
              <a:t>Telecommunications Act, 2053 (1997 A.D.)</a:t>
            </a:r>
            <a:r>
              <a:rPr lang="en-US" dirty="0"/>
              <a:t>. This Act was a landmark piece of legislation that moved the sector from a state monopoly to one that encourages private and foreign investment.</a:t>
            </a:r>
          </a:p>
          <a:p>
            <a:endParaRPr lang="en-CA" dirty="0"/>
          </a:p>
        </p:txBody>
      </p:sp>
    </p:spTree>
    <p:extLst>
      <p:ext uri="{BB962C8B-B14F-4D97-AF65-F5344CB8AC3E}">
        <p14:creationId xmlns:p14="http://schemas.microsoft.com/office/powerpoint/2010/main" val="766220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C7EDB-6371-7F43-4B44-5248F6895958}"/>
              </a:ext>
            </a:extLst>
          </p:cNvPr>
          <p:cNvSpPr>
            <a:spLocks noGrp="1"/>
          </p:cNvSpPr>
          <p:nvPr>
            <p:ph type="title"/>
          </p:nvPr>
        </p:nvSpPr>
        <p:spPr/>
        <p:txBody>
          <a:bodyPr/>
          <a:lstStyle/>
          <a:p>
            <a:r>
              <a:rPr lang="en-US" dirty="0"/>
              <a:t>Key Provisions of the Telecommunications Act, 2053 (1997)</a:t>
            </a:r>
            <a:endParaRPr lang="en-CA" dirty="0"/>
          </a:p>
        </p:txBody>
      </p:sp>
      <p:sp>
        <p:nvSpPr>
          <p:cNvPr id="3" name="Content Placeholder 2">
            <a:extLst>
              <a:ext uri="{FF2B5EF4-FFF2-40B4-BE49-F238E27FC236}">
                <a16:creationId xmlns:a16="http://schemas.microsoft.com/office/drawing/2014/main" id="{D06CCD0A-9F24-73AB-CC7A-3A6B6BFF9319}"/>
              </a:ext>
            </a:extLst>
          </p:cNvPr>
          <p:cNvSpPr>
            <a:spLocks noGrp="1"/>
          </p:cNvSpPr>
          <p:nvPr>
            <p:ph idx="1"/>
          </p:nvPr>
        </p:nvSpPr>
        <p:spPr/>
        <p:txBody>
          <a:bodyPr>
            <a:normAutofit fontScale="92500" lnSpcReduction="20000"/>
          </a:bodyPr>
          <a:lstStyle/>
          <a:p>
            <a:r>
              <a:rPr lang="en-US" b="1" dirty="0"/>
              <a:t>1. Establishment of the Regulator (NTA)</a:t>
            </a:r>
          </a:p>
          <a:p>
            <a:r>
              <a:rPr lang="en-US" dirty="0"/>
              <a:t>The most crucial provision of the Act is the establishment of the </a:t>
            </a:r>
            <a:r>
              <a:rPr lang="en-US" b="1" dirty="0"/>
              <a:t>Nepal Telecommunications Authority (NTA)</a:t>
            </a:r>
            <a:r>
              <a:rPr lang="en-US" dirty="0"/>
              <a:t>:</a:t>
            </a:r>
          </a:p>
          <a:p>
            <a:r>
              <a:rPr lang="en-US" b="1" dirty="0"/>
              <a:t>Purpose:</a:t>
            </a:r>
            <a:r>
              <a:rPr lang="en-US" dirty="0"/>
              <a:t> To manage and regulate all telecommunication services.</a:t>
            </a:r>
          </a:p>
          <a:p>
            <a:r>
              <a:rPr lang="en-US" b="1" dirty="0"/>
              <a:t>Status:</a:t>
            </a:r>
            <a:r>
              <a:rPr lang="en-US" dirty="0"/>
              <a:t> It is established as an </a:t>
            </a:r>
            <a:r>
              <a:rPr lang="en-US" b="1" dirty="0"/>
              <a:t>autonomous and corporate body</a:t>
            </a:r>
            <a:r>
              <a:rPr lang="en-US" dirty="0"/>
              <a:t> with perpetual succession.</a:t>
            </a:r>
          </a:p>
          <a:p>
            <a:r>
              <a:rPr lang="en-US" b="1" dirty="0"/>
              <a:t>Functions and Duties:</a:t>
            </a:r>
            <a:r>
              <a:rPr lang="en-US" dirty="0"/>
              <a:t> The Act mandates the NTA to perform various functions, including:</a:t>
            </a:r>
          </a:p>
          <a:p>
            <a:pPr lvl="1"/>
            <a:r>
              <a:rPr lang="en-US" dirty="0"/>
              <a:t>Ensuring the service is reliable and easily available.</a:t>
            </a:r>
          </a:p>
          <a:p>
            <a:pPr lvl="1"/>
            <a:r>
              <a:rPr lang="en-US" dirty="0"/>
              <a:t>Making arrangements to avail </a:t>
            </a:r>
            <a:r>
              <a:rPr lang="en-US" b="1" dirty="0"/>
              <a:t>basic telecommunications services</a:t>
            </a:r>
            <a:r>
              <a:rPr lang="en-US" dirty="0"/>
              <a:t> and facilities in all rural and urban areas (Universal Service Obligation).</a:t>
            </a:r>
          </a:p>
          <a:p>
            <a:pPr lvl="1"/>
            <a:r>
              <a:rPr lang="en-US" dirty="0"/>
              <a:t>Promoting coordination and </a:t>
            </a:r>
            <a:r>
              <a:rPr lang="en-US" b="1" dirty="0"/>
              <a:t>healthy competition</a:t>
            </a:r>
            <a:r>
              <a:rPr lang="en-US" dirty="0"/>
              <a:t> among service providers.</a:t>
            </a:r>
          </a:p>
          <a:p>
            <a:pPr lvl="1"/>
            <a:r>
              <a:rPr lang="en-US" dirty="0"/>
              <a:t>Protecting the </a:t>
            </a:r>
            <a:r>
              <a:rPr lang="en-US" b="1" dirty="0"/>
              <a:t>rights and interests of consumers</a:t>
            </a:r>
            <a:r>
              <a:rPr lang="en-US" dirty="0"/>
              <a:t>.</a:t>
            </a:r>
          </a:p>
          <a:p>
            <a:endParaRPr lang="en-CA" dirty="0"/>
          </a:p>
        </p:txBody>
      </p:sp>
    </p:spTree>
    <p:extLst>
      <p:ext uri="{BB962C8B-B14F-4D97-AF65-F5344CB8AC3E}">
        <p14:creationId xmlns:p14="http://schemas.microsoft.com/office/powerpoint/2010/main" val="2903181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E20F1-D8E9-AFA1-EB93-2CE054009110}"/>
              </a:ext>
            </a:extLst>
          </p:cNvPr>
          <p:cNvSpPr>
            <a:spLocks noGrp="1"/>
          </p:cNvSpPr>
          <p:nvPr>
            <p:ph type="title"/>
          </p:nvPr>
        </p:nvSpPr>
        <p:spPr/>
        <p:txBody>
          <a:bodyPr/>
          <a:lstStyle/>
          <a:p>
            <a:r>
              <a:rPr lang="en-US" b="1" dirty="0"/>
              <a:t>2. Licensing and Regulation</a:t>
            </a:r>
            <a:br>
              <a:rPr lang="en-US" b="1" dirty="0"/>
            </a:br>
            <a:endParaRPr lang="en-CA" dirty="0"/>
          </a:p>
        </p:txBody>
      </p:sp>
      <p:sp>
        <p:nvSpPr>
          <p:cNvPr id="3" name="Content Placeholder 2">
            <a:extLst>
              <a:ext uri="{FF2B5EF4-FFF2-40B4-BE49-F238E27FC236}">
                <a16:creationId xmlns:a16="http://schemas.microsoft.com/office/drawing/2014/main" id="{B885F2AF-C834-4F24-D13D-C8CA27686F7C}"/>
              </a:ext>
            </a:extLst>
          </p:cNvPr>
          <p:cNvSpPr>
            <a:spLocks noGrp="1"/>
          </p:cNvSpPr>
          <p:nvPr>
            <p:ph idx="1"/>
          </p:nvPr>
        </p:nvSpPr>
        <p:spPr>
          <a:xfrm>
            <a:off x="838200" y="1234440"/>
            <a:ext cx="10515600" cy="4942523"/>
          </a:xfrm>
        </p:spPr>
        <p:txBody>
          <a:bodyPr>
            <a:normAutofit/>
          </a:bodyPr>
          <a:lstStyle/>
          <a:p>
            <a:r>
              <a:rPr lang="en-US" dirty="0"/>
              <a:t>The Act establishes the mandatory licensing regime for all operators:</a:t>
            </a:r>
          </a:p>
          <a:p>
            <a:r>
              <a:rPr lang="en-US" b="1" dirty="0"/>
              <a:t>Mandatory License:</a:t>
            </a:r>
            <a:r>
              <a:rPr lang="en-US" dirty="0"/>
              <a:t> No person can operate any telecommunication service in Nepal without first obtaining a </a:t>
            </a:r>
            <a:r>
              <a:rPr lang="en-US" b="1" dirty="0"/>
              <a:t>license</a:t>
            </a:r>
            <a:r>
              <a:rPr lang="en-US" dirty="0"/>
              <a:t> from the NTA.</a:t>
            </a:r>
          </a:p>
          <a:p>
            <a:r>
              <a:rPr lang="en-US" b="1" dirty="0"/>
              <a:t>Standard Setting:</a:t>
            </a:r>
            <a:r>
              <a:rPr lang="en-US" dirty="0"/>
              <a:t> The NTA is empowered to determine the </a:t>
            </a:r>
            <a:r>
              <a:rPr lang="en-US" b="1" dirty="0"/>
              <a:t>quality and standards</a:t>
            </a:r>
            <a:r>
              <a:rPr lang="en-US" dirty="0"/>
              <a:t> for telecommunication equipment and services and to prescribe minimum standards for all license holders to follow.</a:t>
            </a:r>
          </a:p>
          <a:p>
            <a:r>
              <a:rPr lang="en-US" b="1" dirty="0"/>
              <a:t>Tariff Approval:</a:t>
            </a:r>
            <a:r>
              <a:rPr lang="en-US" dirty="0"/>
              <a:t> The Act requires the NTA to approve and regulate the </a:t>
            </a:r>
            <a:r>
              <a:rPr lang="en-US" b="1" dirty="0"/>
              <a:t>fees and tariffs</a:t>
            </a:r>
            <a:r>
              <a:rPr lang="en-US" dirty="0"/>
              <a:t> collected by licensed service providers to ensure fairness.</a:t>
            </a:r>
          </a:p>
          <a:p>
            <a:endParaRPr lang="en-CA" dirty="0"/>
          </a:p>
        </p:txBody>
      </p:sp>
    </p:spTree>
    <p:extLst>
      <p:ext uri="{BB962C8B-B14F-4D97-AF65-F5344CB8AC3E}">
        <p14:creationId xmlns:p14="http://schemas.microsoft.com/office/powerpoint/2010/main" val="2680187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1B6D-0AFD-5BBE-BD66-CDBDA347E60F}"/>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AB1D634-9AEC-1C8F-4280-74DBDD5E4016}"/>
              </a:ext>
            </a:extLst>
          </p:cNvPr>
          <p:cNvSpPr>
            <a:spLocks noGrp="1"/>
          </p:cNvSpPr>
          <p:nvPr>
            <p:ph idx="1"/>
          </p:nvPr>
        </p:nvSpPr>
        <p:spPr>
          <a:xfrm>
            <a:off x="838200" y="1078992"/>
            <a:ext cx="10515600" cy="5097971"/>
          </a:xfrm>
        </p:spPr>
        <p:txBody>
          <a:bodyPr>
            <a:normAutofit fontScale="85000" lnSpcReduction="20000"/>
          </a:bodyPr>
          <a:lstStyle/>
          <a:p>
            <a:r>
              <a:rPr lang="en-US" b="1" dirty="0"/>
              <a:t>3. Frequency Management</a:t>
            </a:r>
          </a:p>
          <a:p>
            <a:r>
              <a:rPr lang="en-US" dirty="0"/>
              <a:t>The Act gives the NTA the authority to manage a critical resource:</a:t>
            </a:r>
          </a:p>
          <a:p>
            <a:r>
              <a:rPr lang="en-US" b="1" dirty="0"/>
              <a:t>Frequency:</a:t>
            </a:r>
            <a:r>
              <a:rPr lang="en-US" dirty="0"/>
              <a:t> The NTA is responsible for performing functions relating to the </a:t>
            </a:r>
            <a:r>
              <a:rPr lang="en-US" b="1" dirty="0"/>
              <a:t>radio frequency range</a:t>
            </a:r>
            <a:r>
              <a:rPr lang="en-US" dirty="0"/>
              <a:t> in accordance with the policy determined by the Radio Frequency Policy Determination Committee.</a:t>
            </a:r>
          </a:p>
          <a:p>
            <a:r>
              <a:rPr lang="en-US" b="1" dirty="0"/>
              <a:t>4. Role of Private Sector</a:t>
            </a:r>
          </a:p>
          <a:p>
            <a:r>
              <a:rPr lang="en-US" dirty="0"/>
              <a:t>A major objective of the Act was to open the sector to competition:</a:t>
            </a:r>
          </a:p>
          <a:p>
            <a:r>
              <a:rPr lang="en-US" dirty="0"/>
              <a:t>It explicitly aims </a:t>
            </a:r>
            <a:r>
              <a:rPr lang="en-US" b="1" dirty="0"/>
              <a:t>to involve national and foreign private sector investors</a:t>
            </a:r>
            <a:r>
              <a:rPr lang="en-US" dirty="0"/>
              <a:t> in the operation of telecommunications services.</a:t>
            </a:r>
          </a:p>
          <a:p>
            <a:r>
              <a:rPr lang="en-US" dirty="0"/>
              <a:t>It contains provisions related to the use of land, taxation, and the transfer of assets for licensees, particularly those with foreign direct investment (FDI), ensuring clarity for operators.</a:t>
            </a:r>
          </a:p>
          <a:p>
            <a:r>
              <a:rPr lang="en-US" dirty="0"/>
              <a:t>This Act remains the keystone of telecom regulation, with the NTA continuously issuing </a:t>
            </a:r>
            <a:r>
              <a:rPr lang="en-US" b="1" dirty="0"/>
              <a:t>regulations and amendments</a:t>
            </a:r>
            <a:r>
              <a:rPr lang="en-US" dirty="0"/>
              <a:t> to adapt to rapid technological changes, such as in the areas of mobile, internet, and fiber-optic services.</a:t>
            </a:r>
          </a:p>
          <a:p>
            <a:endParaRPr lang="en-CA" dirty="0"/>
          </a:p>
        </p:txBody>
      </p:sp>
    </p:spTree>
    <p:extLst>
      <p:ext uri="{BB962C8B-B14F-4D97-AF65-F5344CB8AC3E}">
        <p14:creationId xmlns:p14="http://schemas.microsoft.com/office/powerpoint/2010/main" val="1775472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5A38-7E37-3888-47FC-A10A28C41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1ADFE-2531-F31A-198C-46B2DE8301A8}"/>
              </a:ext>
            </a:extLst>
          </p:cNvPr>
          <p:cNvSpPr>
            <a:spLocks noGrp="1"/>
          </p:cNvSpPr>
          <p:nvPr>
            <p:ph type="ctrTitle"/>
          </p:nvPr>
        </p:nvSpPr>
        <p:spPr>
          <a:xfrm>
            <a:off x="1524000" y="740665"/>
            <a:ext cx="9144000" cy="859536"/>
          </a:xfrm>
        </p:spPr>
        <p:txBody>
          <a:bodyPr>
            <a:noAutofit/>
          </a:bodyPr>
          <a:lstStyle/>
          <a:p>
            <a:br>
              <a:rPr lang="en-US" sz="2800" b="1" dirty="0"/>
            </a:br>
            <a:br>
              <a:rPr lang="en-US" sz="2800" b="1" dirty="0"/>
            </a:br>
            <a:br>
              <a:rPr lang="en-US" sz="2800" b="1" dirty="0"/>
            </a:br>
            <a:br>
              <a:rPr lang="en-US" sz="2800" b="1" dirty="0"/>
            </a:br>
            <a:r>
              <a:rPr lang="en-US" sz="2800" b="1" dirty="0"/>
              <a:t>Unit VI: Legal Issues for Professional Practice                        </a:t>
            </a:r>
            <a:br>
              <a:rPr lang="en-CA" sz="2800" dirty="0"/>
            </a:br>
            <a:endParaRPr lang="en-CA" sz="2800" dirty="0"/>
          </a:p>
        </p:txBody>
      </p:sp>
      <p:sp>
        <p:nvSpPr>
          <p:cNvPr id="3" name="Subtitle 2">
            <a:extLst>
              <a:ext uri="{FF2B5EF4-FFF2-40B4-BE49-F238E27FC236}">
                <a16:creationId xmlns:a16="http://schemas.microsoft.com/office/drawing/2014/main" id="{9556776B-3453-A2B5-D1CC-E64075760AA1}"/>
              </a:ext>
            </a:extLst>
          </p:cNvPr>
          <p:cNvSpPr>
            <a:spLocks noGrp="1"/>
          </p:cNvSpPr>
          <p:nvPr>
            <p:ph type="subTitle" idx="1"/>
          </p:nvPr>
        </p:nvSpPr>
        <p:spPr>
          <a:xfrm>
            <a:off x="1524000" y="1197864"/>
            <a:ext cx="9144000" cy="4059936"/>
          </a:xfrm>
        </p:spPr>
        <p:txBody>
          <a:bodyPr>
            <a:normAutofit fontScale="92500" lnSpcReduction="20000"/>
          </a:bodyPr>
          <a:lstStyle/>
          <a:p>
            <a:pPr algn="l"/>
            <a:r>
              <a:rPr lang="en-US" b="1" dirty="0"/>
              <a:t>  (5 Hrs.) </a:t>
            </a:r>
            <a:endParaRPr lang="en-CA" dirty="0"/>
          </a:p>
          <a:p>
            <a:pPr algn="l"/>
            <a:r>
              <a:rPr lang="en-US" dirty="0"/>
              <a:t>6.1 Intellectual Properties </a:t>
            </a:r>
            <a:endParaRPr lang="en-CA" dirty="0"/>
          </a:p>
          <a:p>
            <a:pPr algn="l"/>
            <a:r>
              <a:rPr lang="en-US" dirty="0"/>
              <a:t>6.1.1 Copyright, patent, design, trademark, and trade-secrets</a:t>
            </a:r>
            <a:endParaRPr lang="en-CA" dirty="0"/>
          </a:p>
          <a:p>
            <a:pPr algn="l"/>
            <a:r>
              <a:rPr lang="en-US" dirty="0"/>
              <a:t>6.1.2 IP Laws</a:t>
            </a:r>
            <a:endParaRPr lang="en-CA" dirty="0"/>
          </a:p>
          <a:p>
            <a:pPr algn="l"/>
            <a:r>
              <a:rPr lang="en-US" dirty="0"/>
              <a:t>6.2 IT related policies and laws in Nepal</a:t>
            </a:r>
            <a:endParaRPr lang="en-CA" dirty="0"/>
          </a:p>
          <a:p>
            <a:pPr algn="l"/>
            <a:r>
              <a:rPr lang="en-US" dirty="0"/>
              <a:t>6.2.1 ICT Policy</a:t>
            </a:r>
            <a:endParaRPr lang="en-CA" dirty="0"/>
          </a:p>
          <a:p>
            <a:pPr algn="l"/>
            <a:r>
              <a:rPr lang="en-US" dirty="0"/>
              <a:t>6.2.2 Electronics Transaction Act</a:t>
            </a:r>
            <a:endParaRPr lang="en-CA" dirty="0"/>
          </a:p>
          <a:p>
            <a:pPr algn="l"/>
            <a:r>
              <a:rPr lang="en-US" dirty="0"/>
              <a:t>6.2.3 Communication Act</a:t>
            </a:r>
            <a:endParaRPr lang="en-CA" dirty="0"/>
          </a:p>
          <a:p>
            <a:pPr algn="l"/>
            <a:r>
              <a:rPr lang="en-US" dirty="0"/>
              <a:t>6.3 Legal issues for startup</a:t>
            </a:r>
            <a:endParaRPr lang="en-CA" dirty="0"/>
          </a:p>
          <a:p>
            <a:pPr algn="l"/>
            <a:r>
              <a:rPr lang="en-US" dirty="0"/>
              <a:t>6.3.1 Business registration in Nepal</a:t>
            </a:r>
            <a:endParaRPr lang="en-CA" dirty="0"/>
          </a:p>
          <a:p>
            <a:pPr algn="l"/>
            <a:r>
              <a:rPr lang="en-US" dirty="0"/>
              <a:t>6.3.2 Taxation and compliance requirements</a:t>
            </a:r>
            <a:endParaRPr lang="en-CA" dirty="0"/>
          </a:p>
        </p:txBody>
      </p:sp>
    </p:spTree>
    <p:extLst>
      <p:ext uri="{BB962C8B-B14F-4D97-AF65-F5344CB8AC3E}">
        <p14:creationId xmlns:p14="http://schemas.microsoft.com/office/powerpoint/2010/main" val="627574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BD8F7-4791-8B2A-CDD7-E8EE19889CA5}"/>
              </a:ext>
            </a:extLst>
          </p:cNvPr>
          <p:cNvSpPr>
            <a:spLocks noGrp="1"/>
          </p:cNvSpPr>
          <p:nvPr>
            <p:ph type="title"/>
          </p:nvPr>
        </p:nvSpPr>
        <p:spPr>
          <a:xfrm>
            <a:off x="838200" y="365125"/>
            <a:ext cx="10515600" cy="1052195"/>
          </a:xfrm>
        </p:spPr>
        <p:txBody>
          <a:bodyPr/>
          <a:lstStyle/>
          <a:p>
            <a:r>
              <a:rPr lang="en-US" dirty="0"/>
              <a:t>Legal issues for startup</a:t>
            </a:r>
            <a:endParaRPr lang="en-CA" dirty="0"/>
          </a:p>
        </p:txBody>
      </p:sp>
      <p:sp>
        <p:nvSpPr>
          <p:cNvPr id="3" name="Content Placeholder 2">
            <a:extLst>
              <a:ext uri="{FF2B5EF4-FFF2-40B4-BE49-F238E27FC236}">
                <a16:creationId xmlns:a16="http://schemas.microsoft.com/office/drawing/2014/main" id="{6EA3F728-9A02-4105-B41C-EB898E9DCCCE}"/>
              </a:ext>
            </a:extLst>
          </p:cNvPr>
          <p:cNvSpPr>
            <a:spLocks noGrp="1"/>
          </p:cNvSpPr>
          <p:nvPr>
            <p:ph idx="1"/>
          </p:nvPr>
        </p:nvSpPr>
        <p:spPr>
          <a:xfrm>
            <a:off x="838200" y="1417320"/>
            <a:ext cx="10515600" cy="4759643"/>
          </a:xfrm>
        </p:spPr>
        <p:txBody>
          <a:bodyPr/>
          <a:lstStyle/>
          <a:p>
            <a:r>
              <a:rPr lang="en-CA" dirty="0"/>
              <a:t>Starting a business in Nepal, like anywhere else, comes with </a:t>
            </a:r>
            <a:r>
              <a:rPr lang="en-CA" b="1" dirty="0"/>
              <a:t>legal issues</a:t>
            </a:r>
            <a:r>
              <a:rPr lang="en-CA" dirty="0"/>
              <a:t> that entrepreneurs need to be aware of. Here’s a clear, structured overview of the </a:t>
            </a:r>
            <a:r>
              <a:rPr lang="en-CA" b="1" dirty="0"/>
              <a:t>key legal issues for startups in Nepal</a:t>
            </a:r>
            <a:r>
              <a:rPr lang="en-CA" dirty="0"/>
              <a:t>:</a:t>
            </a:r>
          </a:p>
          <a:p>
            <a:r>
              <a:rPr lang="en-CA" dirty="0"/>
              <a:t>Starting a business is exciting, but navigating the legal landscape is crucial for long-term success. The most common legal issues for a startup generally fall into three categories: </a:t>
            </a:r>
            <a:r>
              <a:rPr lang="en-CA" b="1" dirty="0"/>
              <a:t>Formation &amp; Compliance, Intellectual Property, and Contracts &amp; HR.</a:t>
            </a:r>
            <a:endParaRPr lang="en-CA" dirty="0"/>
          </a:p>
          <a:p>
            <a:r>
              <a:rPr lang="en-CA" dirty="0"/>
              <a:t>Ignoring these issues can lead to significant fines, loss of ownership, or even the business being shut down.</a:t>
            </a:r>
          </a:p>
          <a:p>
            <a:endParaRPr lang="en-CA" dirty="0"/>
          </a:p>
        </p:txBody>
      </p:sp>
    </p:spTree>
    <p:extLst>
      <p:ext uri="{BB962C8B-B14F-4D97-AF65-F5344CB8AC3E}">
        <p14:creationId xmlns:p14="http://schemas.microsoft.com/office/powerpoint/2010/main" val="4069319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A9FE-08B8-D7E4-5CEB-BA6D08832207}"/>
              </a:ext>
            </a:extLst>
          </p:cNvPr>
          <p:cNvSpPr>
            <a:spLocks noGrp="1"/>
          </p:cNvSpPr>
          <p:nvPr>
            <p:ph type="title"/>
          </p:nvPr>
        </p:nvSpPr>
        <p:spPr/>
        <p:txBody>
          <a:bodyPr/>
          <a:lstStyle/>
          <a:p>
            <a:r>
              <a:rPr lang="en-CA" b="1" dirty="0"/>
              <a:t>1.  Formation and Regulatory Compliance</a:t>
            </a:r>
            <a:br>
              <a:rPr lang="en-CA" sz="2800" dirty="0"/>
            </a:br>
            <a:endParaRPr lang="en-CA" dirty="0"/>
          </a:p>
        </p:txBody>
      </p:sp>
      <p:sp>
        <p:nvSpPr>
          <p:cNvPr id="3" name="Content Placeholder 2">
            <a:extLst>
              <a:ext uri="{FF2B5EF4-FFF2-40B4-BE49-F238E27FC236}">
                <a16:creationId xmlns:a16="http://schemas.microsoft.com/office/drawing/2014/main" id="{A4B1F48D-EA79-331F-8A72-28CF32026E0C}"/>
              </a:ext>
            </a:extLst>
          </p:cNvPr>
          <p:cNvSpPr>
            <a:spLocks noGrp="1"/>
          </p:cNvSpPr>
          <p:nvPr>
            <p:ph idx="1"/>
          </p:nvPr>
        </p:nvSpPr>
        <p:spPr>
          <a:xfrm>
            <a:off x="438912" y="1289304"/>
            <a:ext cx="10914888" cy="5321807"/>
          </a:xfrm>
        </p:spPr>
        <p:txBody>
          <a:bodyPr>
            <a:normAutofit fontScale="77500" lnSpcReduction="20000"/>
          </a:bodyPr>
          <a:lstStyle/>
          <a:p>
            <a:r>
              <a:rPr lang="en-CA" dirty="0"/>
              <a:t>These are the fundamental legal steps that establish your business's existence and ability to operate legally.</a:t>
            </a:r>
            <a:endParaRPr lang="en-CA" sz="2400" dirty="0"/>
          </a:p>
          <a:p>
            <a:pPr lvl="0"/>
            <a:r>
              <a:rPr lang="en-CA" b="1" dirty="0"/>
              <a:t>Choosing the Wrong Legal Structure (Entity):</a:t>
            </a:r>
            <a:endParaRPr lang="en-CA" sz="2400" dirty="0"/>
          </a:p>
          <a:p>
            <a:pPr lvl="1"/>
            <a:r>
              <a:rPr lang="en-CA" b="1" dirty="0"/>
              <a:t>The Mistake:</a:t>
            </a:r>
            <a:r>
              <a:rPr lang="en-CA" dirty="0"/>
              <a:t> Starting as a </a:t>
            </a:r>
            <a:r>
              <a:rPr lang="en-CA" b="1" dirty="0"/>
              <a:t>Sole Proprietorship</a:t>
            </a:r>
            <a:r>
              <a:rPr lang="en-CA" dirty="0"/>
              <a:t> or informal partnership when you have high-growth potential or are seeking external investment. These structures do not separate your personal assets from the business's liabilities.</a:t>
            </a:r>
            <a:endParaRPr lang="en-CA" sz="2000" dirty="0"/>
          </a:p>
          <a:p>
            <a:pPr lvl="1"/>
            <a:r>
              <a:rPr lang="en-CA" b="1" dirty="0"/>
              <a:t>The Solution:</a:t>
            </a:r>
            <a:r>
              <a:rPr lang="en-CA" dirty="0"/>
              <a:t> Register as a </a:t>
            </a:r>
            <a:r>
              <a:rPr lang="en-CA" b="1" dirty="0"/>
              <a:t>Private Limited Company</a:t>
            </a:r>
            <a:r>
              <a:rPr lang="en-CA" dirty="0"/>
              <a:t>. This provides </a:t>
            </a:r>
            <a:r>
              <a:rPr lang="en-CA" b="1" dirty="0"/>
              <a:t>Limited Liability Protection</a:t>
            </a:r>
            <a:r>
              <a:rPr lang="en-CA" dirty="0"/>
              <a:t>, meaning your personal assets are safe from business debts, and it is the necessary structure for attracting venture capital or angel investors.</a:t>
            </a:r>
            <a:endParaRPr lang="en-CA" sz="2000" dirty="0"/>
          </a:p>
          <a:p>
            <a:pPr lvl="0"/>
            <a:r>
              <a:rPr lang="en-CA" b="1" dirty="0"/>
              <a:t>Failing to Complete Registration and Licensing:</a:t>
            </a:r>
            <a:endParaRPr lang="en-CA" sz="2400" dirty="0"/>
          </a:p>
          <a:p>
            <a:pPr lvl="1"/>
            <a:r>
              <a:rPr lang="en-CA" b="1" dirty="0"/>
              <a:t>The Mistake:</a:t>
            </a:r>
            <a:r>
              <a:rPr lang="en-CA" dirty="0"/>
              <a:t> Not registering with the </a:t>
            </a:r>
            <a:r>
              <a:rPr lang="en-CA" b="1" dirty="0"/>
              <a:t>Office of the Company Registrar (OCR)</a:t>
            </a:r>
            <a:r>
              <a:rPr lang="en-CA" dirty="0"/>
              <a:t>, the </a:t>
            </a:r>
            <a:r>
              <a:rPr lang="en-CA" b="1" dirty="0"/>
              <a:t>Inland Revenue Department (IRD)</a:t>
            </a:r>
            <a:r>
              <a:rPr lang="en-CA" dirty="0"/>
              <a:t> for </a:t>
            </a:r>
            <a:r>
              <a:rPr lang="en-CA" b="1" dirty="0"/>
              <a:t>PAN</a:t>
            </a:r>
            <a:r>
              <a:rPr lang="en-CA" dirty="0"/>
              <a:t> (Permanent Account Number), and the local </a:t>
            </a:r>
            <a:r>
              <a:rPr lang="en-CA" b="1" dirty="0"/>
              <a:t>Ward Office</a:t>
            </a:r>
            <a:r>
              <a:rPr lang="en-CA" dirty="0"/>
              <a:t> (in Nepal). Operating without these is illegal.</a:t>
            </a:r>
            <a:endParaRPr lang="en-CA" sz="2000" dirty="0"/>
          </a:p>
          <a:p>
            <a:pPr lvl="1"/>
            <a:r>
              <a:rPr lang="en-CA" b="1" dirty="0"/>
              <a:t>The Solution:</a:t>
            </a:r>
            <a:r>
              <a:rPr lang="en-CA" dirty="0"/>
              <a:t> Complete all three steps immediately: OCR registration, IRD/Tax registration (including </a:t>
            </a:r>
            <a:r>
              <a:rPr lang="en-CA" b="1" dirty="0"/>
              <a:t>VAT</a:t>
            </a:r>
            <a:r>
              <a:rPr lang="en-CA" dirty="0"/>
              <a:t> if required by revenue threshold), and local Ward Office registration.</a:t>
            </a:r>
            <a:endParaRPr lang="en-CA" sz="2000" dirty="0"/>
          </a:p>
          <a:p>
            <a:pPr lvl="0"/>
            <a:r>
              <a:rPr lang="en-CA" b="1" dirty="0"/>
              <a:t>Tax Compliance and Reporting:</a:t>
            </a:r>
            <a:endParaRPr lang="en-CA" sz="2400" dirty="0"/>
          </a:p>
          <a:p>
            <a:pPr lvl="1"/>
            <a:r>
              <a:rPr lang="en-CA" b="1" dirty="0"/>
              <a:t>The Mistake:</a:t>
            </a:r>
            <a:r>
              <a:rPr lang="en-CA" dirty="0"/>
              <a:t> Missing mandatory annual filings, failing to maintain proper books of accounts, or incorrectly calculating and filing taxes (Income Tax, VAT).</a:t>
            </a:r>
            <a:endParaRPr lang="en-CA" sz="2000" dirty="0"/>
          </a:p>
          <a:p>
            <a:pPr lvl="1"/>
            <a:r>
              <a:rPr lang="en-CA" b="1" dirty="0"/>
              <a:t>The Solution:</a:t>
            </a:r>
            <a:r>
              <a:rPr lang="en-CA" dirty="0"/>
              <a:t> Hire a qualified accountant or tax consultant from day one. Set a compliance calendar for monthly, quarterly, and annual tax filings to avoid severe penalties.</a:t>
            </a:r>
            <a:endParaRPr lang="en-CA" sz="2000" dirty="0"/>
          </a:p>
          <a:p>
            <a:endParaRPr lang="en-CA" dirty="0"/>
          </a:p>
        </p:txBody>
      </p:sp>
    </p:spTree>
    <p:extLst>
      <p:ext uri="{BB962C8B-B14F-4D97-AF65-F5344CB8AC3E}">
        <p14:creationId xmlns:p14="http://schemas.microsoft.com/office/powerpoint/2010/main" val="2565643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5D0E4-8A17-83F3-626F-2DD090659560}"/>
              </a:ext>
            </a:extLst>
          </p:cNvPr>
          <p:cNvSpPr>
            <a:spLocks noGrp="1"/>
          </p:cNvSpPr>
          <p:nvPr>
            <p:ph type="title"/>
          </p:nvPr>
        </p:nvSpPr>
        <p:spPr>
          <a:xfrm>
            <a:off x="838200" y="521208"/>
            <a:ext cx="10515600" cy="841248"/>
          </a:xfrm>
        </p:spPr>
        <p:txBody>
          <a:bodyPr>
            <a:normAutofit fontScale="90000"/>
          </a:bodyPr>
          <a:lstStyle/>
          <a:p>
            <a:r>
              <a:rPr lang="en-CA" b="1" dirty="0"/>
              <a:t>2.  Intellectual Property (IP) Protection</a:t>
            </a:r>
            <a:br>
              <a:rPr lang="en-CA" sz="2800" dirty="0"/>
            </a:br>
            <a:endParaRPr lang="en-CA" dirty="0"/>
          </a:p>
        </p:txBody>
      </p:sp>
      <p:sp>
        <p:nvSpPr>
          <p:cNvPr id="3" name="Content Placeholder 2">
            <a:extLst>
              <a:ext uri="{FF2B5EF4-FFF2-40B4-BE49-F238E27FC236}">
                <a16:creationId xmlns:a16="http://schemas.microsoft.com/office/drawing/2014/main" id="{AA1EB60E-F866-D752-8850-A84832180EBF}"/>
              </a:ext>
            </a:extLst>
          </p:cNvPr>
          <p:cNvSpPr>
            <a:spLocks noGrp="1"/>
          </p:cNvSpPr>
          <p:nvPr>
            <p:ph idx="1"/>
          </p:nvPr>
        </p:nvSpPr>
        <p:spPr>
          <a:xfrm>
            <a:off x="365760" y="1115568"/>
            <a:ext cx="11475720" cy="5061395"/>
          </a:xfrm>
        </p:spPr>
        <p:txBody>
          <a:bodyPr>
            <a:normAutofit fontScale="77500" lnSpcReduction="20000"/>
          </a:bodyPr>
          <a:lstStyle/>
          <a:p>
            <a:r>
              <a:rPr lang="en-CA" dirty="0"/>
              <a:t>For a startup, your name, logo, software, or unique process is often your most valuable asset.</a:t>
            </a:r>
            <a:endParaRPr lang="en-CA" sz="2400" dirty="0"/>
          </a:p>
          <a:p>
            <a:pPr lvl="0"/>
            <a:r>
              <a:rPr lang="en-CA" b="1" dirty="0"/>
              <a:t>Neglecting Brand Protection (Trademark):</a:t>
            </a:r>
            <a:endParaRPr lang="en-CA" sz="2400" dirty="0"/>
          </a:p>
          <a:p>
            <a:pPr lvl="1"/>
            <a:r>
              <a:rPr lang="en-CA" b="1" dirty="0"/>
              <a:t>The Mistake:</a:t>
            </a:r>
            <a:r>
              <a:rPr lang="en-CA" dirty="0"/>
              <a:t> Assuming your company name and logo are protected simply because you registered the company. Without a </a:t>
            </a:r>
            <a:r>
              <a:rPr lang="en-CA" b="1" dirty="0"/>
              <a:t>Trademark</a:t>
            </a:r>
            <a:r>
              <a:rPr lang="en-CA" dirty="0"/>
              <a:t> registration, a competitor can legally use a similar brand name or logo, which cause confusion and costing you customers.</a:t>
            </a:r>
            <a:endParaRPr lang="en-CA" sz="2000" dirty="0"/>
          </a:p>
          <a:p>
            <a:pPr lvl="1"/>
            <a:r>
              <a:rPr lang="en-CA" b="1" dirty="0"/>
              <a:t>The Solution:</a:t>
            </a:r>
            <a:r>
              <a:rPr lang="en-CA" dirty="0"/>
              <a:t> Conduct a name search and register your </a:t>
            </a:r>
            <a:r>
              <a:rPr lang="en-CA" b="1" dirty="0"/>
              <a:t>brand name, logo, and tagline</a:t>
            </a:r>
            <a:r>
              <a:rPr lang="en-CA" dirty="0"/>
              <a:t> as a </a:t>
            </a:r>
            <a:r>
              <a:rPr lang="en-CA" b="1" dirty="0"/>
              <a:t>Trademark</a:t>
            </a:r>
            <a:r>
              <a:rPr lang="en-CA" dirty="0"/>
              <a:t> with the Department of Industry (DOI).</a:t>
            </a:r>
            <a:endParaRPr lang="en-CA" sz="2000" dirty="0"/>
          </a:p>
          <a:p>
            <a:pPr lvl="0"/>
            <a:r>
              <a:rPr lang="en-CA" b="1" dirty="0"/>
              <a:t>Failing to Secure Ownership from Creators:</a:t>
            </a:r>
            <a:endParaRPr lang="en-CA" sz="2400" dirty="0"/>
          </a:p>
          <a:p>
            <a:pPr lvl="1"/>
            <a:r>
              <a:rPr lang="en-CA" b="1" dirty="0"/>
              <a:t>The Mistake:</a:t>
            </a:r>
            <a:r>
              <a:rPr lang="en-CA" dirty="0"/>
              <a:t> Not getting an </a:t>
            </a:r>
            <a:r>
              <a:rPr lang="en-CA" b="1" dirty="0"/>
              <a:t>Invention Assignment Agreement</a:t>
            </a:r>
            <a:r>
              <a:rPr lang="en-CA" dirty="0"/>
              <a:t> signed by founders, employees, and contractors. Without this, the creator (e.g., the coder or designer) can claim ownership over the work they created, not the company.</a:t>
            </a:r>
            <a:endParaRPr lang="en-CA" sz="2000" dirty="0"/>
          </a:p>
          <a:p>
            <a:pPr lvl="1"/>
            <a:r>
              <a:rPr lang="en-CA" b="1" dirty="0"/>
              <a:t>The Solution:</a:t>
            </a:r>
            <a:r>
              <a:rPr lang="en-CA" dirty="0"/>
              <a:t> Every person who contributes to the core product (code, design, unique content) must sign an agreement that explicitly </a:t>
            </a:r>
            <a:r>
              <a:rPr lang="en-CA" b="1" dirty="0"/>
              <a:t>assigns all IP ownership to the company</a:t>
            </a:r>
            <a:r>
              <a:rPr lang="en-CA" dirty="0"/>
              <a:t>.</a:t>
            </a:r>
            <a:endParaRPr lang="en-CA" sz="2000" dirty="0"/>
          </a:p>
          <a:p>
            <a:pPr lvl="0"/>
            <a:r>
              <a:rPr lang="en-CA" b="1" dirty="0"/>
              <a:t>Not Protecting Trade Secrets:</a:t>
            </a:r>
            <a:endParaRPr lang="en-CA" sz="2400" dirty="0"/>
          </a:p>
          <a:p>
            <a:pPr lvl="1"/>
            <a:r>
              <a:rPr lang="en-CA" b="1" dirty="0"/>
              <a:t>The Mistake:</a:t>
            </a:r>
            <a:r>
              <a:rPr lang="en-CA" dirty="0"/>
              <a:t> Sharing confidential business information (like customer lists, algorithms, or unique formulas) without a formal agreement.</a:t>
            </a:r>
            <a:endParaRPr lang="en-CA" sz="2000" dirty="0"/>
          </a:p>
          <a:p>
            <a:pPr lvl="1"/>
            <a:r>
              <a:rPr lang="en-CA" b="1" dirty="0"/>
              <a:t>The Solution:</a:t>
            </a:r>
            <a:r>
              <a:rPr lang="en-CA" dirty="0"/>
              <a:t> Use </a:t>
            </a:r>
            <a:r>
              <a:rPr lang="en-CA" b="1" dirty="0"/>
              <a:t>Non-Disclosure Agreements (NDAs)</a:t>
            </a:r>
            <a:r>
              <a:rPr lang="en-CA" dirty="0"/>
              <a:t> with potential partners, investors, and key personnel.</a:t>
            </a:r>
            <a:endParaRPr lang="en-CA" sz="2000" dirty="0"/>
          </a:p>
          <a:p>
            <a:endParaRPr lang="en-CA" dirty="0"/>
          </a:p>
        </p:txBody>
      </p:sp>
    </p:spTree>
    <p:extLst>
      <p:ext uri="{BB962C8B-B14F-4D97-AF65-F5344CB8AC3E}">
        <p14:creationId xmlns:p14="http://schemas.microsoft.com/office/powerpoint/2010/main" val="2883030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BF47B-D03B-6414-7D48-713C218D490F}"/>
              </a:ext>
            </a:extLst>
          </p:cNvPr>
          <p:cNvSpPr>
            <a:spLocks noGrp="1"/>
          </p:cNvSpPr>
          <p:nvPr>
            <p:ph type="title"/>
          </p:nvPr>
        </p:nvSpPr>
        <p:spPr>
          <a:xfrm>
            <a:off x="838200" y="365126"/>
            <a:ext cx="10515600" cy="315912"/>
          </a:xfrm>
        </p:spPr>
        <p:txBody>
          <a:bodyPr>
            <a:normAutofit fontScale="90000"/>
          </a:bodyPr>
          <a:lstStyle/>
          <a:p>
            <a:br>
              <a:rPr lang="en-CA" b="1" dirty="0"/>
            </a:br>
            <a:r>
              <a:rPr lang="en-CA" b="1" dirty="0"/>
              <a:t>3. Contracts and Human Resources (HR)</a:t>
            </a:r>
            <a:br>
              <a:rPr lang="en-CA" sz="2800" dirty="0"/>
            </a:br>
            <a:endParaRPr lang="en-CA" dirty="0"/>
          </a:p>
        </p:txBody>
      </p:sp>
      <p:sp>
        <p:nvSpPr>
          <p:cNvPr id="3" name="Content Placeholder 2">
            <a:extLst>
              <a:ext uri="{FF2B5EF4-FFF2-40B4-BE49-F238E27FC236}">
                <a16:creationId xmlns:a16="http://schemas.microsoft.com/office/drawing/2014/main" id="{AB4B2A4C-616A-3C6C-1C88-6F9886A5BD63}"/>
              </a:ext>
            </a:extLst>
          </p:cNvPr>
          <p:cNvSpPr>
            <a:spLocks noGrp="1"/>
          </p:cNvSpPr>
          <p:nvPr>
            <p:ph idx="1"/>
          </p:nvPr>
        </p:nvSpPr>
        <p:spPr>
          <a:xfrm>
            <a:off x="838200" y="932688"/>
            <a:ext cx="10515600" cy="5244275"/>
          </a:xfrm>
        </p:spPr>
        <p:txBody>
          <a:bodyPr>
            <a:normAutofit fontScale="85000" lnSpcReduction="20000"/>
          </a:bodyPr>
          <a:lstStyle/>
          <a:p>
            <a:r>
              <a:rPr lang="en-CA" dirty="0"/>
              <a:t>Poorly managed relationships with partners, employees, and customers are the most common cause of legal disputes.</a:t>
            </a:r>
            <a:endParaRPr lang="en-CA" sz="2400" dirty="0"/>
          </a:p>
          <a:p>
            <a:pPr lvl="0"/>
            <a:r>
              <a:rPr lang="en-CA" b="1" dirty="0"/>
              <a:t>Skipping Written Agreements (Handshake Deals):</a:t>
            </a:r>
            <a:endParaRPr lang="en-CA" sz="2400" dirty="0"/>
          </a:p>
          <a:p>
            <a:pPr lvl="1"/>
            <a:r>
              <a:rPr lang="en-CA" b="1" dirty="0"/>
              <a:t>The Mistake:</a:t>
            </a:r>
            <a:r>
              <a:rPr lang="en-CA" dirty="0"/>
              <a:t> Relying on verbal agreements, especially with co-founders, early employees, or suppliers. Misunderstandings about equity, responsibilities, or payment terms can destroy the business later.</a:t>
            </a:r>
            <a:endParaRPr lang="en-CA" sz="2000" dirty="0"/>
          </a:p>
          <a:p>
            <a:pPr lvl="1"/>
            <a:r>
              <a:rPr lang="en-CA" b="1" dirty="0"/>
              <a:t>The Solution:</a:t>
            </a:r>
            <a:r>
              <a:rPr lang="en-CA" dirty="0"/>
              <a:t> Always document everything. Draft a clear </a:t>
            </a:r>
            <a:r>
              <a:rPr lang="en-CA" b="1" dirty="0"/>
              <a:t>Founders' Agreement</a:t>
            </a:r>
            <a:r>
              <a:rPr lang="en-CA" dirty="0"/>
              <a:t> (defining equity, vesting, roles, and exit strategy) and have </a:t>
            </a:r>
            <a:r>
              <a:rPr lang="en-CA" b="1" dirty="0"/>
              <a:t>written contracts</a:t>
            </a:r>
            <a:r>
              <a:rPr lang="en-CA" dirty="0"/>
              <a:t> for all suppliers, customers, and partners.</a:t>
            </a:r>
            <a:endParaRPr lang="en-CA" sz="2000" dirty="0"/>
          </a:p>
          <a:p>
            <a:pPr lvl="0"/>
            <a:r>
              <a:rPr lang="en-CA" b="1" dirty="0"/>
              <a:t>Mismanaging Employment Classifications:</a:t>
            </a:r>
            <a:endParaRPr lang="en-CA" sz="2400" dirty="0"/>
          </a:p>
          <a:p>
            <a:pPr lvl="1"/>
            <a:r>
              <a:rPr lang="en-CA" b="1" dirty="0"/>
              <a:t>The Mistake:</a:t>
            </a:r>
            <a:r>
              <a:rPr lang="en-CA" dirty="0"/>
              <a:t> Incorrectly classifying an employee as an </a:t>
            </a:r>
            <a:r>
              <a:rPr lang="en-CA" b="1" dirty="0"/>
              <a:t>Independent Contractor</a:t>
            </a:r>
            <a:r>
              <a:rPr lang="en-CA" dirty="0"/>
              <a:t> to avoid taxes and benefits. If a contractor is treated like an employee (e.g., having set hours, being managed closely), a court can reclassify them, leading to penalties and back taxes for missed Social Security Fund (SSF) contributions or employee benefits.</a:t>
            </a:r>
            <a:endParaRPr lang="en-CA" sz="2000" dirty="0"/>
          </a:p>
          <a:p>
            <a:pPr lvl="1"/>
            <a:r>
              <a:rPr lang="en-CA" b="1" dirty="0"/>
              <a:t>The Solution:</a:t>
            </a:r>
            <a:r>
              <a:rPr lang="en-CA" dirty="0"/>
              <a:t> Have clear, legally compliant </a:t>
            </a:r>
            <a:r>
              <a:rPr lang="en-CA" b="1" dirty="0"/>
              <a:t>Employment Contracts</a:t>
            </a:r>
            <a:r>
              <a:rPr lang="en-CA" dirty="0"/>
              <a:t> and adhere to the </a:t>
            </a:r>
            <a:r>
              <a:rPr lang="en-CA" b="1" dirty="0"/>
              <a:t>Labor Act</a:t>
            </a:r>
            <a:r>
              <a:rPr lang="en-CA" dirty="0"/>
              <a:t> (which covers working hours, minimum wage, and termination) and the </a:t>
            </a:r>
            <a:r>
              <a:rPr lang="en-CA" b="1" dirty="0"/>
              <a:t>Social Security Act</a:t>
            </a:r>
            <a:r>
              <a:rPr lang="en-CA" dirty="0"/>
              <a:t> (for mandatory SSF contribution)</a:t>
            </a:r>
            <a:endParaRPr lang="en-CA" sz="2000" dirty="0"/>
          </a:p>
          <a:p>
            <a:r>
              <a:rPr lang="en-CA" dirty="0"/>
              <a:t> </a:t>
            </a:r>
          </a:p>
          <a:p>
            <a:endParaRPr lang="en-CA" dirty="0"/>
          </a:p>
        </p:txBody>
      </p:sp>
    </p:spTree>
    <p:extLst>
      <p:ext uri="{BB962C8B-B14F-4D97-AF65-F5344CB8AC3E}">
        <p14:creationId xmlns:p14="http://schemas.microsoft.com/office/powerpoint/2010/main" val="190090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FAE7-211C-A056-C4F6-04F69E976489}"/>
              </a:ext>
            </a:extLst>
          </p:cNvPr>
          <p:cNvSpPr>
            <a:spLocks noGrp="1"/>
          </p:cNvSpPr>
          <p:nvPr>
            <p:ph type="title"/>
          </p:nvPr>
        </p:nvSpPr>
        <p:spPr/>
        <p:txBody>
          <a:bodyPr/>
          <a:lstStyle/>
          <a:p>
            <a:r>
              <a:rPr lang="en-US" dirty="0"/>
              <a:t>Or you can go in the following way</a:t>
            </a:r>
            <a:endParaRPr lang="en-CA" dirty="0"/>
          </a:p>
        </p:txBody>
      </p:sp>
      <p:sp>
        <p:nvSpPr>
          <p:cNvPr id="3" name="Content Placeholder 2">
            <a:extLst>
              <a:ext uri="{FF2B5EF4-FFF2-40B4-BE49-F238E27FC236}">
                <a16:creationId xmlns:a16="http://schemas.microsoft.com/office/drawing/2014/main" id="{3088FFAC-FD07-0DFB-26FD-8969219EB8A0}"/>
              </a:ext>
            </a:extLst>
          </p:cNvPr>
          <p:cNvSpPr>
            <a:spLocks noGrp="1"/>
          </p:cNvSpPr>
          <p:nvPr>
            <p:ph idx="1"/>
          </p:nvPr>
        </p:nvSpPr>
        <p:spPr/>
        <p:txBody>
          <a:bodyPr>
            <a:normAutofit lnSpcReduction="10000"/>
          </a:bodyPr>
          <a:lstStyle/>
          <a:p>
            <a:r>
              <a:rPr lang="en-US" b="1" dirty="0"/>
              <a:t>1. Choosing the Right Legal Structure</a:t>
            </a:r>
          </a:p>
          <a:p>
            <a:r>
              <a:rPr lang="en-US" dirty="0"/>
              <a:t>Many startups in Nepal begin as sole proprietorships or informal partnerships because they seem easier to set up. However, these structures do not separate the founder’s personal assets from business liabilities. This means if the business faces debt or legal issues, the founder’s personal property can be affected. Additionally, investors and venture capitalists prefer companies with a formal structure. Therefore, it is best to register as a </a:t>
            </a:r>
            <a:r>
              <a:rPr lang="en-US" b="1" dirty="0"/>
              <a:t>Private Limited Company</a:t>
            </a:r>
            <a:r>
              <a:rPr lang="en-US" dirty="0"/>
              <a:t> with the Office of the Company Registrar (OCR). This provides limited liability protection and allows equity investment, which is crucial for growth.</a:t>
            </a:r>
            <a:br>
              <a:rPr lang="en-US" dirty="0"/>
            </a:br>
            <a:endParaRPr lang="en-CA" dirty="0"/>
          </a:p>
        </p:txBody>
      </p:sp>
    </p:spTree>
    <p:extLst>
      <p:ext uri="{BB962C8B-B14F-4D97-AF65-F5344CB8AC3E}">
        <p14:creationId xmlns:p14="http://schemas.microsoft.com/office/powerpoint/2010/main" val="628644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7E014-F59A-BACC-FC01-F5A44518D54D}"/>
              </a:ext>
            </a:extLst>
          </p:cNvPr>
          <p:cNvSpPr>
            <a:spLocks noGrp="1"/>
          </p:cNvSpPr>
          <p:nvPr>
            <p:ph type="title"/>
          </p:nvPr>
        </p:nvSpPr>
        <p:spPr>
          <a:xfrm>
            <a:off x="838200" y="365125"/>
            <a:ext cx="10515600" cy="52184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D1961D7-05E2-F01F-E26E-C20095ABC0BF}"/>
              </a:ext>
            </a:extLst>
          </p:cNvPr>
          <p:cNvSpPr>
            <a:spLocks noGrp="1"/>
          </p:cNvSpPr>
          <p:nvPr>
            <p:ph idx="1"/>
          </p:nvPr>
        </p:nvSpPr>
        <p:spPr>
          <a:xfrm>
            <a:off x="838200" y="978408"/>
            <a:ext cx="10515600" cy="5198555"/>
          </a:xfrm>
        </p:spPr>
        <p:txBody>
          <a:bodyPr>
            <a:normAutofit fontScale="92500"/>
          </a:bodyPr>
          <a:lstStyle/>
          <a:p>
            <a:endParaRPr lang="en-US" dirty="0"/>
          </a:p>
          <a:p>
            <a:r>
              <a:rPr lang="en-US" b="1" dirty="0"/>
              <a:t>2. Business Registration and Licensing</a:t>
            </a:r>
          </a:p>
          <a:p>
            <a:r>
              <a:rPr lang="en-US" dirty="0"/>
              <a:t>Operating a business without proper registration is illegal in Nepal. Startups must complete several registrations before starting operations. First, they must register the company with the </a:t>
            </a:r>
            <a:r>
              <a:rPr lang="en-US" b="1" dirty="0"/>
              <a:t>Office of the Company Registrar (OCR)</a:t>
            </a:r>
            <a:r>
              <a:rPr lang="en-US" dirty="0"/>
              <a:t>. Then they must obtain a </a:t>
            </a:r>
            <a:r>
              <a:rPr lang="en-US" b="1" dirty="0"/>
              <a:t>Permanent Account Number (PAN)</a:t>
            </a:r>
            <a:r>
              <a:rPr lang="en-US" dirty="0"/>
              <a:t> and tax registration from the </a:t>
            </a:r>
            <a:r>
              <a:rPr lang="en-US" b="1" dirty="0"/>
              <a:t>Inland Revenue Department (IRD)</a:t>
            </a:r>
            <a:r>
              <a:rPr lang="en-US" dirty="0"/>
              <a:t>, including VAT registration if applicable. Finally, they must register the business with the local </a:t>
            </a:r>
            <a:r>
              <a:rPr lang="en-US" b="1" dirty="0"/>
              <a:t>Ward Office</a:t>
            </a:r>
            <a:r>
              <a:rPr lang="en-US" dirty="0"/>
              <a:t>. Depending on the business sector, additional licenses may be required. Failure to complete these steps can result in fines, penalties, or business closure.</a:t>
            </a:r>
          </a:p>
          <a:p>
            <a:br>
              <a:rPr lang="en-US" dirty="0"/>
            </a:br>
            <a:endParaRPr lang="en-US" dirty="0"/>
          </a:p>
          <a:p>
            <a:endParaRPr lang="en-CA" dirty="0"/>
          </a:p>
        </p:txBody>
      </p:sp>
    </p:spTree>
    <p:extLst>
      <p:ext uri="{BB962C8B-B14F-4D97-AF65-F5344CB8AC3E}">
        <p14:creationId xmlns:p14="http://schemas.microsoft.com/office/powerpoint/2010/main" val="3824991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4305-B787-9F64-E968-A036A8DC19D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0A6E1AA-E48D-C341-2C35-02A3A1108614}"/>
              </a:ext>
            </a:extLst>
          </p:cNvPr>
          <p:cNvSpPr>
            <a:spLocks noGrp="1"/>
          </p:cNvSpPr>
          <p:nvPr>
            <p:ph idx="1"/>
          </p:nvPr>
        </p:nvSpPr>
        <p:spPr/>
        <p:txBody>
          <a:bodyPr>
            <a:normAutofit fontScale="92500" lnSpcReduction="10000"/>
          </a:bodyPr>
          <a:lstStyle/>
          <a:p>
            <a:r>
              <a:rPr lang="en-US" b="1" dirty="0"/>
              <a:t>3. Tax Compliance Problems</a:t>
            </a:r>
          </a:p>
          <a:p>
            <a:r>
              <a:rPr lang="en-US" dirty="0"/>
              <a:t>Tax compliance is one of the most common challenges for startups. Many businesses miss mandatory tax filings, maintain poor accounting records, or incorrectly calculate taxes. In Nepal, startups must follow rules for </a:t>
            </a:r>
            <a:r>
              <a:rPr lang="en-US" b="1" dirty="0"/>
              <a:t>Income Tax</a:t>
            </a:r>
            <a:r>
              <a:rPr lang="en-US" dirty="0"/>
              <a:t>, </a:t>
            </a:r>
            <a:r>
              <a:rPr lang="en-US" b="1" dirty="0"/>
              <a:t>Value Added Tax (VAT)</a:t>
            </a:r>
            <a:r>
              <a:rPr lang="en-US" dirty="0"/>
              <a:t>, and </a:t>
            </a:r>
            <a:r>
              <a:rPr lang="en-US" b="1" dirty="0"/>
              <a:t>Withholding Tax</a:t>
            </a:r>
            <a:r>
              <a:rPr lang="en-US" dirty="0"/>
              <a:t>. If taxes are not filed correctly or on time, the startup can face severe penalties, interest charges, and government audits. The best solution is to hire a qualified accountant early and maintain accurate books of accounts. Setting a compliance calendar for monthly, quarterly, and annual tax filings helps prevent mistakes and reduces risk.</a:t>
            </a:r>
          </a:p>
          <a:p>
            <a:br>
              <a:rPr lang="en-US" dirty="0"/>
            </a:br>
            <a:endParaRPr lang="en-US" dirty="0"/>
          </a:p>
          <a:p>
            <a:endParaRPr lang="en-CA" dirty="0"/>
          </a:p>
        </p:txBody>
      </p:sp>
    </p:spTree>
    <p:extLst>
      <p:ext uri="{BB962C8B-B14F-4D97-AF65-F5344CB8AC3E}">
        <p14:creationId xmlns:p14="http://schemas.microsoft.com/office/powerpoint/2010/main" val="1379823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F1B6D-51CF-301B-1FD3-E1DF31BB37A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F95F31A-22CD-0550-7CD6-AB7FDECAEF89}"/>
              </a:ext>
            </a:extLst>
          </p:cNvPr>
          <p:cNvSpPr>
            <a:spLocks noGrp="1"/>
          </p:cNvSpPr>
          <p:nvPr>
            <p:ph idx="1"/>
          </p:nvPr>
        </p:nvSpPr>
        <p:spPr/>
        <p:txBody>
          <a:bodyPr>
            <a:normAutofit fontScale="92500" lnSpcReduction="20000"/>
          </a:bodyPr>
          <a:lstStyle/>
          <a:p>
            <a:r>
              <a:rPr lang="en-US" b="1" dirty="0"/>
              <a:t>4. Intellectual Property (IP) Protection</a:t>
            </a:r>
          </a:p>
          <a:p>
            <a:r>
              <a:rPr lang="en-US" dirty="0"/>
              <a:t>For startups, intellectual property such as the brand name, logo, software, and unique processes is often the most valuable asset. Many startups ignore IP protection, assuming that registering the company automatically protects the brand. However, without </a:t>
            </a:r>
            <a:r>
              <a:rPr lang="en-US" b="1" dirty="0"/>
              <a:t>Trademark registration</a:t>
            </a:r>
            <a:r>
              <a:rPr lang="en-US" dirty="0"/>
              <a:t>, competitors can legally use similar names or logos, causing confusion and loss of customers. Startups must register trademarks with the </a:t>
            </a:r>
            <a:r>
              <a:rPr lang="en-US" b="1" dirty="0"/>
              <a:t>Department of Industry (DOI)</a:t>
            </a:r>
            <a:r>
              <a:rPr lang="en-US" dirty="0"/>
              <a:t>. They must also secure ownership of all creations by using </a:t>
            </a:r>
            <a:r>
              <a:rPr lang="en-US" b="1" dirty="0"/>
              <a:t>Invention Assignment Agreements</a:t>
            </a:r>
            <a:r>
              <a:rPr lang="en-US" dirty="0"/>
              <a:t> and protect confidential information using </a:t>
            </a:r>
            <a:r>
              <a:rPr lang="en-US" b="1" dirty="0"/>
              <a:t>Non-Disclosure Agreements (NDAs)</a:t>
            </a:r>
            <a:r>
              <a:rPr lang="en-US" dirty="0"/>
              <a:t>. Proper IP protection prevents competitors from copying or claiming ownership of the startup’s innovations.</a:t>
            </a:r>
          </a:p>
          <a:p>
            <a:br>
              <a:rPr lang="en-US" dirty="0"/>
            </a:br>
            <a:endParaRPr lang="en-US" dirty="0"/>
          </a:p>
          <a:p>
            <a:endParaRPr lang="en-CA" dirty="0"/>
          </a:p>
        </p:txBody>
      </p:sp>
    </p:spTree>
    <p:extLst>
      <p:ext uri="{BB962C8B-B14F-4D97-AF65-F5344CB8AC3E}">
        <p14:creationId xmlns:p14="http://schemas.microsoft.com/office/powerpoint/2010/main" val="1003217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EFBC-D95F-6330-EAE8-B165B602C55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C4CBDDB-F43B-D39F-B177-1C3BB665DFDB}"/>
              </a:ext>
            </a:extLst>
          </p:cNvPr>
          <p:cNvSpPr>
            <a:spLocks noGrp="1"/>
          </p:cNvSpPr>
          <p:nvPr>
            <p:ph idx="1"/>
          </p:nvPr>
        </p:nvSpPr>
        <p:spPr/>
        <p:txBody>
          <a:bodyPr>
            <a:normAutofit fontScale="92500" lnSpcReduction="20000"/>
          </a:bodyPr>
          <a:lstStyle/>
          <a:p>
            <a:r>
              <a:rPr lang="en-US" b="1" dirty="0"/>
              <a:t>5. Employment and Labor Law Issues</a:t>
            </a:r>
          </a:p>
          <a:p>
            <a:r>
              <a:rPr lang="en-US" dirty="0"/>
              <a:t>Startups often face legal risks related to employee hiring and classification. A common mistake is classifying employees as </a:t>
            </a:r>
            <a:r>
              <a:rPr lang="en-US" b="1" dirty="0"/>
              <a:t>independent contractors</a:t>
            </a:r>
            <a:r>
              <a:rPr lang="en-US" dirty="0"/>
              <a:t> to avoid taxes and benefits. If a contractor is treated like an employee (for example, given fixed working hours or direct supervision), a court may reclassify them as an employee. This can lead to penalties, back payments, and liability for missed contributions to the </a:t>
            </a:r>
            <a:r>
              <a:rPr lang="en-US" b="1" dirty="0"/>
              <a:t>Social Security Fund (SSF)</a:t>
            </a:r>
            <a:r>
              <a:rPr lang="en-US" dirty="0"/>
              <a:t>. To avoid this, startups must use legally compliant employment contracts and follow the </a:t>
            </a:r>
            <a:r>
              <a:rPr lang="en-US" b="1" dirty="0"/>
              <a:t>Labor Act, 2017</a:t>
            </a:r>
            <a:r>
              <a:rPr lang="en-US" dirty="0"/>
              <a:t>, which covers working hours, minimum wage, and termination rules. They must also comply with the </a:t>
            </a:r>
            <a:r>
              <a:rPr lang="en-US" b="1" dirty="0"/>
              <a:t>Social Security Act</a:t>
            </a:r>
            <a:r>
              <a:rPr lang="en-US" dirty="0"/>
              <a:t> for mandatory SSF contributions.</a:t>
            </a:r>
          </a:p>
          <a:p>
            <a:br>
              <a:rPr lang="en-US" dirty="0"/>
            </a:br>
            <a:endParaRPr lang="en-US" dirty="0"/>
          </a:p>
          <a:p>
            <a:endParaRPr lang="en-CA" dirty="0"/>
          </a:p>
        </p:txBody>
      </p:sp>
    </p:spTree>
    <p:extLst>
      <p:ext uri="{BB962C8B-B14F-4D97-AF65-F5344CB8AC3E}">
        <p14:creationId xmlns:p14="http://schemas.microsoft.com/office/powerpoint/2010/main" val="7696294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613EF-F1AB-79EF-1564-80780B738EE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13D6BEC-72FB-3782-6233-FED59D4A7103}"/>
              </a:ext>
            </a:extLst>
          </p:cNvPr>
          <p:cNvSpPr>
            <a:spLocks noGrp="1"/>
          </p:cNvSpPr>
          <p:nvPr>
            <p:ph idx="1"/>
          </p:nvPr>
        </p:nvSpPr>
        <p:spPr/>
        <p:txBody>
          <a:bodyPr>
            <a:normAutofit fontScale="92500"/>
          </a:bodyPr>
          <a:lstStyle/>
          <a:p>
            <a:r>
              <a:rPr lang="en-US" b="1" dirty="0"/>
              <a:t>6. Contractual Disputes</a:t>
            </a:r>
          </a:p>
          <a:p>
            <a:r>
              <a:rPr lang="en-US" dirty="0"/>
              <a:t>Poorly managed relationships with co-founders, employees, suppliers, and customers are a major cause of legal disputes. Many startups rely on verbal agreements or handshake deals, especially during the early stages. This creates confusion about responsibilities, equity, payment terms, and roles, which can destroy the business later. To prevent disputes, startups should document all agreements in writing. They must draft a clear </a:t>
            </a:r>
            <a:r>
              <a:rPr lang="en-US" b="1" dirty="0"/>
              <a:t>Founders’ Agreement</a:t>
            </a:r>
            <a:r>
              <a:rPr lang="en-US" dirty="0"/>
              <a:t> defining equity, vesting, roles, and exit strategies. Additionally, written contracts should be used for suppliers, customers, and partners.</a:t>
            </a:r>
          </a:p>
          <a:p>
            <a:br>
              <a:rPr lang="en-US" dirty="0"/>
            </a:br>
            <a:endParaRPr lang="en-US" dirty="0"/>
          </a:p>
          <a:p>
            <a:endParaRPr lang="en-CA" dirty="0"/>
          </a:p>
        </p:txBody>
      </p:sp>
    </p:spTree>
    <p:extLst>
      <p:ext uri="{BB962C8B-B14F-4D97-AF65-F5344CB8AC3E}">
        <p14:creationId xmlns:p14="http://schemas.microsoft.com/office/powerpoint/2010/main" val="5411993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9BD5E-8134-C014-5741-CA672F71ADD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FAFECE3-A102-BFFE-6B1E-BAF9C0ABF62F}"/>
              </a:ext>
            </a:extLst>
          </p:cNvPr>
          <p:cNvSpPr>
            <a:spLocks noGrp="1"/>
          </p:cNvSpPr>
          <p:nvPr>
            <p:ph idx="1"/>
          </p:nvPr>
        </p:nvSpPr>
        <p:spPr/>
        <p:txBody>
          <a:bodyPr>
            <a:normAutofit lnSpcReduction="10000"/>
          </a:bodyPr>
          <a:lstStyle/>
          <a:p>
            <a:r>
              <a:rPr lang="en-US" b="1" dirty="0"/>
              <a:t>7. Cyber Law and Data Protection</a:t>
            </a:r>
          </a:p>
          <a:p>
            <a:r>
              <a:rPr lang="en-US" dirty="0"/>
              <a:t>Startups that handle user data must follow cybersecurity laws, but many ignore this area. Nepal’s </a:t>
            </a:r>
            <a:r>
              <a:rPr lang="en-US" b="1" dirty="0"/>
              <a:t>Electronic Transactions Act (ETA), 2008</a:t>
            </a:r>
            <a:r>
              <a:rPr lang="en-US" dirty="0"/>
              <a:t> governs electronic records, digital signatures, and cybercrime. Startups must protect user data from hacking, misuse, and cyber attacks. Failure to follow cyber laws can result in legal action, penalties, and loss of customer trust. Implementing strong data security practices, encrypting sensitive information, and following the law are essential for long-term business success.</a:t>
            </a:r>
          </a:p>
          <a:p>
            <a:br>
              <a:rPr lang="en-US" dirty="0"/>
            </a:br>
            <a:endParaRPr lang="en-US" dirty="0"/>
          </a:p>
          <a:p>
            <a:endParaRPr lang="en-CA" dirty="0"/>
          </a:p>
        </p:txBody>
      </p:sp>
    </p:spTree>
    <p:extLst>
      <p:ext uri="{BB962C8B-B14F-4D97-AF65-F5344CB8AC3E}">
        <p14:creationId xmlns:p14="http://schemas.microsoft.com/office/powerpoint/2010/main" val="32541031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B614-8C41-13EF-4B52-15C803B1D3A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C913EA8-ED2F-C9B7-2D95-23DDF4C4D292}"/>
              </a:ext>
            </a:extLst>
          </p:cNvPr>
          <p:cNvSpPr>
            <a:spLocks noGrp="1"/>
          </p:cNvSpPr>
          <p:nvPr>
            <p:ph idx="1"/>
          </p:nvPr>
        </p:nvSpPr>
        <p:spPr/>
        <p:txBody>
          <a:bodyPr>
            <a:normAutofit lnSpcReduction="10000"/>
          </a:bodyPr>
          <a:lstStyle/>
          <a:p>
            <a:r>
              <a:rPr lang="en-US" b="1" dirty="0"/>
              <a:t>8. Regulatory Compliance (Sector-Specific)</a:t>
            </a:r>
          </a:p>
          <a:p>
            <a:r>
              <a:rPr lang="en-US" dirty="0"/>
              <a:t>Certain industries require additional regulatory approval. For example, fintech startups must follow rules set by </a:t>
            </a:r>
            <a:r>
              <a:rPr lang="en-US" b="1" dirty="0"/>
              <a:t>Nepal Rastra Bank</a:t>
            </a:r>
            <a:r>
              <a:rPr lang="en-US" dirty="0"/>
              <a:t>, while telecom services require approval from the </a:t>
            </a:r>
            <a:r>
              <a:rPr lang="en-US" b="1" dirty="0"/>
              <a:t>Nepal Telecommunications Authority (NTA)</a:t>
            </a:r>
            <a:r>
              <a:rPr lang="en-US" dirty="0"/>
              <a:t>. E-commerce businesses must comply with consumer protection laws and digital transaction rules. Ignoring sector-specific regulations can result in license cancellation, fines, or forced shutdown. Startups must identify the relevant regulator and ensure full compliance before launching their services.</a:t>
            </a:r>
          </a:p>
          <a:p>
            <a:br>
              <a:rPr lang="en-US" dirty="0"/>
            </a:br>
            <a:endParaRPr lang="en-US" dirty="0"/>
          </a:p>
          <a:p>
            <a:endParaRPr lang="en-CA" dirty="0"/>
          </a:p>
        </p:txBody>
      </p:sp>
    </p:spTree>
    <p:extLst>
      <p:ext uri="{BB962C8B-B14F-4D97-AF65-F5344CB8AC3E}">
        <p14:creationId xmlns:p14="http://schemas.microsoft.com/office/powerpoint/2010/main" val="37826106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9151B-79DA-6EE4-7A4D-B919476F9E5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405019B-CCF4-687C-CFF8-85E5FE9D8B04}"/>
              </a:ext>
            </a:extLst>
          </p:cNvPr>
          <p:cNvSpPr>
            <a:spLocks noGrp="1"/>
          </p:cNvSpPr>
          <p:nvPr>
            <p:ph idx="1"/>
          </p:nvPr>
        </p:nvSpPr>
        <p:spPr/>
        <p:txBody>
          <a:bodyPr>
            <a:normAutofit lnSpcReduction="10000"/>
          </a:bodyPr>
          <a:lstStyle/>
          <a:p>
            <a:r>
              <a:rPr lang="en-US" b="1" dirty="0"/>
              <a:t>9. Investor &amp; Shareholding Issues</a:t>
            </a:r>
          </a:p>
          <a:p>
            <a:r>
              <a:rPr lang="en-US" dirty="0"/>
              <a:t>Startups often face conflicts with investors or founders due to unclear equity distribution. Without proper legal documentation, disputes can arise over ownership shares, profit sharing, and decision-making rights. Investors also require transparency and clear legal structure before funding. Startups should create detailed legal agreements like </a:t>
            </a:r>
            <a:r>
              <a:rPr lang="en-US" b="1" dirty="0"/>
              <a:t>Shareholders’ Agreements</a:t>
            </a:r>
            <a:r>
              <a:rPr lang="en-US" dirty="0"/>
              <a:t> and </a:t>
            </a:r>
            <a:r>
              <a:rPr lang="en-US" b="1" dirty="0"/>
              <a:t>Investment Agreements</a:t>
            </a:r>
            <a:r>
              <a:rPr lang="en-US" dirty="0"/>
              <a:t>. These documents define equity ownership, vesting, voting rights, and exit strategies, preventing future conflicts.</a:t>
            </a:r>
          </a:p>
          <a:p>
            <a:br>
              <a:rPr lang="en-US" dirty="0"/>
            </a:br>
            <a:endParaRPr lang="en-US" dirty="0"/>
          </a:p>
          <a:p>
            <a:endParaRPr lang="en-CA" dirty="0"/>
          </a:p>
        </p:txBody>
      </p:sp>
    </p:spTree>
    <p:extLst>
      <p:ext uri="{BB962C8B-B14F-4D97-AF65-F5344CB8AC3E}">
        <p14:creationId xmlns:p14="http://schemas.microsoft.com/office/powerpoint/2010/main" val="1506646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9A0A-BAFE-0CD9-3076-1428943DFA1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E6982B1-543C-53F1-8975-87E78D01AD3F}"/>
              </a:ext>
            </a:extLst>
          </p:cNvPr>
          <p:cNvSpPr>
            <a:spLocks noGrp="1"/>
          </p:cNvSpPr>
          <p:nvPr>
            <p:ph idx="1"/>
          </p:nvPr>
        </p:nvSpPr>
        <p:spPr/>
        <p:txBody>
          <a:bodyPr/>
          <a:lstStyle/>
          <a:p>
            <a:r>
              <a:rPr lang="en-US" b="1" dirty="0"/>
              <a:t>10. Dispute Resolution and Litigation</a:t>
            </a:r>
          </a:p>
          <a:p>
            <a:r>
              <a:rPr lang="en-US" dirty="0"/>
              <a:t>Startups are often unprepared for legal disputes, which can be costly and disruptive. When disputes occur, they can delay business operations and cause financial loss. To manage this risk, startups should include </a:t>
            </a:r>
            <a:r>
              <a:rPr lang="en-US" b="1" dirty="0"/>
              <a:t>arbitration and dispute resolution clauses</a:t>
            </a:r>
            <a:r>
              <a:rPr lang="en-US" dirty="0"/>
              <a:t> in all contracts. These clauses help resolve conflicts quickly and reduce the chance of long court battles. Proper legal planning ensures the startup can focus on growth rather than legal problems.</a:t>
            </a:r>
          </a:p>
          <a:p>
            <a:endParaRPr lang="en-CA" dirty="0"/>
          </a:p>
        </p:txBody>
      </p:sp>
    </p:spTree>
    <p:extLst>
      <p:ext uri="{BB962C8B-B14F-4D97-AF65-F5344CB8AC3E}">
        <p14:creationId xmlns:p14="http://schemas.microsoft.com/office/powerpoint/2010/main" val="7072239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0C4A-828D-8719-0DAF-ED065888F567}"/>
              </a:ext>
            </a:extLst>
          </p:cNvPr>
          <p:cNvSpPr>
            <a:spLocks noGrp="1"/>
          </p:cNvSpPr>
          <p:nvPr>
            <p:ph type="title"/>
          </p:nvPr>
        </p:nvSpPr>
        <p:spPr/>
        <p:txBody>
          <a:bodyPr/>
          <a:lstStyle/>
          <a:p>
            <a:r>
              <a:rPr lang="en-US" dirty="0"/>
              <a:t>Business registration in Nepal</a:t>
            </a:r>
            <a:endParaRPr lang="en-CA" dirty="0"/>
          </a:p>
        </p:txBody>
      </p:sp>
      <p:sp>
        <p:nvSpPr>
          <p:cNvPr id="3" name="Content Placeholder 2">
            <a:extLst>
              <a:ext uri="{FF2B5EF4-FFF2-40B4-BE49-F238E27FC236}">
                <a16:creationId xmlns:a16="http://schemas.microsoft.com/office/drawing/2014/main" id="{E61C5D3A-8786-41BA-D379-BB5C29009C7B}"/>
              </a:ext>
            </a:extLst>
          </p:cNvPr>
          <p:cNvSpPr>
            <a:spLocks noGrp="1"/>
          </p:cNvSpPr>
          <p:nvPr>
            <p:ph idx="1"/>
          </p:nvPr>
        </p:nvSpPr>
        <p:spPr/>
        <p:txBody>
          <a:bodyPr/>
          <a:lstStyle/>
          <a:p>
            <a:r>
              <a:rPr lang="en-US" dirty="0"/>
              <a:t>Every business in Nepal must be </a:t>
            </a:r>
            <a:r>
              <a:rPr lang="en-US" b="1" dirty="0"/>
              <a:t>legally registered</a:t>
            </a:r>
            <a:r>
              <a:rPr lang="en-US" dirty="0"/>
              <a:t> before it starts operations.</a:t>
            </a:r>
            <a:br>
              <a:rPr lang="en-US" dirty="0"/>
            </a:br>
            <a:r>
              <a:rPr lang="en-US" dirty="0"/>
              <a:t>Registration provides your business with:</a:t>
            </a:r>
          </a:p>
          <a:p>
            <a:r>
              <a:rPr lang="en-US" dirty="0"/>
              <a:t>A </a:t>
            </a:r>
            <a:r>
              <a:rPr lang="en-US" b="1" dirty="0"/>
              <a:t>legal identity</a:t>
            </a:r>
            <a:r>
              <a:rPr lang="en-US" dirty="0"/>
              <a:t>,</a:t>
            </a:r>
          </a:p>
          <a:p>
            <a:r>
              <a:rPr lang="en-US" dirty="0"/>
              <a:t>Eligibility to </a:t>
            </a:r>
            <a:r>
              <a:rPr lang="en-US" b="1" dirty="0"/>
              <a:t>pay taxes</a:t>
            </a:r>
            <a:r>
              <a:rPr lang="en-US" dirty="0"/>
              <a:t>,</a:t>
            </a:r>
          </a:p>
          <a:p>
            <a:r>
              <a:rPr lang="en-US" dirty="0"/>
              <a:t>Ability to </a:t>
            </a:r>
            <a:r>
              <a:rPr lang="en-US" b="1" dirty="0"/>
              <a:t>open a bank account</a:t>
            </a:r>
            <a:r>
              <a:rPr lang="en-US" dirty="0"/>
              <a:t>, </a:t>
            </a:r>
            <a:r>
              <a:rPr lang="en-US" b="1" dirty="0"/>
              <a:t>sign contracts</a:t>
            </a:r>
            <a:r>
              <a:rPr lang="en-US" dirty="0"/>
              <a:t>, and </a:t>
            </a:r>
            <a:r>
              <a:rPr lang="en-US" b="1" dirty="0"/>
              <a:t>apply for loans</a:t>
            </a:r>
            <a:r>
              <a:rPr lang="en-US" dirty="0"/>
              <a:t>.</a:t>
            </a:r>
          </a:p>
          <a:p>
            <a:r>
              <a:rPr lang="en-US" dirty="0"/>
              <a:t>Different types of businesses are registered under </a:t>
            </a:r>
            <a:r>
              <a:rPr lang="en-US" b="1" dirty="0"/>
              <a:t>different authorities</a:t>
            </a:r>
            <a:r>
              <a:rPr lang="en-US" dirty="0"/>
              <a:t>, depending on their structure and size.</a:t>
            </a:r>
          </a:p>
          <a:p>
            <a:endParaRPr lang="en-CA" dirty="0"/>
          </a:p>
        </p:txBody>
      </p:sp>
    </p:spTree>
    <p:extLst>
      <p:ext uri="{BB962C8B-B14F-4D97-AF65-F5344CB8AC3E}">
        <p14:creationId xmlns:p14="http://schemas.microsoft.com/office/powerpoint/2010/main" val="10163831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81E94-656E-89C0-43C0-480D1FC81292}"/>
              </a:ext>
            </a:extLst>
          </p:cNvPr>
          <p:cNvSpPr>
            <a:spLocks noGrp="1"/>
          </p:cNvSpPr>
          <p:nvPr>
            <p:ph type="title"/>
          </p:nvPr>
        </p:nvSpPr>
        <p:spPr/>
        <p:txBody>
          <a:bodyPr/>
          <a:lstStyle/>
          <a:p>
            <a:r>
              <a:rPr lang="en-US" altLang="en-US" b="1" dirty="0">
                <a:latin typeface="Arial" panose="020B0604020202020204" pitchFamily="34" charset="0"/>
              </a:rPr>
              <a:t>Types of Business Entities in Nepal</a:t>
            </a:r>
            <a:br>
              <a:rPr lang="en-US" altLang="en-US" b="1" dirty="0">
                <a:latin typeface="Arial" panose="020B0604020202020204" pitchFamily="34" charset="0"/>
              </a:rPr>
            </a:br>
            <a:endParaRPr lang="en-CA" dirty="0"/>
          </a:p>
        </p:txBody>
      </p:sp>
      <p:graphicFrame>
        <p:nvGraphicFramePr>
          <p:cNvPr id="4" name="Content Placeholder 3">
            <a:extLst>
              <a:ext uri="{FF2B5EF4-FFF2-40B4-BE49-F238E27FC236}">
                <a16:creationId xmlns:a16="http://schemas.microsoft.com/office/drawing/2014/main" id="{00578B86-B778-9B39-C01A-AE9B620FBBC5}"/>
              </a:ext>
            </a:extLst>
          </p:cNvPr>
          <p:cNvGraphicFramePr>
            <a:graphicFrameLocks noGrp="1"/>
          </p:cNvGraphicFramePr>
          <p:nvPr>
            <p:ph idx="1"/>
            <p:extLst>
              <p:ext uri="{D42A27DB-BD31-4B8C-83A1-F6EECF244321}">
                <p14:modId xmlns:p14="http://schemas.microsoft.com/office/powerpoint/2010/main" val="3616027130"/>
              </p:ext>
            </p:extLst>
          </p:nvPr>
        </p:nvGraphicFramePr>
        <p:xfrm>
          <a:off x="1158240" y="1453896"/>
          <a:ext cx="10515600" cy="5240904"/>
        </p:xfrm>
        <a:graphic>
          <a:graphicData uri="http://schemas.openxmlformats.org/drawingml/2006/table">
            <a:tbl>
              <a:tblPr/>
              <a:tblGrid>
                <a:gridCol w="3505200">
                  <a:extLst>
                    <a:ext uri="{9D8B030D-6E8A-4147-A177-3AD203B41FA5}">
                      <a16:colId xmlns:a16="http://schemas.microsoft.com/office/drawing/2014/main" val="3900895640"/>
                    </a:ext>
                  </a:extLst>
                </a:gridCol>
                <a:gridCol w="3483864">
                  <a:extLst>
                    <a:ext uri="{9D8B030D-6E8A-4147-A177-3AD203B41FA5}">
                      <a16:colId xmlns:a16="http://schemas.microsoft.com/office/drawing/2014/main" val="1238444696"/>
                    </a:ext>
                  </a:extLst>
                </a:gridCol>
                <a:gridCol w="3526536">
                  <a:extLst>
                    <a:ext uri="{9D8B030D-6E8A-4147-A177-3AD203B41FA5}">
                      <a16:colId xmlns:a16="http://schemas.microsoft.com/office/drawing/2014/main" val="4197248140"/>
                    </a:ext>
                  </a:extLst>
                </a:gridCol>
              </a:tblGrid>
              <a:tr h="458154">
                <a:tc>
                  <a:txBody>
                    <a:bodyPr/>
                    <a:lstStyle/>
                    <a:p>
                      <a:pPr>
                        <a:buNone/>
                      </a:pPr>
                      <a:r>
                        <a:rPr lang="en-CA"/>
                        <a:t>Type</a:t>
                      </a:r>
                    </a:p>
                  </a:txBody>
                  <a:tcPr anchor="ctr">
                    <a:lnL>
                      <a:noFill/>
                    </a:lnL>
                    <a:lnR>
                      <a:noFill/>
                    </a:lnR>
                    <a:lnT>
                      <a:noFill/>
                    </a:lnT>
                    <a:lnB>
                      <a:noFill/>
                    </a:lnB>
                    <a:noFill/>
                  </a:tcPr>
                </a:tc>
                <a:tc>
                  <a:txBody>
                    <a:bodyPr/>
                    <a:lstStyle/>
                    <a:p>
                      <a:pPr>
                        <a:buNone/>
                      </a:pPr>
                      <a:r>
                        <a:rPr lang="en-CA"/>
                        <a:t>Description</a:t>
                      </a:r>
                    </a:p>
                  </a:txBody>
                  <a:tcPr anchor="ctr">
                    <a:lnL>
                      <a:noFill/>
                    </a:lnL>
                    <a:lnR>
                      <a:noFill/>
                    </a:lnR>
                    <a:lnT>
                      <a:noFill/>
                    </a:lnT>
                    <a:lnB>
                      <a:noFill/>
                    </a:lnB>
                    <a:noFill/>
                  </a:tcPr>
                </a:tc>
                <a:tc>
                  <a:txBody>
                    <a:bodyPr/>
                    <a:lstStyle/>
                    <a:p>
                      <a:pPr>
                        <a:buNone/>
                      </a:pPr>
                      <a:r>
                        <a:rPr lang="en-CA"/>
                        <a:t>Registered Under</a:t>
                      </a:r>
                    </a:p>
                  </a:txBody>
                  <a:tcPr anchor="ctr">
                    <a:lnL>
                      <a:noFill/>
                    </a:lnL>
                    <a:lnR>
                      <a:noFill/>
                    </a:lnR>
                    <a:lnT>
                      <a:noFill/>
                    </a:lnT>
                    <a:lnB>
                      <a:noFill/>
                    </a:lnB>
                    <a:noFill/>
                  </a:tcPr>
                </a:tc>
                <a:extLst>
                  <a:ext uri="{0D108BD9-81ED-4DB2-BD59-A6C34878D82A}">
                    <a16:rowId xmlns:a16="http://schemas.microsoft.com/office/drawing/2014/main" val="2716054619"/>
                  </a:ext>
                </a:extLst>
              </a:tr>
              <a:tr h="801770">
                <a:tc>
                  <a:txBody>
                    <a:bodyPr/>
                    <a:lstStyle/>
                    <a:p>
                      <a:pPr>
                        <a:buNone/>
                      </a:pPr>
                      <a:r>
                        <a:rPr lang="en-CA" b="1"/>
                        <a:t>Sole Proprietorship</a:t>
                      </a:r>
                      <a:endParaRPr lang="en-CA"/>
                    </a:p>
                  </a:txBody>
                  <a:tcPr anchor="ctr">
                    <a:lnL>
                      <a:noFill/>
                    </a:lnL>
                    <a:lnR>
                      <a:noFill/>
                    </a:lnR>
                    <a:lnT>
                      <a:noFill/>
                    </a:lnT>
                    <a:lnB>
                      <a:noFill/>
                    </a:lnB>
                    <a:noFill/>
                  </a:tcPr>
                </a:tc>
                <a:tc>
                  <a:txBody>
                    <a:bodyPr/>
                    <a:lstStyle/>
                    <a:p>
                      <a:pPr>
                        <a:buNone/>
                      </a:pPr>
                      <a:r>
                        <a:rPr lang="en-US"/>
                        <a:t>Owned by one person; simple setup; full liability on the owner</a:t>
                      </a:r>
                    </a:p>
                  </a:txBody>
                  <a:tcPr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Private Firm Registration Act, 2014, at inland revenue office, </a:t>
                      </a:r>
                      <a:r>
                        <a:rPr lang="en-US" dirty="0"/>
                        <a:t>Department of Cottage and Small Industries</a:t>
                      </a:r>
                    </a:p>
                    <a:p>
                      <a:pPr>
                        <a:buNone/>
                      </a:pPr>
                      <a:r>
                        <a:rPr lang="en-CA" dirty="0"/>
                        <a:t>Local Ward Office / Municipality</a:t>
                      </a:r>
                    </a:p>
                  </a:txBody>
                  <a:tcPr anchor="ctr">
                    <a:lnL>
                      <a:noFill/>
                    </a:lnL>
                    <a:lnR>
                      <a:noFill/>
                    </a:lnR>
                    <a:lnT>
                      <a:noFill/>
                    </a:lnT>
                    <a:lnB>
                      <a:noFill/>
                    </a:lnB>
                    <a:noFill/>
                  </a:tcPr>
                </a:tc>
                <a:extLst>
                  <a:ext uri="{0D108BD9-81ED-4DB2-BD59-A6C34878D82A}">
                    <a16:rowId xmlns:a16="http://schemas.microsoft.com/office/drawing/2014/main" val="17007286"/>
                  </a:ext>
                </a:extLst>
              </a:tr>
              <a:tr h="801770">
                <a:tc>
                  <a:txBody>
                    <a:bodyPr/>
                    <a:lstStyle/>
                    <a:p>
                      <a:pPr>
                        <a:buNone/>
                      </a:pPr>
                      <a:r>
                        <a:rPr lang="en-CA" b="1"/>
                        <a:t>Partnership Firm</a:t>
                      </a:r>
                      <a:endParaRPr lang="en-CA"/>
                    </a:p>
                  </a:txBody>
                  <a:tcPr anchor="ctr">
                    <a:lnL>
                      <a:noFill/>
                    </a:lnL>
                    <a:lnR>
                      <a:noFill/>
                    </a:lnR>
                    <a:lnT>
                      <a:noFill/>
                    </a:lnT>
                    <a:lnB>
                      <a:noFill/>
                    </a:lnB>
                    <a:noFill/>
                  </a:tcPr>
                </a:tc>
                <a:tc>
                  <a:txBody>
                    <a:bodyPr/>
                    <a:lstStyle/>
                    <a:p>
                      <a:pPr>
                        <a:buNone/>
                      </a:pPr>
                      <a:r>
                        <a:rPr lang="en-US" dirty="0"/>
                        <a:t>Owned by two or more people; shared profits and responsibilities</a:t>
                      </a:r>
                    </a:p>
                  </a:txBody>
                  <a:tcPr anchor="ctr">
                    <a:lnL>
                      <a:noFill/>
                    </a:lnL>
                    <a:lnR>
                      <a:noFill/>
                    </a:lnR>
                    <a:lnT>
                      <a:noFill/>
                    </a:lnT>
                    <a:lnB>
                      <a:noFill/>
                    </a:lnB>
                    <a:noFill/>
                  </a:tcPr>
                </a:tc>
                <a:tc>
                  <a:txBody>
                    <a:bodyPr/>
                    <a:lstStyle/>
                    <a:p>
                      <a:pPr>
                        <a:buNone/>
                      </a:pPr>
                      <a:r>
                        <a:rPr lang="en-US" i="1" dirty="0"/>
                        <a:t>Partnership Act, 2020 B.S, Inland Revenue office, Department of Cottage and small industries, </a:t>
                      </a:r>
                      <a:endParaRPr lang="en-US" dirty="0"/>
                    </a:p>
                  </a:txBody>
                  <a:tcPr anchor="ctr">
                    <a:lnL>
                      <a:noFill/>
                    </a:lnL>
                    <a:lnR>
                      <a:noFill/>
                    </a:lnR>
                    <a:lnT>
                      <a:noFill/>
                    </a:lnT>
                    <a:lnB>
                      <a:noFill/>
                    </a:lnB>
                    <a:noFill/>
                  </a:tcPr>
                </a:tc>
                <a:extLst>
                  <a:ext uri="{0D108BD9-81ED-4DB2-BD59-A6C34878D82A}">
                    <a16:rowId xmlns:a16="http://schemas.microsoft.com/office/drawing/2014/main" val="179371892"/>
                  </a:ext>
                </a:extLst>
              </a:tr>
              <a:tr h="801770">
                <a:tc>
                  <a:txBody>
                    <a:bodyPr/>
                    <a:lstStyle/>
                    <a:p>
                      <a:pPr>
                        <a:buNone/>
                      </a:pPr>
                      <a:r>
                        <a:rPr lang="en-US" b="1"/>
                        <a:t>Private Limited Company (Pvt. Ltd.)</a:t>
                      </a:r>
                      <a:endParaRPr lang="en-US"/>
                    </a:p>
                  </a:txBody>
                  <a:tcPr anchor="ctr">
                    <a:lnL>
                      <a:noFill/>
                    </a:lnL>
                    <a:lnR>
                      <a:noFill/>
                    </a:lnR>
                    <a:lnT>
                      <a:noFill/>
                    </a:lnT>
                    <a:lnB>
                      <a:noFill/>
                    </a:lnB>
                    <a:noFill/>
                  </a:tcPr>
                </a:tc>
                <a:tc>
                  <a:txBody>
                    <a:bodyPr/>
                    <a:lstStyle/>
                    <a:p>
                      <a:pPr>
                        <a:buNone/>
                      </a:pPr>
                      <a:r>
                        <a:rPr lang="en-US" dirty="0"/>
                        <a:t>Separate legal entity; limited liability; most common for startups</a:t>
                      </a:r>
                    </a:p>
                  </a:txBody>
                  <a:tcPr anchor="ctr">
                    <a:lnL>
                      <a:noFill/>
                    </a:lnL>
                    <a:lnR>
                      <a:noFill/>
                    </a:lnR>
                    <a:lnT>
                      <a:noFill/>
                    </a:lnT>
                    <a:lnB>
                      <a:noFill/>
                    </a:lnB>
                    <a:noFill/>
                  </a:tcPr>
                </a:tc>
                <a:tc>
                  <a:txBody>
                    <a:bodyPr/>
                    <a:lstStyle/>
                    <a:p>
                      <a:pPr>
                        <a:buNone/>
                      </a:pPr>
                      <a:r>
                        <a:rPr lang="en-US" b="1" dirty="0"/>
                        <a:t>Office of the Company Registrar (OCR) 2067</a:t>
                      </a:r>
                      <a:endParaRPr lang="en-US" dirty="0"/>
                    </a:p>
                  </a:txBody>
                  <a:tcPr anchor="ctr">
                    <a:lnL>
                      <a:noFill/>
                    </a:lnL>
                    <a:lnR>
                      <a:noFill/>
                    </a:lnR>
                    <a:lnT>
                      <a:noFill/>
                    </a:lnT>
                    <a:lnB>
                      <a:noFill/>
                    </a:lnB>
                    <a:noFill/>
                  </a:tcPr>
                </a:tc>
                <a:extLst>
                  <a:ext uri="{0D108BD9-81ED-4DB2-BD59-A6C34878D82A}">
                    <a16:rowId xmlns:a16="http://schemas.microsoft.com/office/drawing/2014/main" val="821095438"/>
                  </a:ext>
                </a:extLst>
              </a:tr>
              <a:tr h="801770">
                <a:tc>
                  <a:txBody>
                    <a:bodyPr/>
                    <a:lstStyle/>
                    <a:p>
                      <a:pPr>
                        <a:buNone/>
                      </a:pPr>
                      <a:r>
                        <a:rPr lang="en-CA" b="1"/>
                        <a:t>Public Limited Company (Ltd.)</a:t>
                      </a:r>
                      <a:endParaRPr lang="en-CA"/>
                    </a:p>
                  </a:txBody>
                  <a:tcPr anchor="ctr">
                    <a:lnL>
                      <a:noFill/>
                    </a:lnL>
                    <a:lnR>
                      <a:noFill/>
                    </a:lnR>
                    <a:lnT>
                      <a:noFill/>
                    </a:lnT>
                    <a:lnB>
                      <a:noFill/>
                    </a:lnB>
                    <a:noFill/>
                  </a:tcPr>
                </a:tc>
                <a:tc>
                  <a:txBody>
                    <a:bodyPr/>
                    <a:lstStyle/>
                    <a:p>
                      <a:pPr>
                        <a:buNone/>
                      </a:pPr>
                      <a:r>
                        <a:rPr lang="en-US"/>
                        <a:t>Can sell shares to the public; suitable for large enterprises</a:t>
                      </a:r>
                    </a:p>
                  </a:txBody>
                  <a:tcPr anchor="ctr">
                    <a:lnL>
                      <a:noFill/>
                    </a:lnL>
                    <a:lnR>
                      <a:noFill/>
                    </a:lnR>
                    <a:lnT>
                      <a:noFill/>
                    </a:lnT>
                    <a:lnB>
                      <a:noFill/>
                    </a:lnB>
                    <a:noFill/>
                  </a:tcPr>
                </a:tc>
                <a:tc>
                  <a:txBody>
                    <a:bodyPr/>
                    <a:lstStyle/>
                    <a:p>
                      <a:pPr>
                        <a:buNone/>
                      </a:pPr>
                      <a:r>
                        <a:rPr lang="en-US" dirty="0"/>
                        <a:t>Office of the Company Registrar</a:t>
                      </a:r>
                    </a:p>
                  </a:txBody>
                  <a:tcPr anchor="ctr">
                    <a:lnL>
                      <a:noFill/>
                    </a:lnL>
                    <a:lnR>
                      <a:noFill/>
                    </a:lnR>
                    <a:lnT>
                      <a:noFill/>
                    </a:lnT>
                    <a:lnB>
                      <a:noFill/>
                    </a:lnB>
                    <a:noFill/>
                  </a:tcPr>
                </a:tc>
                <a:extLst>
                  <a:ext uri="{0D108BD9-81ED-4DB2-BD59-A6C34878D82A}">
                    <a16:rowId xmlns:a16="http://schemas.microsoft.com/office/drawing/2014/main" val="336247442"/>
                  </a:ext>
                </a:extLst>
              </a:tr>
              <a:tr h="801770">
                <a:tc>
                  <a:txBody>
                    <a:bodyPr/>
                    <a:lstStyle/>
                    <a:p>
                      <a:pPr>
                        <a:buNone/>
                      </a:pPr>
                      <a:r>
                        <a:rPr lang="en-CA" b="1"/>
                        <a:t>Cooperative</a:t>
                      </a:r>
                      <a:endParaRPr lang="en-CA"/>
                    </a:p>
                  </a:txBody>
                  <a:tcPr anchor="ctr">
                    <a:lnL>
                      <a:noFill/>
                    </a:lnL>
                    <a:lnR>
                      <a:noFill/>
                    </a:lnR>
                    <a:lnT>
                      <a:noFill/>
                    </a:lnT>
                    <a:lnB>
                      <a:noFill/>
                    </a:lnB>
                    <a:noFill/>
                  </a:tcPr>
                </a:tc>
                <a:tc>
                  <a:txBody>
                    <a:bodyPr/>
                    <a:lstStyle/>
                    <a:p>
                      <a:pPr>
                        <a:buNone/>
                      </a:pPr>
                      <a:r>
                        <a:rPr lang="en-CA"/>
                        <a:t>Community-based or member-owned organization</a:t>
                      </a:r>
                    </a:p>
                  </a:txBody>
                  <a:tcPr anchor="ctr">
                    <a:lnL>
                      <a:noFill/>
                    </a:lnL>
                    <a:lnR>
                      <a:noFill/>
                    </a:lnR>
                    <a:lnT>
                      <a:noFill/>
                    </a:lnT>
                    <a:lnB>
                      <a:noFill/>
                    </a:lnB>
                    <a:noFill/>
                  </a:tcPr>
                </a:tc>
                <a:tc>
                  <a:txBody>
                    <a:bodyPr/>
                    <a:lstStyle/>
                    <a:p>
                      <a:pPr>
                        <a:buNone/>
                      </a:pPr>
                      <a:r>
                        <a:rPr lang="en-CA" dirty="0"/>
                        <a:t>Department of Cooperatives </a:t>
                      </a:r>
                      <a:r>
                        <a:rPr lang="en-US" dirty="0"/>
                        <a:t>under the </a:t>
                      </a:r>
                      <a:r>
                        <a:rPr lang="en-US" i="1" dirty="0"/>
                        <a:t>Cooperative Act, 2074 B.S.</a:t>
                      </a:r>
                      <a:endParaRPr lang="en-CA" dirty="0"/>
                    </a:p>
                  </a:txBody>
                  <a:tcPr anchor="ctr">
                    <a:lnL>
                      <a:noFill/>
                    </a:lnL>
                    <a:lnR>
                      <a:noFill/>
                    </a:lnR>
                    <a:lnT>
                      <a:noFill/>
                    </a:lnT>
                    <a:lnB>
                      <a:noFill/>
                    </a:lnB>
                    <a:noFill/>
                  </a:tcPr>
                </a:tc>
                <a:extLst>
                  <a:ext uri="{0D108BD9-81ED-4DB2-BD59-A6C34878D82A}">
                    <a16:rowId xmlns:a16="http://schemas.microsoft.com/office/drawing/2014/main" val="2201829564"/>
                  </a:ext>
                </a:extLst>
              </a:tr>
            </a:tbl>
          </a:graphicData>
        </a:graphic>
      </p:graphicFrame>
    </p:spTree>
    <p:extLst>
      <p:ext uri="{BB962C8B-B14F-4D97-AF65-F5344CB8AC3E}">
        <p14:creationId xmlns:p14="http://schemas.microsoft.com/office/powerpoint/2010/main" val="33265228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D9D90-D630-439A-558C-B7F70AF7372A}"/>
              </a:ext>
            </a:extLst>
          </p:cNvPr>
          <p:cNvSpPr>
            <a:spLocks noGrp="1"/>
          </p:cNvSpPr>
          <p:nvPr>
            <p:ph type="title"/>
          </p:nvPr>
        </p:nvSpPr>
        <p:spPr>
          <a:xfrm>
            <a:off x="838200" y="365125"/>
            <a:ext cx="10515600" cy="402971"/>
          </a:xfrm>
        </p:spPr>
        <p:txBody>
          <a:bodyPr>
            <a:normAutofit fontScale="90000"/>
          </a:bodyPr>
          <a:lstStyle/>
          <a:p>
            <a:br>
              <a:rPr lang="en-CA" b="1" dirty="0"/>
            </a:br>
            <a:r>
              <a:rPr lang="en-CA" b="1" dirty="0"/>
              <a:t>Taxation and Compliance Requirements in Nepal</a:t>
            </a:r>
            <a:br>
              <a:rPr lang="en-CA" dirty="0"/>
            </a:br>
            <a:endParaRPr lang="en-CA" dirty="0"/>
          </a:p>
        </p:txBody>
      </p:sp>
      <p:sp>
        <p:nvSpPr>
          <p:cNvPr id="3" name="Content Placeholder 2">
            <a:extLst>
              <a:ext uri="{FF2B5EF4-FFF2-40B4-BE49-F238E27FC236}">
                <a16:creationId xmlns:a16="http://schemas.microsoft.com/office/drawing/2014/main" id="{5619E70B-0B50-09D2-F89E-E72387E5328E}"/>
              </a:ext>
            </a:extLst>
          </p:cNvPr>
          <p:cNvSpPr>
            <a:spLocks noGrp="1"/>
          </p:cNvSpPr>
          <p:nvPr>
            <p:ph idx="1"/>
          </p:nvPr>
        </p:nvSpPr>
        <p:spPr>
          <a:xfrm>
            <a:off x="746760" y="1167256"/>
            <a:ext cx="10515600" cy="4849495"/>
          </a:xfrm>
        </p:spPr>
        <p:txBody>
          <a:bodyPr>
            <a:normAutofit fontScale="85000" lnSpcReduction="10000"/>
          </a:bodyPr>
          <a:lstStyle/>
          <a:p>
            <a:r>
              <a:rPr lang="en-CA" dirty="0"/>
              <a:t>Taxation in Nepal is governed mainly by the </a:t>
            </a:r>
            <a:r>
              <a:rPr lang="en-CA" b="1" dirty="0"/>
              <a:t>Income Tax Act, 2058 (2002)</a:t>
            </a:r>
            <a:r>
              <a:rPr lang="en-CA" dirty="0"/>
              <a:t>, </a:t>
            </a:r>
            <a:r>
              <a:rPr lang="en-CA" b="1" dirty="0"/>
              <a:t>Value Added Tax (VAT) Act, 2052 (1996)</a:t>
            </a:r>
            <a:r>
              <a:rPr lang="en-CA" dirty="0"/>
              <a:t>, </a:t>
            </a:r>
            <a:r>
              <a:rPr lang="en-CA" b="1" dirty="0"/>
              <a:t>Excise Act</a:t>
            </a:r>
            <a:r>
              <a:rPr lang="en-CA" dirty="0"/>
              <a:t>, and </a:t>
            </a:r>
            <a:r>
              <a:rPr lang="en-CA" b="1" dirty="0"/>
              <a:t>Customs Act</a:t>
            </a:r>
            <a:r>
              <a:rPr lang="en-CA" dirty="0"/>
              <a:t>. The tax system is administered by the </a:t>
            </a:r>
            <a:r>
              <a:rPr lang="en-CA" b="1" dirty="0"/>
              <a:t>Inland Revenue Department (IRD)</a:t>
            </a:r>
            <a:r>
              <a:rPr lang="en-CA" dirty="0"/>
              <a:t> and the </a:t>
            </a:r>
            <a:r>
              <a:rPr lang="en-CA" b="1" dirty="0"/>
              <a:t>Department of Customs</a:t>
            </a:r>
            <a:r>
              <a:rPr lang="en-CA" dirty="0"/>
              <a:t>.</a:t>
            </a:r>
          </a:p>
          <a:p>
            <a:r>
              <a:rPr lang="en-CA" b="1" dirty="0"/>
              <a:t>1. Types of Taxes in Nepal</a:t>
            </a:r>
            <a:endParaRPr lang="en-CA" dirty="0"/>
          </a:p>
          <a:p>
            <a:r>
              <a:rPr lang="en-CA" b="1" dirty="0"/>
              <a:t>a. Direct Taxes</a:t>
            </a:r>
            <a:endParaRPr lang="en-CA" dirty="0"/>
          </a:p>
          <a:p>
            <a:r>
              <a:rPr lang="en-CA" dirty="0"/>
              <a:t>These are taxes paid directly by individuals or organizations.</a:t>
            </a:r>
          </a:p>
          <a:p>
            <a:pPr lvl="0"/>
            <a:r>
              <a:rPr lang="en-CA" b="1" dirty="0"/>
              <a:t>Income Tax</a:t>
            </a:r>
            <a:r>
              <a:rPr lang="en-CA" dirty="0"/>
              <a:t>:</a:t>
            </a:r>
            <a:br>
              <a:rPr lang="en-CA" dirty="0"/>
            </a:br>
            <a:r>
              <a:rPr lang="en-CA" dirty="0"/>
              <a:t>Levied on income earned by individuals, firms, companies, and other entities.</a:t>
            </a:r>
            <a:br>
              <a:rPr lang="en-CA" dirty="0"/>
            </a:br>
            <a:r>
              <a:rPr lang="en-CA" dirty="0"/>
              <a:t>Income includes salary, business income, investment income, and other sources.</a:t>
            </a:r>
          </a:p>
          <a:p>
            <a:pPr lvl="0"/>
            <a:r>
              <a:rPr lang="en-CA" b="1" dirty="0"/>
              <a:t>Corporate Tax</a:t>
            </a:r>
            <a:r>
              <a:rPr lang="en-CA" dirty="0"/>
              <a:t>:</a:t>
            </a:r>
            <a:br>
              <a:rPr lang="en-CA" dirty="0"/>
            </a:br>
            <a:r>
              <a:rPr lang="en-CA" dirty="0"/>
              <a:t>Companies generally pay tax on their profits at prescribed rates (different rates apply to banks, insurance companies, and special industries).</a:t>
            </a:r>
          </a:p>
          <a:p>
            <a:endParaRPr lang="en-CA" dirty="0"/>
          </a:p>
        </p:txBody>
      </p:sp>
    </p:spTree>
    <p:extLst>
      <p:ext uri="{BB962C8B-B14F-4D97-AF65-F5344CB8AC3E}">
        <p14:creationId xmlns:p14="http://schemas.microsoft.com/office/powerpoint/2010/main" val="35800210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C3E86-0849-A0CA-1E43-7E774E92E13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11A6E0F-8162-6224-A4DC-2334BE648E50}"/>
              </a:ext>
            </a:extLst>
          </p:cNvPr>
          <p:cNvSpPr>
            <a:spLocks noGrp="1"/>
          </p:cNvSpPr>
          <p:nvPr>
            <p:ph idx="1"/>
          </p:nvPr>
        </p:nvSpPr>
        <p:spPr>
          <a:xfrm>
            <a:off x="838200" y="1825624"/>
            <a:ext cx="10515600" cy="4758055"/>
          </a:xfrm>
        </p:spPr>
        <p:txBody>
          <a:bodyPr>
            <a:normAutofit/>
          </a:bodyPr>
          <a:lstStyle/>
          <a:p>
            <a:r>
              <a:rPr lang="en-CA" b="1" dirty="0"/>
              <a:t>b. Indirect Taxes</a:t>
            </a:r>
            <a:endParaRPr lang="en-CA" dirty="0"/>
          </a:p>
          <a:p>
            <a:r>
              <a:rPr lang="en-CA" dirty="0"/>
              <a:t>These are taxes collected indirectly from consumers.</a:t>
            </a:r>
          </a:p>
          <a:p>
            <a:pPr lvl="0"/>
            <a:r>
              <a:rPr lang="en-CA" b="1" dirty="0"/>
              <a:t>Value Added Tax (VAT)</a:t>
            </a:r>
            <a:r>
              <a:rPr lang="en-CA" dirty="0"/>
              <a:t>:</a:t>
            </a:r>
            <a:br>
              <a:rPr lang="en-CA" dirty="0"/>
            </a:br>
            <a:r>
              <a:rPr lang="en-CA" dirty="0"/>
              <a:t>VAT is charged at </a:t>
            </a:r>
            <a:r>
              <a:rPr lang="en-CA" b="1" dirty="0"/>
              <a:t>13%</a:t>
            </a:r>
            <a:r>
              <a:rPr lang="en-CA" dirty="0"/>
              <a:t> on most goods and services. Businesses with annual turnover above the threshold must register for VAT.</a:t>
            </a:r>
          </a:p>
          <a:p>
            <a:pPr lvl="0"/>
            <a:r>
              <a:rPr lang="en-CA" b="1" dirty="0"/>
              <a:t>Excise Duty</a:t>
            </a:r>
            <a:r>
              <a:rPr lang="en-CA" dirty="0"/>
              <a:t>:</a:t>
            </a:r>
            <a:br>
              <a:rPr lang="en-CA" dirty="0"/>
            </a:br>
            <a:r>
              <a:rPr lang="en-CA" dirty="0"/>
              <a:t>Imposed on specific goods such as alcohol, tobacco, vehicles, and certain services.</a:t>
            </a:r>
          </a:p>
          <a:p>
            <a:pPr lvl="0"/>
            <a:r>
              <a:rPr lang="en-CA" b="1" dirty="0"/>
              <a:t>Customs Duty</a:t>
            </a:r>
            <a:r>
              <a:rPr lang="en-CA" dirty="0"/>
              <a:t>:</a:t>
            </a:r>
            <a:br>
              <a:rPr lang="en-CA" dirty="0"/>
            </a:br>
            <a:r>
              <a:rPr lang="en-CA" dirty="0"/>
              <a:t>Charged on goods imported into Nepal.</a:t>
            </a:r>
          </a:p>
          <a:p>
            <a:endParaRPr lang="en-CA" dirty="0"/>
          </a:p>
        </p:txBody>
      </p:sp>
    </p:spTree>
    <p:extLst>
      <p:ext uri="{BB962C8B-B14F-4D97-AF65-F5344CB8AC3E}">
        <p14:creationId xmlns:p14="http://schemas.microsoft.com/office/powerpoint/2010/main" val="1515109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12CEF-7A86-992C-F44C-29260437BBD2}"/>
              </a:ext>
            </a:extLst>
          </p:cNvPr>
          <p:cNvSpPr>
            <a:spLocks noGrp="1"/>
          </p:cNvSpPr>
          <p:nvPr>
            <p:ph type="title"/>
          </p:nvPr>
        </p:nvSpPr>
        <p:spPr/>
        <p:txBody>
          <a:bodyPr/>
          <a:lstStyle/>
          <a:p>
            <a:r>
              <a:rPr lang="en-CA" b="1" dirty="0"/>
              <a:t>2. Tax Registration Requirements</a:t>
            </a:r>
            <a:br>
              <a:rPr lang="en-CA" dirty="0"/>
            </a:br>
            <a:endParaRPr lang="en-CA" dirty="0"/>
          </a:p>
        </p:txBody>
      </p:sp>
      <p:sp>
        <p:nvSpPr>
          <p:cNvPr id="3" name="Content Placeholder 2">
            <a:extLst>
              <a:ext uri="{FF2B5EF4-FFF2-40B4-BE49-F238E27FC236}">
                <a16:creationId xmlns:a16="http://schemas.microsoft.com/office/drawing/2014/main" id="{956ADCD7-9891-8C63-6A74-759E326ABAE7}"/>
              </a:ext>
            </a:extLst>
          </p:cNvPr>
          <p:cNvSpPr>
            <a:spLocks noGrp="1"/>
          </p:cNvSpPr>
          <p:nvPr>
            <p:ph idx="1"/>
          </p:nvPr>
        </p:nvSpPr>
        <p:spPr/>
        <p:txBody>
          <a:bodyPr>
            <a:normAutofit/>
          </a:bodyPr>
          <a:lstStyle/>
          <a:p>
            <a:pPr lvl="0"/>
            <a:r>
              <a:rPr lang="en-CA" b="1" dirty="0"/>
              <a:t>Permanent Account Number (PAN)</a:t>
            </a:r>
            <a:r>
              <a:rPr lang="en-CA" dirty="0"/>
              <a:t>:</a:t>
            </a:r>
            <a:br>
              <a:rPr lang="en-CA" dirty="0"/>
            </a:br>
            <a:r>
              <a:rPr lang="en-CA" dirty="0"/>
              <a:t>Mandatory for individuals and businesses engaged in income-generating activities.</a:t>
            </a:r>
          </a:p>
          <a:p>
            <a:pPr lvl="0"/>
            <a:r>
              <a:rPr lang="en-CA" b="1" dirty="0"/>
              <a:t>VAT Registration</a:t>
            </a:r>
            <a:r>
              <a:rPr lang="en-CA" dirty="0"/>
              <a:t>:</a:t>
            </a:r>
            <a:br>
              <a:rPr lang="en-CA" dirty="0"/>
            </a:br>
            <a:r>
              <a:rPr lang="en-CA" dirty="0"/>
              <a:t>Required for businesses whose annual turnover exceeds the VAT threshold or who are involved in VAT-applicable transactions.</a:t>
            </a:r>
          </a:p>
          <a:p>
            <a:endParaRPr lang="en-CA" dirty="0"/>
          </a:p>
        </p:txBody>
      </p:sp>
    </p:spTree>
    <p:extLst>
      <p:ext uri="{BB962C8B-B14F-4D97-AF65-F5344CB8AC3E}">
        <p14:creationId xmlns:p14="http://schemas.microsoft.com/office/powerpoint/2010/main" val="3577487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4271-1AA9-72C4-73AE-7F148B2AE22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E02C877-DBBE-D326-1B54-C9F6AA1D2532}"/>
              </a:ext>
            </a:extLst>
          </p:cNvPr>
          <p:cNvSpPr>
            <a:spLocks noGrp="1"/>
          </p:cNvSpPr>
          <p:nvPr>
            <p:ph idx="1"/>
          </p:nvPr>
        </p:nvSpPr>
        <p:spPr/>
        <p:txBody>
          <a:bodyPr>
            <a:normAutofit fontScale="92500" lnSpcReduction="20000"/>
          </a:bodyPr>
          <a:lstStyle/>
          <a:p>
            <a:r>
              <a:rPr lang="en-CA" b="1" dirty="0"/>
              <a:t>3. Filing and Payment Compliance</a:t>
            </a:r>
            <a:endParaRPr lang="en-CA" dirty="0"/>
          </a:p>
          <a:p>
            <a:pPr lvl="0"/>
            <a:r>
              <a:rPr lang="en-CA" b="1" dirty="0"/>
              <a:t>Income Tax Return</a:t>
            </a:r>
            <a:r>
              <a:rPr lang="en-CA" dirty="0"/>
              <a:t>:</a:t>
            </a:r>
            <a:br>
              <a:rPr lang="en-CA" dirty="0"/>
            </a:br>
            <a:r>
              <a:rPr lang="en-CA" dirty="0"/>
              <a:t>Must be filed annually within the prescribed deadline (usually within 3 months after the end of the fiscal year).</a:t>
            </a:r>
          </a:p>
          <a:p>
            <a:pPr lvl="0"/>
            <a:r>
              <a:rPr lang="en-CA" b="1" dirty="0"/>
              <a:t>Advance Tax Payments</a:t>
            </a:r>
            <a:r>
              <a:rPr lang="en-CA" dirty="0"/>
              <a:t>:</a:t>
            </a:r>
            <a:br>
              <a:rPr lang="en-CA" dirty="0"/>
            </a:br>
            <a:r>
              <a:rPr lang="en-CA" dirty="0"/>
              <a:t>Businesses must pay income tax in installments during the year.</a:t>
            </a:r>
          </a:p>
          <a:p>
            <a:pPr lvl="0"/>
            <a:r>
              <a:rPr lang="en-CA" b="1" dirty="0"/>
              <a:t>VAT Returns</a:t>
            </a:r>
            <a:r>
              <a:rPr lang="en-CA" dirty="0"/>
              <a:t>:</a:t>
            </a:r>
            <a:br>
              <a:rPr lang="en-CA" dirty="0"/>
            </a:br>
            <a:r>
              <a:rPr lang="en-CA" dirty="0"/>
              <a:t>Filed monthly, along with VAT payment.</a:t>
            </a:r>
          </a:p>
          <a:p>
            <a:pPr lvl="0"/>
            <a:r>
              <a:rPr lang="en-CA" b="1" dirty="0"/>
              <a:t>Withholding Tax (TDS)</a:t>
            </a:r>
            <a:r>
              <a:rPr lang="en-CA" dirty="0"/>
              <a:t>:</a:t>
            </a:r>
            <a:br>
              <a:rPr lang="en-CA" dirty="0"/>
            </a:br>
            <a:r>
              <a:rPr lang="en-CA" dirty="0"/>
              <a:t>Certain payments (salary, rent, service fees, interest, etc.) require tax to be deducted at source and deposited with the IRD.</a:t>
            </a:r>
          </a:p>
          <a:p>
            <a:r>
              <a:rPr lang="en-CA" dirty="0"/>
              <a:t> </a:t>
            </a:r>
          </a:p>
          <a:p>
            <a:endParaRPr lang="en-CA" dirty="0"/>
          </a:p>
        </p:txBody>
      </p:sp>
    </p:spTree>
    <p:extLst>
      <p:ext uri="{BB962C8B-B14F-4D97-AF65-F5344CB8AC3E}">
        <p14:creationId xmlns:p14="http://schemas.microsoft.com/office/powerpoint/2010/main" val="42911131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B2BF-827C-91CB-FD00-D498C123DEA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4ADC5D5-128B-5EDA-984E-83EBFBB07C6A}"/>
              </a:ext>
            </a:extLst>
          </p:cNvPr>
          <p:cNvSpPr>
            <a:spLocks noGrp="1"/>
          </p:cNvSpPr>
          <p:nvPr>
            <p:ph idx="1"/>
          </p:nvPr>
        </p:nvSpPr>
        <p:spPr/>
        <p:txBody>
          <a:bodyPr/>
          <a:lstStyle/>
          <a:p>
            <a:r>
              <a:rPr lang="en-CA" b="1" dirty="0"/>
              <a:t>4. Record-Keeping and Documentation</a:t>
            </a:r>
            <a:endParaRPr lang="en-CA" dirty="0"/>
          </a:p>
          <a:p>
            <a:r>
              <a:rPr lang="en-CA" dirty="0"/>
              <a:t>Taxpayers must:</a:t>
            </a:r>
          </a:p>
          <a:p>
            <a:pPr lvl="0"/>
            <a:r>
              <a:rPr lang="en-CA" dirty="0"/>
              <a:t>Maintain proper books of accounts</a:t>
            </a:r>
          </a:p>
          <a:p>
            <a:pPr lvl="0"/>
            <a:r>
              <a:rPr lang="en-CA" dirty="0"/>
              <a:t>Issue tax invoices</a:t>
            </a:r>
          </a:p>
          <a:p>
            <a:pPr lvl="0"/>
            <a:r>
              <a:rPr lang="en-CA" dirty="0"/>
              <a:t>Keep records for a minimum period as prescribed by law</a:t>
            </a:r>
            <a:br>
              <a:rPr lang="en-CA" dirty="0"/>
            </a:br>
            <a:r>
              <a:rPr lang="en-CA" dirty="0"/>
              <a:t>This helps in audits, assessments, and compliance verification.</a:t>
            </a:r>
          </a:p>
          <a:p>
            <a:endParaRPr lang="en-CA" dirty="0"/>
          </a:p>
        </p:txBody>
      </p:sp>
    </p:spTree>
    <p:extLst>
      <p:ext uri="{BB962C8B-B14F-4D97-AF65-F5344CB8AC3E}">
        <p14:creationId xmlns:p14="http://schemas.microsoft.com/office/powerpoint/2010/main" val="30575913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AAE6-BA5A-17A7-D155-CE2AAEA8D51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A684442-D68E-428B-24AB-1EE35AAD1E07}"/>
              </a:ext>
            </a:extLst>
          </p:cNvPr>
          <p:cNvSpPr>
            <a:spLocks noGrp="1"/>
          </p:cNvSpPr>
          <p:nvPr>
            <p:ph idx="1"/>
          </p:nvPr>
        </p:nvSpPr>
        <p:spPr/>
        <p:txBody>
          <a:bodyPr>
            <a:normAutofit/>
          </a:bodyPr>
          <a:lstStyle/>
          <a:p>
            <a:r>
              <a:rPr lang="en-CA" b="1" dirty="0"/>
              <a:t>5. Tax Audits and Penalties</a:t>
            </a:r>
            <a:endParaRPr lang="en-CA" sz="2000" dirty="0"/>
          </a:p>
          <a:p>
            <a:pPr lvl="0"/>
            <a:r>
              <a:rPr lang="en-CA" dirty="0"/>
              <a:t>The tax authority may conduct </a:t>
            </a:r>
            <a:r>
              <a:rPr lang="en-CA" b="1" dirty="0"/>
              <a:t>tax audits</a:t>
            </a:r>
            <a:r>
              <a:rPr lang="en-CA" dirty="0"/>
              <a:t> to verify compliance.</a:t>
            </a:r>
            <a:endParaRPr lang="en-CA" sz="2400" dirty="0"/>
          </a:p>
          <a:p>
            <a:pPr lvl="0"/>
            <a:r>
              <a:rPr lang="en-CA" b="1" dirty="0"/>
              <a:t>Penalties and interest</a:t>
            </a:r>
            <a:r>
              <a:rPr lang="en-CA" dirty="0"/>
              <a:t> may be imposed for:</a:t>
            </a:r>
            <a:endParaRPr lang="en-CA" sz="2400" dirty="0"/>
          </a:p>
          <a:p>
            <a:pPr lvl="1"/>
            <a:r>
              <a:rPr lang="en-CA" dirty="0"/>
              <a:t>Late filing of returns</a:t>
            </a:r>
            <a:endParaRPr lang="en-CA" sz="2000" dirty="0"/>
          </a:p>
          <a:p>
            <a:pPr lvl="1"/>
            <a:r>
              <a:rPr lang="en-CA" dirty="0"/>
              <a:t>Late payment of taxes</a:t>
            </a:r>
            <a:endParaRPr lang="en-CA" sz="2000" dirty="0"/>
          </a:p>
          <a:p>
            <a:pPr lvl="1"/>
            <a:r>
              <a:rPr lang="en-CA" dirty="0"/>
              <a:t>False or incomplete information</a:t>
            </a:r>
            <a:endParaRPr lang="en-CA" sz="2000" dirty="0"/>
          </a:p>
          <a:p>
            <a:pPr lvl="1"/>
            <a:r>
              <a:rPr lang="en-CA" dirty="0"/>
              <a:t>Tax evasion</a:t>
            </a:r>
            <a:endParaRPr lang="en-CA" sz="2000" dirty="0"/>
          </a:p>
        </p:txBody>
      </p:sp>
    </p:spTree>
    <p:extLst>
      <p:ext uri="{BB962C8B-B14F-4D97-AF65-F5344CB8AC3E}">
        <p14:creationId xmlns:p14="http://schemas.microsoft.com/office/powerpoint/2010/main" val="37420761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43474-5241-F820-D4B7-1C919FF1E2A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FB73467-51B2-EE2A-3551-F2ED51E0CFAC}"/>
              </a:ext>
            </a:extLst>
          </p:cNvPr>
          <p:cNvSpPr>
            <a:spLocks noGrp="1"/>
          </p:cNvSpPr>
          <p:nvPr>
            <p:ph idx="1"/>
          </p:nvPr>
        </p:nvSpPr>
        <p:spPr/>
        <p:txBody>
          <a:bodyPr>
            <a:normAutofit fontScale="92500" lnSpcReduction="10000"/>
          </a:bodyPr>
          <a:lstStyle/>
          <a:p>
            <a:r>
              <a:rPr lang="en-CA" b="1" dirty="0"/>
              <a:t>6. Compliance Importance in Nepal</a:t>
            </a:r>
            <a:endParaRPr lang="en-CA" sz="2000" dirty="0"/>
          </a:p>
          <a:p>
            <a:pPr lvl="0"/>
            <a:r>
              <a:rPr lang="en-CA" dirty="0"/>
              <a:t>Ensures </a:t>
            </a:r>
            <a:r>
              <a:rPr lang="en-CA" b="1" dirty="0"/>
              <a:t>legal operation</a:t>
            </a:r>
            <a:r>
              <a:rPr lang="en-CA" dirty="0"/>
              <a:t> of businesses</a:t>
            </a:r>
            <a:endParaRPr lang="en-CA" sz="2400" dirty="0"/>
          </a:p>
          <a:p>
            <a:pPr lvl="0"/>
            <a:r>
              <a:rPr lang="en-CA" dirty="0"/>
              <a:t>Avoids penalties and legal disputes</a:t>
            </a:r>
            <a:endParaRPr lang="en-CA" sz="2400" dirty="0"/>
          </a:p>
          <a:p>
            <a:pPr lvl="0"/>
            <a:r>
              <a:rPr lang="en-CA" dirty="0"/>
              <a:t>Builds </a:t>
            </a:r>
            <a:r>
              <a:rPr lang="en-CA" b="1" dirty="0"/>
              <a:t>credibility</a:t>
            </a:r>
            <a:r>
              <a:rPr lang="en-CA" dirty="0"/>
              <a:t> with banks, investors, and government agencies</a:t>
            </a:r>
            <a:endParaRPr lang="en-CA" sz="2400" dirty="0"/>
          </a:p>
          <a:p>
            <a:pPr lvl="0"/>
            <a:r>
              <a:rPr lang="en-CA" dirty="0"/>
              <a:t>Contributes to </a:t>
            </a:r>
            <a:r>
              <a:rPr lang="en-CA" b="1" dirty="0"/>
              <a:t>national development</a:t>
            </a:r>
            <a:r>
              <a:rPr lang="en-CA" dirty="0"/>
              <a:t> through government revenue</a:t>
            </a:r>
            <a:endParaRPr lang="en-CA" sz="2400" dirty="0"/>
          </a:p>
          <a:p>
            <a:r>
              <a:rPr lang="en-CA" b="1" dirty="0"/>
              <a:t>Conclusion</a:t>
            </a:r>
            <a:endParaRPr lang="en-CA" sz="2000" dirty="0"/>
          </a:p>
          <a:p>
            <a:r>
              <a:rPr lang="en-CA" dirty="0"/>
              <a:t>Taxation and compliance requirements in Nepal are essential for maintaining a transparent and fair economic system. By registering properly, filing returns on time, and paying taxes as required, individuals and businesses contribute to economic development while protecting themselves from legal and financial risks.</a:t>
            </a:r>
          </a:p>
          <a:p>
            <a:endParaRPr lang="en-CA" dirty="0"/>
          </a:p>
        </p:txBody>
      </p:sp>
    </p:spTree>
    <p:extLst>
      <p:ext uri="{BB962C8B-B14F-4D97-AF65-F5344CB8AC3E}">
        <p14:creationId xmlns:p14="http://schemas.microsoft.com/office/powerpoint/2010/main" val="1890955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5272</Words>
  <Application>Microsoft Office PowerPoint</Application>
  <PresentationFormat>Widescreen</PresentationFormat>
  <Paragraphs>276</Paragraphs>
  <Slides>51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Calibri Light</vt:lpstr>
      <vt:lpstr>Office Theme</vt:lpstr>
      <vt:lpstr>    Unit VI: Legal Issues for Professional Practice                         </vt:lpstr>
      <vt:lpstr>Intellectual Properties</vt:lpstr>
      <vt:lpstr>PowerPoint Presentation</vt:lpstr>
      <vt:lpstr>PowerPoint Presentation</vt:lpstr>
      <vt:lpstr>TYPES OF INTELLECTUAL PROPERTY </vt:lpstr>
      <vt:lpstr>PowerPoint Presentation</vt:lpstr>
      <vt:lpstr>PowerPoint Presentation</vt:lpstr>
      <vt:lpstr>IP Laws</vt:lpstr>
      <vt:lpstr>PowerPoint Presentation</vt:lpstr>
      <vt:lpstr>Why IP laws are needed: </vt:lpstr>
      <vt:lpstr>PowerPoint Presentation</vt:lpstr>
      <vt:lpstr>PowerPoint Presentation</vt:lpstr>
      <vt:lpstr>PowerPoint Presentation</vt:lpstr>
      <vt:lpstr>PowerPoint Presentation</vt:lpstr>
      <vt:lpstr>PowerPoint Presentation</vt:lpstr>
      <vt:lpstr>IP Laws in Nepal </vt:lpstr>
      <vt:lpstr>2. Copyright Act, 2002 </vt:lpstr>
      <vt:lpstr>IT related policies and laws in Nepal</vt:lpstr>
      <vt:lpstr>1. Electronic Transactions Act (ETA), 2063 (2008) </vt:lpstr>
      <vt:lpstr>PowerPoint Presentation</vt:lpstr>
      <vt:lpstr>Cyber Security Policy, 2080 (2023) </vt:lpstr>
      <vt:lpstr> </vt:lpstr>
      <vt:lpstr>Key Objectives of the Policy</vt:lpstr>
      <vt:lpstr>Telecommunications Act, 2053 (1997) </vt:lpstr>
      <vt:lpstr>Key Provisions of the Telecommunications Act, 2053 (1997)</vt:lpstr>
      <vt:lpstr>2. Licensing and Regulation </vt:lpstr>
      <vt:lpstr>PowerPoint Presentation</vt:lpstr>
      <vt:lpstr>    Unit VI: Legal Issues for Professional Practice                         </vt:lpstr>
      <vt:lpstr>Legal issues for startup</vt:lpstr>
      <vt:lpstr>1.  Formation and Regulatory Compliance </vt:lpstr>
      <vt:lpstr>2.  Intellectual Property (IP) Protection </vt:lpstr>
      <vt:lpstr> 3. Contracts and Human Resources (HR) </vt:lpstr>
      <vt:lpstr>Or you can go in the following 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registration in Nepal</vt:lpstr>
      <vt:lpstr>Types of Business Entities in Nepal </vt:lpstr>
      <vt:lpstr> Taxation and Compliance Requirements in Nepal </vt:lpstr>
      <vt:lpstr>PowerPoint Presentation</vt:lpstr>
      <vt:lpstr>2. Tax Registration Requirements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35</cp:revision>
  <dcterms:created xsi:type="dcterms:W3CDTF">2025-10-31T10:02:17Z</dcterms:created>
  <dcterms:modified xsi:type="dcterms:W3CDTF">2026-01-18T12:45:14Z</dcterms:modified>
</cp:coreProperties>
</file>