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371" r:id="rId9"/>
    <p:sldId id="372" r:id="rId10"/>
    <p:sldId id="373" r:id="rId11"/>
    <p:sldId id="374" r:id="rId12"/>
    <p:sldId id="375" r:id="rId13"/>
    <p:sldId id="376" r:id="rId14"/>
    <p:sldId id="377" r:id="rId15"/>
    <p:sldId id="378" r:id="rId16"/>
    <p:sldId id="379" r:id="rId17"/>
    <p:sldId id="380" r:id="rId18"/>
    <p:sldId id="264" r:id="rId19"/>
    <p:sldId id="265" r:id="rId20"/>
    <p:sldId id="266" r:id="rId21"/>
    <p:sldId id="267" r:id="rId22"/>
    <p:sldId id="268" r:id="rId23"/>
    <p:sldId id="269" r:id="rId24"/>
    <p:sldId id="270" r:id="rId25"/>
    <p:sldId id="271" r:id="rId26"/>
    <p:sldId id="272" r:id="rId27"/>
    <p:sldId id="273" r:id="rId28"/>
    <p:sldId id="287" r:id="rId29"/>
    <p:sldId id="274" r:id="rId30"/>
    <p:sldId id="275" r:id="rId31"/>
    <p:sldId id="276" r:id="rId32"/>
    <p:sldId id="277" r:id="rId33"/>
    <p:sldId id="278" r:id="rId34"/>
    <p:sldId id="279" r:id="rId35"/>
    <p:sldId id="381" r:id="rId36"/>
    <p:sldId id="280" r:id="rId37"/>
    <p:sldId id="281" r:id="rId38"/>
    <p:sldId id="282" r:id="rId39"/>
    <p:sldId id="283" r:id="rId40"/>
    <p:sldId id="284" r:id="rId41"/>
    <p:sldId id="285" r:id="rId42"/>
    <p:sldId id="286" r:id="rId43"/>
    <p:sldId id="288" r:id="rId44"/>
    <p:sldId id="290" r:id="rId45"/>
    <p:sldId id="291" r:id="rId46"/>
    <p:sldId id="383" r:id="rId47"/>
    <p:sldId id="384"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18" r:id="rId63"/>
    <p:sldId id="319" r:id="rId64"/>
    <p:sldId id="320" r:id="rId65"/>
    <p:sldId id="382" r:id="rId66"/>
    <p:sldId id="309" r:id="rId67"/>
    <p:sldId id="310" r:id="rId68"/>
    <p:sldId id="311" r:id="rId69"/>
    <p:sldId id="312" r:id="rId70"/>
    <p:sldId id="385" r:id="rId71"/>
    <p:sldId id="386" r:id="rId72"/>
    <p:sldId id="387" r:id="rId73"/>
    <p:sldId id="388" r:id="rId74"/>
    <p:sldId id="315" r:id="rId75"/>
    <p:sldId id="316" r:id="rId76"/>
    <p:sldId id="321" r:id="rId77"/>
    <p:sldId id="322" r:id="rId78"/>
    <p:sldId id="323" r:id="rId79"/>
    <p:sldId id="324" r:id="rId80"/>
    <p:sldId id="325" r:id="rId81"/>
    <p:sldId id="326" r:id="rId82"/>
    <p:sldId id="327" r:id="rId83"/>
    <p:sldId id="328" r:id="rId84"/>
    <p:sldId id="317" r:id="rId85"/>
    <p:sldId id="32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5" r:id="rId101"/>
    <p:sldId id="346" r:id="rId102"/>
    <p:sldId id="347" r:id="rId103"/>
    <p:sldId id="348" r:id="rId104"/>
    <p:sldId id="349" r:id="rId105"/>
    <p:sldId id="350" r:id="rId106"/>
    <p:sldId id="352" r:id="rId107"/>
    <p:sldId id="353" r:id="rId108"/>
    <p:sldId id="354" r:id="rId109"/>
    <p:sldId id="355" r:id="rId110"/>
    <p:sldId id="356" r:id="rId111"/>
    <p:sldId id="357" r:id="rId112"/>
    <p:sldId id="358" r:id="rId113"/>
    <p:sldId id="360" r:id="rId114"/>
    <p:sldId id="363" r:id="rId115"/>
    <p:sldId id="364" r:id="rId116"/>
    <p:sldId id="365" r:id="rId117"/>
    <p:sldId id="368" r:id="rId118"/>
    <p:sldId id="394" r:id="rId119"/>
    <p:sldId id="395" r:id="rId120"/>
    <p:sldId id="396" r:id="rId121"/>
    <p:sldId id="397" r:id="rId122"/>
    <p:sldId id="398" r:id="rId123"/>
    <p:sldId id="399" r:id="rId124"/>
    <p:sldId id="307"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68EB6-B9AB-D118-5BE1-BC29F78F9A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CB9276F-C543-932C-8084-5946E0F11F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8754EE58-C97D-0179-605E-4C6A9433680A}"/>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5" name="Footer Placeholder 4">
            <a:extLst>
              <a:ext uri="{FF2B5EF4-FFF2-40B4-BE49-F238E27FC236}">
                <a16:creationId xmlns:a16="http://schemas.microsoft.com/office/drawing/2014/main" id="{1BD18D10-C1A0-65FE-6988-C7E29552A31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27ABDDB-C8B3-52F7-4604-0A1C3BDF8C26}"/>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2137318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56D1F-9F83-35FE-C877-51AC67E9405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73A4E94-2FD7-3D06-9975-6EF729BBC9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89D44B2-480D-D26C-717D-1A061EA727E5}"/>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5" name="Footer Placeholder 4">
            <a:extLst>
              <a:ext uri="{FF2B5EF4-FFF2-40B4-BE49-F238E27FC236}">
                <a16:creationId xmlns:a16="http://schemas.microsoft.com/office/drawing/2014/main" id="{AD61E19D-14C1-6E67-9BF7-34794582498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2620EE7-5469-54CA-92A4-6E07A44BE0E5}"/>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812814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A705-498D-1239-7250-57D0E6AD4D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053F35B-2DE0-C4AC-26A2-073B9DE180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23AD65-0FFD-9964-548A-D4F8E565083C}"/>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5" name="Footer Placeholder 4">
            <a:extLst>
              <a:ext uri="{FF2B5EF4-FFF2-40B4-BE49-F238E27FC236}">
                <a16:creationId xmlns:a16="http://schemas.microsoft.com/office/drawing/2014/main" id="{FC36EB6F-4C6B-D007-E9EF-8D1411D84B5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B2A1570-FA60-DACA-FCBF-7DEF95E4FEFA}"/>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250684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8E74-8843-2DFA-AC59-68E7744E551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EF90AC9-B639-30EE-B1A0-5A3ABF2C5F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68D6378-0A4E-2EBD-E051-1DF8298905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F892F2C-CEBE-28FA-FCB6-B5BDD05D89A4}"/>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6" name="Footer Placeholder 5">
            <a:extLst>
              <a:ext uri="{FF2B5EF4-FFF2-40B4-BE49-F238E27FC236}">
                <a16:creationId xmlns:a16="http://schemas.microsoft.com/office/drawing/2014/main" id="{D024DE24-91EB-C765-DCB1-53AEC46FE1A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0C1E5CA-4247-83F9-C7CF-D7348B40BF1C}"/>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155994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87367-D475-A5D9-09D8-BF2A957C35B0}"/>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6D8E0F1-1F1A-3F8A-0CFF-520DCF4D69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28AF8F-142D-F191-68F9-1132091F4D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432526A-B467-982B-2E91-E6A1549C01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036480-76F9-23C7-B394-6884DCCED1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D73036C-69CB-8F20-419C-A6B659D8B60B}"/>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8" name="Footer Placeholder 7">
            <a:extLst>
              <a:ext uri="{FF2B5EF4-FFF2-40B4-BE49-F238E27FC236}">
                <a16:creationId xmlns:a16="http://schemas.microsoft.com/office/drawing/2014/main" id="{EB9D26A9-51A3-1E75-6B6D-64BFB7DA56D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BD3270D-0FFA-DE58-148C-2075CBE08BD0}"/>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1045056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6944C-F58E-5B54-D8CD-5B07C5007B5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3D60FB3-E88C-704F-6A5E-56C2738781B4}"/>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4" name="Footer Placeholder 3">
            <a:extLst>
              <a:ext uri="{FF2B5EF4-FFF2-40B4-BE49-F238E27FC236}">
                <a16:creationId xmlns:a16="http://schemas.microsoft.com/office/drawing/2014/main" id="{370B98BF-6668-ED3F-2C10-E63BFCF06F7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659F2CB2-8A31-65B4-7D0D-B9549C61090F}"/>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191392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33E502-12A8-A243-8E45-9375FBA7B9BB}"/>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3" name="Footer Placeholder 2">
            <a:extLst>
              <a:ext uri="{FF2B5EF4-FFF2-40B4-BE49-F238E27FC236}">
                <a16:creationId xmlns:a16="http://schemas.microsoft.com/office/drawing/2014/main" id="{8BCBBB84-023B-40D1-6997-663A5B58D164}"/>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D87653E-22B3-222C-0E44-1BEFFBBD07F7}"/>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206414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835D-C60A-7FF4-032A-6E08EE096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91B5E46-5C88-AD91-385E-2DDF34D3B0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2599F63-A0C9-D128-99A7-760383EA8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9FCBD6-8933-9DDB-273C-AC234A9BEA39}"/>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6" name="Footer Placeholder 5">
            <a:extLst>
              <a:ext uri="{FF2B5EF4-FFF2-40B4-BE49-F238E27FC236}">
                <a16:creationId xmlns:a16="http://schemas.microsoft.com/office/drawing/2014/main" id="{AF2C72EC-09B7-627B-5328-BD9E80F23D6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9610A2F-8994-0DE9-45E1-F7B63A34D88A}"/>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1729998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91C05-39D8-A973-D3C8-7060596705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E3BAD0A-6DAC-6E47-A5EE-5E6E37C00B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8DFB43CA-180D-71BA-880A-2C55F4CF3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670ED0-F9DB-4359-01B1-77B6ABADA04C}"/>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6" name="Footer Placeholder 5">
            <a:extLst>
              <a:ext uri="{FF2B5EF4-FFF2-40B4-BE49-F238E27FC236}">
                <a16:creationId xmlns:a16="http://schemas.microsoft.com/office/drawing/2014/main" id="{6BACF8E4-0394-B9F0-6D2D-1A3ED99E9D0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5269C7E-9C45-8981-E500-993E48642747}"/>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436783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DCF67-E48E-2FAA-9145-442510E8F39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12C2D18-C1B2-AAE7-780A-FFE939E72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536E9A5-BEAE-DBF3-461B-7C933C2CC111}"/>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5" name="Footer Placeholder 4">
            <a:extLst>
              <a:ext uri="{FF2B5EF4-FFF2-40B4-BE49-F238E27FC236}">
                <a16:creationId xmlns:a16="http://schemas.microsoft.com/office/drawing/2014/main" id="{A9DF5AA5-69D0-26C1-B817-5CF88F5F9A0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6B90AD4-0B65-01D7-A88E-10AA572DC907}"/>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4048775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BBBDE-82AF-A3A4-54B5-E27734478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9E47BD2-40B0-6997-58B6-157847CA92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4E301CB-3465-DC5C-736D-502E94DC006F}"/>
              </a:ext>
            </a:extLst>
          </p:cNvPr>
          <p:cNvSpPr>
            <a:spLocks noGrp="1"/>
          </p:cNvSpPr>
          <p:nvPr>
            <p:ph type="dt" sz="half" idx="10"/>
          </p:nvPr>
        </p:nvSpPr>
        <p:spPr/>
        <p:txBody>
          <a:bodyPr/>
          <a:lstStyle/>
          <a:p>
            <a:fld id="{EC5B0457-8928-464E-80C1-8B930248CF4D}" type="datetimeFigureOut">
              <a:rPr lang="en-CA" smtClean="0"/>
              <a:t>2026-01-12</a:t>
            </a:fld>
            <a:endParaRPr lang="en-CA"/>
          </a:p>
        </p:txBody>
      </p:sp>
      <p:sp>
        <p:nvSpPr>
          <p:cNvPr id="5" name="Footer Placeholder 4">
            <a:extLst>
              <a:ext uri="{FF2B5EF4-FFF2-40B4-BE49-F238E27FC236}">
                <a16:creationId xmlns:a16="http://schemas.microsoft.com/office/drawing/2014/main" id="{72DA5F62-DFF2-2CA2-39BB-A0385C08D01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2086D7C-C78F-EE95-66FA-B2A1381AEB11}"/>
              </a:ext>
            </a:extLst>
          </p:cNvPr>
          <p:cNvSpPr>
            <a:spLocks noGrp="1"/>
          </p:cNvSpPr>
          <p:nvPr>
            <p:ph type="sldNum" sz="quarter" idx="12"/>
          </p:nvPr>
        </p:nvSpPr>
        <p:spPr/>
        <p:txBody>
          <a:bodyPr/>
          <a:lstStyle/>
          <a:p>
            <a:fld id="{BE10BC46-2995-40FA-9B54-E90AC2A2592E}" type="slidenum">
              <a:rPr lang="en-CA" smtClean="0"/>
              <a:t>‹#›</a:t>
            </a:fld>
            <a:endParaRPr lang="en-CA"/>
          </a:p>
        </p:txBody>
      </p:sp>
    </p:spTree>
    <p:extLst>
      <p:ext uri="{BB962C8B-B14F-4D97-AF65-F5344CB8AC3E}">
        <p14:creationId xmlns:p14="http://schemas.microsoft.com/office/powerpoint/2010/main" val="2593990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3D4A21-0D6D-6E59-306F-67B3162D3F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F91816E-8613-3820-1403-D30331D648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66E9E9E-ED38-2FA5-EA1A-80143735E2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5B0457-8928-464E-80C1-8B930248CF4D}" type="datetimeFigureOut">
              <a:rPr lang="en-CA" smtClean="0"/>
              <a:t>2026-01-12</a:t>
            </a:fld>
            <a:endParaRPr lang="en-CA"/>
          </a:p>
        </p:txBody>
      </p:sp>
      <p:sp>
        <p:nvSpPr>
          <p:cNvPr id="5" name="Footer Placeholder 4">
            <a:extLst>
              <a:ext uri="{FF2B5EF4-FFF2-40B4-BE49-F238E27FC236}">
                <a16:creationId xmlns:a16="http://schemas.microsoft.com/office/drawing/2014/main" id="{A5683051-6347-5D28-1440-6027960755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1F882533-C12C-21E6-D997-E9B4028F07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10BC46-2995-40FA-9B54-E90AC2A2592E}" type="slidenum">
              <a:rPr lang="en-CA" smtClean="0"/>
              <a:t>‹#›</a:t>
            </a:fld>
            <a:endParaRPr lang="en-CA"/>
          </a:p>
        </p:txBody>
      </p:sp>
    </p:spTree>
    <p:extLst>
      <p:ext uri="{BB962C8B-B14F-4D97-AF65-F5344CB8AC3E}">
        <p14:creationId xmlns:p14="http://schemas.microsoft.com/office/powerpoint/2010/main" val="2425439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0B3E-1BC8-1F89-0F56-F0CC30CF23C9}"/>
              </a:ext>
            </a:extLst>
          </p:cNvPr>
          <p:cNvSpPr>
            <a:spLocks noGrp="1"/>
          </p:cNvSpPr>
          <p:nvPr>
            <p:ph type="ctrTitle"/>
          </p:nvPr>
        </p:nvSpPr>
        <p:spPr>
          <a:xfrm>
            <a:off x="1524000" y="704087"/>
            <a:ext cx="9144000" cy="1261873"/>
          </a:xfrm>
        </p:spPr>
        <p:txBody>
          <a:bodyPr>
            <a:normAutofit fontScale="90000"/>
          </a:bodyPr>
          <a:lstStyle/>
          <a:p>
            <a:r>
              <a:rPr lang="en-US" sz="3100" dirty="0"/>
              <a:t>Unit III:  Startup Foundational Analysis                (8 Hrs.)</a:t>
            </a:r>
            <a:br>
              <a:rPr lang="en-US" dirty="0"/>
            </a:br>
            <a:endParaRPr lang="en-CA" dirty="0"/>
          </a:p>
        </p:txBody>
      </p:sp>
      <p:sp>
        <p:nvSpPr>
          <p:cNvPr id="3" name="Subtitle 2">
            <a:extLst>
              <a:ext uri="{FF2B5EF4-FFF2-40B4-BE49-F238E27FC236}">
                <a16:creationId xmlns:a16="http://schemas.microsoft.com/office/drawing/2014/main" id="{0117840F-3571-1853-9EB3-B3342CF67879}"/>
              </a:ext>
            </a:extLst>
          </p:cNvPr>
          <p:cNvSpPr>
            <a:spLocks noGrp="1"/>
          </p:cNvSpPr>
          <p:nvPr>
            <p:ph type="subTitle" idx="1"/>
          </p:nvPr>
        </p:nvSpPr>
        <p:spPr>
          <a:xfrm>
            <a:off x="365760" y="1327355"/>
            <a:ext cx="11452614" cy="5378245"/>
          </a:xfrm>
        </p:spPr>
        <p:txBody>
          <a:bodyPr>
            <a:normAutofit fontScale="55000" lnSpcReduction="20000"/>
          </a:bodyPr>
          <a:lstStyle/>
          <a:p>
            <a:pPr indent="-127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3.1 Environmental analysis</a:t>
            </a:r>
            <a:endParaRPr lang="en-CA" sz="4400" dirty="0">
              <a:effectLst/>
              <a:latin typeface="Times New Roman" panose="02020603050405020304" pitchFamily="18" charset="0"/>
              <a:ea typeface="Times New Roman" panose="02020603050405020304" pitchFamily="18" charset="0"/>
            </a:endParaRPr>
          </a:p>
          <a:p>
            <a:pPr indent="22860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3.1.1 Entrepreneurship ecosystem</a:t>
            </a:r>
            <a:endParaRPr lang="en-CA" sz="4400" dirty="0">
              <a:effectLst/>
              <a:latin typeface="Times New Roman" panose="02020603050405020304" pitchFamily="18" charset="0"/>
              <a:ea typeface="Times New Roman" panose="02020603050405020304" pitchFamily="18" charset="0"/>
            </a:endParaRPr>
          </a:p>
          <a:p>
            <a:pPr indent="22860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3.1.2 Entrepreneurship supports and barriers</a:t>
            </a:r>
            <a:endParaRPr lang="en-CA" sz="4400" dirty="0">
              <a:effectLst/>
              <a:latin typeface="Times New Roman" panose="02020603050405020304" pitchFamily="18" charset="0"/>
              <a:ea typeface="Times New Roman" panose="02020603050405020304" pitchFamily="18" charset="0"/>
            </a:endParaRPr>
          </a:p>
          <a:p>
            <a:pPr indent="-127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3.2 Competitor analysis </a:t>
            </a:r>
            <a:endParaRPr lang="en-CA" sz="4400" dirty="0">
              <a:effectLst/>
              <a:latin typeface="Times New Roman" panose="02020603050405020304" pitchFamily="18" charset="0"/>
              <a:ea typeface="Times New Roman" panose="02020603050405020304" pitchFamily="18" charset="0"/>
            </a:endParaRPr>
          </a:p>
          <a:p>
            <a:pPr indent="22860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3.2.1 Identifying competitors</a:t>
            </a:r>
            <a:endParaRPr lang="en-CA" sz="4400" dirty="0">
              <a:effectLst/>
              <a:latin typeface="Times New Roman" panose="02020603050405020304" pitchFamily="18" charset="0"/>
              <a:ea typeface="Times New Roman" panose="02020603050405020304" pitchFamily="18" charset="0"/>
            </a:endParaRPr>
          </a:p>
          <a:p>
            <a:pPr indent="22860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3.2.2 Sources of competitive advantage</a:t>
            </a:r>
            <a:endParaRPr lang="en-CA" sz="4400" dirty="0">
              <a:effectLst/>
              <a:latin typeface="Times New Roman" panose="02020603050405020304" pitchFamily="18" charset="0"/>
              <a:ea typeface="Times New Roman" panose="02020603050405020304" pitchFamily="18" charset="0"/>
            </a:endParaRPr>
          </a:p>
          <a:p>
            <a:pPr indent="-127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3.3 Market analysis and plan </a:t>
            </a:r>
            <a:endParaRPr lang="en-CA" sz="4400" dirty="0">
              <a:effectLst/>
              <a:latin typeface="Times New Roman" panose="02020603050405020304" pitchFamily="18" charset="0"/>
              <a:ea typeface="Times New Roman" panose="02020603050405020304" pitchFamily="18" charset="0"/>
            </a:endParaRPr>
          </a:p>
          <a:p>
            <a:pPr marL="627380" indent="-34417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3.3.1 Market research, target customer profile</a:t>
            </a:r>
            <a:endParaRPr lang="en-CA" sz="4400" dirty="0">
              <a:effectLst/>
              <a:latin typeface="Times New Roman" panose="02020603050405020304" pitchFamily="18" charset="0"/>
              <a:ea typeface="Times New Roman" panose="02020603050405020304" pitchFamily="18" charset="0"/>
            </a:endParaRPr>
          </a:p>
          <a:p>
            <a:pPr marL="627380" indent="-34417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3.3.2 Key terminologies: SAM (Serviceable Available Market), TAM (Total Addressable Market), SOM (Serviceable Obtainable Market), and GTM (Go-To-Market) strategy</a:t>
            </a:r>
            <a:endParaRPr lang="en-CA" sz="4400" dirty="0">
              <a:effectLst/>
              <a:latin typeface="Times New Roman" panose="02020603050405020304" pitchFamily="18" charset="0"/>
              <a:ea typeface="Times New Roman" panose="02020603050405020304" pitchFamily="18" charset="0"/>
            </a:endParaRPr>
          </a:p>
          <a:p>
            <a:pPr marL="627380" indent="-344170" algn="just">
              <a:lnSpc>
                <a:spcPct val="115000"/>
              </a:lnSpc>
              <a:buNone/>
              <a:tabLst>
                <a:tab pos="5257800" algn="r"/>
              </a:tabLst>
            </a:pPr>
            <a:r>
              <a:rPr lang="en-US" sz="4400" dirty="0">
                <a:effectLst/>
                <a:latin typeface="Times New Roman" panose="02020603050405020304" pitchFamily="18" charset="0"/>
                <a:ea typeface="Times New Roman" panose="02020603050405020304" pitchFamily="18" charset="0"/>
              </a:rPr>
              <a:t>3.3.3 Branding and promotional strategies </a:t>
            </a:r>
            <a:endParaRPr lang="en-CA" sz="4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69026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5D0B-E0D8-46F3-A524-A93F109A9F3D}"/>
              </a:ext>
            </a:extLst>
          </p:cNvPr>
          <p:cNvSpPr>
            <a:spLocks noGrp="1"/>
          </p:cNvSpPr>
          <p:nvPr>
            <p:ph type="title"/>
          </p:nvPr>
        </p:nvSpPr>
        <p:spPr>
          <a:xfrm>
            <a:off x="838200" y="365125"/>
            <a:ext cx="10515600" cy="58585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C1E69B1-4ADD-0E69-CE76-05D168C49D56}"/>
              </a:ext>
            </a:extLst>
          </p:cNvPr>
          <p:cNvSpPr>
            <a:spLocks noGrp="1"/>
          </p:cNvSpPr>
          <p:nvPr>
            <p:ph idx="1"/>
          </p:nvPr>
        </p:nvSpPr>
        <p:spPr>
          <a:xfrm>
            <a:off x="338328" y="1161288"/>
            <a:ext cx="11015472" cy="5504688"/>
          </a:xfrm>
        </p:spPr>
        <p:txBody>
          <a:bodyPr/>
          <a:lstStyle/>
          <a:p>
            <a:pPr marL="0" marR="0" lvl="0" indent="-1270"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685800" algn="l"/>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3.4 Business strategy development </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285115"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3.4.1 Vision and Mission statements </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285115"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3.4.2 SMART Goal</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1270"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685800" algn="l"/>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3.5 Building team for startup </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285115"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3.5.1 Strategies for recruiting founders and early employees </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1270"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3.6 Financial analysis </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627380" marR="0" lvl="0" indent="-344170"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3.6.1 Revenue streams and cost structures</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627380" marR="0" lvl="0" indent="-344170"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3.6.2 Key financial statements for future financial projections</a:t>
            </a:r>
            <a:endParaRPr kumimoji="0" lang="en-CA"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627380" marR="0" lvl="0" indent="-344170" algn="just" defTabSz="914400" rtl="0" eaLnBrk="1" fontAlgn="auto" latinLnBrk="0" hangingPunct="1">
              <a:lnSpc>
                <a:spcPct val="115000"/>
              </a:lnSpc>
              <a:spcBef>
                <a:spcPts val="1000"/>
              </a:spcBef>
              <a:spcAft>
                <a:spcPts val="0"/>
              </a:spcAft>
              <a:buClrTx/>
              <a:buSzTx/>
              <a:buFont typeface="Arial" panose="020B0604020202020204" pitchFamily="34" charset="0"/>
              <a:buNone/>
              <a:tabLst>
                <a:tab pos="5257800" algn="r"/>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3.6.3 Raising capital for startup: seed capital, angel investment, venture capital </a:t>
            </a:r>
            <a:endParaRPr kumimoji="0" lang="en-CA"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CA" dirty="0"/>
          </a:p>
        </p:txBody>
      </p:sp>
    </p:spTree>
    <p:extLst>
      <p:ext uri="{BB962C8B-B14F-4D97-AF65-F5344CB8AC3E}">
        <p14:creationId xmlns:p14="http://schemas.microsoft.com/office/powerpoint/2010/main" val="105825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96F2-EC3A-5CA4-E03D-3B0B331A4D89}"/>
              </a:ext>
            </a:extLst>
          </p:cNvPr>
          <p:cNvSpPr>
            <a:spLocks noGrp="1"/>
          </p:cNvSpPr>
          <p:nvPr>
            <p:ph type="title"/>
          </p:nvPr>
        </p:nvSpPr>
        <p:spPr/>
        <p:txBody>
          <a:bodyPr/>
          <a:lstStyle/>
          <a:p>
            <a:r>
              <a:rPr lang="en-US" dirty="0"/>
              <a:t>Concept of startup foundation analysis </a:t>
            </a:r>
            <a:endParaRPr lang="en-CA" dirty="0"/>
          </a:p>
        </p:txBody>
      </p:sp>
      <p:sp>
        <p:nvSpPr>
          <p:cNvPr id="3" name="Content Placeholder 2">
            <a:extLst>
              <a:ext uri="{FF2B5EF4-FFF2-40B4-BE49-F238E27FC236}">
                <a16:creationId xmlns:a16="http://schemas.microsoft.com/office/drawing/2014/main" id="{224D671E-4414-774E-7C5B-5A4DDC265934}"/>
              </a:ext>
            </a:extLst>
          </p:cNvPr>
          <p:cNvSpPr>
            <a:spLocks noGrp="1"/>
          </p:cNvSpPr>
          <p:nvPr>
            <p:ph idx="1"/>
          </p:nvPr>
        </p:nvSpPr>
        <p:spPr/>
        <p:txBody>
          <a:bodyPr/>
          <a:lstStyle/>
          <a:p>
            <a:pPr>
              <a:buNone/>
            </a:pPr>
            <a:r>
              <a:rPr lang="en-US" dirty="0"/>
              <a:t>A </a:t>
            </a:r>
            <a:r>
              <a:rPr lang="en-US" b="1" dirty="0"/>
              <a:t>Startup Foundational Analysis</a:t>
            </a:r>
            <a:r>
              <a:rPr lang="en-US" dirty="0"/>
              <a:t> is a comprehensive evaluation of a new business idea or early-stage company to determine its overall viability, growth potential, and long-term sustainability. It goes beyond the initial idea to assess the fundamental components needed for success.</a:t>
            </a:r>
          </a:p>
          <a:p>
            <a:endParaRPr lang="en-CA" dirty="0"/>
          </a:p>
        </p:txBody>
      </p:sp>
    </p:spTree>
    <p:extLst>
      <p:ext uri="{BB962C8B-B14F-4D97-AF65-F5344CB8AC3E}">
        <p14:creationId xmlns:p14="http://schemas.microsoft.com/office/powerpoint/2010/main" val="1350536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3C0DE-E8AD-7D53-A1B7-CE3BE6E0F6EB}"/>
              </a:ext>
            </a:extLst>
          </p:cNvPr>
          <p:cNvSpPr>
            <a:spLocks noGrp="1"/>
          </p:cNvSpPr>
          <p:nvPr>
            <p:ph type="title"/>
          </p:nvPr>
        </p:nvSpPr>
        <p:spPr/>
        <p:txBody>
          <a:bodyPr/>
          <a:lstStyle/>
          <a:p>
            <a:r>
              <a:rPr lang="en-CA" dirty="0"/>
              <a:t>Environmental analysis</a:t>
            </a:r>
          </a:p>
        </p:txBody>
      </p:sp>
      <p:sp>
        <p:nvSpPr>
          <p:cNvPr id="3" name="Content Placeholder 2">
            <a:extLst>
              <a:ext uri="{FF2B5EF4-FFF2-40B4-BE49-F238E27FC236}">
                <a16:creationId xmlns:a16="http://schemas.microsoft.com/office/drawing/2014/main" id="{4CFEC5EC-1D8C-8AA2-44EF-164D111D7EE9}"/>
              </a:ext>
            </a:extLst>
          </p:cNvPr>
          <p:cNvSpPr>
            <a:spLocks noGrp="1"/>
          </p:cNvSpPr>
          <p:nvPr>
            <p:ph idx="1"/>
          </p:nvPr>
        </p:nvSpPr>
        <p:spPr/>
        <p:txBody>
          <a:bodyPr/>
          <a:lstStyle/>
          <a:p>
            <a:pPr>
              <a:buNone/>
            </a:pPr>
            <a:r>
              <a:rPr lang="en-US" dirty="0"/>
              <a:t>An </a:t>
            </a:r>
            <a:r>
              <a:rPr lang="en-US" b="1" dirty="0"/>
              <a:t>Environmental Analysis</a:t>
            </a:r>
            <a:r>
              <a:rPr lang="en-US" dirty="0"/>
              <a:t> is a critical part of a startup's foundational work, focusing on identifying the external factors that could affect the company's performance, growth, and strategy.</a:t>
            </a:r>
          </a:p>
          <a:p>
            <a:pPr>
              <a:buNone/>
            </a:pPr>
            <a:r>
              <a:rPr lang="en-US" dirty="0"/>
              <a:t>It's essentially a way to scan the broader business landscape to uncover </a:t>
            </a:r>
            <a:r>
              <a:rPr lang="en-US" b="1" dirty="0"/>
              <a:t>opportunities</a:t>
            </a:r>
            <a:r>
              <a:rPr lang="en-US" dirty="0"/>
              <a:t> to exploit and </a:t>
            </a:r>
            <a:r>
              <a:rPr lang="en-US" b="1" dirty="0"/>
              <a:t>threats</a:t>
            </a:r>
            <a:r>
              <a:rPr lang="en-US" dirty="0"/>
              <a:t> to mitigate.</a:t>
            </a:r>
          </a:p>
          <a:p>
            <a:endParaRPr lang="en-CA" dirty="0"/>
          </a:p>
        </p:txBody>
      </p:sp>
    </p:spTree>
    <p:extLst>
      <p:ext uri="{BB962C8B-B14F-4D97-AF65-F5344CB8AC3E}">
        <p14:creationId xmlns:p14="http://schemas.microsoft.com/office/powerpoint/2010/main" val="17421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8133D-C3A1-18DD-7D54-D2FA04B57FA7}"/>
              </a:ext>
            </a:extLst>
          </p:cNvPr>
          <p:cNvSpPr>
            <a:spLocks noGrp="1"/>
          </p:cNvSpPr>
          <p:nvPr>
            <p:ph type="title"/>
          </p:nvPr>
        </p:nvSpPr>
        <p:spPr>
          <a:xfrm>
            <a:off x="838200" y="365125"/>
            <a:ext cx="10515600" cy="631571"/>
          </a:xfrm>
        </p:spPr>
        <p:txBody>
          <a:bodyPr>
            <a:noAutofit/>
          </a:bodyPr>
          <a:lstStyle/>
          <a:p>
            <a:r>
              <a:rPr lang="en-US" sz="2800" dirty="0"/>
              <a:t>The most common and effective framework used for this purpose is PESTEL Analysis.</a:t>
            </a:r>
            <a:endParaRPr lang="en-CA" sz="2800" dirty="0"/>
          </a:p>
        </p:txBody>
      </p:sp>
      <p:graphicFrame>
        <p:nvGraphicFramePr>
          <p:cNvPr id="4" name="Content Placeholder 3">
            <a:extLst>
              <a:ext uri="{FF2B5EF4-FFF2-40B4-BE49-F238E27FC236}">
                <a16:creationId xmlns:a16="http://schemas.microsoft.com/office/drawing/2014/main" id="{BDBD94BF-6870-ADB8-F94D-3B08AE7904FB}"/>
              </a:ext>
            </a:extLst>
          </p:cNvPr>
          <p:cNvGraphicFramePr>
            <a:graphicFrameLocks noGrp="1"/>
          </p:cNvGraphicFramePr>
          <p:nvPr>
            <p:ph idx="1"/>
            <p:extLst>
              <p:ext uri="{D42A27DB-BD31-4B8C-83A1-F6EECF244321}">
                <p14:modId xmlns:p14="http://schemas.microsoft.com/office/powerpoint/2010/main" val="3474971126"/>
              </p:ext>
            </p:extLst>
          </p:nvPr>
        </p:nvGraphicFramePr>
        <p:xfrm>
          <a:off x="245805" y="1124712"/>
          <a:ext cx="11847870" cy="5293556"/>
        </p:xfrm>
        <a:graphic>
          <a:graphicData uri="http://schemas.openxmlformats.org/drawingml/2006/table">
            <a:tbl>
              <a:tblPr/>
              <a:tblGrid>
                <a:gridCol w="2540394">
                  <a:extLst>
                    <a:ext uri="{9D8B030D-6E8A-4147-A177-3AD203B41FA5}">
                      <a16:colId xmlns:a16="http://schemas.microsoft.com/office/drawing/2014/main" val="3359922204"/>
                    </a:ext>
                  </a:extLst>
                </a:gridCol>
                <a:gridCol w="5277993">
                  <a:extLst>
                    <a:ext uri="{9D8B030D-6E8A-4147-A177-3AD203B41FA5}">
                      <a16:colId xmlns:a16="http://schemas.microsoft.com/office/drawing/2014/main" val="2645038665"/>
                    </a:ext>
                  </a:extLst>
                </a:gridCol>
                <a:gridCol w="4029483">
                  <a:extLst>
                    <a:ext uri="{9D8B030D-6E8A-4147-A177-3AD203B41FA5}">
                      <a16:colId xmlns:a16="http://schemas.microsoft.com/office/drawing/2014/main" val="765234864"/>
                    </a:ext>
                  </a:extLst>
                </a:gridCol>
              </a:tblGrid>
              <a:tr h="367772">
                <a:tc>
                  <a:txBody>
                    <a:bodyPr/>
                    <a:lstStyle/>
                    <a:p>
                      <a:pPr>
                        <a:buNone/>
                      </a:pPr>
                      <a:r>
                        <a:rPr lang="en-CA" sz="1800" dirty="0"/>
                        <a:t>Factor</a:t>
                      </a:r>
                    </a:p>
                  </a:txBody>
                  <a:tcPr marL="49447" marR="49447" marT="24724" marB="24724" anchor="ctr">
                    <a:lnL>
                      <a:noFill/>
                    </a:lnL>
                    <a:lnR>
                      <a:noFill/>
                    </a:lnR>
                    <a:lnT>
                      <a:noFill/>
                    </a:lnT>
                    <a:lnB>
                      <a:noFill/>
                    </a:lnB>
                    <a:noFill/>
                  </a:tcPr>
                </a:tc>
                <a:tc>
                  <a:txBody>
                    <a:bodyPr/>
                    <a:lstStyle/>
                    <a:p>
                      <a:pPr>
                        <a:buNone/>
                      </a:pPr>
                      <a:r>
                        <a:rPr lang="en-CA" sz="1600" dirty="0"/>
                        <a:t>What It Analyzes</a:t>
                      </a:r>
                    </a:p>
                  </a:txBody>
                  <a:tcPr marL="49447" marR="49447" marT="24724" marB="24724" anchor="ctr">
                    <a:lnL>
                      <a:noFill/>
                    </a:lnL>
                    <a:lnR>
                      <a:noFill/>
                    </a:lnR>
                    <a:lnT>
                      <a:noFill/>
                    </a:lnT>
                    <a:lnB>
                      <a:noFill/>
                    </a:lnB>
                    <a:noFill/>
                  </a:tcPr>
                </a:tc>
                <a:tc>
                  <a:txBody>
                    <a:bodyPr/>
                    <a:lstStyle/>
                    <a:p>
                      <a:pPr>
                        <a:buNone/>
                      </a:pPr>
                      <a:r>
                        <a:rPr lang="en-CA" sz="1600"/>
                        <a:t>Startup Questions to Ask</a:t>
                      </a:r>
                    </a:p>
                  </a:txBody>
                  <a:tcPr marL="49447" marR="49447" marT="24724" marB="24724" anchor="ctr">
                    <a:lnL>
                      <a:noFill/>
                    </a:lnL>
                    <a:lnR>
                      <a:noFill/>
                    </a:lnR>
                    <a:lnT>
                      <a:noFill/>
                    </a:lnT>
                    <a:lnB>
                      <a:noFill/>
                    </a:lnB>
                    <a:noFill/>
                  </a:tcPr>
                </a:tc>
                <a:extLst>
                  <a:ext uri="{0D108BD9-81ED-4DB2-BD59-A6C34878D82A}">
                    <a16:rowId xmlns:a16="http://schemas.microsoft.com/office/drawing/2014/main" val="2929526492"/>
                  </a:ext>
                </a:extLst>
              </a:tr>
              <a:tr h="898680">
                <a:tc>
                  <a:txBody>
                    <a:bodyPr/>
                    <a:lstStyle/>
                    <a:p>
                      <a:pPr>
                        <a:buNone/>
                      </a:pPr>
                      <a:r>
                        <a:rPr lang="en-CA" sz="1800" b="1" dirty="0"/>
                        <a:t>P</a:t>
                      </a:r>
                      <a:r>
                        <a:rPr lang="en-CA" sz="1800" dirty="0"/>
                        <a:t>olitical</a:t>
                      </a:r>
                    </a:p>
                  </a:txBody>
                  <a:tcPr marL="49447" marR="49447" marT="24724" marB="24724" anchor="ctr">
                    <a:lnL>
                      <a:noFill/>
                    </a:lnL>
                    <a:lnR>
                      <a:noFill/>
                    </a:lnR>
                    <a:lnT>
                      <a:noFill/>
                    </a:lnT>
                    <a:lnB>
                      <a:noFill/>
                    </a:lnB>
                    <a:noFill/>
                  </a:tcPr>
                </a:tc>
                <a:tc>
                  <a:txBody>
                    <a:bodyPr/>
                    <a:lstStyle/>
                    <a:p>
                      <a:pPr>
                        <a:buNone/>
                      </a:pPr>
                      <a:r>
                        <a:rPr lang="en-US" sz="1600" dirty="0"/>
                        <a:t>Government stability, regulations, tax policies, and trade restrictions.</a:t>
                      </a:r>
                    </a:p>
                  </a:txBody>
                  <a:tcPr marL="49447" marR="49447" marT="24724" marB="24724" anchor="ctr">
                    <a:lnL>
                      <a:noFill/>
                    </a:lnL>
                    <a:lnR>
                      <a:noFill/>
                    </a:lnR>
                    <a:lnT>
                      <a:noFill/>
                    </a:lnT>
                    <a:lnB>
                      <a:noFill/>
                    </a:lnB>
                    <a:noFill/>
                  </a:tcPr>
                </a:tc>
                <a:tc>
                  <a:txBody>
                    <a:bodyPr/>
                    <a:lstStyle/>
                    <a:p>
                      <a:pPr>
                        <a:buNone/>
                      </a:pPr>
                      <a:r>
                        <a:rPr lang="en-US" sz="1600"/>
                        <a:t>What are the current and upcoming </a:t>
                      </a:r>
                      <a:r>
                        <a:rPr lang="en-US" sz="1600" b="1"/>
                        <a:t>regulations</a:t>
                      </a:r>
                      <a:r>
                        <a:rPr lang="en-US" sz="1600"/>
                        <a:t> for our industry? Will any new laws make our business model harder or easier?</a:t>
                      </a:r>
                    </a:p>
                  </a:txBody>
                  <a:tcPr marL="49447" marR="49447" marT="24724" marB="24724" anchor="ctr">
                    <a:lnL>
                      <a:noFill/>
                    </a:lnL>
                    <a:lnR>
                      <a:noFill/>
                    </a:lnR>
                    <a:lnT>
                      <a:noFill/>
                    </a:lnT>
                    <a:lnB>
                      <a:noFill/>
                    </a:lnB>
                    <a:noFill/>
                  </a:tcPr>
                </a:tc>
                <a:extLst>
                  <a:ext uri="{0D108BD9-81ED-4DB2-BD59-A6C34878D82A}">
                    <a16:rowId xmlns:a16="http://schemas.microsoft.com/office/drawing/2014/main" val="585791075"/>
                  </a:ext>
                </a:extLst>
              </a:tr>
              <a:tr h="783244">
                <a:tc>
                  <a:txBody>
                    <a:bodyPr/>
                    <a:lstStyle/>
                    <a:p>
                      <a:pPr>
                        <a:buNone/>
                      </a:pPr>
                      <a:r>
                        <a:rPr lang="en-CA" sz="1800" b="1" dirty="0"/>
                        <a:t>E</a:t>
                      </a:r>
                      <a:r>
                        <a:rPr lang="en-CA" sz="1800" dirty="0"/>
                        <a:t>conomic</a:t>
                      </a:r>
                    </a:p>
                  </a:txBody>
                  <a:tcPr marL="49447" marR="49447" marT="24724" marB="24724" anchor="ctr">
                    <a:lnL>
                      <a:noFill/>
                    </a:lnL>
                    <a:lnR>
                      <a:noFill/>
                    </a:lnR>
                    <a:lnT>
                      <a:noFill/>
                    </a:lnT>
                    <a:lnB>
                      <a:noFill/>
                    </a:lnB>
                    <a:noFill/>
                  </a:tcPr>
                </a:tc>
                <a:tc>
                  <a:txBody>
                    <a:bodyPr/>
                    <a:lstStyle/>
                    <a:p>
                      <a:pPr>
                        <a:buNone/>
                      </a:pPr>
                      <a:r>
                        <a:rPr lang="en-US" sz="1600" dirty="0"/>
                        <a:t>Economic growth, interest rates, inflation, consumer spending, and exchange rates.</a:t>
                      </a:r>
                    </a:p>
                  </a:txBody>
                  <a:tcPr marL="49447" marR="49447" marT="24724" marB="24724" anchor="ctr">
                    <a:lnL>
                      <a:noFill/>
                    </a:lnL>
                    <a:lnR>
                      <a:noFill/>
                    </a:lnR>
                    <a:lnT>
                      <a:noFill/>
                    </a:lnT>
                    <a:lnB>
                      <a:noFill/>
                    </a:lnB>
                    <a:noFill/>
                  </a:tcPr>
                </a:tc>
                <a:tc>
                  <a:txBody>
                    <a:bodyPr/>
                    <a:lstStyle/>
                    <a:p>
                      <a:pPr>
                        <a:buNone/>
                      </a:pPr>
                      <a:r>
                        <a:rPr lang="en-US" sz="1600" dirty="0"/>
                        <a:t>How will a potential </a:t>
                      </a:r>
                      <a:r>
                        <a:rPr lang="en-US" sz="1600" b="1" dirty="0"/>
                        <a:t>recession</a:t>
                      </a:r>
                      <a:r>
                        <a:rPr lang="en-US" sz="1600" dirty="0"/>
                        <a:t> affect customer demand for our product? Is our target customer's </a:t>
                      </a:r>
                      <a:r>
                        <a:rPr lang="en-US" sz="1600" b="1" dirty="0"/>
                        <a:t>disposable income</a:t>
                      </a:r>
                      <a:r>
                        <a:rPr lang="en-US" sz="1600" dirty="0"/>
                        <a:t> rising or falling?</a:t>
                      </a:r>
                    </a:p>
                  </a:txBody>
                  <a:tcPr marL="49447" marR="49447" marT="24724" marB="24724" anchor="ctr">
                    <a:lnL>
                      <a:noFill/>
                    </a:lnL>
                    <a:lnR>
                      <a:noFill/>
                    </a:lnR>
                    <a:lnT>
                      <a:noFill/>
                    </a:lnT>
                    <a:lnB>
                      <a:noFill/>
                    </a:lnB>
                    <a:noFill/>
                  </a:tcPr>
                </a:tc>
                <a:extLst>
                  <a:ext uri="{0D108BD9-81ED-4DB2-BD59-A6C34878D82A}">
                    <a16:rowId xmlns:a16="http://schemas.microsoft.com/office/drawing/2014/main" val="4235608847"/>
                  </a:ext>
                </a:extLst>
              </a:tr>
              <a:tr h="728148">
                <a:tc>
                  <a:txBody>
                    <a:bodyPr/>
                    <a:lstStyle/>
                    <a:p>
                      <a:pPr>
                        <a:buNone/>
                      </a:pPr>
                      <a:r>
                        <a:rPr lang="en-CA" sz="1800" b="1" dirty="0"/>
                        <a:t>S</a:t>
                      </a:r>
                      <a:r>
                        <a:rPr lang="en-CA" sz="1800" dirty="0"/>
                        <a:t>ocio-cultural</a:t>
                      </a:r>
                    </a:p>
                  </a:txBody>
                  <a:tcPr marL="49447" marR="49447" marT="24724" marB="24724" anchor="ctr">
                    <a:lnL>
                      <a:noFill/>
                    </a:lnL>
                    <a:lnR>
                      <a:noFill/>
                    </a:lnR>
                    <a:lnT>
                      <a:noFill/>
                    </a:lnT>
                    <a:lnB>
                      <a:noFill/>
                    </a:lnB>
                    <a:noFill/>
                  </a:tcPr>
                </a:tc>
                <a:tc>
                  <a:txBody>
                    <a:bodyPr/>
                    <a:lstStyle/>
                    <a:p>
                      <a:pPr>
                        <a:buNone/>
                      </a:pPr>
                      <a:r>
                        <a:rPr lang="en-CA" sz="1600" dirty="0"/>
                        <a:t>Demographics, cultural trends, lifestyle changes, and consumer attitudes.</a:t>
                      </a:r>
                    </a:p>
                  </a:txBody>
                  <a:tcPr marL="49447" marR="49447" marT="24724" marB="24724" anchor="ctr">
                    <a:lnL>
                      <a:noFill/>
                    </a:lnL>
                    <a:lnR>
                      <a:noFill/>
                    </a:lnR>
                    <a:lnT>
                      <a:noFill/>
                    </a:lnT>
                    <a:lnB>
                      <a:noFill/>
                    </a:lnB>
                    <a:noFill/>
                  </a:tcPr>
                </a:tc>
                <a:tc>
                  <a:txBody>
                    <a:bodyPr/>
                    <a:lstStyle/>
                    <a:p>
                      <a:pPr>
                        <a:buNone/>
                      </a:pPr>
                      <a:r>
                        <a:rPr lang="en-US" sz="1600" dirty="0"/>
                        <a:t>Are there major </a:t>
                      </a:r>
                      <a:r>
                        <a:rPr lang="en-US" sz="1600" b="1" dirty="0"/>
                        <a:t>shifts in consumer behavior</a:t>
                      </a:r>
                      <a:r>
                        <a:rPr lang="en-US" sz="1600" dirty="0"/>
                        <a:t> (e.g., towards sustainability, remote work) that create a need for our product?</a:t>
                      </a:r>
                    </a:p>
                  </a:txBody>
                  <a:tcPr marL="49447" marR="49447" marT="24724" marB="24724" anchor="ctr">
                    <a:lnL>
                      <a:noFill/>
                    </a:lnL>
                    <a:lnR>
                      <a:noFill/>
                    </a:lnR>
                    <a:lnT>
                      <a:noFill/>
                    </a:lnT>
                    <a:lnB>
                      <a:noFill/>
                    </a:lnB>
                    <a:noFill/>
                  </a:tcPr>
                </a:tc>
                <a:extLst>
                  <a:ext uri="{0D108BD9-81ED-4DB2-BD59-A6C34878D82A}">
                    <a16:rowId xmlns:a16="http://schemas.microsoft.com/office/drawing/2014/main" val="1966384295"/>
                  </a:ext>
                </a:extLst>
              </a:tr>
              <a:tr h="783244">
                <a:tc>
                  <a:txBody>
                    <a:bodyPr/>
                    <a:lstStyle/>
                    <a:p>
                      <a:pPr>
                        <a:buNone/>
                      </a:pPr>
                      <a:r>
                        <a:rPr lang="en-CA" sz="1800" b="1" dirty="0"/>
                        <a:t>T</a:t>
                      </a:r>
                      <a:r>
                        <a:rPr lang="en-CA" sz="1800" dirty="0"/>
                        <a:t>echnological</a:t>
                      </a:r>
                    </a:p>
                  </a:txBody>
                  <a:tcPr marL="49447" marR="49447" marT="24724" marB="24724" anchor="ctr">
                    <a:lnL>
                      <a:noFill/>
                    </a:lnL>
                    <a:lnR>
                      <a:noFill/>
                    </a:lnR>
                    <a:lnT>
                      <a:noFill/>
                    </a:lnT>
                    <a:lnB>
                      <a:noFill/>
                    </a:lnB>
                    <a:noFill/>
                  </a:tcPr>
                </a:tc>
                <a:tc>
                  <a:txBody>
                    <a:bodyPr/>
                    <a:lstStyle/>
                    <a:p>
                      <a:pPr>
                        <a:buNone/>
                      </a:pPr>
                      <a:r>
                        <a:rPr lang="en-CA" sz="1600" dirty="0"/>
                        <a:t>Innovation, R&amp;D activity, automation, and technological disruptions.</a:t>
                      </a:r>
                    </a:p>
                  </a:txBody>
                  <a:tcPr marL="49447" marR="49447" marT="24724" marB="24724" anchor="ctr">
                    <a:lnL>
                      <a:noFill/>
                    </a:lnL>
                    <a:lnR>
                      <a:noFill/>
                    </a:lnR>
                    <a:lnT>
                      <a:noFill/>
                    </a:lnT>
                    <a:lnB>
                      <a:noFill/>
                    </a:lnB>
                    <a:noFill/>
                  </a:tcPr>
                </a:tc>
                <a:tc>
                  <a:txBody>
                    <a:bodyPr/>
                    <a:lstStyle/>
                    <a:p>
                      <a:pPr>
                        <a:buNone/>
                      </a:pPr>
                      <a:r>
                        <a:rPr lang="en-US" sz="1600" dirty="0"/>
                        <a:t>Is a </a:t>
                      </a:r>
                      <a:r>
                        <a:rPr lang="en-US" sz="1600" b="1" dirty="0"/>
                        <a:t>new technology</a:t>
                      </a:r>
                      <a:r>
                        <a:rPr lang="en-US" sz="1600" dirty="0"/>
                        <a:t> (like AI or blockchain) a core enabler for our business, or could it disrupt our solution?</a:t>
                      </a:r>
                    </a:p>
                  </a:txBody>
                  <a:tcPr marL="49447" marR="49447" marT="24724" marB="24724" anchor="ctr">
                    <a:lnL>
                      <a:noFill/>
                    </a:lnL>
                    <a:lnR>
                      <a:noFill/>
                    </a:lnR>
                    <a:lnT>
                      <a:noFill/>
                    </a:lnT>
                    <a:lnB>
                      <a:noFill/>
                    </a:lnB>
                    <a:noFill/>
                  </a:tcPr>
                </a:tc>
                <a:extLst>
                  <a:ext uri="{0D108BD9-81ED-4DB2-BD59-A6C34878D82A}">
                    <a16:rowId xmlns:a16="http://schemas.microsoft.com/office/drawing/2014/main" val="1324925793"/>
                  </a:ext>
                </a:extLst>
              </a:tr>
              <a:tr h="898680">
                <a:tc>
                  <a:txBody>
                    <a:bodyPr/>
                    <a:lstStyle/>
                    <a:p>
                      <a:pPr>
                        <a:buNone/>
                      </a:pPr>
                      <a:r>
                        <a:rPr lang="en-CA" sz="1800" b="1" dirty="0"/>
                        <a:t>E</a:t>
                      </a:r>
                      <a:r>
                        <a:rPr lang="en-CA" sz="1800" dirty="0"/>
                        <a:t>nvironmental</a:t>
                      </a:r>
                    </a:p>
                  </a:txBody>
                  <a:tcPr marL="49447" marR="49447" marT="24724" marB="24724" anchor="ctr">
                    <a:lnL>
                      <a:noFill/>
                    </a:lnL>
                    <a:lnR>
                      <a:noFill/>
                    </a:lnR>
                    <a:lnT>
                      <a:noFill/>
                    </a:lnT>
                    <a:lnB>
                      <a:noFill/>
                    </a:lnB>
                    <a:noFill/>
                  </a:tcPr>
                </a:tc>
                <a:tc>
                  <a:txBody>
                    <a:bodyPr/>
                    <a:lstStyle/>
                    <a:p>
                      <a:pPr>
                        <a:buNone/>
                      </a:pPr>
                      <a:r>
                        <a:rPr lang="en-US" sz="1600" dirty="0"/>
                        <a:t>Ecological and environmental issues, such as climate change, waste management, and sustainability requirements.</a:t>
                      </a:r>
                    </a:p>
                  </a:txBody>
                  <a:tcPr marL="49447" marR="49447" marT="24724" marB="24724" anchor="ctr">
                    <a:lnL>
                      <a:noFill/>
                    </a:lnL>
                    <a:lnR>
                      <a:noFill/>
                    </a:lnR>
                    <a:lnT>
                      <a:noFill/>
                    </a:lnT>
                    <a:lnB>
                      <a:noFill/>
                    </a:lnB>
                    <a:noFill/>
                  </a:tcPr>
                </a:tc>
                <a:tc>
                  <a:txBody>
                    <a:bodyPr/>
                    <a:lstStyle/>
                    <a:p>
                      <a:pPr>
                        <a:buNone/>
                      </a:pPr>
                      <a:r>
                        <a:rPr lang="en-US" sz="1600" dirty="0"/>
                        <a:t>Are customers and investors demanding more </a:t>
                      </a:r>
                      <a:r>
                        <a:rPr lang="en-US" sz="1600" b="1" dirty="0"/>
                        <a:t>eco-friendly products</a:t>
                      </a:r>
                      <a:r>
                        <a:rPr lang="en-US" sz="1600" dirty="0"/>
                        <a:t>? Do we have to comply with any specific </a:t>
                      </a:r>
                      <a:r>
                        <a:rPr lang="en-US" sz="1600" b="1" dirty="0"/>
                        <a:t>environmental standards</a:t>
                      </a:r>
                      <a:r>
                        <a:rPr lang="en-US" sz="1600" dirty="0"/>
                        <a:t>?</a:t>
                      </a:r>
                    </a:p>
                  </a:txBody>
                  <a:tcPr marL="49447" marR="49447" marT="24724" marB="24724" anchor="ctr">
                    <a:lnL>
                      <a:noFill/>
                    </a:lnL>
                    <a:lnR>
                      <a:noFill/>
                    </a:lnR>
                    <a:lnT>
                      <a:noFill/>
                    </a:lnT>
                    <a:lnB>
                      <a:noFill/>
                    </a:lnB>
                    <a:noFill/>
                  </a:tcPr>
                </a:tc>
                <a:extLst>
                  <a:ext uri="{0D108BD9-81ED-4DB2-BD59-A6C34878D82A}">
                    <a16:rowId xmlns:a16="http://schemas.microsoft.com/office/drawing/2014/main" val="775901381"/>
                  </a:ext>
                </a:extLst>
              </a:tr>
              <a:tr h="333688">
                <a:tc>
                  <a:txBody>
                    <a:bodyPr/>
                    <a:lstStyle/>
                    <a:p>
                      <a:pPr>
                        <a:buNone/>
                      </a:pPr>
                      <a:r>
                        <a:rPr lang="en-CA" sz="1800" b="1" dirty="0"/>
                        <a:t>L</a:t>
                      </a:r>
                      <a:r>
                        <a:rPr lang="en-CA" sz="1800" dirty="0"/>
                        <a:t>egal</a:t>
                      </a:r>
                    </a:p>
                  </a:txBody>
                  <a:tcPr marL="49447" marR="49447" marT="24724" marB="24724" anchor="ctr">
                    <a:lnL>
                      <a:noFill/>
                    </a:lnL>
                    <a:lnR>
                      <a:noFill/>
                    </a:lnR>
                    <a:lnT>
                      <a:noFill/>
                    </a:lnT>
                    <a:lnB>
                      <a:noFill/>
                    </a:lnB>
                    <a:noFill/>
                  </a:tcPr>
                </a:tc>
                <a:tc>
                  <a:txBody>
                    <a:bodyPr/>
                    <a:lstStyle/>
                    <a:p>
                      <a:pPr>
                        <a:buNone/>
                      </a:pPr>
                      <a:r>
                        <a:rPr lang="en-US" sz="1600" dirty="0"/>
                        <a:t>Laws related to employment, consumer protection, competition, and data security </a:t>
                      </a:r>
                    </a:p>
                  </a:txBody>
                  <a:tcPr marL="49447" marR="49447" marT="24724" marB="24724" anchor="ctr">
                    <a:lnL>
                      <a:noFill/>
                    </a:lnL>
                    <a:lnR>
                      <a:noFill/>
                    </a:lnR>
                    <a:lnT>
                      <a:noFill/>
                    </a:lnT>
                    <a:lnB>
                      <a:noFill/>
                    </a:lnB>
                    <a:noFill/>
                  </a:tcPr>
                </a:tc>
                <a:tc>
                  <a:txBody>
                    <a:bodyPr/>
                    <a:lstStyle/>
                    <a:p>
                      <a:pPr>
                        <a:buNone/>
                      </a:pPr>
                      <a:r>
                        <a:rPr lang="en-US" sz="1600" dirty="0"/>
                        <a:t>What are the specific </a:t>
                      </a:r>
                      <a:r>
                        <a:rPr lang="en-US" sz="1600" b="1" dirty="0"/>
                        <a:t>data privacy laws</a:t>
                      </a:r>
                      <a:r>
                        <a:rPr lang="en-US" sz="1600" dirty="0"/>
                        <a:t> we must comply with? What legal risks are associated with our marketing or hiring?</a:t>
                      </a:r>
                    </a:p>
                  </a:txBody>
                  <a:tcPr marL="49447" marR="49447" marT="24724" marB="24724" anchor="ctr">
                    <a:lnL>
                      <a:noFill/>
                    </a:lnL>
                    <a:lnR>
                      <a:noFill/>
                    </a:lnR>
                    <a:lnT>
                      <a:noFill/>
                    </a:lnT>
                    <a:lnB>
                      <a:noFill/>
                    </a:lnB>
                    <a:noFill/>
                  </a:tcPr>
                </a:tc>
                <a:extLst>
                  <a:ext uri="{0D108BD9-81ED-4DB2-BD59-A6C34878D82A}">
                    <a16:rowId xmlns:a16="http://schemas.microsoft.com/office/drawing/2014/main" val="1255693556"/>
                  </a:ext>
                </a:extLst>
              </a:tr>
            </a:tbl>
          </a:graphicData>
        </a:graphic>
      </p:graphicFrame>
    </p:spTree>
    <p:extLst>
      <p:ext uri="{BB962C8B-B14F-4D97-AF65-F5344CB8AC3E}">
        <p14:creationId xmlns:p14="http://schemas.microsoft.com/office/powerpoint/2010/main" val="398229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F7ED3-9449-6E41-CEA5-44270111CA12}"/>
              </a:ext>
            </a:extLst>
          </p:cNvPr>
          <p:cNvSpPr>
            <a:spLocks noGrp="1"/>
          </p:cNvSpPr>
          <p:nvPr>
            <p:ph type="title"/>
          </p:nvPr>
        </p:nvSpPr>
        <p:spPr/>
        <p:txBody>
          <a:bodyPr/>
          <a:lstStyle/>
          <a:p>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Entrepreneurship Ecosystem</a:t>
            </a:r>
            <a:endParaRPr lang="en-CA" dirty="0"/>
          </a:p>
        </p:txBody>
      </p:sp>
      <p:sp>
        <p:nvSpPr>
          <p:cNvPr id="3" name="Content Placeholder 2">
            <a:extLst>
              <a:ext uri="{FF2B5EF4-FFF2-40B4-BE49-F238E27FC236}">
                <a16:creationId xmlns:a16="http://schemas.microsoft.com/office/drawing/2014/main" id="{03FDA0D3-6F86-398C-93F3-80C273C1532A}"/>
              </a:ext>
            </a:extLst>
          </p:cNvPr>
          <p:cNvSpPr>
            <a:spLocks noGrp="1"/>
          </p:cNvSpPr>
          <p:nvPr>
            <p:ph idx="1"/>
          </p:nvPr>
        </p:nvSpPr>
        <p:spPr>
          <a:xfrm>
            <a:off x="838200" y="1690688"/>
            <a:ext cx="10515600" cy="4486275"/>
          </a:xfrm>
        </p:spPr>
        <p:txBody>
          <a:bodyPr/>
          <a:lstStyle/>
          <a:p>
            <a:pPr>
              <a:buNone/>
            </a:pPr>
            <a:r>
              <a:rPr lang="en-US" dirty="0"/>
              <a:t>An </a:t>
            </a:r>
            <a:r>
              <a:rPr lang="en-US" b="1" dirty="0"/>
              <a:t>entrepreneurship ecosystem</a:t>
            </a:r>
            <a:r>
              <a:rPr lang="en-US" dirty="0"/>
              <a:t> refers to the </a:t>
            </a:r>
            <a:r>
              <a:rPr lang="en-US" b="1" dirty="0"/>
              <a:t>overall environment or system of interrelated elements</a:t>
            </a:r>
            <a:r>
              <a:rPr lang="en-US" dirty="0"/>
              <a:t> that supports the creation, growth, and sustainability of new businesses and startups within a region or country.</a:t>
            </a:r>
          </a:p>
          <a:p>
            <a:pPr>
              <a:buNone/>
            </a:pPr>
            <a:r>
              <a:rPr lang="en-US" dirty="0"/>
              <a:t>It includes </a:t>
            </a:r>
            <a:r>
              <a:rPr lang="en-US" b="1" dirty="0"/>
              <a:t>individuals, organizations, institutions, and resources</a:t>
            </a:r>
            <a:r>
              <a:rPr lang="en-US" dirty="0"/>
              <a:t> that interact to foster innovation, entrepreneurship, and economic development.</a:t>
            </a:r>
          </a:p>
          <a:p>
            <a:endParaRPr lang="en-CA" dirty="0"/>
          </a:p>
        </p:txBody>
      </p:sp>
    </p:spTree>
    <p:extLst>
      <p:ext uri="{BB962C8B-B14F-4D97-AF65-F5344CB8AC3E}">
        <p14:creationId xmlns:p14="http://schemas.microsoft.com/office/powerpoint/2010/main" val="173454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C31B-6447-8DC1-AB0A-0DF8941AB256}"/>
              </a:ext>
            </a:extLst>
          </p:cNvPr>
          <p:cNvSpPr>
            <a:spLocks noGrp="1"/>
          </p:cNvSpPr>
          <p:nvPr>
            <p:ph type="title"/>
          </p:nvPr>
        </p:nvSpPr>
        <p:spPr>
          <a:xfrm>
            <a:off x="1368552" y="644652"/>
            <a:ext cx="10515600" cy="594360"/>
          </a:xfrm>
        </p:spPr>
        <p:txBody>
          <a:bodyPr>
            <a:normAutofit fontScale="90000"/>
          </a:bodyPr>
          <a:lstStyle/>
          <a:p>
            <a:pPr marL="228600" marR="0" lvl="0" indent="-228600" defTabSz="914400" rtl="0" eaLnBrk="1" fontAlgn="auto" latinLnBrk="0" hangingPunct="1">
              <a:lnSpc>
                <a:spcPct val="107000"/>
              </a:lnSpc>
              <a:spcBef>
                <a:spcPts val="1000"/>
              </a:spcBef>
              <a:spcAft>
                <a:spcPts val="800"/>
              </a:spcAft>
              <a:tabLst/>
              <a:defRPr/>
            </a:pPr>
            <a:r>
              <a:rPr kumimoji="0" lang="en-CA" sz="22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Core Components of an Entrepreneurship Ecosystem</a:t>
            </a:r>
            <a:br>
              <a:rPr kumimoji="0" lang="en-CA" sz="15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C0C55810-8FB6-C11A-2A4B-6F914B2F6F03}"/>
              </a:ext>
            </a:extLst>
          </p:cNvPr>
          <p:cNvSpPr>
            <a:spLocks noGrp="1"/>
          </p:cNvSpPr>
          <p:nvPr>
            <p:ph idx="1"/>
          </p:nvPr>
        </p:nvSpPr>
        <p:spPr>
          <a:xfrm>
            <a:off x="307847" y="941832"/>
            <a:ext cx="11707171" cy="5641847"/>
          </a:xfrm>
        </p:spPr>
        <p:txBody>
          <a:bodyPr>
            <a:normAutofit fontScale="92500" lnSpcReduction="20000"/>
          </a:bodyPr>
          <a:lstStyle/>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Entrepreneurs: E</a:t>
            </a:r>
            <a:r>
              <a:rPr lang="en-CA" sz="2000" kern="100" dirty="0">
                <a:latin typeface="Calibri" panose="020F0502020204030204" pitchFamily="34" charset="0"/>
                <a:ea typeface="Calibri" panose="020F0502020204030204" pitchFamily="34" charset="0"/>
                <a:cs typeface="Times New Roman" panose="02020603050405020304" pitchFamily="18" charset="0"/>
              </a:rPr>
              <a:t>ntrepreneurs are </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the core of the ecosystem. They identify opportunities, take risks and start new business. </a:t>
            </a:r>
          </a:p>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Policy &amp; Government:</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 Supportive regulations, low bureaucratic barriers, and government programs that fund or incentivize startups.</a:t>
            </a:r>
          </a:p>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Finance:</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 Access to diverse sources of funding across all stages, from seed funding (angel investors) to growth capital (Venture Capital/VC).</a:t>
            </a:r>
          </a:p>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Culture:</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 A community that celebrates entrepreneurship, tolerates failure as a learning opportunity, and encourages risk-taking and innovation.</a:t>
            </a:r>
          </a:p>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Support Systems (Non-Governmental):</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 The presence of institutions and professionals that provide specialized help, such as incubators, accelerators, mentors, co-working spaces, and legal/accounting services.</a:t>
            </a:r>
          </a:p>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Human Capital:</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 A skilled, educated, and diverse workforce, including experienced entrepreneurs who serve as mentors, and strong links between universities and the private sector.</a:t>
            </a:r>
          </a:p>
          <a:p>
            <a:pPr marL="342900" lvl="0" indent="-342900">
              <a:lnSpc>
                <a:spcPct val="107000"/>
              </a:lnSpc>
              <a:spcAft>
                <a:spcPts val="800"/>
              </a:spcAft>
              <a:buFont typeface="+mj-lt"/>
              <a:buAutoNum type="arabicPeriod"/>
              <a:tabLst>
                <a:tab pos="457200" algn="l"/>
              </a:tabLst>
            </a:pPr>
            <a:r>
              <a:rPr lang="en-CA" sz="2000" b="1" kern="100" dirty="0">
                <a:effectLst/>
                <a:latin typeface="Calibri" panose="020F0502020204030204" pitchFamily="34" charset="0"/>
                <a:ea typeface="Calibri" panose="020F0502020204030204" pitchFamily="34" charset="0"/>
                <a:cs typeface="Times New Roman" panose="02020603050405020304" pitchFamily="18" charset="0"/>
              </a:rPr>
              <a:t>Markets:</a:t>
            </a: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 Easy access to local and global customers, corporate partnerships, and a demand for new and innovative products or services.</a:t>
            </a:r>
          </a:p>
          <a:p>
            <a:pPr marL="0" indent="0">
              <a:buNone/>
            </a:pPr>
            <a:r>
              <a:rPr lang="en-US" sz="2000" b="1" dirty="0"/>
              <a:t> 8. Infrastructure: </a:t>
            </a:r>
            <a:r>
              <a:rPr lang="en-US" sz="2000" dirty="0"/>
              <a:t>Availability of physical and digital infrastructure such as roads, transport, electricity, and internet access.</a:t>
            </a:r>
          </a:p>
          <a:p>
            <a:pPr marL="342900" lvl="0" indent="-342900">
              <a:lnSpc>
                <a:spcPct val="107000"/>
              </a:lnSpc>
              <a:spcAft>
                <a:spcPts val="800"/>
              </a:spcAft>
              <a:buFont typeface="+mj-lt"/>
              <a:buAutoNum type="arabicPeriod"/>
              <a:tabLst>
                <a:tab pos="457200" algn="l"/>
              </a:tabLst>
            </a:pP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CA" sz="1600" dirty="0"/>
          </a:p>
        </p:txBody>
      </p:sp>
    </p:spTree>
    <p:extLst>
      <p:ext uri="{BB962C8B-B14F-4D97-AF65-F5344CB8AC3E}">
        <p14:creationId xmlns:p14="http://schemas.microsoft.com/office/powerpoint/2010/main" val="2202021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BEFC-8381-E292-DDB7-63FE83C345B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C1D0F2D-7D63-7AFA-E4A0-51B4EAEF70E8}"/>
              </a:ext>
            </a:extLst>
          </p:cNvPr>
          <p:cNvSpPr>
            <a:spLocks noGrp="1"/>
          </p:cNvSpPr>
          <p:nvPr>
            <p:ph idx="1"/>
          </p:nvPr>
        </p:nvSpPr>
        <p:spPr/>
        <p:txBody>
          <a:bodyPr>
            <a:normAutofit fontScale="92500" lnSpcReduction="20000"/>
          </a:bodyPr>
          <a:lstStyle/>
          <a:p>
            <a:r>
              <a:rPr lang="en-US" dirty="0"/>
              <a:t>The core components of a successful </a:t>
            </a:r>
            <a:r>
              <a:rPr lang="en-US" b="1" dirty="0"/>
              <a:t>Entrepreneurship Ecosystem</a:t>
            </a:r>
            <a:r>
              <a:rPr lang="en-US" dirty="0"/>
              <a:t> are interconnected elements that work together to foster a conducive environment for new ventures to start, grow, and scale. These components typically include:</a:t>
            </a:r>
          </a:p>
          <a:p>
            <a:r>
              <a:rPr lang="en-US" b="1" dirty="0"/>
              <a:t>1. Culture &amp; Social Norms</a:t>
            </a:r>
          </a:p>
          <a:p>
            <a:r>
              <a:rPr lang="en-US" b="1" dirty="0"/>
              <a:t>Role Models &amp; Success Stories:</a:t>
            </a:r>
            <a:r>
              <a:rPr lang="en-US" dirty="0"/>
              <a:t> Visible, local entrepreneurs who have succeeded and are willing to share their experiences.</a:t>
            </a:r>
          </a:p>
          <a:p>
            <a:r>
              <a:rPr lang="en-US" b="1" dirty="0"/>
              <a:t>Risk Acceptance:</a:t>
            </a:r>
            <a:r>
              <a:rPr lang="en-US" dirty="0"/>
              <a:t> A societal tolerance for failure, viewing it as a learning opportunity rather than a stigma.</a:t>
            </a:r>
          </a:p>
          <a:p>
            <a:r>
              <a:rPr lang="en-US" b="1" dirty="0"/>
              <a:t>Networking &amp; Openness:</a:t>
            </a:r>
            <a:r>
              <a:rPr lang="en-US" dirty="0"/>
              <a:t> A culture of collaboration, trust, and willingness to share knowledge and resources.</a:t>
            </a:r>
            <a:br>
              <a:rPr lang="en-US" dirty="0"/>
            </a:br>
            <a:endParaRPr lang="en-US" dirty="0"/>
          </a:p>
          <a:p>
            <a:endParaRPr lang="en-CA" dirty="0"/>
          </a:p>
        </p:txBody>
      </p:sp>
    </p:spTree>
    <p:extLst>
      <p:ext uri="{BB962C8B-B14F-4D97-AF65-F5344CB8AC3E}">
        <p14:creationId xmlns:p14="http://schemas.microsoft.com/office/powerpoint/2010/main" val="121640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03A3F-C1E4-5854-BF10-285A331FCBB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9D12BA8-D0E1-773B-DE2D-797CEB2BB097}"/>
              </a:ext>
            </a:extLst>
          </p:cNvPr>
          <p:cNvSpPr>
            <a:spLocks noGrp="1"/>
          </p:cNvSpPr>
          <p:nvPr>
            <p:ph idx="1"/>
          </p:nvPr>
        </p:nvSpPr>
        <p:spPr/>
        <p:txBody>
          <a:bodyPr>
            <a:normAutofit fontScale="77500" lnSpcReduction="20000"/>
          </a:bodyPr>
          <a:lstStyle/>
          <a:p>
            <a:r>
              <a:rPr lang="en-US" b="1" dirty="0"/>
              <a:t>2. Finance</a:t>
            </a:r>
          </a:p>
          <a:p>
            <a:r>
              <a:rPr lang="en-US" b="1" dirty="0"/>
              <a:t>Capital Availability:</a:t>
            </a:r>
            <a:r>
              <a:rPr lang="en-US" dirty="0"/>
              <a:t> Access to different stages of funding, including </a:t>
            </a:r>
            <a:r>
              <a:rPr lang="en-US" b="1" dirty="0"/>
              <a:t>seed funding</a:t>
            </a:r>
            <a:r>
              <a:rPr lang="en-US" dirty="0"/>
              <a:t>, </a:t>
            </a:r>
            <a:r>
              <a:rPr lang="en-US" b="1" dirty="0"/>
              <a:t>angel investors</a:t>
            </a:r>
            <a:r>
              <a:rPr lang="en-US" dirty="0"/>
              <a:t>, </a:t>
            </a:r>
            <a:r>
              <a:rPr lang="en-US" b="1" dirty="0"/>
              <a:t>venture capital (VC)</a:t>
            </a:r>
            <a:r>
              <a:rPr lang="en-US" dirty="0"/>
              <a:t>, and sometimes private equity.</a:t>
            </a:r>
          </a:p>
          <a:p>
            <a:r>
              <a:rPr lang="en-US" b="1" dirty="0"/>
              <a:t>Grants &amp; Subsidies:</a:t>
            </a:r>
            <a:r>
              <a:rPr lang="en-US" dirty="0"/>
              <a:t> Government or private programs that provide non-dilutive funding.</a:t>
            </a:r>
          </a:p>
          <a:p>
            <a:r>
              <a:rPr lang="en-US" b="1" dirty="0"/>
              <a:t>Financial Institutions:</a:t>
            </a:r>
            <a:r>
              <a:rPr lang="en-US" dirty="0"/>
              <a:t> Banks and other institutions providing business loans and financial services tailored for startups.</a:t>
            </a:r>
            <a:br>
              <a:rPr lang="en-US" dirty="0"/>
            </a:br>
            <a:endParaRPr lang="en-US" dirty="0"/>
          </a:p>
          <a:p>
            <a:r>
              <a:rPr lang="en-US" b="1" dirty="0"/>
              <a:t>3. Government &amp; Policy</a:t>
            </a:r>
          </a:p>
          <a:p>
            <a:r>
              <a:rPr lang="en-US" b="1" dirty="0"/>
              <a:t>Legal &amp; Regulatory Framework:</a:t>
            </a:r>
            <a:r>
              <a:rPr lang="en-US" dirty="0"/>
              <a:t> Clear, easy-to-navigate rules for starting and operating a business (e.g., registration, taxes, intellectual property protection).</a:t>
            </a:r>
          </a:p>
          <a:p>
            <a:r>
              <a:rPr lang="en-US" b="1" dirty="0"/>
              <a:t>Support Programs:</a:t>
            </a:r>
            <a:r>
              <a:rPr lang="en-US" dirty="0"/>
              <a:t> Tax incentives, procurement policies favoring startups, and export support.</a:t>
            </a:r>
          </a:p>
          <a:p>
            <a:r>
              <a:rPr lang="en-US" b="1" dirty="0"/>
              <a:t>Stable Governance:</a:t>
            </a:r>
            <a:r>
              <a:rPr lang="en-US" dirty="0"/>
              <a:t> Predictable political and economic stability to encourage long-term investment.</a:t>
            </a:r>
          </a:p>
          <a:p>
            <a:endParaRPr lang="en-CA" dirty="0"/>
          </a:p>
        </p:txBody>
      </p:sp>
    </p:spTree>
    <p:extLst>
      <p:ext uri="{BB962C8B-B14F-4D97-AF65-F5344CB8AC3E}">
        <p14:creationId xmlns:p14="http://schemas.microsoft.com/office/powerpoint/2010/main" val="2407056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64FA2-2821-47B4-37BD-A5140FF4342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6173236-CDD2-5EC7-9F0D-774DD282DE96}"/>
              </a:ext>
            </a:extLst>
          </p:cNvPr>
          <p:cNvSpPr>
            <a:spLocks noGrp="1"/>
          </p:cNvSpPr>
          <p:nvPr>
            <p:ph idx="1"/>
          </p:nvPr>
        </p:nvSpPr>
        <p:spPr/>
        <p:txBody>
          <a:bodyPr>
            <a:normAutofit fontScale="77500" lnSpcReduction="20000"/>
          </a:bodyPr>
          <a:lstStyle/>
          <a:p>
            <a:r>
              <a:rPr lang="en-US" b="1" dirty="0"/>
              <a:t>4. Human Capital</a:t>
            </a:r>
          </a:p>
          <a:p>
            <a:r>
              <a:rPr lang="en-US" b="1" dirty="0"/>
              <a:t>Skilled Labor:</a:t>
            </a:r>
            <a:r>
              <a:rPr lang="en-US" dirty="0"/>
              <a:t> Availability of talent in technical, managerial, and operational roles.</a:t>
            </a:r>
          </a:p>
          <a:p>
            <a:r>
              <a:rPr lang="en-US" b="1" dirty="0"/>
              <a:t>Education &amp; Training:</a:t>
            </a:r>
            <a:r>
              <a:rPr lang="en-US" dirty="0"/>
              <a:t> Universities, vocational schools, and programs that teach entrepreneurial skills and relevant technical knowledge.</a:t>
            </a:r>
          </a:p>
          <a:p>
            <a:r>
              <a:rPr lang="en-US" b="1" dirty="0"/>
              <a:t>Experienced Mentors:</a:t>
            </a:r>
            <a:r>
              <a:rPr lang="en-US" dirty="0"/>
              <a:t> A pool of seasoned entrepreneurs and executives willing to advise and guide new founders.</a:t>
            </a:r>
            <a:br>
              <a:rPr lang="en-US" dirty="0"/>
            </a:br>
            <a:r>
              <a:rPr lang="en-US" b="1" dirty="0"/>
              <a:t>5. Support Organizations</a:t>
            </a:r>
          </a:p>
          <a:p>
            <a:r>
              <a:rPr lang="en-US" b="1" dirty="0"/>
              <a:t>Incubators &amp; Accelerators:</a:t>
            </a:r>
            <a:r>
              <a:rPr lang="en-US" dirty="0"/>
              <a:t> Programs that provide mentorship, office space, and structured growth processes.</a:t>
            </a:r>
          </a:p>
          <a:p>
            <a:r>
              <a:rPr lang="en-US" b="1" dirty="0"/>
              <a:t>Co-working Spaces:</a:t>
            </a:r>
            <a:r>
              <a:rPr lang="en-US" dirty="0"/>
              <a:t> Affordable physical spaces that facilitate networking and collaboration.</a:t>
            </a:r>
          </a:p>
          <a:p>
            <a:r>
              <a:rPr lang="en-US" b="1" dirty="0"/>
              <a:t>Professional Services:</a:t>
            </a:r>
            <a:r>
              <a:rPr lang="en-US" dirty="0"/>
              <a:t> Accessible legal, accounting, marketing, and consulting services tailored for startups.</a:t>
            </a:r>
            <a:br>
              <a:rPr lang="en-US" dirty="0"/>
            </a:br>
            <a:endParaRPr lang="en-US" dirty="0"/>
          </a:p>
          <a:p>
            <a:endParaRPr lang="en-CA" dirty="0"/>
          </a:p>
        </p:txBody>
      </p:sp>
    </p:spTree>
    <p:extLst>
      <p:ext uri="{BB962C8B-B14F-4D97-AF65-F5344CB8AC3E}">
        <p14:creationId xmlns:p14="http://schemas.microsoft.com/office/powerpoint/2010/main" val="2604178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7513C-B9D6-5355-FE35-16E50D8D144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6F20EA7-7E7E-1EEA-23CA-34C85BA5094E}"/>
              </a:ext>
            </a:extLst>
          </p:cNvPr>
          <p:cNvSpPr>
            <a:spLocks noGrp="1"/>
          </p:cNvSpPr>
          <p:nvPr>
            <p:ph idx="1"/>
          </p:nvPr>
        </p:nvSpPr>
        <p:spPr/>
        <p:txBody>
          <a:bodyPr/>
          <a:lstStyle/>
          <a:p>
            <a:r>
              <a:rPr lang="en-US" b="1" dirty="0"/>
              <a:t>6. Markets</a:t>
            </a:r>
          </a:p>
          <a:p>
            <a:r>
              <a:rPr lang="en-US" b="1" dirty="0"/>
              <a:t>Demand:</a:t>
            </a:r>
            <a:r>
              <a:rPr lang="en-US" dirty="0"/>
              <a:t> Access to local, regional, and global customers.</a:t>
            </a:r>
          </a:p>
          <a:p>
            <a:r>
              <a:rPr lang="en-US" b="1" dirty="0"/>
              <a:t>Infrastructure:</a:t>
            </a:r>
            <a:r>
              <a:rPr lang="en-US" dirty="0"/>
              <a:t> Reliable access to essential utilities, communication networks, and logistics.</a:t>
            </a:r>
          </a:p>
          <a:p>
            <a:r>
              <a:rPr lang="en-US" b="1" dirty="0"/>
              <a:t>Early Adopters:</a:t>
            </a:r>
            <a:r>
              <a:rPr lang="en-US" dirty="0"/>
              <a:t> Availability of customers willing to test and purchase new, innovative products/services.</a:t>
            </a:r>
          </a:p>
          <a:p>
            <a:endParaRPr lang="en-CA" dirty="0"/>
          </a:p>
        </p:txBody>
      </p:sp>
    </p:spTree>
    <p:extLst>
      <p:ext uri="{BB962C8B-B14F-4D97-AF65-F5344CB8AC3E}">
        <p14:creationId xmlns:p14="http://schemas.microsoft.com/office/powerpoint/2010/main" val="303214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CFD7-C22F-1934-E77D-ED26745C5CB0}"/>
              </a:ext>
            </a:extLst>
          </p:cNvPr>
          <p:cNvSpPr>
            <a:spLocks noGrp="1"/>
          </p:cNvSpPr>
          <p:nvPr>
            <p:ph type="title"/>
          </p:nvPr>
        </p:nvSpPr>
        <p:spPr>
          <a:xfrm>
            <a:off x="501445" y="365125"/>
            <a:ext cx="10852355" cy="1325563"/>
          </a:xfrm>
        </p:spPr>
        <p:txBody>
          <a:bodyPr>
            <a:normAutofit fontScale="90000"/>
          </a:bodyPr>
          <a:lstStyle/>
          <a:p>
            <a:r>
              <a:rPr lang="en-US" b="1" dirty="0"/>
              <a:t>Core Components of an Entrepreneurship Ecosystem </a:t>
            </a:r>
            <a:br>
              <a:rPr lang="en-US" dirty="0"/>
            </a:br>
            <a:endParaRPr lang="en-CA" dirty="0"/>
          </a:p>
        </p:txBody>
      </p:sp>
      <p:sp>
        <p:nvSpPr>
          <p:cNvPr id="3" name="Content Placeholder 2">
            <a:extLst>
              <a:ext uri="{FF2B5EF4-FFF2-40B4-BE49-F238E27FC236}">
                <a16:creationId xmlns:a16="http://schemas.microsoft.com/office/drawing/2014/main" id="{B1F029CF-2BA3-C3DA-5206-02CBE5EB580E}"/>
              </a:ext>
            </a:extLst>
          </p:cNvPr>
          <p:cNvSpPr>
            <a:spLocks noGrp="1"/>
          </p:cNvSpPr>
          <p:nvPr>
            <p:ph idx="1"/>
          </p:nvPr>
        </p:nvSpPr>
        <p:spPr>
          <a:xfrm>
            <a:off x="0" y="1796128"/>
            <a:ext cx="10515600" cy="4351338"/>
          </a:xfrm>
        </p:spPr>
        <p:txBody>
          <a:bodyPr>
            <a:normAutofit lnSpcReduction="10000"/>
          </a:bodyPr>
          <a:lstStyle/>
          <a:p>
            <a:r>
              <a:rPr lang="en-US" b="1" dirty="0"/>
              <a:t>1. Culture &amp; Social Norms</a:t>
            </a:r>
          </a:p>
          <a:p>
            <a:r>
              <a:rPr lang="en-US" dirty="0"/>
              <a:t>Culture and social norms form the base of an entrepreneurship ecosystem because they shape how people feel about starting a business. When a community has visible role models—local entrepreneurs who have succeeded and share their experiences—it encourages others to try. A supportive culture also accepts that failure is a normal part of learning, not something to be embarrassed . Most importantly, it promotes trust, collaboration, and openness, where founders, investors, and mentors share ideas, help each other, and work together. This kind of environment makes entrepreneurship feel achievable and encouraged.</a:t>
            </a:r>
            <a:endParaRPr lang="en-CA" dirty="0"/>
          </a:p>
        </p:txBody>
      </p:sp>
    </p:spTree>
    <p:extLst>
      <p:ext uri="{BB962C8B-B14F-4D97-AF65-F5344CB8AC3E}">
        <p14:creationId xmlns:p14="http://schemas.microsoft.com/office/powerpoint/2010/main" val="934150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AA683-F0FE-0120-7D14-FDE0B84253E8}"/>
              </a:ext>
            </a:extLst>
          </p:cNvPr>
          <p:cNvSpPr>
            <a:spLocks noGrp="1"/>
          </p:cNvSpPr>
          <p:nvPr>
            <p:ph type="title"/>
          </p:nvPr>
        </p:nvSpPr>
        <p:spPr>
          <a:xfrm>
            <a:off x="838200" y="365125"/>
            <a:ext cx="10515600" cy="49028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E622993-7FE7-EF17-A4A8-ADFF16CDEEF6}"/>
              </a:ext>
            </a:extLst>
          </p:cNvPr>
          <p:cNvSpPr>
            <a:spLocks noGrp="1"/>
          </p:cNvSpPr>
          <p:nvPr>
            <p:ph idx="1"/>
          </p:nvPr>
        </p:nvSpPr>
        <p:spPr>
          <a:xfrm>
            <a:off x="838200" y="1179871"/>
            <a:ext cx="10515600" cy="4997092"/>
          </a:xfrm>
        </p:spPr>
        <p:txBody>
          <a:bodyPr>
            <a:normAutofit/>
          </a:bodyPr>
          <a:lstStyle/>
          <a:p>
            <a:r>
              <a:rPr lang="en-US" b="1" dirty="0"/>
              <a:t>2. Finance</a:t>
            </a:r>
          </a:p>
          <a:p>
            <a:r>
              <a:rPr lang="en-US" dirty="0"/>
              <a:t>The </a:t>
            </a:r>
            <a:r>
              <a:rPr lang="en-US" b="1" dirty="0"/>
              <a:t>Finance</a:t>
            </a:r>
            <a:r>
              <a:rPr lang="en-US" dirty="0"/>
              <a:t> component represents the lifeblood of any startup ecosystem, ensuring new ventures have the necessary capital to launch and scale. This component requires the availability of </a:t>
            </a:r>
            <a:r>
              <a:rPr lang="en-US" b="1" dirty="0"/>
              <a:t>multiple stages of funding</a:t>
            </a:r>
            <a:r>
              <a:rPr lang="en-US" dirty="0"/>
              <a:t>, starting with </a:t>
            </a:r>
            <a:r>
              <a:rPr lang="en-US" b="1" dirty="0"/>
              <a:t>seed funding</a:t>
            </a:r>
            <a:r>
              <a:rPr lang="en-US" dirty="0"/>
              <a:t> for early-stage ideas, followed by active </a:t>
            </a:r>
            <a:r>
              <a:rPr lang="en-US" b="1" dirty="0"/>
              <a:t>angel investors</a:t>
            </a:r>
            <a:r>
              <a:rPr lang="en-US" dirty="0"/>
              <a:t> and institutional </a:t>
            </a:r>
            <a:r>
              <a:rPr lang="en-US" b="1" dirty="0"/>
              <a:t>venture capital (VC)</a:t>
            </a:r>
            <a:r>
              <a:rPr lang="en-US" dirty="0"/>
              <a:t> firms for high-growth potential companies. Beyond private investment, access to </a:t>
            </a:r>
            <a:r>
              <a:rPr lang="en-US" b="1" dirty="0"/>
              <a:t>government grants</a:t>
            </a:r>
            <a:r>
              <a:rPr lang="en-US" dirty="0"/>
              <a:t> and </a:t>
            </a:r>
            <a:r>
              <a:rPr lang="en-US" b="1" dirty="0"/>
              <a:t>subsidies</a:t>
            </a:r>
            <a:r>
              <a:rPr lang="en-US" dirty="0"/>
              <a:t> can provide  capital, and established </a:t>
            </a:r>
            <a:r>
              <a:rPr lang="en-US" b="1" dirty="0"/>
              <a:t>financial institutions</a:t>
            </a:r>
            <a:r>
              <a:rPr lang="en-US" dirty="0"/>
              <a:t> must offer specialized business loans and flexible financial products tailored to the unique risks and needs of startups and Small to Medium Enterprises (SMEs).</a:t>
            </a:r>
          </a:p>
          <a:p>
            <a:endParaRPr lang="en-CA" dirty="0"/>
          </a:p>
        </p:txBody>
      </p:sp>
    </p:spTree>
    <p:extLst>
      <p:ext uri="{BB962C8B-B14F-4D97-AF65-F5344CB8AC3E}">
        <p14:creationId xmlns:p14="http://schemas.microsoft.com/office/powerpoint/2010/main" val="3719875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B3F91-1237-BC7A-95D4-59A181CE4DD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7A04C10-05B5-93A6-6D97-8EFE87B46374}"/>
              </a:ext>
            </a:extLst>
          </p:cNvPr>
          <p:cNvSpPr>
            <a:spLocks noGrp="1"/>
          </p:cNvSpPr>
          <p:nvPr>
            <p:ph idx="1"/>
          </p:nvPr>
        </p:nvSpPr>
        <p:spPr/>
        <p:txBody>
          <a:bodyPr>
            <a:normAutofit fontScale="92500" lnSpcReduction="10000"/>
          </a:bodyPr>
          <a:lstStyle/>
          <a:p>
            <a:r>
              <a:rPr lang="en-US" b="1" dirty="0"/>
              <a:t>3. Government &amp; Policy</a:t>
            </a:r>
          </a:p>
          <a:p>
            <a:r>
              <a:rPr lang="en-US" dirty="0"/>
              <a:t>The Government and Policy component shapes the rules and conditions that make it easier or harder for businesses to start and grow. A supportive government creates simple and clear laws for things like registering a company, paying taxes, and protecting ideas through patents or trademarks. Governments can also offer direct help, such as tax benefits for investors, credits for research and development, or allowing startups to compete for government contracts. Most importantly, stable politics and a steady economy give both local and foreign investors confidence to invest in new businesses for the long term. Furthermore, governments can launch direct </a:t>
            </a:r>
            <a:r>
              <a:rPr lang="en-US" b="1" dirty="0"/>
              <a:t>support programs</a:t>
            </a:r>
            <a:r>
              <a:rPr lang="en-US" dirty="0"/>
              <a:t> such as tax incentives for investors, R&amp;D credits, and procurement policies that allow startups to bid for public contracts..</a:t>
            </a:r>
          </a:p>
          <a:p>
            <a:endParaRPr lang="en-CA" dirty="0"/>
          </a:p>
        </p:txBody>
      </p:sp>
    </p:spTree>
    <p:extLst>
      <p:ext uri="{BB962C8B-B14F-4D97-AF65-F5344CB8AC3E}">
        <p14:creationId xmlns:p14="http://schemas.microsoft.com/office/powerpoint/2010/main" val="3267086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38D34-47E7-CEFF-4C84-8E04A8BFF15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6597AC5-6C61-751B-CFC9-03D2A09425BF}"/>
              </a:ext>
            </a:extLst>
          </p:cNvPr>
          <p:cNvSpPr>
            <a:spLocks noGrp="1"/>
          </p:cNvSpPr>
          <p:nvPr>
            <p:ph idx="1"/>
          </p:nvPr>
        </p:nvSpPr>
        <p:spPr/>
        <p:txBody>
          <a:bodyPr>
            <a:normAutofit lnSpcReduction="10000"/>
          </a:bodyPr>
          <a:lstStyle/>
          <a:p>
            <a:r>
              <a:rPr lang="en-US" b="1" dirty="0"/>
              <a:t>4. Human Capital</a:t>
            </a:r>
          </a:p>
          <a:p>
            <a:r>
              <a:rPr lang="en-US" dirty="0"/>
              <a:t>Human Capital refers to the people with the skills, knowledge, and experience needed for startups to build their products and grow their businesses. It depends on having a steady supply of skilled workers—such as engineers, designers, managers, and sales professionals. This talent usually comes from strong education and training systems, including universities, technical colleges, and vocational programs that teach both practical skills and basic entrepreneurship. A major advantage for any ecosystem is having experienced mentors and repeat entrepreneurs who can share real-world advice, help founders avoid common mistakes, and connect them to useful networks.</a:t>
            </a:r>
            <a:endParaRPr lang="en-CA" dirty="0"/>
          </a:p>
        </p:txBody>
      </p:sp>
    </p:spTree>
    <p:extLst>
      <p:ext uri="{BB962C8B-B14F-4D97-AF65-F5344CB8AC3E}">
        <p14:creationId xmlns:p14="http://schemas.microsoft.com/office/powerpoint/2010/main" val="244651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A8AB-D11A-B394-8679-385BA7B2935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C1CD5F6-DADE-A733-B290-3C5D3E550204}"/>
              </a:ext>
            </a:extLst>
          </p:cNvPr>
          <p:cNvSpPr>
            <a:spLocks noGrp="1"/>
          </p:cNvSpPr>
          <p:nvPr>
            <p:ph idx="1"/>
          </p:nvPr>
        </p:nvSpPr>
        <p:spPr/>
        <p:txBody>
          <a:bodyPr>
            <a:normAutofit lnSpcReduction="10000"/>
          </a:bodyPr>
          <a:lstStyle/>
          <a:p>
            <a:r>
              <a:rPr lang="en-US" b="1" dirty="0"/>
              <a:t>5. Support Organizations</a:t>
            </a:r>
          </a:p>
          <a:p>
            <a:r>
              <a:rPr lang="en-US" dirty="0"/>
              <a:t>Support Organizations are the structures and services that give entrepreneurs practical help and resources. They include programs like incubators, which support early business ideas, and accelerators, which help growing startups scale faster through mentorship, workshops, and group learning. Co-working spaces offer flexible, low-cost places to work and naturally encourage networking among founders. It’s also important for startups to have access to affordable, high-quality professional services, such as lawyers, accountants, and marketing experts who understand startup </a:t>
            </a:r>
            <a:r>
              <a:rPr lang="en-US" dirty="0" err="1"/>
              <a:t>needs,so</a:t>
            </a:r>
            <a:r>
              <a:rPr lang="en-US" dirty="0"/>
              <a:t> they can run their operations smoothly without spending too much.</a:t>
            </a:r>
            <a:endParaRPr lang="en-CA" dirty="0"/>
          </a:p>
        </p:txBody>
      </p:sp>
    </p:spTree>
    <p:extLst>
      <p:ext uri="{BB962C8B-B14F-4D97-AF65-F5344CB8AC3E}">
        <p14:creationId xmlns:p14="http://schemas.microsoft.com/office/powerpoint/2010/main" val="3890288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D6A3-329C-6CA6-132C-08A172B41F0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2E142A8-3D3F-5ED7-7211-3A61A58B071E}"/>
              </a:ext>
            </a:extLst>
          </p:cNvPr>
          <p:cNvSpPr>
            <a:spLocks noGrp="1"/>
          </p:cNvSpPr>
          <p:nvPr>
            <p:ph idx="1"/>
          </p:nvPr>
        </p:nvSpPr>
        <p:spPr/>
        <p:txBody>
          <a:bodyPr>
            <a:normAutofit lnSpcReduction="10000"/>
          </a:bodyPr>
          <a:lstStyle/>
          <a:p>
            <a:r>
              <a:rPr lang="en-US" b="1" dirty="0"/>
              <a:t>6. Markets</a:t>
            </a:r>
          </a:p>
          <a:p>
            <a:r>
              <a:rPr lang="en-US" dirty="0"/>
              <a:t>The Markets component makes sure startups have customers to sell to and the systems needed to reach them. This means there must be enough demand for their products, both in the local market and in international markets as they grow. Strong physical and digital infrastructure, such as reliable electricity, fast internet, and good transportation and supply chain systems is also essential. Another key factor is having early adopters, the first customers who are willing to try new, sometimes imperfect products. Their feedback and initial spending help startups improve their products and find the right fit for the market.</a:t>
            </a:r>
            <a:endParaRPr lang="en-CA" dirty="0"/>
          </a:p>
        </p:txBody>
      </p:sp>
    </p:spTree>
    <p:extLst>
      <p:ext uri="{BB962C8B-B14F-4D97-AF65-F5344CB8AC3E}">
        <p14:creationId xmlns:p14="http://schemas.microsoft.com/office/powerpoint/2010/main" val="4229950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D5B32-5179-DB9F-81AF-3F83CF28A131}"/>
              </a:ext>
            </a:extLst>
          </p:cNvPr>
          <p:cNvSpPr>
            <a:spLocks noGrp="1"/>
          </p:cNvSpPr>
          <p:nvPr>
            <p:ph type="title"/>
          </p:nvPr>
        </p:nvSpPr>
        <p:spPr>
          <a:xfrm>
            <a:off x="493776" y="365125"/>
            <a:ext cx="10860024" cy="1325563"/>
          </a:xfrm>
        </p:spPr>
        <p:txBody>
          <a:bodyPr/>
          <a:lstStyle/>
          <a:p>
            <a:r>
              <a:rPr lang="en-US" dirty="0"/>
              <a:t>Supports for Entrepreneurship </a:t>
            </a:r>
            <a:r>
              <a:rPr lang="en-US" sz="2800" dirty="0"/>
              <a:t>(The Ecosystem Drivers)</a:t>
            </a:r>
            <a:endParaRPr lang="en-CA" dirty="0"/>
          </a:p>
        </p:txBody>
      </p:sp>
      <p:sp>
        <p:nvSpPr>
          <p:cNvPr id="3" name="Content Placeholder 2">
            <a:extLst>
              <a:ext uri="{FF2B5EF4-FFF2-40B4-BE49-F238E27FC236}">
                <a16:creationId xmlns:a16="http://schemas.microsoft.com/office/drawing/2014/main" id="{369F5497-C8F1-3B29-CA6A-1DF032E4E818}"/>
              </a:ext>
            </a:extLst>
          </p:cNvPr>
          <p:cNvSpPr>
            <a:spLocks noGrp="1"/>
          </p:cNvSpPr>
          <p:nvPr>
            <p:ph idx="1"/>
          </p:nvPr>
        </p:nvSpPr>
        <p:spPr>
          <a:xfrm>
            <a:off x="493776" y="1472184"/>
            <a:ext cx="10860024" cy="4704779"/>
          </a:xfrm>
        </p:spPr>
        <p:txBody>
          <a:bodyPr>
            <a:normAutofit/>
          </a:bodyPr>
          <a:lstStyle/>
          <a:p>
            <a:pPr algn="l">
              <a:lnSpc>
                <a:spcPts val="2100"/>
              </a:lnSpc>
              <a:spcBef>
                <a:spcPts val="1200"/>
              </a:spcBef>
              <a:spcAft>
                <a:spcPts val="600"/>
              </a:spcAft>
              <a:buNone/>
            </a:pPr>
            <a:r>
              <a:rPr lang="en-US" b="1" dirty="0">
                <a:solidFill>
                  <a:srgbClr val="0F1115"/>
                </a:solidFill>
                <a:effectLst/>
                <a:latin typeface="quote-cjk-patch"/>
              </a:rPr>
              <a:t>1. Financial Support (formation of capital)</a:t>
            </a:r>
          </a:p>
          <a:p>
            <a:pPr algn="l">
              <a:spcBef>
                <a:spcPts val="600"/>
              </a:spcBef>
              <a:spcAft>
                <a:spcPts val="1200"/>
              </a:spcAft>
              <a:buFont typeface="Arial" panose="020B0604020202020204" pitchFamily="34" charset="0"/>
              <a:buChar char="•"/>
            </a:pPr>
            <a:r>
              <a:rPr lang="en-US" b="1" i="0" dirty="0">
                <a:solidFill>
                  <a:srgbClr val="0F1115"/>
                </a:solidFill>
                <a:effectLst/>
                <a:latin typeface="quote-cjk-patch"/>
              </a:rPr>
              <a:t>Venture Capital &amp; Angel Investors:</a:t>
            </a:r>
            <a:r>
              <a:rPr lang="en-US" b="0" i="0" dirty="0">
                <a:solidFill>
                  <a:srgbClr val="0F1115"/>
                </a:solidFill>
                <a:effectLst/>
                <a:latin typeface="quote-cjk-patch"/>
              </a:rPr>
              <a:t> Provide significant capital for high-growth startups in exchange for equity.</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Bank Loans &amp; Credit:</a:t>
            </a:r>
            <a:r>
              <a:rPr lang="en-US" b="0" i="0" dirty="0">
                <a:solidFill>
                  <a:srgbClr val="0F1115"/>
                </a:solidFill>
                <a:effectLst/>
                <a:latin typeface="quote-cjk-patch"/>
              </a:rPr>
              <a:t> Traditional debt financing for business establishment and expansion.</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Government Grants &amp; Subsidies:</a:t>
            </a:r>
            <a:r>
              <a:rPr lang="en-US" b="0" i="0" dirty="0">
                <a:solidFill>
                  <a:srgbClr val="0F1115"/>
                </a:solidFill>
                <a:effectLst/>
                <a:latin typeface="quote-cjk-patch"/>
              </a:rPr>
              <a:t> Non-repayable funds or financial support for specific sectors (e.g., green tech, innovation).</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Crowdfunding:</a:t>
            </a:r>
            <a:r>
              <a:rPr lang="en-US" b="0" i="0" dirty="0">
                <a:solidFill>
                  <a:srgbClr val="0F1115"/>
                </a:solidFill>
                <a:effectLst/>
                <a:latin typeface="quote-cjk-patch"/>
              </a:rPr>
              <a:t> Allows entrepreneurs to rise small amounts of money from a large number of people (e.g., via Kickstarter, Seed Invest).</a:t>
            </a:r>
          </a:p>
          <a:p>
            <a:endParaRPr lang="en-CA" dirty="0"/>
          </a:p>
        </p:txBody>
      </p:sp>
    </p:spTree>
    <p:extLst>
      <p:ext uri="{BB962C8B-B14F-4D97-AF65-F5344CB8AC3E}">
        <p14:creationId xmlns:p14="http://schemas.microsoft.com/office/powerpoint/2010/main" val="3892285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4DC33-BADA-ECD0-27C1-8096FFA96FC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475516D-D6A9-A40A-06EE-2639A8211573}"/>
              </a:ext>
            </a:extLst>
          </p:cNvPr>
          <p:cNvSpPr>
            <a:spLocks noGrp="1"/>
          </p:cNvSpPr>
          <p:nvPr>
            <p:ph idx="1"/>
          </p:nvPr>
        </p:nvSpPr>
        <p:spPr/>
        <p:txBody>
          <a:bodyPr/>
          <a:lstStyle/>
          <a:p>
            <a:r>
              <a:rPr lang="en-US" b="1" dirty="0"/>
              <a:t>2. Government and Policy Support</a:t>
            </a:r>
          </a:p>
          <a:p>
            <a:r>
              <a:rPr lang="en-US" b="1" dirty="0"/>
              <a:t>Ease of Doing Business:</a:t>
            </a:r>
            <a:r>
              <a:rPr lang="en-US" dirty="0"/>
              <a:t> Simplified processes for business registration, licensing, and taxation.</a:t>
            </a:r>
          </a:p>
          <a:p>
            <a:r>
              <a:rPr lang="en-US" b="1" dirty="0"/>
              <a:t>Tax Incentives:</a:t>
            </a:r>
            <a:r>
              <a:rPr lang="en-US" dirty="0"/>
              <a:t> Tax holidays, reduced rates, or R&amp;D tax credits for startups.</a:t>
            </a:r>
          </a:p>
          <a:p>
            <a:r>
              <a:rPr lang="en-US" b="1" dirty="0"/>
              <a:t>Protection of Intellectual Property (IP):</a:t>
            </a:r>
            <a:r>
              <a:rPr lang="en-US" dirty="0"/>
              <a:t> Strong patent, trademark, and copyright laws to protect innovations.</a:t>
            </a:r>
          </a:p>
          <a:p>
            <a:r>
              <a:rPr lang="en-US" b="1" dirty="0"/>
              <a:t>Supportive Regulations:</a:t>
            </a:r>
            <a:r>
              <a:rPr lang="en-US" dirty="0"/>
              <a:t> Policies that encourage competition and protect small businesses.</a:t>
            </a:r>
          </a:p>
          <a:p>
            <a:endParaRPr lang="en-CA" dirty="0"/>
          </a:p>
        </p:txBody>
      </p:sp>
    </p:spTree>
    <p:extLst>
      <p:ext uri="{BB962C8B-B14F-4D97-AF65-F5344CB8AC3E}">
        <p14:creationId xmlns:p14="http://schemas.microsoft.com/office/powerpoint/2010/main" val="406083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5190B-0EA0-7B44-88A5-E06C132D289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731CB8A-6169-0BD2-DB9D-3977E77F8548}"/>
              </a:ext>
            </a:extLst>
          </p:cNvPr>
          <p:cNvSpPr>
            <a:spLocks noGrp="1"/>
          </p:cNvSpPr>
          <p:nvPr>
            <p:ph idx="1"/>
          </p:nvPr>
        </p:nvSpPr>
        <p:spPr/>
        <p:txBody>
          <a:bodyPr/>
          <a:lstStyle/>
          <a:p>
            <a:pPr algn="l">
              <a:lnSpc>
                <a:spcPts val="2100"/>
              </a:lnSpc>
              <a:spcBef>
                <a:spcPts val="1200"/>
              </a:spcBef>
              <a:spcAft>
                <a:spcPts val="600"/>
              </a:spcAft>
              <a:buNone/>
            </a:pPr>
            <a:r>
              <a:rPr lang="en-US" b="1" dirty="0">
                <a:solidFill>
                  <a:srgbClr val="0F1115"/>
                </a:solidFill>
                <a:effectLst/>
                <a:latin typeface="quote-cjk-patch"/>
              </a:rPr>
              <a:t>3. Educational and Institutional Support</a:t>
            </a:r>
          </a:p>
          <a:p>
            <a:r>
              <a:rPr lang="en-US" dirty="0"/>
              <a:t>Entrepreneurship Education: Schools and universities offer classes and workshops that teach people how to start and run a business.</a:t>
            </a:r>
          </a:p>
          <a:p>
            <a:r>
              <a:rPr lang="en-US" dirty="0"/>
              <a:t>Incubators &amp; Accelerators: These are organizations that help new businesses by giving them a place to work, advice, training, and sometimes money.</a:t>
            </a:r>
          </a:p>
          <a:p>
            <a:r>
              <a:rPr lang="en-US" dirty="0"/>
              <a:t>Research &amp; Development (R&amp;D) Institutions: Universities and labs create new ideas and technologies that can later become real products or businesses.</a:t>
            </a:r>
            <a:endParaRPr lang="en-CA" dirty="0"/>
          </a:p>
        </p:txBody>
      </p:sp>
    </p:spTree>
    <p:extLst>
      <p:ext uri="{BB962C8B-B14F-4D97-AF65-F5344CB8AC3E}">
        <p14:creationId xmlns:p14="http://schemas.microsoft.com/office/powerpoint/2010/main" val="290984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042D-0980-725B-098E-45750D01ADB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629AA09-EEB9-744E-698D-4D7D9379AA11}"/>
              </a:ext>
            </a:extLst>
          </p:cNvPr>
          <p:cNvSpPr>
            <a:spLocks noGrp="1"/>
          </p:cNvSpPr>
          <p:nvPr>
            <p:ph idx="1"/>
          </p:nvPr>
        </p:nvSpPr>
        <p:spPr/>
        <p:txBody>
          <a:bodyPr>
            <a:normAutofit/>
          </a:bodyPr>
          <a:lstStyle/>
          <a:p>
            <a:r>
              <a:rPr lang="en-US" b="1" dirty="0"/>
              <a:t>Infrastructure Support</a:t>
            </a:r>
          </a:p>
          <a:p>
            <a:r>
              <a:rPr lang="en-US" b="1" dirty="0"/>
              <a:t>Physical Infrastructure:</a:t>
            </a:r>
            <a:r>
              <a:rPr lang="en-US" dirty="0"/>
              <a:t> Reliable transportation, utilities (electricity, internet), and industrial parks.</a:t>
            </a:r>
          </a:p>
          <a:p>
            <a:r>
              <a:rPr lang="en-US" b="1" dirty="0"/>
              <a:t>Digital Infrastructure:</a:t>
            </a:r>
            <a:r>
              <a:rPr lang="en-US" dirty="0"/>
              <a:t> High-speed internet and cloud computing services that enable digital businesses.</a:t>
            </a:r>
          </a:p>
          <a:p>
            <a:endParaRPr lang="en-CA" dirty="0"/>
          </a:p>
        </p:txBody>
      </p:sp>
    </p:spTree>
    <p:extLst>
      <p:ext uri="{BB962C8B-B14F-4D97-AF65-F5344CB8AC3E}">
        <p14:creationId xmlns:p14="http://schemas.microsoft.com/office/powerpoint/2010/main" val="2973268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15E5-4B9F-B9C0-78CF-E9EEAC0CF3E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382FD28-331F-931E-FE5F-446B42BE82EC}"/>
              </a:ext>
            </a:extLst>
          </p:cNvPr>
          <p:cNvSpPr>
            <a:spLocks noGrp="1"/>
          </p:cNvSpPr>
          <p:nvPr>
            <p:ph idx="1"/>
          </p:nvPr>
        </p:nvSpPr>
        <p:spPr/>
        <p:txBody>
          <a:bodyPr/>
          <a:lstStyle/>
          <a:p>
            <a:r>
              <a:rPr lang="en-US" b="1" dirty="0"/>
              <a:t>5. Socio-Cultural Support</a:t>
            </a:r>
          </a:p>
          <a:p>
            <a:r>
              <a:rPr lang="en-US" dirty="0"/>
              <a:t>Positive Cultural Attitude: People in the community support business ideas, encourage taking smart risks, and don’t judge others for failing.</a:t>
            </a:r>
          </a:p>
          <a:p>
            <a:r>
              <a:rPr lang="en-US" dirty="0"/>
              <a:t>Role Models &amp; Success Stories: Successful business people—both famous and local—motivate others to start their own businesses.</a:t>
            </a:r>
          </a:p>
          <a:p>
            <a:r>
              <a:rPr lang="en-US" dirty="0"/>
              <a:t>Networking Opportunities: There are many groups and events where business people can meet, share ideas, and help each other.</a:t>
            </a:r>
            <a:endParaRPr lang="en-CA" dirty="0"/>
          </a:p>
        </p:txBody>
      </p:sp>
    </p:spTree>
    <p:extLst>
      <p:ext uri="{BB962C8B-B14F-4D97-AF65-F5344CB8AC3E}">
        <p14:creationId xmlns:p14="http://schemas.microsoft.com/office/powerpoint/2010/main" val="3062985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D439-7C37-F9FB-07CE-700036C517B3}"/>
              </a:ext>
            </a:extLst>
          </p:cNvPr>
          <p:cNvSpPr>
            <a:spLocks noGrp="1"/>
          </p:cNvSpPr>
          <p:nvPr>
            <p:ph type="title"/>
          </p:nvPr>
        </p:nvSpPr>
        <p:spPr/>
        <p:txBody>
          <a:bodyPr/>
          <a:lstStyle/>
          <a:p>
            <a:r>
              <a:rPr lang="en-US" b="1" dirty="0"/>
              <a:t>Barriers to Entrepreneurship (The Challenges)</a:t>
            </a:r>
            <a:br>
              <a:rPr lang="en-US" b="1" dirty="0"/>
            </a:br>
            <a:endParaRPr lang="en-CA" dirty="0"/>
          </a:p>
        </p:txBody>
      </p:sp>
      <p:sp>
        <p:nvSpPr>
          <p:cNvPr id="3" name="Content Placeholder 2">
            <a:extLst>
              <a:ext uri="{FF2B5EF4-FFF2-40B4-BE49-F238E27FC236}">
                <a16:creationId xmlns:a16="http://schemas.microsoft.com/office/drawing/2014/main" id="{5D825D19-3B74-191E-64C6-49BFDE2C265F}"/>
              </a:ext>
            </a:extLst>
          </p:cNvPr>
          <p:cNvSpPr>
            <a:spLocks noGrp="1"/>
          </p:cNvSpPr>
          <p:nvPr>
            <p:ph idx="1"/>
          </p:nvPr>
        </p:nvSpPr>
        <p:spPr>
          <a:xfrm>
            <a:off x="838200" y="1325880"/>
            <a:ext cx="10515600" cy="4851083"/>
          </a:xfrm>
        </p:spPr>
        <p:txBody>
          <a:bodyPr>
            <a:normAutofit/>
          </a:bodyPr>
          <a:lstStyle/>
          <a:p>
            <a:pPr algn="l">
              <a:lnSpc>
                <a:spcPts val="2100"/>
              </a:lnSpc>
              <a:spcBef>
                <a:spcPts val="1200"/>
              </a:spcBef>
              <a:spcAft>
                <a:spcPts val="600"/>
              </a:spcAft>
              <a:buNone/>
            </a:pPr>
            <a:r>
              <a:rPr lang="en-US" b="1" dirty="0">
                <a:solidFill>
                  <a:srgbClr val="0F1115"/>
                </a:solidFill>
                <a:effectLst/>
                <a:latin typeface="quote-cjk-patch"/>
              </a:rPr>
              <a:t> Financial Barriers</a:t>
            </a:r>
          </a:p>
          <a:p>
            <a:pPr algn="l">
              <a:spcBef>
                <a:spcPts val="600"/>
              </a:spcBef>
              <a:spcAft>
                <a:spcPts val="1200"/>
              </a:spcAft>
              <a:buFont typeface="Arial" panose="020B0604020202020204" pitchFamily="34" charset="0"/>
              <a:buChar char="•"/>
            </a:pPr>
            <a:r>
              <a:rPr lang="en-US" b="1" i="0" dirty="0">
                <a:solidFill>
                  <a:srgbClr val="0F1115"/>
                </a:solidFill>
                <a:effectLst/>
                <a:latin typeface="quote-cjk-patch"/>
              </a:rPr>
              <a:t>Lack of Startup Capital:</a:t>
            </a:r>
            <a:r>
              <a:rPr lang="en-US" b="0" i="0" dirty="0">
                <a:solidFill>
                  <a:srgbClr val="0F1115"/>
                </a:solidFill>
                <a:effectLst/>
                <a:latin typeface="quote-cjk-patch"/>
              </a:rPr>
              <a:t> Difficulty in securing the initial funding to launch the business.</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Limited Access to Credit:</a:t>
            </a:r>
            <a:r>
              <a:rPr lang="en-US" b="0" i="0" dirty="0">
                <a:solidFill>
                  <a:srgbClr val="0F1115"/>
                </a:solidFill>
                <a:effectLst/>
                <a:latin typeface="quote-cjk-patch"/>
              </a:rPr>
              <a:t> Inability to get loans due to lack of collateral, credit history, or a proven track record.</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Cash Flow Problems:</a:t>
            </a:r>
            <a:r>
              <a:rPr lang="en-US" b="0" i="0" dirty="0">
                <a:solidFill>
                  <a:srgbClr val="0F1115"/>
                </a:solidFill>
                <a:effectLst/>
                <a:latin typeface="quote-cjk-patch"/>
              </a:rPr>
              <a:t> Inconsistent revenue and high expenses leading to a shortage of operational funds.</a:t>
            </a:r>
          </a:p>
          <a:p>
            <a:endParaRPr lang="en-CA" dirty="0"/>
          </a:p>
        </p:txBody>
      </p:sp>
    </p:spTree>
    <p:extLst>
      <p:ext uri="{BB962C8B-B14F-4D97-AF65-F5344CB8AC3E}">
        <p14:creationId xmlns:p14="http://schemas.microsoft.com/office/powerpoint/2010/main" val="779536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3E32-0ECD-57F1-2D75-C8C7286178C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3676990-8A13-C8AD-DC3B-A5FBC40F5195}"/>
              </a:ext>
            </a:extLst>
          </p:cNvPr>
          <p:cNvSpPr>
            <a:spLocks noGrp="1"/>
          </p:cNvSpPr>
          <p:nvPr>
            <p:ph idx="1"/>
          </p:nvPr>
        </p:nvSpPr>
        <p:spPr/>
        <p:txBody>
          <a:bodyPr>
            <a:normAutofit/>
          </a:bodyPr>
          <a:lstStyle/>
          <a:p>
            <a:r>
              <a:rPr lang="en-US" dirty="0"/>
              <a:t>2. Regulatory and Administrative Barriers</a:t>
            </a:r>
          </a:p>
          <a:p>
            <a:r>
              <a:rPr lang="en-US" dirty="0"/>
              <a:t>Bureaucracy and Red Tape: Complex, time-consuming, and costly procedures for registering and running a business.</a:t>
            </a:r>
          </a:p>
          <a:p>
            <a:r>
              <a:rPr lang="en-US" dirty="0"/>
              <a:t>Unfavorable Tax Policies: High corporate taxes, complex tax filing systems, and frequent policy changes.</a:t>
            </a:r>
          </a:p>
          <a:p>
            <a:r>
              <a:rPr lang="en-US" dirty="0"/>
              <a:t>Strict Labor Laws: Regulations that make it difficult and expensive to hire and fire employees.</a:t>
            </a:r>
          </a:p>
          <a:p>
            <a:endParaRPr lang="en-CA" dirty="0"/>
          </a:p>
        </p:txBody>
      </p:sp>
    </p:spTree>
    <p:extLst>
      <p:ext uri="{BB962C8B-B14F-4D97-AF65-F5344CB8AC3E}">
        <p14:creationId xmlns:p14="http://schemas.microsoft.com/office/powerpoint/2010/main" val="1998626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588D-977C-910E-B249-AE2AA7B4645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E488B9B-1981-DA5C-5E29-BEA1291DF659}"/>
              </a:ext>
            </a:extLst>
          </p:cNvPr>
          <p:cNvSpPr>
            <a:spLocks noGrp="1"/>
          </p:cNvSpPr>
          <p:nvPr>
            <p:ph idx="1"/>
          </p:nvPr>
        </p:nvSpPr>
        <p:spPr/>
        <p:txBody>
          <a:bodyPr>
            <a:normAutofit/>
          </a:bodyPr>
          <a:lstStyle/>
          <a:p>
            <a:r>
              <a:rPr lang="en-US" dirty="0"/>
              <a:t>3. Market and Economic Barriers</a:t>
            </a:r>
          </a:p>
          <a:p>
            <a:r>
              <a:rPr lang="en-US" dirty="0"/>
              <a:t>High Competition: Saturated markets with established competitors who have brand loyalty and economies of scale.</a:t>
            </a:r>
          </a:p>
          <a:p>
            <a:r>
              <a:rPr lang="en-US" dirty="0"/>
              <a:t>Limited Market Access: Difficulty reaching customers due to trade barriers, poor distribution channels, or a small local market.</a:t>
            </a:r>
          </a:p>
          <a:p>
            <a:r>
              <a:rPr lang="en-US" dirty="0"/>
              <a:t>Economic Instability: Inflation, recession, or fluctuating exchange rates that create an unpredictable business environment.</a:t>
            </a:r>
          </a:p>
          <a:p>
            <a:endParaRPr lang="en-CA" dirty="0"/>
          </a:p>
        </p:txBody>
      </p:sp>
    </p:spTree>
    <p:extLst>
      <p:ext uri="{BB962C8B-B14F-4D97-AF65-F5344CB8AC3E}">
        <p14:creationId xmlns:p14="http://schemas.microsoft.com/office/powerpoint/2010/main" val="3906572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2798-626C-273D-9791-70C0D7F1469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79FC903-7E4A-1C2F-E69F-550DF9B1C753}"/>
              </a:ext>
            </a:extLst>
          </p:cNvPr>
          <p:cNvSpPr>
            <a:spLocks noGrp="1"/>
          </p:cNvSpPr>
          <p:nvPr>
            <p:ph idx="1"/>
          </p:nvPr>
        </p:nvSpPr>
        <p:spPr/>
        <p:txBody>
          <a:bodyPr>
            <a:normAutofit/>
          </a:bodyPr>
          <a:lstStyle/>
          <a:p>
            <a:r>
              <a:rPr lang="en-US" dirty="0"/>
              <a:t>4. Personal and Skill-Based Barriers</a:t>
            </a:r>
          </a:p>
          <a:p>
            <a:r>
              <a:rPr lang="en-US" dirty="0"/>
              <a:t>Fear of Failure: The psychological and social stigma associated with business failure.</a:t>
            </a:r>
          </a:p>
          <a:p>
            <a:r>
              <a:rPr lang="en-US" dirty="0"/>
              <a:t>Lack of Experience: Insufficient knowledge in key areas like finance, marketing, and management.</a:t>
            </a:r>
          </a:p>
          <a:p>
            <a:r>
              <a:rPr lang="en-US" dirty="0"/>
              <a:t>Risk Dislike: A personal preference for the security of a salaried job over the uncertainty of entrepreneurship.</a:t>
            </a:r>
          </a:p>
          <a:p>
            <a:endParaRPr lang="en-CA" dirty="0"/>
          </a:p>
        </p:txBody>
      </p:sp>
    </p:spTree>
    <p:extLst>
      <p:ext uri="{BB962C8B-B14F-4D97-AF65-F5344CB8AC3E}">
        <p14:creationId xmlns:p14="http://schemas.microsoft.com/office/powerpoint/2010/main" val="999388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3529-428A-7F42-7D5A-A9953B3B67A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94F2725-153E-16BA-4AF2-C94EBFF77705}"/>
              </a:ext>
            </a:extLst>
          </p:cNvPr>
          <p:cNvSpPr>
            <a:spLocks noGrp="1"/>
          </p:cNvSpPr>
          <p:nvPr>
            <p:ph idx="1"/>
          </p:nvPr>
        </p:nvSpPr>
        <p:spPr/>
        <p:txBody>
          <a:bodyPr/>
          <a:lstStyle/>
          <a:p>
            <a:r>
              <a:rPr lang="en-US" dirty="0"/>
              <a:t>5. Resource and Infrastructural Barriers</a:t>
            </a:r>
          </a:p>
          <a:p>
            <a:r>
              <a:rPr lang="en-US" dirty="0"/>
              <a:t>Poor Infrastructure: Unreliable electricity, internet, and transportation systems that hinder operations.</a:t>
            </a:r>
          </a:p>
          <a:p>
            <a:r>
              <a:rPr lang="en-US" dirty="0"/>
              <a:t>Difficulty Finding Skilled Talent: Challenges in recruiting and retaining qualified employees.</a:t>
            </a:r>
          </a:p>
          <a:p>
            <a:r>
              <a:rPr lang="en-US" dirty="0"/>
              <a:t>Lack of Mentorship: Absence of experienced guides who can provide advice and open doors.</a:t>
            </a:r>
          </a:p>
          <a:p>
            <a:endParaRPr lang="en-CA" dirty="0"/>
          </a:p>
        </p:txBody>
      </p:sp>
    </p:spTree>
    <p:extLst>
      <p:ext uri="{BB962C8B-B14F-4D97-AF65-F5344CB8AC3E}">
        <p14:creationId xmlns:p14="http://schemas.microsoft.com/office/powerpoint/2010/main" val="2393562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2E1C9-9752-F9D9-31C1-8291AACE69F7}"/>
              </a:ext>
            </a:extLst>
          </p:cNvPr>
          <p:cNvSpPr>
            <a:spLocks noGrp="1"/>
          </p:cNvSpPr>
          <p:nvPr>
            <p:ph type="title"/>
          </p:nvPr>
        </p:nvSpPr>
        <p:spPr>
          <a:xfrm>
            <a:off x="838200" y="365125"/>
            <a:ext cx="10515600" cy="497681"/>
          </a:xfrm>
        </p:spPr>
        <p:txBody>
          <a:bodyPr>
            <a:normAutofit fontScale="90000"/>
          </a:bodyPr>
          <a:lstStyle/>
          <a:p>
            <a:endParaRPr lang="en-CA" dirty="0"/>
          </a:p>
        </p:txBody>
      </p:sp>
      <p:graphicFrame>
        <p:nvGraphicFramePr>
          <p:cNvPr id="4" name="Content Placeholder 3">
            <a:extLst>
              <a:ext uri="{FF2B5EF4-FFF2-40B4-BE49-F238E27FC236}">
                <a16:creationId xmlns:a16="http://schemas.microsoft.com/office/drawing/2014/main" id="{2F047411-9028-02AF-D31C-5DA2AB82E8FD}"/>
              </a:ext>
            </a:extLst>
          </p:cNvPr>
          <p:cNvGraphicFramePr>
            <a:graphicFrameLocks noGrp="1"/>
          </p:cNvGraphicFramePr>
          <p:nvPr>
            <p:ph idx="1"/>
            <p:extLst>
              <p:ext uri="{D42A27DB-BD31-4B8C-83A1-F6EECF244321}">
                <p14:modId xmlns:p14="http://schemas.microsoft.com/office/powerpoint/2010/main" val="903260686"/>
              </p:ext>
            </p:extLst>
          </p:nvPr>
        </p:nvGraphicFramePr>
        <p:xfrm>
          <a:off x="838200" y="1179872"/>
          <a:ext cx="10515600" cy="4815323"/>
        </p:xfrm>
        <a:graphic>
          <a:graphicData uri="http://schemas.openxmlformats.org/drawingml/2006/table">
            <a:tbl>
              <a:tblPr/>
              <a:tblGrid>
                <a:gridCol w="4723108">
                  <a:extLst>
                    <a:ext uri="{9D8B030D-6E8A-4147-A177-3AD203B41FA5}">
                      <a16:colId xmlns:a16="http://schemas.microsoft.com/office/drawing/2014/main" val="2096431125"/>
                    </a:ext>
                  </a:extLst>
                </a:gridCol>
                <a:gridCol w="5792492">
                  <a:extLst>
                    <a:ext uri="{9D8B030D-6E8A-4147-A177-3AD203B41FA5}">
                      <a16:colId xmlns:a16="http://schemas.microsoft.com/office/drawing/2014/main" val="998469072"/>
                    </a:ext>
                  </a:extLst>
                </a:gridCol>
              </a:tblGrid>
              <a:tr h="521405">
                <a:tc>
                  <a:txBody>
                    <a:bodyPr/>
                    <a:lstStyle/>
                    <a:p>
                      <a:pPr algn="l">
                        <a:lnSpc>
                          <a:spcPts val="1875"/>
                        </a:lnSpc>
                        <a:buNone/>
                      </a:pPr>
                      <a:r>
                        <a:rPr lang="en-CA" b="0">
                          <a:effectLst/>
                          <a:latin typeface="quote-cjk-patch"/>
                        </a:rPr>
                        <a:t>Supports (Drivers)</a:t>
                      </a:r>
                    </a:p>
                  </a:txBody>
                  <a:tcPr marR="152400" marT="95250" marB="95250" anchor="ctr">
                    <a:lnL>
                      <a:noFill/>
                    </a:lnL>
                    <a:lnR>
                      <a:noFill/>
                    </a:lnR>
                    <a:lnT>
                      <a:noFill/>
                    </a:lnT>
                    <a:lnB>
                      <a:noFill/>
                    </a:lnB>
                    <a:solidFill>
                      <a:srgbClr val="FFFFFF"/>
                    </a:solidFill>
                  </a:tcPr>
                </a:tc>
                <a:tc>
                  <a:txBody>
                    <a:bodyPr/>
                    <a:lstStyle/>
                    <a:p>
                      <a:pPr algn="l">
                        <a:lnSpc>
                          <a:spcPts val="1875"/>
                        </a:lnSpc>
                        <a:buNone/>
                      </a:pPr>
                      <a:r>
                        <a:rPr lang="en-CA" b="0">
                          <a:effectLst/>
                          <a:latin typeface="quote-cjk-patch"/>
                        </a:rPr>
                        <a:t>Barriers (Challenges)</a:t>
                      </a:r>
                    </a:p>
                  </a:txBody>
                  <a:tcPr marL="152400" marR="152400" marT="95250" marB="95250" anchor="ctr">
                    <a:lnL>
                      <a:noFill/>
                    </a:lnL>
                    <a:lnR>
                      <a:noFill/>
                    </a:lnR>
                    <a:lnT>
                      <a:noFill/>
                    </a:lnT>
                    <a:lnB>
                      <a:noFill/>
                    </a:lnB>
                    <a:solidFill>
                      <a:srgbClr val="FFFFFF"/>
                    </a:solidFill>
                  </a:tcPr>
                </a:tc>
                <a:extLst>
                  <a:ext uri="{0D108BD9-81ED-4DB2-BD59-A6C34878D82A}">
                    <a16:rowId xmlns:a16="http://schemas.microsoft.com/office/drawing/2014/main" val="656844690"/>
                  </a:ext>
                </a:extLst>
              </a:tr>
              <a:tr h="521405">
                <a:tc>
                  <a:txBody>
                    <a:bodyPr/>
                    <a:lstStyle/>
                    <a:p>
                      <a:pPr>
                        <a:lnSpc>
                          <a:spcPts val="1875"/>
                        </a:lnSpc>
                        <a:buNone/>
                      </a:pPr>
                      <a:r>
                        <a:rPr lang="en-CA" b="1">
                          <a:effectLst/>
                          <a:latin typeface="quote-cjk-patch"/>
                        </a:rPr>
                        <a:t>Financial Capital</a:t>
                      </a:r>
                      <a:r>
                        <a:rPr lang="en-CA" b="0">
                          <a:effectLst/>
                          <a:latin typeface="quote-cjk-patch"/>
                        </a:rPr>
                        <a:t> (VC, loans, grants)</a:t>
                      </a: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a:effectLst/>
                          <a:latin typeface="quote-cjk-patch"/>
                        </a:rPr>
                        <a:t>Lack of Funding</a:t>
                      </a:r>
                      <a:r>
                        <a:rPr lang="en-US" b="0">
                          <a:effectLst/>
                          <a:latin typeface="quote-cjk-patch"/>
                        </a:rPr>
                        <a:t> (No startup capital, cash flow issues)</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1207237077"/>
                  </a:ext>
                </a:extLst>
              </a:tr>
              <a:tr h="812777">
                <a:tc>
                  <a:txBody>
                    <a:bodyPr/>
                    <a:lstStyle/>
                    <a:p>
                      <a:pPr>
                        <a:lnSpc>
                          <a:spcPts val="1875"/>
                        </a:lnSpc>
                        <a:buNone/>
                      </a:pPr>
                      <a:r>
                        <a:rPr lang="en-US" b="1">
                          <a:effectLst/>
                          <a:latin typeface="quote-cjk-patch"/>
                        </a:rPr>
                        <a:t>Supportive Government Policies</a:t>
                      </a:r>
                      <a:r>
                        <a:rPr lang="en-US" b="0">
                          <a:effectLst/>
                          <a:latin typeface="quote-cjk-patch"/>
                        </a:rPr>
                        <a:t> (Tax incentives, ease of business)</a:t>
                      </a: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dirty="0">
                          <a:effectLst/>
                          <a:latin typeface="quote-cjk-patch"/>
                        </a:rPr>
                        <a:t>Regulatory Hurdles</a:t>
                      </a:r>
                      <a:r>
                        <a:rPr lang="en-US" b="0" dirty="0">
                          <a:effectLst/>
                          <a:latin typeface="quote-cjk-patch"/>
                        </a:rPr>
                        <a:t> (Bureaucracy, high taxes)</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282286251"/>
                  </a:ext>
                </a:extLst>
              </a:tr>
              <a:tr h="812777">
                <a:tc>
                  <a:txBody>
                    <a:bodyPr/>
                    <a:lstStyle/>
                    <a:p>
                      <a:pPr>
                        <a:lnSpc>
                          <a:spcPts val="1875"/>
                        </a:lnSpc>
                        <a:buNone/>
                      </a:pPr>
                      <a:r>
                        <a:rPr lang="en-US" b="1" dirty="0">
                          <a:effectLst/>
                          <a:latin typeface="quote-cjk-patch"/>
                        </a:rPr>
                        <a:t>Education &amp; Training</a:t>
                      </a:r>
                      <a:r>
                        <a:rPr lang="en-US" b="0" dirty="0">
                          <a:effectLst/>
                          <a:latin typeface="quote-cjk-patch"/>
                        </a:rPr>
                        <a:t> (University programs, workshops)</a:t>
                      </a: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dirty="0">
                          <a:effectLst/>
                          <a:latin typeface="quote-cjk-patch"/>
                        </a:rPr>
                        <a:t>Skill Gaps</a:t>
                      </a:r>
                      <a:r>
                        <a:rPr lang="en-US" b="0" dirty="0">
                          <a:effectLst/>
                          <a:latin typeface="quote-cjk-patch"/>
                        </a:rPr>
                        <a:t> (Lack of business/management experience)</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1437313207"/>
                  </a:ext>
                </a:extLst>
              </a:tr>
              <a:tr h="521405">
                <a:tc>
                  <a:txBody>
                    <a:bodyPr/>
                    <a:lstStyle/>
                    <a:p>
                      <a:pPr>
                        <a:lnSpc>
                          <a:spcPts val="1875"/>
                        </a:lnSpc>
                        <a:buNone/>
                      </a:pPr>
                      <a:r>
                        <a:rPr lang="en-CA" b="1">
                          <a:effectLst/>
                          <a:latin typeface="quote-cjk-patch"/>
                        </a:rPr>
                        <a:t>Infrastructure</a:t>
                      </a:r>
                      <a:r>
                        <a:rPr lang="en-CA" b="0">
                          <a:effectLst/>
                          <a:latin typeface="quote-cjk-patch"/>
                        </a:rPr>
                        <a:t> (Reliable internet, transport)</a:t>
                      </a:r>
                    </a:p>
                  </a:txBody>
                  <a:tcPr marR="152400" marT="95250" marB="95250" anchor="ctr">
                    <a:lnL>
                      <a:noFill/>
                    </a:lnL>
                    <a:lnR>
                      <a:noFill/>
                    </a:lnR>
                    <a:lnT>
                      <a:noFill/>
                    </a:lnT>
                    <a:lnB>
                      <a:noFill/>
                    </a:lnB>
                    <a:solidFill>
                      <a:srgbClr val="FFFFFF"/>
                    </a:solidFill>
                  </a:tcPr>
                </a:tc>
                <a:tc>
                  <a:txBody>
                    <a:bodyPr/>
                    <a:lstStyle/>
                    <a:p>
                      <a:pPr>
                        <a:lnSpc>
                          <a:spcPts val="1875"/>
                        </a:lnSpc>
                        <a:buNone/>
                      </a:pPr>
                      <a:r>
                        <a:rPr lang="en-CA" b="1">
                          <a:effectLst/>
                          <a:latin typeface="quote-cjk-patch"/>
                        </a:rPr>
                        <a:t>Poor Infrastructure</a:t>
                      </a:r>
                      <a:r>
                        <a:rPr lang="en-CA" b="0">
                          <a:effectLst/>
                          <a:latin typeface="quote-cjk-patch"/>
                        </a:rPr>
                        <a:t> (Unreliable utilities, logistics)</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3921032218"/>
                  </a:ext>
                </a:extLst>
              </a:tr>
              <a:tr h="812777">
                <a:tc>
                  <a:txBody>
                    <a:bodyPr/>
                    <a:lstStyle/>
                    <a:p>
                      <a:pPr>
                        <a:lnSpc>
                          <a:spcPts val="1875"/>
                        </a:lnSpc>
                        <a:buNone/>
                      </a:pPr>
                      <a:r>
                        <a:rPr lang="en-US" b="1">
                          <a:effectLst/>
                          <a:latin typeface="quote-cjk-patch"/>
                        </a:rPr>
                        <a:t>Cultural Acceptance</a:t>
                      </a:r>
                      <a:r>
                        <a:rPr lang="en-US" b="0">
                          <a:effectLst/>
                          <a:latin typeface="quote-cjk-patch"/>
                        </a:rPr>
                        <a:t> (Celebration of risk, role models)</a:t>
                      </a: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a:effectLst/>
                          <a:latin typeface="quote-cjk-patch"/>
                        </a:rPr>
                        <a:t>Fear of Failure &amp; Risk Aversion</a:t>
                      </a:r>
                      <a:r>
                        <a:rPr lang="en-US" b="0">
                          <a:effectLst/>
                          <a:latin typeface="quote-cjk-patch"/>
                        </a:rPr>
                        <a:t> (Social stigma, personal fear)</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4249706945"/>
                  </a:ext>
                </a:extLst>
              </a:tr>
              <a:tr h="812777">
                <a:tc>
                  <a:txBody>
                    <a:bodyPr/>
                    <a:lstStyle/>
                    <a:p>
                      <a:pPr>
                        <a:lnSpc>
                          <a:spcPts val="1875"/>
                        </a:lnSpc>
                        <a:buNone/>
                      </a:pPr>
                      <a:r>
                        <a:rPr lang="en-US" b="1">
                          <a:effectLst/>
                          <a:latin typeface="quote-cjk-patch"/>
                        </a:rPr>
                        <a:t>Networks &amp; Mentorship</a:t>
                      </a:r>
                      <a:r>
                        <a:rPr lang="en-US" b="0">
                          <a:effectLst/>
                          <a:latin typeface="quote-cjk-patch"/>
                        </a:rPr>
                        <a:t> (Incubators, industry connections)</a:t>
                      </a: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dirty="0">
                          <a:effectLst/>
                          <a:latin typeface="quote-cjk-patch"/>
                        </a:rPr>
                        <a:t>Market Challenges</a:t>
                      </a:r>
                      <a:r>
                        <a:rPr lang="en-US" b="0" dirty="0">
                          <a:effectLst/>
                          <a:latin typeface="quote-cjk-patch"/>
                        </a:rPr>
                        <a:t> (High competition, limited access)</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2786701374"/>
                  </a:ext>
                </a:extLst>
              </a:tr>
            </a:tbl>
          </a:graphicData>
        </a:graphic>
      </p:graphicFrame>
    </p:spTree>
    <p:extLst>
      <p:ext uri="{BB962C8B-B14F-4D97-AF65-F5344CB8AC3E}">
        <p14:creationId xmlns:p14="http://schemas.microsoft.com/office/powerpoint/2010/main" val="4241771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33CC-C10B-6F75-B21C-DC6783B80FB9}"/>
              </a:ext>
            </a:extLst>
          </p:cNvPr>
          <p:cNvSpPr>
            <a:spLocks noGrp="1"/>
          </p:cNvSpPr>
          <p:nvPr>
            <p:ph type="title"/>
          </p:nvPr>
        </p:nvSpPr>
        <p:spPr/>
        <p:txBody>
          <a:bodyPr/>
          <a:lstStyle/>
          <a:p>
            <a:r>
              <a:rPr lang="en-US" dirty="0"/>
              <a:t>Competitor Analysis </a:t>
            </a:r>
            <a:endParaRPr lang="en-CA" dirty="0"/>
          </a:p>
        </p:txBody>
      </p:sp>
      <p:sp>
        <p:nvSpPr>
          <p:cNvPr id="3" name="Content Placeholder 2">
            <a:extLst>
              <a:ext uri="{FF2B5EF4-FFF2-40B4-BE49-F238E27FC236}">
                <a16:creationId xmlns:a16="http://schemas.microsoft.com/office/drawing/2014/main" id="{3C6AB38B-6948-BF48-ABC3-B199AB759481}"/>
              </a:ext>
            </a:extLst>
          </p:cNvPr>
          <p:cNvSpPr>
            <a:spLocks noGrp="1"/>
          </p:cNvSpPr>
          <p:nvPr>
            <p:ph idx="1"/>
          </p:nvPr>
        </p:nvSpPr>
        <p:spPr/>
        <p:txBody>
          <a:bodyPr>
            <a:normAutofit/>
          </a:bodyPr>
          <a:lstStyle/>
          <a:p>
            <a:r>
              <a:rPr lang="en-US" b="1" dirty="0"/>
              <a:t>Competitor Analysis</a:t>
            </a:r>
            <a:r>
              <a:rPr lang="en-US" dirty="0"/>
              <a:t> is the process of identifying, researching, and evaluating your competitors to understand their strengths, weaknesses, strategies, and market position. This helps you make informed decisions, identify opportunities, and develop effective business strategies.</a:t>
            </a:r>
            <a:br>
              <a:rPr lang="en-US" dirty="0"/>
            </a:br>
            <a:r>
              <a:rPr lang="en-US" dirty="0"/>
              <a:t>Competitor analysis isn't about copying others—it's about understanding the competitive landscape so you can </a:t>
            </a:r>
            <a:r>
              <a:rPr lang="en-US" b="1" dirty="0"/>
              <a:t>differentiate your business, serve customers better, and capture market share</a:t>
            </a:r>
            <a:r>
              <a:rPr lang="en-US" dirty="0"/>
              <a:t>. Regular analysis helps you stay ahead of trends and adapt to changing market conditions.</a:t>
            </a:r>
            <a:endParaRPr lang="en-CA" dirty="0"/>
          </a:p>
        </p:txBody>
      </p:sp>
    </p:spTree>
    <p:extLst>
      <p:ext uri="{BB962C8B-B14F-4D97-AF65-F5344CB8AC3E}">
        <p14:creationId xmlns:p14="http://schemas.microsoft.com/office/powerpoint/2010/main" val="1899462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F067-B241-4A14-2847-F4C30C9F1171}"/>
              </a:ext>
            </a:extLst>
          </p:cNvPr>
          <p:cNvSpPr>
            <a:spLocks noGrp="1"/>
          </p:cNvSpPr>
          <p:nvPr>
            <p:ph type="title"/>
          </p:nvPr>
        </p:nvSpPr>
        <p:spPr/>
        <p:txBody>
          <a:bodyPr>
            <a:normAutofit fontScale="90000"/>
          </a:bodyPr>
          <a:lstStyle/>
          <a:p>
            <a:br>
              <a:rPr lang="en-US" b="1" dirty="0">
                <a:solidFill>
                  <a:srgbClr val="0F1115"/>
                </a:solidFill>
                <a:latin typeface="quote-cjk-patch"/>
              </a:rPr>
            </a:br>
            <a:r>
              <a:rPr lang="en-US" b="1" dirty="0">
                <a:solidFill>
                  <a:srgbClr val="0F1115"/>
                </a:solidFill>
                <a:latin typeface="quote-cjk-patch"/>
              </a:rPr>
              <a:t>Why Competitor Analysis is Important</a:t>
            </a:r>
            <a:br>
              <a:rPr lang="en-US" b="1" dirty="0">
                <a:solidFill>
                  <a:srgbClr val="0F1115"/>
                </a:solidFill>
                <a:latin typeface="quote-cjk-patch"/>
              </a:rPr>
            </a:br>
            <a:endParaRPr lang="en-CA" dirty="0"/>
          </a:p>
        </p:txBody>
      </p:sp>
      <p:sp>
        <p:nvSpPr>
          <p:cNvPr id="3" name="Content Placeholder 2">
            <a:extLst>
              <a:ext uri="{FF2B5EF4-FFF2-40B4-BE49-F238E27FC236}">
                <a16:creationId xmlns:a16="http://schemas.microsoft.com/office/drawing/2014/main" id="{A3594E09-6822-F8AD-B02A-2C3DEE0B96A1}"/>
              </a:ext>
            </a:extLst>
          </p:cNvPr>
          <p:cNvSpPr>
            <a:spLocks noGrp="1"/>
          </p:cNvSpPr>
          <p:nvPr>
            <p:ph idx="1"/>
          </p:nvPr>
        </p:nvSpPr>
        <p:spPr/>
        <p:txBody>
          <a:bodyPr/>
          <a:lstStyle/>
          <a:p>
            <a:pPr marL="0" indent="0" algn="l">
              <a:spcBef>
                <a:spcPts val="1200"/>
              </a:spcBef>
              <a:spcAft>
                <a:spcPts val="1200"/>
              </a:spcAft>
              <a:buNone/>
            </a:pPr>
            <a:r>
              <a:rPr lang="en-US" b="1" i="0" dirty="0">
                <a:solidFill>
                  <a:srgbClr val="0F1115"/>
                </a:solidFill>
                <a:effectLst/>
                <a:latin typeface="quote-cjk-patch"/>
              </a:rPr>
              <a:t>Identify Market Gaps</a:t>
            </a:r>
            <a:r>
              <a:rPr lang="en-US" b="0" i="0" dirty="0">
                <a:solidFill>
                  <a:srgbClr val="0F1115"/>
                </a:solidFill>
                <a:effectLst/>
                <a:latin typeface="quote-cjk-patch"/>
              </a:rPr>
              <a:t>: Find unmet customer needs</a:t>
            </a:r>
          </a:p>
          <a:p>
            <a:pPr marL="0" indent="0" algn="l">
              <a:spcBef>
                <a:spcPts val="450"/>
              </a:spcBef>
              <a:spcAft>
                <a:spcPts val="1200"/>
              </a:spcAft>
              <a:buNone/>
            </a:pPr>
            <a:r>
              <a:rPr lang="en-US" b="1" i="0" dirty="0">
                <a:solidFill>
                  <a:srgbClr val="0F1115"/>
                </a:solidFill>
                <a:effectLst/>
                <a:latin typeface="quote-cjk-patch"/>
              </a:rPr>
              <a:t>Improve Your Strategy</a:t>
            </a:r>
            <a:r>
              <a:rPr lang="en-US" b="0" i="0" dirty="0">
                <a:solidFill>
                  <a:srgbClr val="0F1115"/>
                </a:solidFill>
                <a:effectLst/>
                <a:latin typeface="quote-cjk-patch"/>
              </a:rPr>
              <a:t>: Learn from others' successes and failures</a:t>
            </a:r>
          </a:p>
          <a:p>
            <a:pPr marL="0" indent="0" algn="l">
              <a:spcBef>
                <a:spcPts val="450"/>
              </a:spcBef>
              <a:spcAft>
                <a:spcPts val="1200"/>
              </a:spcAft>
              <a:buNone/>
            </a:pPr>
            <a:r>
              <a:rPr lang="en-US" b="1" i="0" dirty="0">
                <a:solidFill>
                  <a:srgbClr val="0F1115"/>
                </a:solidFill>
                <a:effectLst/>
                <a:latin typeface="quote-cjk-patch"/>
              </a:rPr>
              <a:t>Predict Market Trends</a:t>
            </a:r>
            <a:r>
              <a:rPr lang="en-US" b="0" i="0" dirty="0">
                <a:solidFill>
                  <a:srgbClr val="0F1115"/>
                </a:solidFill>
                <a:effectLst/>
                <a:latin typeface="quote-cjk-patch"/>
              </a:rPr>
              <a:t>: Understand where your industry is heading</a:t>
            </a:r>
          </a:p>
          <a:p>
            <a:pPr marL="0" indent="0" algn="l">
              <a:spcBef>
                <a:spcPts val="450"/>
              </a:spcBef>
              <a:spcAft>
                <a:spcPts val="1200"/>
              </a:spcAft>
              <a:buNone/>
            </a:pPr>
            <a:r>
              <a:rPr lang="en-US" b="1" i="0" dirty="0">
                <a:solidFill>
                  <a:srgbClr val="0F1115"/>
                </a:solidFill>
                <a:effectLst/>
                <a:latin typeface="quote-cjk-patch"/>
              </a:rPr>
              <a:t>Differentiate Your Business</a:t>
            </a:r>
            <a:r>
              <a:rPr lang="en-US" b="0" i="0" dirty="0">
                <a:solidFill>
                  <a:srgbClr val="0F1115"/>
                </a:solidFill>
                <a:effectLst/>
                <a:latin typeface="quote-cjk-patch"/>
              </a:rPr>
              <a:t>: Find your unique competitive advantage</a:t>
            </a:r>
          </a:p>
          <a:p>
            <a:pPr marL="0" indent="0" algn="l">
              <a:spcBef>
                <a:spcPts val="450"/>
              </a:spcBef>
              <a:spcAft>
                <a:spcPts val="1200"/>
              </a:spcAft>
              <a:buNone/>
            </a:pPr>
            <a:r>
              <a:rPr lang="en-US" b="1" i="0" dirty="0">
                <a:solidFill>
                  <a:srgbClr val="0F1115"/>
                </a:solidFill>
                <a:effectLst/>
                <a:latin typeface="quote-cjk-patch"/>
              </a:rPr>
              <a:t>Mitigate Risks</a:t>
            </a:r>
            <a:r>
              <a:rPr lang="en-US" b="0" i="0" dirty="0">
                <a:solidFill>
                  <a:srgbClr val="0F1115"/>
                </a:solidFill>
                <a:effectLst/>
                <a:latin typeface="quote-cjk-patch"/>
              </a:rPr>
              <a:t>: Prepare for competitive threats</a:t>
            </a:r>
          </a:p>
          <a:p>
            <a:endParaRPr lang="en-CA" dirty="0"/>
          </a:p>
        </p:txBody>
      </p:sp>
    </p:spTree>
    <p:extLst>
      <p:ext uri="{BB962C8B-B14F-4D97-AF65-F5344CB8AC3E}">
        <p14:creationId xmlns:p14="http://schemas.microsoft.com/office/powerpoint/2010/main" val="823683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0C363-0C92-A95C-498B-B9D50D1BC50B}"/>
              </a:ext>
            </a:extLst>
          </p:cNvPr>
          <p:cNvSpPr>
            <a:spLocks noGrp="1"/>
          </p:cNvSpPr>
          <p:nvPr>
            <p:ph type="title"/>
          </p:nvPr>
        </p:nvSpPr>
        <p:spPr/>
        <p:txBody>
          <a:bodyPr/>
          <a:lstStyle/>
          <a:p>
            <a:r>
              <a:rPr lang="en-US" b="1" dirty="0"/>
              <a:t>Identifying competitors</a:t>
            </a:r>
            <a:endParaRPr lang="en-CA" dirty="0"/>
          </a:p>
        </p:txBody>
      </p:sp>
      <p:sp>
        <p:nvSpPr>
          <p:cNvPr id="3" name="Content Placeholder 2">
            <a:extLst>
              <a:ext uri="{FF2B5EF4-FFF2-40B4-BE49-F238E27FC236}">
                <a16:creationId xmlns:a16="http://schemas.microsoft.com/office/drawing/2014/main" id="{862E886D-E6D3-308D-F627-5466C33C1082}"/>
              </a:ext>
            </a:extLst>
          </p:cNvPr>
          <p:cNvSpPr>
            <a:spLocks noGrp="1"/>
          </p:cNvSpPr>
          <p:nvPr>
            <p:ph idx="1"/>
          </p:nvPr>
        </p:nvSpPr>
        <p:spPr/>
        <p:txBody>
          <a:bodyPr/>
          <a:lstStyle/>
          <a:p>
            <a:r>
              <a:rPr lang="en-US" b="1" dirty="0"/>
              <a:t>Identifying competitors</a:t>
            </a:r>
            <a:r>
              <a:rPr lang="en-US" dirty="0"/>
              <a:t> means finding out which other businesses offer similar products or services to the same target market as yours.</a:t>
            </a:r>
            <a:br>
              <a:rPr lang="en-US" dirty="0"/>
            </a:br>
            <a:r>
              <a:rPr lang="en-US" dirty="0"/>
              <a:t>It is a crucial step in business planning and market analysis because it helps an entrepreneur understand the </a:t>
            </a:r>
            <a:r>
              <a:rPr lang="en-US" b="1" dirty="0"/>
              <a:t>competitive landscape</a:t>
            </a:r>
            <a:r>
              <a:rPr lang="en-US" dirty="0"/>
              <a:t>, </a:t>
            </a:r>
            <a:r>
              <a:rPr lang="en-US" b="1" dirty="0"/>
              <a:t>customer preferences</a:t>
            </a:r>
            <a:r>
              <a:rPr lang="en-US" dirty="0"/>
              <a:t>, and </a:t>
            </a:r>
            <a:r>
              <a:rPr lang="en-US" b="1" dirty="0"/>
              <a:t>market opportunities</a:t>
            </a:r>
            <a:r>
              <a:rPr lang="en-US" dirty="0"/>
              <a:t>.</a:t>
            </a:r>
          </a:p>
          <a:p>
            <a:endParaRPr lang="en-CA" dirty="0"/>
          </a:p>
        </p:txBody>
      </p:sp>
    </p:spTree>
    <p:extLst>
      <p:ext uri="{BB962C8B-B14F-4D97-AF65-F5344CB8AC3E}">
        <p14:creationId xmlns:p14="http://schemas.microsoft.com/office/powerpoint/2010/main" val="2014843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2E304-D22C-8246-4D62-D744FC61CCAE}"/>
              </a:ext>
            </a:extLst>
          </p:cNvPr>
          <p:cNvSpPr>
            <a:spLocks noGrp="1"/>
          </p:cNvSpPr>
          <p:nvPr>
            <p:ph type="title"/>
          </p:nvPr>
        </p:nvSpPr>
        <p:spPr>
          <a:xfrm>
            <a:off x="838200" y="868680"/>
            <a:ext cx="10515600" cy="822008"/>
          </a:xfrm>
        </p:spPr>
        <p:txBody>
          <a:bodyPr>
            <a:normAutofit fontScale="90000"/>
          </a:bodyPr>
          <a:lstStyle/>
          <a:p>
            <a:r>
              <a:rPr lang="en-US" b="1" dirty="0"/>
              <a:t>Types of Competitors</a:t>
            </a:r>
            <a:br>
              <a:rPr lang="en-US" b="1" dirty="0"/>
            </a:br>
            <a:endParaRPr lang="en-CA" dirty="0"/>
          </a:p>
        </p:txBody>
      </p:sp>
      <p:sp>
        <p:nvSpPr>
          <p:cNvPr id="3" name="Content Placeholder 2">
            <a:extLst>
              <a:ext uri="{FF2B5EF4-FFF2-40B4-BE49-F238E27FC236}">
                <a16:creationId xmlns:a16="http://schemas.microsoft.com/office/drawing/2014/main" id="{720756B9-C517-9418-A639-F4FDC87509DC}"/>
              </a:ext>
            </a:extLst>
          </p:cNvPr>
          <p:cNvSpPr>
            <a:spLocks noGrp="1"/>
          </p:cNvSpPr>
          <p:nvPr>
            <p:ph idx="1"/>
          </p:nvPr>
        </p:nvSpPr>
        <p:spPr>
          <a:xfrm>
            <a:off x="365760" y="1825624"/>
            <a:ext cx="11393424" cy="4584319"/>
          </a:xfrm>
        </p:spPr>
        <p:txBody>
          <a:bodyPr>
            <a:normAutofit lnSpcReduction="10000"/>
          </a:bodyPr>
          <a:lstStyle/>
          <a:p>
            <a:r>
              <a:rPr lang="en-US" b="1" dirty="0"/>
              <a:t>Direct Competitors</a:t>
            </a:r>
            <a:endParaRPr lang="en-US" dirty="0"/>
          </a:p>
          <a:p>
            <a:pPr lvl="1"/>
            <a:r>
              <a:rPr lang="en-US" dirty="0"/>
              <a:t>Businesses that offer the </a:t>
            </a:r>
            <a:r>
              <a:rPr lang="en-US" i="1" dirty="0"/>
              <a:t>same or very similar</a:t>
            </a:r>
            <a:r>
              <a:rPr lang="en-US" dirty="0"/>
              <a:t> products or services.</a:t>
            </a:r>
          </a:p>
          <a:p>
            <a:pPr lvl="1"/>
            <a:r>
              <a:rPr lang="en-US" dirty="0"/>
              <a:t>Example: Pepsi and Coca-Cola are direct competitors in the soft drink market.</a:t>
            </a:r>
          </a:p>
          <a:p>
            <a:r>
              <a:rPr lang="en-US" b="1" dirty="0"/>
              <a:t>Indirect Competitors</a:t>
            </a:r>
            <a:endParaRPr lang="en-US" dirty="0"/>
          </a:p>
          <a:p>
            <a:pPr lvl="1"/>
            <a:r>
              <a:rPr lang="en-US" dirty="0"/>
              <a:t>Businesses that offer </a:t>
            </a:r>
            <a:r>
              <a:rPr lang="en-US" i="1" dirty="0"/>
              <a:t>different products or services</a:t>
            </a:r>
            <a:r>
              <a:rPr lang="en-US" dirty="0"/>
              <a:t> that satisfy the </a:t>
            </a:r>
            <a:r>
              <a:rPr lang="en-US" i="1" dirty="0"/>
              <a:t>same customer need</a:t>
            </a:r>
            <a:r>
              <a:rPr lang="en-US" dirty="0"/>
              <a:t>.</a:t>
            </a:r>
          </a:p>
          <a:p>
            <a:pPr lvl="1"/>
            <a:r>
              <a:rPr lang="en-US" dirty="0"/>
              <a:t>Example: A movie theater and a streaming service like Netflix are indirect competitors (both provide entertainment).</a:t>
            </a:r>
          </a:p>
          <a:p>
            <a:r>
              <a:rPr lang="en-US" b="1" dirty="0"/>
              <a:t>Potential (Future) Competitors</a:t>
            </a:r>
            <a:endParaRPr lang="en-US" dirty="0"/>
          </a:p>
          <a:p>
            <a:pPr lvl="1"/>
            <a:r>
              <a:rPr lang="en-US" dirty="0"/>
              <a:t>Companies that </a:t>
            </a:r>
            <a:r>
              <a:rPr lang="en-US" i="1" dirty="0"/>
              <a:t>could enter</a:t>
            </a:r>
            <a:r>
              <a:rPr lang="en-US" dirty="0"/>
              <a:t> your market in the future due to technological advancement or expansion plans.</a:t>
            </a:r>
          </a:p>
          <a:p>
            <a:pPr lvl="1"/>
            <a:r>
              <a:rPr lang="en-US" dirty="0"/>
              <a:t>Example: A smartphone manufacturer entering the smartwatch market.</a:t>
            </a:r>
          </a:p>
          <a:p>
            <a:endParaRPr lang="en-CA" dirty="0"/>
          </a:p>
        </p:txBody>
      </p:sp>
    </p:spTree>
    <p:extLst>
      <p:ext uri="{BB962C8B-B14F-4D97-AF65-F5344CB8AC3E}">
        <p14:creationId xmlns:p14="http://schemas.microsoft.com/office/powerpoint/2010/main" val="890348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AF06-5D30-7633-4F00-F8923711D13F}"/>
              </a:ext>
            </a:extLst>
          </p:cNvPr>
          <p:cNvSpPr>
            <a:spLocks noGrp="1"/>
          </p:cNvSpPr>
          <p:nvPr>
            <p:ph type="title"/>
          </p:nvPr>
        </p:nvSpPr>
        <p:spPr>
          <a:xfrm>
            <a:off x="838200" y="822960"/>
            <a:ext cx="10515600" cy="630936"/>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3100" b="1" i="0" u="none" strike="noStrike" kern="1200" cap="none" spc="0" normalizeH="0" baseline="0" noProof="0" dirty="0">
                <a:ln>
                  <a:noFill/>
                </a:ln>
                <a:solidFill>
                  <a:prstClr val="black"/>
                </a:solidFill>
                <a:effectLst/>
                <a:uLnTx/>
                <a:uFillTx/>
                <a:latin typeface="Calibri" panose="020F0502020204030204"/>
                <a:ea typeface="+mn-ea"/>
                <a:cs typeface="+mn-cs"/>
              </a:rPr>
              <a:t>Methods to Identify Competitors</a:t>
            </a:r>
            <a:b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595D1EF6-E366-86C6-044C-E6FB98A0AA58}"/>
              </a:ext>
            </a:extLst>
          </p:cNvPr>
          <p:cNvSpPr>
            <a:spLocks noGrp="1"/>
          </p:cNvSpPr>
          <p:nvPr>
            <p:ph idx="1"/>
          </p:nvPr>
        </p:nvSpPr>
        <p:spPr>
          <a:xfrm>
            <a:off x="838200" y="1453896"/>
            <a:ext cx="10515600" cy="5157216"/>
          </a:xfrm>
        </p:spPr>
        <p:txBody>
          <a:bodyPr>
            <a:normAutofit fontScale="85000" lnSpcReduction="10000"/>
          </a:bodyPr>
          <a:lstStyle/>
          <a:p>
            <a:r>
              <a:rPr lang="en-US" b="1" dirty="0"/>
              <a:t>Market Research</a:t>
            </a:r>
            <a:endParaRPr lang="en-US" dirty="0"/>
          </a:p>
          <a:p>
            <a:pPr lvl="1"/>
            <a:r>
              <a:rPr lang="en-US" dirty="0"/>
              <a:t>Study the market to see who is already serving your target audience.</a:t>
            </a:r>
          </a:p>
          <a:p>
            <a:pPr lvl="1"/>
            <a:r>
              <a:rPr lang="en-US" dirty="0"/>
              <a:t>Use online databases, trade journals, and industry reports.</a:t>
            </a:r>
          </a:p>
          <a:p>
            <a:r>
              <a:rPr lang="en-US" b="1" dirty="0"/>
              <a:t>Customer Feedback</a:t>
            </a:r>
            <a:endParaRPr lang="en-US" dirty="0"/>
          </a:p>
          <a:p>
            <a:pPr lvl="1"/>
            <a:r>
              <a:rPr lang="en-US" dirty="0"/>
              <a:t>Ask customers which other brands or businesses they consider before buying your product.</a:t>
            </a:r>
          </a:p>
          <a:p>
            <a:r>
              <a:rPr lang="en-US" b="1" dirty="0"/>
              <a:t>Online Search</a:t>
            </a:r>
            <a:endParaRPr lang="en-US" dirty="0"/>
          </a:p>
          <a:p>
            <a:pPr lvl="1"/>
            <a:r>
              <a:rPr lang="en-US" dirty="0"/>
              <a:t>Search keywords related to your product or service on search engines.</a:t>
            </a:r>
          </a:p>
          <a:p>
            <a:pPr lvl="1"/>
            <a:r>
              <a:rPr lang="en-US" dirty="0"/>
              <a:t>Check which businesses appear in top results — they are your competitors.</a:t>
            </a:r>
          </a:p>
          <a:p>
            <a:r>
              <a:rPr lang="en-US" b="1" dirty="0"/>
              <a:t>Social Media and Advertising Analysis</a:t>
            </a:r>
            <a:endParaRPr lang="en-US" dirty="0"/>
          </a:p>
          <a:p>
            <a:pPr lvl="1"/>
            <a:r>
              <a:rPr lang="en-US" dirty="0"/>
              <a:t>Observe social media pages, ads, and promotions of similar businesses.</a:t>
            </a:r>
          </a:p>
          <a:p>
            <a:r>
              <a:rPr lang="en-US" b="1" dirty="0"/>
              <a:t>Industry Events and Networking</a:t>
            </a:r>
            <a:endParaRPr lang="en-US" dirty="0"/>
          </a:p>
          <a:p>
            <a:pPr lvl="1"/>
            <a:r>
              <a:rPr lang="en-US" dirty="0"/>
              <a:t>Attend trade shows, seminars, or conferences to identify major players in your field.</a:t>
            </a:r>
          </a:p>
          <a:p>
            <a:r>
              <a:rPr lang="en-US" b="1" dirty="0"/>
              <a:t>Business Directories and Listings</a:t>
            </a:r>
            <a:endParaRPr lang="en-US" dirty="0"/>
          </a:p>
          <a:p>
            <a:pPr lvl="1"/>
            <a:r>
              <a:rPr lang="en-US" dirty="0"/>
              <a:t>Use directories like Google My Business, Yelp, or local listings to find similar businesses.</a:t>
            </a:r>
          </a:p>
          <a:p>
            <a:endParaRPr lang="en-CA" dirty="0"/>
          </a:p>
        </p:txBody>
      </p:sp>
    </p:spTree>
    <p:extLst>
      <p:ext uri="{BB962C8B-B14F-4D97-AF65-F5344CB8AC3E}">
        <p14:creationId xmlns:p14="http://schemas.microsoft.com/office/powerpoint/2010/main" val="1295905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0E04E-533A-1325-764E-F7962B5F2AA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56097B9-FDD9-DA16-66A9-B4A87CE9EFAE}"/>
              </a:ext>
            </a:extLst>
          </p:cNvPr>
          <p:cNvSpPr>
            <a:spLocks noGrp="1"/>
          </p:cNvSpPr>
          <p:nvPr>
            <p:ph idx="1"/>
          </p:nvPr>
        </p:nvSpPr>
        <p:spPr/>
        <p:txBody>
          <a:bodyPr/>
          <a:lstStyle/>
          <a:p>
            <a:r>
              <a:rPr lang="en-US" b="1" dirty="0"/>
              <a:t>Why Identifying Competitors is Important</a:t>
            </a:r>
          </a:p>
          <a:p>
            <a:r>
              <a:rPr lang="en-US" dirty="0"/>
              <a:t>Helps you understand </a:t>
            </a:r>
            <a:r>
              <a:rPr lang="en-US" b="1" dirty="0"/>
              <a:t>market trends</a:t>
            </a:r>
            <a:r>
              <a:rPr lang="en-US" dirty="0"/>
              <a:t> and </a:t>
            </a:r>
            <a:r>
              <a:rPr lang="en-US" b="1" dirty="0"/>
              <a:t>customer expectations</a:t>
            </a:r>
            <a:r>
              <a:rPr lang="en-US" dirty="0"/>
              <a:t>.</a:t>
            </a:r>
          </a:p>
          <a:p>
            <a:r>
              <a:rPr lang="en-US" dirty="0"/>
              <a:t>Enables you to </a:t>
            </a:r>
            <a:r>
              <a:rPr lang="en-US" b="1" dirty="0"/>
              <a:t>differentiate</a:t>
            </a:r>
            <a:r>
              <a:rPr lang="en-US" dirty="0"/>
              <a:t> your product or service.</a:t>
            </a:r>
          </a:p>
          <a:p>
            <a:r>
              <a:rPr lang="en-US" dirty="0"/>
              <a:t>Assists in </a:t>
            </a:r>
            <a:r>
              <a:rPr lang="en-US" b="1" dirty="0"/>
              <a:t>pricing strategy</a:t>
            </a:r>
            <a:r>
              <a:rPr lang="en-US" dirty="0"/>
              <a:t> and </a:t>
            </a:r>
            <a:r>
              <a:rPr lang="en-US" b="1" dirty="0"/>
              <a:t>marketing planning</a:t>
            </a:r>
            <a:r>
              <a:rPr lang="en-US" dirty="0"/>
              <a:t>.</a:t>
            </a:r>
          </a:p>
          <a:p>
            <a:r>
              <a:rPr lang="en-US" dirty="0"/>
              <a:t>Allows you to identify </a:t>
            </a:r>
            <a:r>
              <a:rPr lang="en-US" b="1" dirty="0"/>
              <a:t>strengths and weaknesses</a:t>
            </a:r>
            <a:r>
              <a:rPr lang="en-US" dirty="0"/>
              <a:t> of competitors.</a:t>
            </a:r>
          </a:p>
          <a:p>
            <a:r>
              <a:rPr lang="en-US" dirty="0"/>
              <a:t>Helps you find </a:t>
            </a:r>
            <a:r>
              <a:rPr lang="en-US" b="1" dirty="0"/>
              <a:t>gaps or opportunities</a:t>
            </a:r>
            <a:r>
              <a:rPr lang="en-US" dirty="0"/>
              <a:t> in the market.</a:t>
            </a:r>
          </a:p>
          <a:p>
            <a:endParaRPr lang="en-CA" dirty="0"/>
          </a:p>
        </p:txBody>
      </p:sp>
    </p:spTree>
    <p:extLst>
      <p:ext uri="{BB962C8B-B14F-4D97-AF65-F5344CB8AC3E}">
        <p14:creationId xmlns:p14="http://schemas.microsoft.com/office/powerpoint/2010/main" val="3150792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1B2DE-DEDC-3268-F012-A468C570500A}"/>
              </a:ext>
            </a:extLst>
          </p:cNvPr>
          <p:cNvSpPr>
            <a:spLocks noGrp="1"/>
          </p:cNvSpPr>
          <p:nvPr>
            <p:ph type="title"/>
          </p:nvPr>
        </p:nvSpPr>
        <p:spPr/>
        <p:txBody>
          <a:bodyPr/>
          <a:lstStyle/>
          <a:p>
            <a:r>
              <a:rPr lang="en-US" dirty="0"/>
              <a:t>Competitive advantage</a:t>
            </a:r>
            <a:endParaRPr lang="en-CA" dirty="0"/>
          </a:p>
        </p:txBody>
      </p:sp>
      <p:sp>
        <p:nvSpPr>
          <p:cNvPr id="3" name="Content Placeholder 2">
            <a:extLst>
              <a:ext uri="{FF2B5EF4-FFF2-40B4-BE49-F238E27FC236}">
                <a16:creationId xmlns:a16="http://schemas.microsoft.com/office/drawing/2014/main" id="{F797A52A-C865-7F6C-C1B9-634130F6FAD9}"/>
              </a:ext>
            </a:extLst>
          </p:cNvPr>
          <p:cNvSpPr>
            <a:spLocks noGrp="1"/>
          </p:cNvSpPr>
          <p:nvPr>
            <p:ph idx="1"/>
          </p:nvPr>
        </p:nvSpPr>
        <p:spPr/>
        <p:txBody>
          <a:bodyPr/>
          <a:lstStyle/>
          <a:p>
            <a:r>
              <a:rPr lang="en-US" dirty="0"/>
              <a:t>Competitive advantage refers to the unique qualities and factors that allow a company to produce goods or services more effectively or efficiently than its competitors. This enables the company to generate greater sales or higher profit margins, ultimately leading to superior performance in the marketplace. A competitive advantage must be difficult for competitors to imitate or duplicate in the short term, making it sustainable over time.</a:t>
            </a:r>
            <a:endParaRPr lang="en-CA" dirty="0"/>
          </a:p>
        </p:txBody>
      </p:sp>
    </p:spTree>
    <p:extLst>
      <p:ext uri="{BB962C8B-B14F-4D97-AF65-F5344CB8AC3E}">
        <p14:creationId xmlns:p14="http://schemas.microsoft.com/office/powerpoint/2010/main" val="3396407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01F81-14F8-8782-10EF-49FE4D37F276}"/>
              </a:ext>
            </a:extLst>
          </p:cNvPr>
          <p:cNvSpPr>
            <a:spLocks noGrp="1"/>
          </p:cNvSpPr>
          <p:nvPr>
            <p:ph type="title"/>
          </p:nvPr>
        </p:nvSpPr>
        <p:spPr>
          <a:xfrm>
            <a:off x="838200" y="365125"/>
            <a:ext cx="10515600" cy="1171067"/>
          </a:xfrm>
        </p:spPr>
        <p:txBody>
          <a:bodyPr/>
          <a:lstStyle/>
          <a:p>
            <a:r>
              <a:rPr lang="en-US" dirty="0"/>
              <a:t>Sources of Competitive Advantage </a:t>
            </a:r>
            <a:endParaRPr lang="en-CA" dirty="0"/>
          </a:p>
        </p:txBody>
      </p:sp>
      <p:sp>
        <p:nvSpPr>
          <p:cNvPr id="3" name="Content Placeholder 2">
            <a:extLst>
              <a:ext uri="{FF2B5EF4-FFF2-40B4-BE49-F238E27FC236}">
                <a16:creationId xmlns:a16="http://schemas.microsoft.com/office/drawing/2014/main" id="{F367EB5A-2DFE-846A-5533-4B05653643A4}"/>
              </a:ext>
            </a:extLst>
          </p:cNvPr>
          <p:cNvSpPr>
            <a:spLocks noGrp="1"/>
          </p:cNvSpPr>
          <p:nvPr>
            <p:ph idx="1"/>
          </p:nvPr>
        </p:nvSpPr>
        <p:spPr>
          <a:xfrm>
            <a:off x="548640" y="1536192"/>
            <a:ext cx="11201400" cy="4956683"/>
          </a:xfrm>
        </p:spPr>
        <p:txBody>
          <a:bodyPr>
            <a:normAutofit lnSpcReduction="10000"/>
          </a:bodyPr>
          <a:lstStyle/>
          <a:p>
            <a:pPr marL="0" indent="0">
              <a:buNone/>
            </a:pPr>
            <a:r>
              <a:rPr lang="en-US" dirty="0"/>
              <a:t>Competitive Advantage is a condition or circumstance that puts a company in a favorable or superior business position compared to its competitors. This means the </a:t>
            </a:r>
            <a:r>
              <a:rPr lang="en-US" i="1" dirty="0"/>
              <a:t>special strength</a:t>
            </a:r>
            <a:r>
              <a:rPr lang="en-US" dirty="0"/>
              <a:t> or </a:t>
            </a:r>
            <a:r>
              <a:rPr lang="en-US" i="1" dirty="0"/>
              <a:t>unique benefit</a:t>
            </a:r>
            <a:r>
              <a:rPr lang="en-US" dirty="0"/>
              <a:t> that makes a business better than its competitors.</a:t>
            </a:r>
            <a:br>
              <a:rPr lang="en-US" dirty="0"/>
            </a:br>
            <a:r>
              <a:rPr lang="en-US" dirty="0"/>
              <a:t>It could be lower prices, higher quality, a new idea, faster service, or anything that makes customers choose that business over others. It is the unique edge that allows a business to:</a:t>
            </a:r>
          </a:p>
          <a:p>
            <a:r>
              <a:rPr lang="en-US" dirty="0"/>
              <a:t>Outperform its competitors.</a:t>
            </a:r>
          </a:p>
          <a:p>
            <a:r>
              <a:rPr lang="en-US" dirty="0"/>
              <a:t>Achieve higher profitability.</a:t>
            </a:r>
          </a:p>
          <a:p>
            <a:r>
              <a:rPr lang="en-US" dirty="0"/>
              <a:t>Gain and retain a larger market share.</a:t>
            </a:r>
          </a:p>
          <a:p>
            <a:pPr marL="0" indent="0">
              <a:buNone/>
            </a:pPr>
            <a:r>
              <a:rPr lang="en-US" dirty="0"/>
              <a:t>In simple terms, it's the reason why customers choose you over the competition.</a:t>
            </a:r>
          </a:p>
          <a:p>
            <a:endParaRPr lang="en-CA" dirty="0"/>
          </a:p>
        </p:txBody>
      </p:sp>
    </p:spTree>
    <p:extLst>
      <p:ext uri="{BB962C8B-B14F-4D97-AF65-F5344CB8AC3E}">
        <p14:creationId xmlns:p14="http://schemas.microsoft.com/office/powerpoint/2010/main" val="2872356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4422A-6D41-520C-712E-8C764E8AC885}"/>
              </a:ext>
            </a:extLst>
          </p:cNvPr>
          <p:cNvSpPr>
            <a:spLocks noGrp="1"/>
          </p:cNvSpPr>
          <p:nvPr>
            <p:ph type="title"/>
          </p:nvPr>
        </p:nvSpPr>
        <p:spPr/>
        <p:txBody>
          <a:bodyPr/>
          <a:lstStyle/>
          <a:p>
            <a:r>
              <a:rPr lang="en-US" dirty="0"/>
              <a:t>Following are the sources of competitive advantage </a:t>
            </a:r>
            <a:endParaRPr lang="en-CA" dirty="0"/>
          </a:p>
        </p:txBody>
      </p:sp>
      <p:sp>
        <p:nvSpPr>
          <p:cNvPr id="3" name="Content Placeholder 2">
            <a:extLst>
              <a:ext uri="{FF2B5EF4-FFF2-40B4-BE49-F238E27FC236}">
                <a16:creationId xmlns:a16="http://schemas.microsoft.com/office/drawing/2014/main" id="{C883BCA5-0477-A452-A8E6-F64B7B4B6165}"/>
              </a:ext>
            </a:extLst>
          </p:cNvPr>
          <p:cNvSpPr>
            <a:spLocks noGrp="1"/>
          </p:cNvSpPr>
          <p:nvPr>
            <p:ph idx="1"/>
          </p:nvPr>
        </p:nvSpPr>
        <p:spPr>
          <a:xfrm>
            <a:off x="838200" y="1536192"/>
            <a:ext cx="10515600" cy="4640771"/>
          </a:xfrm>
        </p:spPr>
        <p:txBody>
          <a:bodyPr>
            <a:normAutofit fontScale="77500" lnSpcReduction="20000"/>
          </a:bodyPr>
          <a:lstStyle/>
          <a:p>
            <a:r>
              <a:rPr lang="en-US" b="1" dirty="0"/>
              <a:t>Main Sources of Competitive Advantage</a:t>
            </a:r>
          </a:p>
          <a:p>
            <a:r>
              <a:rPr lang="en-US" b="1" dirty="0"/>
              <a:t>1. Cost Advantage</a:t>
            </a:r>
          </a:p>
          <a:p>
            <a:r>
              <a:rPr lang="en-US" dirty="0"/>
              <a:t>The ability to produce goods or services at a </a:t>
            </a:r>
            <a:r>
              <a:rPr lang="en-US" b="1" dirty="0"/>
              <a:t>lower cost</a:t>
            </a:r>
            <a:r>
              <a:rPr lang="en-US" dirty="0"/>
              <a:t> than competitors.</a:t>
            </a:r>
          </a:p>
          <a:p>
            <a:r>
              <a:rPr lang="en-US" dirty="0"/>
              <a:t>This allows the company to offer </a:t>
            </a:r>
            <a:r>
              <a:rPr lang="en-US" b="1" dirty="0"/>
              <a:t>lower prices</a:t>
            </a:r>
            <a:r>
              <a:rPr lang="en-US" dirty="0"/>
              <a:t> or achieve </a:t>
            </a:r>
            <a:r>
              <a:rPr lang="en-US" b="1" dirty="0"/>
              <a:t>higher profit margins</a:t>
            </a:r>
            <a:r>
              <a:rPr lang="en-US" dirty="0"/>
              <a:t>.</a:t>
            </a:r>
          </a:p>
          <a:p>
            <a:r>
              <a:rPr lang="en-US" b="1" dirty="0"/>
              <a:t>Example:</a:t>
            </a:r>
            <a:r>
              <a:rPr lang="en-US" dirty="0"/>
              <a:t> Walmart and Xiaomi keep costs low through efficient supply chains and economies of scale.</a:t>
            </a:r>
          </a:p>
          <a:p>
            <a:r>
              <a:rPr lang="en-US" b="1" dirty="0"/>
              <a:t>How to achieve it:</a:t>
            </a:r>
            <a:endParaRPr lang="en-US" dirty="0"/>
          </a:p>
          <a:p>
            <a:r>
              <a:rPr lang="en-US" dirty="0"/>
              <a:t>Efficient production methods</a:t>
            </a:r>
          </a:p>
          <a:p>
            <a:r>
              <a:rPr lang="en-US" dirty="0"/>
              <a:t>Bulk purchasing</a:t>
            </a:r>
          </a:p>
          <a:p>
            <a:r>
              <a:rPr lang="en-US" dirty="0"/>
              <a:t>Use of technology and automation</a:t>
            </a:r>
          </a:p>
          <a:p>
            <a:r>
              <a:rPr lang="en-US" dirty="0"/>
              <a:t>Lower overhead costs</a:t>
            </a:r>
          </a:p>
          <a:p>
            <a:pPr marL="0" indent="0">
              <a:buNone/>
            </a:pPr>
            <a:br>
              <a:rPr lang="en-US" dirty="0"/>
            </a:br>
            <a:endParaRPr lang="en-US" dirty="0"/>
          </a:p>
          <a:p>
            <a:pPr marL="0" indent="0">
              <a:buNone/>
            </a:pPr>
            <a:endParaRPr lang="en-CA" dirty="0"/>
          </a:p>
        </p:txBody>
      </p:sp>
    </p:spTree>
    <p:extLst>
      <p:ext uri="{BB962C8B-B14F-4D97-AF65-F5344CB8AC3E}">
        <p14:creationId xmlns:p14="http://schemas.microsoft.com/office/powerpoint/2010/main" val="220777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1FECB-B1FE-0C9A-1DC6-95798027681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035D7AC-64D7-49B9-67A7-92011B31C723}"/>
              </a:ext>
            </a:extLst>
          </p:cNvPr>
          <p:cNvSpPr>
            <a:spLocks noGrp="1"/>
          </p:cNvSpPr>
          <p:nvPr>
            <p:ph idx="1"/>
          </p:nvPr>
        </p:nvSpPr>
        <p:spPr/>
        <p:txBody>
          <a:bodyPr>
            <a:normAutofit fontScale="85000" lnSpcReduction="20000"/>
          </a:bodyPr>
          <a:lstStyle/>
          <a:p>
            <a:r>
              <a:rPr lang="en-US" b="1" dirty="0"/>
              <a:t>2. Differentiation Advantage</a:t>
            </a:r>
          </a:p>
          <a:p>
            <a:r>
              <a:rPr lang="en-US" dirty="0"/>
              <a:t>Offering products or services that are </a:t>
            </a:r>
            <a:r>
              <a:rPr lang="en-US" b="1" dirty="0"/>
              <a:t>unique or superior</a:t>
            </a:r>
            <a:r>
              <a:rPr lang="en-US" dirty="0"/>
              <a:t> compared to competitors.</a:t>
            </a:r>
          </a:p>
          <a:p>
            <a:r>
              <a:rPr lang="en-US" dirty="0"/>
              <a:t>Focuses on </a:t>
            </a:r>
            <a:r>
              <a:rPr lang="en-US" b="1" dirty="0"/>
              <a:t>quality, design, brand image, innovation, or customer service</a:t>
            </a:r>
            <a:r>
              <a:rPr lang="en-US" dirty="0"/>
              <a:t>.</a:t>
            </a:r>
          </a:p>
          <a:p>
            <a:r>
              <a:rPr lang="en-US" b="1" dirty="0"/>
              <a:t>Example:</a:t>
            </a:r>
            <a:r>
              <a:rPr lang="en-US" dirty="0"/>
              <a:t> Apple differentiates through design, innovation, and brand loyalty.</a:t>
            </a:r>
          </a:p>
          <a:p>
            <a:r>
              <a:rPr lang="en-US" b="1" dirty="0"/>
              <a:t>How to achieve it:</a:t>
            </a:r>
            <a:endParaRPr lang="en-US" dirty="0"/>
          </a:p>
          <a:p>
            <a:r>
              <a:rPr lang="en-US" dirty="0"/>
              <a:t>Product innovation</a:t>
            </a:r>
          </a:p>
          <a:p>
            <a:r>
              <a:rPr lang="en-US" dirty="0"/>
              <a:t>Strong brand identity</a:t>
            </a:r>
          </a:p>
          <a:p>
            <a:r>
              <a:rPr lang="en-US" dirty="0"/>
              <a:t>Excellent customer experience</a:t>
            </a:r>
          </a:p>
          <a:p>
            <a:r>
              <a:rPr lang="en-US" dirty="0"/>
              <a:t>Continuous improvement</a:t>
            </a:r>
          </a:p>
          <a:p>
            <a:br>
              <a:rPr lang="en-US" dirty="0"/>
            </a:br>
            <a:endParaRPr lang="en-US" dirty="0"/>
          </a:p>
          <a:p>
            <a:endParaRPr lang="en-CA" dirty="0"/>
          </a:p>
        </p:txBody>
      </p:sp>
    </p:spTree>
    <p:extLst>
      <p:ext uri="{BB962C8B-B14F-4D97-AF65-F5344CB8AC3E}">
        <p14:creationId xmlns:p14="http://schemas.microsoft.com/office/powerpoint/2010/main" val="749910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44905-083D-BB32-1C07-CC8AA892D42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C34CEE7-B8A0-3A30-980D-76462D7B55DB}"/>
              </a:ext>
            </a:extLst>
          </p:cNvPr>
          <p:cNvSpPr>
            <a:spLocks noGrp="1"/>
          </p:cNvSpPr>
          <p:nvPr>
            <p:ph idx="1"/>
          </p:nvPr>
        </p:nvSpPr>
        <p:spPr/>
        <p:txBody>
          <a:bodyPr>
            <a:normAutofit fontScale="92500" lnSpcReduction="10000"/>
          </a:bodyPr>
          <a:lstStyle/>
          <a:p>
            <a:r>
              <a:rPr lang="en-US" b="1" dirty="0"/>
              <a:t>3. Innovation Advantage</a:t>
            </a:r>
          </a:p>
          <a:p>
            <a:r>
              <a:rPr lang="en-US" dirty="0"/>
              <a:t>Gaining an edge by introducing </a:t>
            </a:r>
            <a:r>
              <a:rPr lang="en-US" b="1" dirty="0"/>
              <a:t>new technologies, products, or business models</a:t>
            </a:r>
            <a:r>
              <a:rPr lang="en-US" dirty="0"/>
              <a:t>.</a:t>
            </a:r>
          </a:p>
          <a:p>
            <a:r>
              <a:rPr lang="en-US" b="1" dirty="0"/>
              <a:t>Example:</a:t>
            </a:r>
            <a:r>
              <a:rPr lang="en-US" dirty="0"/>
              <a:t> Tesla’s innovation in electric vehicles and battery technology.</a:t>
            </a:r>
          </a:p>
          <a:p>
            <a:r>
              <a:rPr lang="en-US" b="1" dirty="0"/>
              <a:t>How to achieve it:</a:t>
            </a:r>
            <a:endParaRPr lang="en-US" dirty="0"/>
          </a:p>
          <a:p>
            <a:r>
              <a:rPr lang="en-US" dirty="0"/>
              <a:t>Investment in research and development (R&amp;D)</a:t>
            </a:r>
          </a:p>
          <a:p>
            <a:r>
              <a:rPr lang="en-US" dirty="0"/>
              <a:t>Encouraging creativity and experimentation</a:t>
            </a:r>
          </a:p>
          <a:p>
            <a:r>
              <a:rPr lang="en-US" dirty="0"/>
              <a:t>Early adoption of new technologies</a:t>
            </a:r>
          </a:p>
          <a:p>
            <a:br>
              <a:rPr lang="en-US" dirty="0"/>
            </a:br>
            <a:endParaRPr lang="en-US" dirty="0"/>
          </a:p>
          <a:p>
            <a:endParaRPr lang="en-CA" dirty="0"/>
          </a:p>
        </p:txBody>
      </p:sp>
    </p:spTree>
    <p:extLst>
      <p:ext uri="{BB962C8B-B14F-4D97-AF65-F5344CB8AC3E}">
        <p14:creationId xmlns:p14="http://schemas.microsoft.com/office/powerpoint/2010/main" val="3917110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4746F-6FB2-5A5F-D1E1-75F8F6097E5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E56C8C4-FDC3-24AA-5E87-AE1777988DD7}"/>
              </a:ext>
            </a:extLst>
          </p:cNvPr>
          <p:cNvSpPr>
            <a:spLocks noGrp="1"/>
          </p:cNvSpPr>
          <p:nvPr>
            <p:ph idx="1"/>
          </p:nvPr>
        </p:nvSpPr>
        <p:spPr/>
        <p:txBody>
          <a:bodyPr>
            <a:normAutofit fontScale="92500" lnSpcReduction="10000"/>
          </a:bodyPr>
          <a:lstStyle/>
          <a:p>
            <a:r>
              <a:rPr lang="en-US" b="1" dirty="0"/>
              <a:t>4. Quality Advantage</a:t>
            </a:r>
          </a:p>
          <a:p>
            <a:r>
              <a:rPr lang="en-US" dirty="0"/>
              <a:t>Providing </a:t>
            </a:r>
            <a:r>
              <a:rPr lang="en-US" b="1" dirty="0"/>
              <a:t>superior quality</a:t>
            </a:r>
            <a:r>
              <a:rPr lang="en-US" dirty="0"/>
              <a:t> products or services that increase customer satisfaction and trust.</a:t>
            </a:r>
          </a:p>
          <a:p>
            <a:r>
              <a:rPr lang="en-US" b="1" dirty="0"/>
              <a:t>Example:</a:t>
            </a:r>
            <a:r>
              <a:rPr lang="en-US" dirty="0"/>
              <a:t> Toyota’s reputation for high-quality and reliable cars.</a:t>
            </a:r>
          </a:p>
          <a:p>
            <a:r>
              <a:rPr lang="en-US" b="1" dirty="0"/>
              <a:t>How to achieve it:</a:t>
            </a:r>
            <a:endParaRPr lang="en-US" dirty="0"/>
          </a:p>
          <a:p>
            <a:r>
              <a:rPr lang="en-US" dirty="0"/>
              <a:t>Implementing strict quality control systems</a:t>
            </a:r>
          </a:p>
          <a:p>
            <a:r>
              <a:rPr lang="en-US" dirty="0"/>
              <a:t>Employee training and commitment to excellence</a:t>
            </a:r>
          </a:p>
          <a:p>
            <a:r>
              <a:rPr lang="en-US" dirty="0"/>
              <a:t>Consistent performance and reliability</a:t>
            </a:r>
          </a:p>
          <a:p>
            <a:br>
              <a:rPr lang="en-US" dirty="0"/>
            </a:br>
            <a:endParaRPr lang="en-US" dirty="0"/>
          </a:p>
          <a:p>
            <a:endParaRPr lang="en-CA" dirty="0"/>
          </a:p>
        </p:txBody>
      </p:sp>
    </p:spTree>
    <p:extLst>
      <p:ext uri="{BB962C8B-B14F-4D97-AF65-F5344CB8AC3E}">
        <p14:creationId xmlns:p14="http://schemas.microsoft.com/office/powerpoint/2010/main" val="3399578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26CEF-E87B-3FED-E5A9-D9395314A48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B748B27-B2B3-A0AC-5C06-FEAEBC65D453}"/>
              </a:ext>
            </a:extLst>
          </p:cNvPr>
          <p:cNvSpPr>
            <a:spLocks noGrp="1"/>
          </p:cNvSpPr>
          <p:nvPr>
            <p:ph idx="1"/>
          </p:nvPr>
        </p:nvSpPr>
        <p:spPr/>
        <p:txBody>
          <a:bodyPr>
            <a:normAutofit fontScale="92500" lnSpcReduction="10000"/>
          </a:bodyPr>
          <a:lstStyle/>
          <a:p>
            <a:r>
              <a:rPr lang="en-US" b="1" dirty="0"/>
              <a:t>5. Customer Relationship Advantage</a:t>
            </a:r>
          </a:p>
          <a:p>
            <a:r>
              <a:rPr lang="en-US" dirty="0"/>
              <a:t>Building </a:t>
            </a:r>
            <a:r>
              <a:rPr lang="en-US" b="1" dirty="0"/>
              <a:t>strong, loyal relationships</a:t>
            </a:r>
            <a:r>
              <a:rPr lang="en-US" dirty="0"/>
              <a:t> with customers.</a:t>
            </a:r>
          </a:p>
          <a:p>
            <a:r>
              <a:rPr lang="en-US" dirty="0"/>
              <a:t>Loyal customers are less likely to switch to competitors.</a:t>
            </a:r>
          </a:p>
          <a:p>
            <a:r>
              <a:rPr lang="en-US" b="1" dirty="0"/>
              <a:t>Example:</a:t>
            </a:r>
            <a:r>
              <a:rPr lang="en-US" dirty="0"/>
              <a:t> Amazon’s personalized service and customer-centric policies.</a:t>
            </a:r>
          </a:p>
          <a:p>
            <a:r>
              <a:rPr lang="en-US" b="1" dirty="0"/>
              <a:t>How to achieve it:</a:t>
            </a:r>
            <a:endParaRPr lang="en-US" dirty="0"/>
          </a:p>
          <a:p>
            <a:r>
              <a:rPr lang="en-US" dirty="0"/>
              <a:t>Excellent customer support</a:t>
            </a:r>
          </a:p>
          <a:p>
            <a:r>
              <a:rPr lang="en-US" dirty="0"/>
              <a:t>Loyalty programs</a:t>
            </a:r>
          </a:p>
          <a:p>
            <a:r>
              <a:rPr lang="en-US" dirty="0"/>
              <a:t>Personalized marketing</a:t>
            </a:r>
          </a:p>
          <a:p>
            <a:br>
              <a:rPr lang="en-US" dirty="0"/>
            </a:br>
            <a:endParaRPr lang="en-US" dirty="0"/>
          </a:p>
          <a:p>
            <a:endParaRPr lang="en-CA" dirty="0"/>
          </a:p>
        </p:txBody>
      </p:sp>
    </p:spTree>
    <p:extLst>
      <p:ext uri="{BB962C8B-B14F-4D97-AF65-F5344CB8AC3E}">
        <p14:creationId xmlns:p14="http://schemas.microsoft.com/office/powerpoint/2010/main" val="3630274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0E538-58F6-1C99-EB3D-92B04F24167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BF4588B-CF70-3858-7107-2827A71C0FAD}"/>
              </a:ext>
            </a:extLst>
          </p:cNvPr>
          <p:cNvSpPr>
            <a:spLocks noGrp="1"/>
          </p:cNvSpPr>
          <p:nvPr>
            <p:ph idx="1"/>
          </p:nvPr>
        </p:nvSpPr>
        <p:spPr/>
        <p:txBody>
          <a:bodyPr>
            <a:normAutofit fontScale="92500" lnSpcReduction="10000"/>
          </a:bodyPr>
          <a:lstStyle/>
          <a:p>
            <a:r>
              <a:rPr lang="en-US" b="1" dirty="0"/>
              <a:t>6. Brand Advantage</a:t>
            </a:r>
          </a:p>
          <a:p>
            <a:r>
              <a:rPr lang="en-US" dirty="0"/>
              <a:t>A </a:t>
            </a:r>
            <a:r>
              <a:rPr lang="en-US" b="1" dirty="0"/>
              <a:t>strong, well-known brand</a:t>
            </a:r>
            <a:r>
              <a:rPr lang="en-US" dirty="0"/>
              <a:t> increases trust and perceived value.</a:t>
            </a:r>
          </a:p>
          <a:p>
            <a:r>
              <a:rPr lang="en-US" b="1" dirty="0"/>
              <a:t>Example:</a:t>
            </a:r>
            <a:r>
              <a:rPr lang="en-US" dirty="0"/>
              <a:t> Nike’s global brand recognition gives it a powerful market position.</a:t>
            </a:r>
          </a:p>
          <a:p>
            <a:r>
              <a:rPr lang="en-US" b="1" dirty="0"/>
              <a:t>How to achieve it:</a:t>
            </a:r>
            <a:endParaRPr lang="en-US" dirty="0"/>
          </a:p>
          <a:p>
            <a:r>
              <a:rPr lang="en-US" dirty="0"/>
              <a:t>Consistent branding and messaging</a:t>
            </a:r>
          </a:p>
          <a:p>
            <a:r>
              <a:rPr lang="en-US" dirty="0"/>
              <a:t>Sponsorships and advertising</a:t>
            </a:r>
          </a:p>
          <a:p>
            <a:r>
              <a:rPr lang="en-US" dirty="0"/>
              <a:t>Building emotional connection with consumers</a:t>
            </a:r>
          </a:p>
          <a:p>
            <a:br>
              <a:rPr lang="en-US" dirty="0"/>
            </a:br>
            <a:endParaRPr lang="en-US" dirty="0"/>
          </a:p>
          <a:p>
            <a:endParaRPr lang="en-CA" dirty="0"/>
          </a:p>
        </p:txBody>
      </p:sp>
    </p:spTree>
    <p:extLst>
      <p:ext uri="{BB962C8B-B14F-4D97-AF65-F5344CB8AC3E}">
        <p14:creationId xmlns:p14="http://schemas.microsoft.com/office/powerpoint/2010/main" val="2749188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38F03-FB97-4184-F9FA-46EFDB4E732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12B6494-856E-E97D-EA86-66528FF56AC4}"/>
              </a:ext>
            </a:extLst>
          </p:cNvPr>
          <p:cNvSpPr>
            <a:spLocks noGrp="1"/>
          </p:cNvSpPr>
          <p:nvPr>
            <p:ph idx="1"/>
          </p:nvPr>
        </p:nvSpPr>
        <p:spPr/>
        <p:txBody>
          <a:bodyPr/>
          <a:lstStyle/>
          <a:p>
            <a:r>
              <a:rPr lang="en-US" b="1" dirty="0"/>
              <a:t>7. Human Resource Advantage</a:t>
            </a:r>
          </a:p>
          <a:p>
            <a:r>
              <a:rPr lang="en-US" dirty="0"/>
              <a:t>Having </a:t>
            </a:r>
            <a:r>
              <a:rPr lang="en-US" b="1" dirty="0"/>
              <a:t>skilled, motivated, and innovative employees</a:t>
            </a:r>
            <a:r>
              <a:rPr lang="en-US" dirty="0"/>
              <a:t> can be a major advantage.</a:t>
            </a:r>
          </a:p>
          <a:p>
            <a:r>
              <a:rPr lang="en-US" b="1" dirty="0"/>
              <a:t>Example:</a:t>
            </a:r>
            <a:r>
              <a:rPr lang="en-US" dirty="0"/>
              <a:t> Google’s talented workforce drives its innovation and success.</a:t>
            </a:r>
          </a:p>
          <a:p>
            <a:r>
              <a:rPr lang="en-US" b="1" dirty="0"/>
              <a:t>How to achieve it:</a:t>
            </a:r>
            <a:endParaRPr lang="en-US" dirty="0"/>
          </a:p>
          <a:p>
            <a:r>
              <a:rPr lang="en-US" dirty="0"/>
              <a:t>Effective recruitment and training</a:t>
            </a:r>
          </a:p>
          <a:p>
            <a:r>
              <a:rPr lang="en-US" dirty="0"/>
              <a:t>Positive organizational culture</a:t>
            </a:r>
          </a:p>
          <a:p>
            <a:r>
              <a:rPr lang="en-US" dirty="0"/>
              <a:t>Empowerment and incentives</a:t>
            </a:r>
          </a:p>
          <a:p>
            <a:endParaRPr lang="en-CA" dirty="0"/>
          </a:p>
        </p:txBody>
      </p:sp>
    </p:spTree>
    <p:extLst>
      <p:ext uri="{BB962C8B-B14F-4D97-AF65-F5344CB8AC3E}">
        <p14:creationId xmlns:p14="http://schemas.microsoft.com/office/powerpoint/2010/main" val="2301027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5102-9941-D708-89AB-A0E8791EEB5A}"/>
              </a:ext>
            </a:extLst>
          </p:cNvPr>
          <p:cNvSpPr>
            <a:spLocks noGrp="1"/>
          </p:cNvSpPr>
          <p:nvPr>
            <p:ph type="title"/>
          </p:nvPr>
        </p:nvSpPr>
        <p:spPr>
          <a:xfrm>
            <a:off x="838200" y="365125"/>
            <a:ext cx="10515600" cy="805307"/>
          </a:xfrm>
        </p:spPr>
        <p:txBody>
          <a:bodyPr>
            <a:normAutofit fontScale="90000"/>
          </a:bodyPr>
          <a:lstStyle/>
          <a:p>
            <a:r>
              <a:rPr lang="en-US" dirty="0">
                <a:latin typeface="Times New Roman" panose="02020603050405020304" pitchFamily="18" charset="0"/>
                <a:ea typeface="Times New Roman" panose="02020603050405020304" pitchFamily="18" charset="0"/>
              </a:rPr>
              <a:t>Market analysis and plan </a:t>
            </a:r>
            <a:br>
              <a:rPr lang="en-CA" dirty="0">
                <a:latin typeface="Times New Roman" panose="02020603050405020304" pitchFamily="18" charset="0"/>
                <a:ea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DD546ABC-6BAB-E47C-CF1B-54DE66F70B3D}"/>
              </a:ext>
            </a:extLst>
          </p:cNvPr>
          <p:cNvSpPr>
            <a:spLocks noGrp="1"/>
          </p:cNvSpPr>
          <p:nvPr>
            <p:ph idx="1"/>
          </p:nvPr>
        </p:nvSpPr>
        <p:spPr>
          <a:xfrm>
            <a:off x="621792" y="1051560"/>
            <a:ext cx="10732008" cy="5532120"/>
          </a:xfrm>
        </p:spPr>
        <p:txBody>
          <a:bodyPr>
            <a:normAutofit fontScale="77500" lnSpcReduction="20000"/>
          </a:bodyPr>
          <a:lstStyle/>
          <a:p>
            <a:pPr marL="0" indent="0">
              <a:buNone/>
            </a:pPr>
            <a:r>
              <a:rPr lang="en-US" dirty="0"/>
              <a:t>A systematic </a:t>
            </a:r>
            <a:r>
              <a:rPr lang="en-US" b="1" dirty="0"/>
              <a:t>market analysis</a:t>
            </a:r>
            <a:r>
              <a:rPr lang="en-US" dirty="0"/>
              <a:t> can help to know future prospects of business. It helps to establish pricing, distribution, and promotional strategies that can support the company to be successful even in competition, both in the short and long term. Market analysis can define the market in terms of </a:t>
            </a:r>
            <a:r>
              <a:rPr lang="en-US" b="1" dirty="0"/>
              <a:t>size, demographics, structure, growth prospects, trends, and sales potential.</a:t>
            </a:r>
            <a:r>
              <a:rPr lang="en-US" dirty="0"/>
              <a:t> It evaluates the various customer segments and buying pattern, level of competition, and the economic environment affecting market. It also involves how product or service would be purchased by target market. Based on market analysis it becomes possible to prepare plan for annual sales figure, market share, and amount of profit. It facilitates to determine the relationship between supply and demand for a specific product or service. It supports the entrepreneur for taking decision for developing new marketing strategies. Usually, the following components involve in marketing analysis:</a:t>
            </a:r>
          </a:p>
          <a:p>
            <a:r>
              <a:rPr lang="en-US" b="1" dirty="0"/>
              <a:t>Size of market</a:t>
            </a:r>
            <a:endParaRPr lang="en-US" dirty="0"/>
          </a:p>
          <a:p>
            <a:r>
              <a:rPr lang="en-US" b="1" dirty="0"/>
              <a:t>Growth rate of market</a:t>
            </a:r>
            <a:endParaRPr lang="en-US" dirty="0"/>
          </a:p>
          <a:p>
            <a:r>
              <a:rPr lang="en-US" b="1" dirty="0"/>
              <a:t>Market trends</a:t>
            </a:r>
            <a:endParaRPr lang="en-US" dirty="0"/>
          </a:p>
          <a:p>
            <a:r>
              <a:rPr lang="en-US" b="1" dirty="0"/>
              <a:t>Market profitability</a:t>
            </a:r>
            <a:endParaRPr lang="en-US" dirty="0"/>
          </a:p>
          <a:p>
            <a:r>
              <a:rPr lang="en-US" b="1" dirty="0"/>
              <a:t>Industry cost structure</a:t>
            </a:r>
            <a:endParaRPr lang="en-US" dirty="0"/>
          </a:p>
          <a:p>
            <a:r>
              <a:rPr lang="en-US" b="1" dirty="0"/>
              <a:t>Distribution channels</a:t>
            </a:r>
            <a:endParaRPr lang="en-US" dirty="0"/>
          </a:p>
          <a:p>
            <a:r>
              <a:rPr lang="en-US" b="1" dirty="0"/>
              <a:t>Key success factors</a:t>
            </a:r>
            <a:endParaRPr lang="en-US" dirty="0"/>
          </a:p>
          <a:p>
            <a:endParaRPr lang="en-CA" dirty="0"/>
          </a:p>
        </p:txBody>
      </p:sp>
    </p:spTree>
    <p:extLst>
      <p:ext uri="{BB962C8B-B14F-4D97-AF65-F5344CB8AC3E}">
        <p14:creationId xmlns:p14="http://schemas.microsoft.com/office/powerpoint/2010/main" val="21440022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13188-81A3-AC17-22CA-CEADA5687332}"/>
              </a:ext>
            </a:extLst>
          </p:cNvPr>
          <p:cNvSpPr>
            <a:spLocks noGrp="1"/>
          </p:cNvSpPr>
          <p:nvPr>
            <p:ph type="title"/>
          </p:nvPr>
        </p:nvSpPr>
        <p:spPr>
          <a:xfrm>
            <a:off x="838200" y="365125"/>
            <a:ext cx="10515600" cy="44869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EE04FB0-7EDE-694F-6F73-4FE855330C73}"/>
              </a:ext>
            </a:extLst>
          </p:cNvPr>
          <p:cNvSpPr>
            <a:spLocks noGrp="1"/>
          </p:cNvSpPr>
          <p:nvPr>
            <p:ph idx="1"/>
          </p:nvPr>
        </p:nvSpPr>
        <p:spPr>
          <a:xfrm>
            <a:off x="838200" y="941832"/>
            <a:ext cx="10515600" cy="5235131"/>
          </a:xfrm>
        </p:spPr>
        <p:txBody>
          <a:bodyPr>
            <a:normAutofit/>
          </a:bodyPr>
          <a:lstStyle/>
          <a:p>
            <a:r>
              <a:rPr lang="en-US" dirty="0"/>
              <a:t>Market information is the initial requirement to the entrepreneur to know the market potential for product or service. For determination of size of market, it is essential for the entrepreneur to define the market. The target market can be broken down into demographic factors such as age, gender, level of income, and education. It can be further segmented in term of area such as urban areas or rural areas. A well-defined target market will make it easier to project market size and subsequent market objectives for the new venture. It supports to identify the method can be used to reach the target market. The entrepreneur needs to gather industry and market information for development of strong analysis of all the market information support the entrepreneur to clarify the product or service offering, actual market positioning in competitive environment and market objects. </a:t>
            </a:r>
            <a:endParaRPr lang="en-CA" dirty="0"/>
          </a:p>
        </p:txBody>
      </p:sp>
    </p:spTree>
    <p:extLst>
      <p:ext uri="{BB962C8B-B14F-4D97-AF65-F5344CB8AC3E}">
        <p14:creationId xmlns:p14="http://schemas.microsoft.com/office/powerpoint/2010/main" val="1006818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911D-356E-E68B-154D-062D1D555D79}"/>
              </a:ext>
            </a:extLst>
          </p:cNvPr>
          <p:cNvSpPr>
            <a:spLocks noGrp="1"/>
          </p:cNvSpPr>
          <p:nvPr>
            <p:ph type="title"/>
          </p:nvPr>
        </p:nvSpPr>
        <p:spPr/>
        <p:txBody>
          <a:bodyPr>
            <a:noAutofit/>
          </a:bodyPr>
          <a:lstStyle/>
          <a:p>
            <a:r>
              <a:rPr lang="en-US" sz="2000" b="1" dirty="0"/>
              <a:t>Market Plan</a:t>
            </a:r>
            <a:br>
              <a:rPr lang="en-US" sz="2000" b="1" dirty="0"/>
            </a:br>
            <a:r>
              <a:rPr lang="en-US" sz="2000" dirty="0"/>
              <a:t>The </a:t>
            </a:r>
            <a:r>
              <a:rPr lang="en-US" sz="2000" b="1" dirty="0"/>
              <a:t>market plan</a:t>
            </a:r>
            <a:r>
              <a:rPr lang="en-US" sz="2000" dirty="0"/>
              <a:t> (often called a marketing plan) is a detailed, written document that outlines the specific marketing goals a company aims to achieve, and the strategies and tactics it will use to achieve them. It is directly based on the findings of the market analysis.</a:t>
            </a:r>
            <a:br>
              <a:rPr lang="en-US" sz="2000" dirty="0"/>
            </a:br>
            <a:endParaRPr lang="en-CA" sz="2000" dirty="0"/>
          </a:p>
        </p:txBody>
      </p:sp>
      <p:sp>
        <p:nvSpPr>
          <p:cNvPr id="3" name="Content Placeholder 2">
            <a:extLst>
              <a:ext uri="{FF2B5EF4-FFF2-40B4-BE49-F238E27FC236}">
                <a16:creationId xmlns:a16="http://schemas.microsoft.com/office/drawing/2014/main" id="{85BED244-18E8-BFA6-3178-3824F81F6489}"/>
              </a:ext>
            </a:extLst>
          </p:cNvPr>
          <p:cNvSpPr>
            <a:spLocks noGrp="1"/>
          </p:cNvSpPr>
          <p:nvPr>
            <p:ph idx="1"/>
          </p:nvPr>
        </p:nvSpPr>
        <p:spPr/>
        <p:txBody>
          <a:bodyPr/>
          <a:lstStyle/>
          <a:p>
            <a:r>
              <a:rPr lang="en-US" dirty="0"/>
              <a:t>A marketing plan is a simple written guide that explains how a business will promote and sell its product or service to customers. It describes what the business is offering, who the target customers are, how much the product will cost, and how the business will reach customers through advertising and promotion. It also outlines where the product will be sold, how much money will be spent on marketing, and what goals the business wants to achieve, such as increasing sales or attracting new customers. Overall, a marketing plan helps a business stay organized and focused on attracting the right customers and growing successfully.</a:t>
            </a:r>
            <a:endParaRPr lang="en-CA" dirty="0"/>
          </a:p>
        </p:txBody>
      </p:sp>
    </p:spTree>
    <p:extLst>
      <p:ext uri="{BB962C8B-B14F-4D97-AF65-F5344CB8AC3E}">
        <p14:creationId xmlns:p14="http://schemas.microsoft.com/office/powerpoint/2010/main" val="481220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E19E-B493-5D60-A6B6-AE1B016C3A3A}"/>
              </a:ext>
            </a:extLst>
          </p:cNvPr>
          <p:cNvSpPr>
            <a:spLocks noGrp="1"/>
          </p:cNvSpPr>
          <p:nvPr>
            <p:ph type="title"/>
          </p:nvPr>
        </p:nvSpPr>
        <p:spPr>
          <a:xfrm>
            <a:off x="838200" y="365125"/>
            <a:ext cx="10515600" cy="20180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7F4BE8C-3AF9-E3C1-C999-E7FCB6390DB9}"/>
              </a:ext>
            </a:extLst>
          </p:cNvPr>
          <p:cNvSpPr>
            <a:spLocks noGrp="1"/>
          </p:cNvSpPr>
          <p:nvPr>
            <p:ph idx="1"/>
          </p:nvPr>
        </p:nvSpPr>
        <p:spPr>
          <a:xfrm>
            <a:off x="320040" y="749808"/>
            <a:ext cx="11420856" cy="5427155"/>
          </a:xfrm>
        </p:spPr>
        <p:txBody>
          <a:bodyPr>
            <a:normAutofit fontScale="62500" lnSpcReduction="20000"/>
          </a:bodyPr>
          <a:lstStyle/>
          <a:p>
            <a:r>
              <a:rPr lang="en-US" dirty="0"/>
              <a:t>The key elements of a marketing plan together provide a clear and structured approach to achieving business success.</a:t>
            </a:r>
          </a:p>
          <a:p>
            <a:r>
              <a:rPr lang="en-US" dirty="0"/>
              <a:t> The plan begins with the </a:t>
            </a:r>
            <a:r>
              <a:rPr lang="en-US" b="1" dirty="0"/>
              <a:t>product or service</a:t>
            </a:r>
            <a:r>
              <a:rPr lang="en-US" dirty="0"/>
              <a:t>, which explains what the business is offering and highlights the main benefits and value it provides to customers. </a:t>
            </a:r>
          </a:p>
          <a:p>
            <a:r>
              <a:rPr lang="en-US" dirty="0"/>
              <a:t>It then identifies the </a:t>
            </a:r>
            <a:r>
              <a:rPr lang="en-US" b="1" dirty="0"/>
              <a:t>target market</a:t>
            </a:r>
            <a:r>
              <a:rPr lang="en-US" dirty="0"/>
              <a:t>, clearly defining the specific group of customers the business aims to reach based on factors such as age, income, location, and needs.</a:t>
            </a:r>
          </a:p>
          <a:p>
            <a:r>
              <a:rPr lang="en-US" dirty="0"/>
              <a:t> A </a:t>
            </a:r>
            <a:r>
              <a:rPr lang="en-US" b="1" dirty="0"/>
              <a:t>market analysis</a:t>
            </a:r>
            <a:r>
              <a:rPr lang="en-US" dirty="0"/>
              <a:t> follows, which involves studying customer behavior, competitors’ strategies, and current market trends to understand opportunities and challenges. </a:t>
            </a:r>
          </a:p>
          <a:p>
            <a:r>
              <a:rPr lang="en-US" dirty="0"/>
              <a:t>The </a:t>
            </a:r>
            <a:r>
              <a:rPr lang="en-US" b="1" dirty="0"/>
              <a:t>pricing strategy</a:t>
            </a:r>
            <a:r>
              <a:rPr lang="en-US" dirty="0"/>
              <a:t> outlines how much the product or service will cost and justifies the chosen price by considering costs, competition, and customer willingness to pay.</a:t>
            </a:r>
          </a:p>
          <a:p>
            <a:r>
              <a:rPr lang="en-US" dirty="0"/>
              <a:t> The </a:t>
            </a:r>
            <a:r>
              <a:rPr lang="en-US" b="1" dirty="0"/>
              <a:t>promotion strategy</a:t>
            </a:r>
            <a:r>
              <a:rPr lang="en-US" dirty="0"/>
              <a:t> describes how the business will communicate with customers through advertising, social media, sales promotions, and other marketing tools to create awareness and encourage purchases. </a:t>
            </a:r>
          </a:p>
          <a:p>
            <a:r>
              <a:rPr lang="en-US" dirty="0"/>
              <a:t>The plan also includes </a:t>
            </a:r>
            <a:r>
              <a:rPr lang="en-US" b="1" dirty="0"/>
              <a:t>place or distribution</a:t>
            </a:r>
            <a:r>
              <a:rPr lang="en-US" dirty="0"/>
              <a:t>, explaining where and how customers can buy the product, whether through physical stores, online platforms, or intermediaries. </a:t>
            </a:r>
          </a:p>
          <a:p>
            <a:r>
              <a:rPr lang="en-US" dirty="0"/>
              <a:t>In addition, the </a:t>
            </a:r>
            <a:r>
              <a:rPr lang="en-US" b="1" dirty="0"/>
              <a:t>marketing budget</a:t>
            </a:r>
            <a:r>
              <a:rPr lang="en-US" dirty="0"/>
              <a:t> specifies the amount of money allocated to marketing activities to ensure resources are used efficiently. </a:t>
            </a:r>
          </a:p>
          <a:p>
            <a:r>
              <a:rPr lang="en-US" dirty="0"/>
              <a:t>Clear </a:t>
            </a:r>
            <a:r>
              <a:rPr lang="en-US" b="1" dirty="0"/>
              <a:t>goals and objectives</a:t>
            </a:r>
            <a:r>
              <a:rPr lang="en-US" dirty="0"/>
              <a:t> are set to define what the marketing efforts aim to achieve, such as increasing sales, gaining market share, or building brand awareness. </a:t>
            </a:r>
          </a:p>
          <a:p>
            <a:r>
              <a:rPr lang="en-US" dirty="0"/>
              <a:t>Finally, </a:t>
            </a:r>
            <a:r>
              <a:rPr lang="en-US" b="1" dirty="0"/>
              <a:t>evaluation and control</a:t>
            </a:r>
            <a:r>
              <a:rPr lang="en-US" dirty="0"/>
              <a:t> methods are included to measure results, monitor performance, and m</a:t>
            </a:r>
            <a:endParaRPr lang="en-CA" dirty="0"/>
          </a:p>
        </p:txBody>
      </p:sp>
    </p:spTree>
    <p:extLst>
      <p:ext uri="{BB962C8B-B14F-4D97-AF65-F5344CB8AC3E}">
        <p14:creationId xmlns:p14="http://schemas.microsoft.com/office/powerpoint/2010/main" val="14189739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07568-3D09-C133-5BE3-920232744AFB}"/>
              </a:ext>
            </a:extLst>
          </p:cNvPr>
          <p:cNvSpPr>
            <a:spLocks noGrp="1"/>
          </p:cNvSpPr>
          <p:nvPr>
            <p:ph type="title"/>
          </p:nvPr>
        </p:nvSpPr>
        <p:spPr/>
        <p:txBody>
          <a:bodyPr/>
          <a:lstStyle/>
          <a:p>
            <a:r>
              <a:rPr lang="en-US" b="1" dirty="0"/>
              <a:t>Market Research</a:t>
            </a:r>
            <a:r>
              <a:rPr lang="en-US" dirty="0"/>
              <a:t> </a:t>
            </a:r>
            <a:endParaRPr lang="en-CA" dirty="0"/>
          </a:p>
        </p:txBody>
      </p:sp>
      <p:sp>
        <p:nvSpPr>
          <p:cNvPr id="3" name="Content Placeholder 2">
            <a:extLst>
              <a:ext uri="{FF2B5EF4-FFF2-40B4-BE49-F238E27FC236}">
                <a16:creationId xmlns:a16="http://schemas.microsoft.com/office/drawing/2014/main" id="{75B72782-F1E1-9521-5C63-7FBE7A41106E}"/>
              </a:ext>
            </a:extLst>
          </p:cNvPr>
          <p:cNvSpPr>
            <a:spLocks noGrp="1"/>
          </p:cNvSpPr>
          <p:nvPr>
            <p:ph idx="1"/>
          </p:nvPr>
        </p:nvSpPr>
        <p:spPr>
          <a:xfrm>
            <a:off x="838200" y="1563624"/>
            <a:ext cx="10515600" cy="4613339"/>
          </a:xfrm>
        </p:spPr>
        <p:txBody>
          <a:bodyPr>
            <a:normAutofit fontScale="77500" lnSpcReduction="20000"/>
          </a:bodyPr>
          <a:lstStyle/>
          <a:p>
            <a:r>
              <a:rPr lang="en-US" b="1" dirty="0"/>
              <a:t>Market research</a:t>
            </a:r>
            <a:r>
              <a:rPr lang="en-US" dirty="0"/>
              <a:t> is the process of collecting, analyzing, and interpreting information about customers, competitors, and the market. It helps a business understand what customers need and want, how they behave, and what factors influence their buying decisions. Market research also studies market trends, competition, and demand so businesses can make better decisions about products, pricing, promotion, and distribution. In simple terms, market research helps a business reduce risk and plan more effectively by using facts and data instead of guesswork.</a:t>
            </a:r>
          </a:p>
          <a:p>
            <a:r>
              <a:rPr lang="en-US" b="1" dirty="0"/>
              <a:t>Why is it Important?</a:t>
            </a:r>
          </a:p>
          <a:p>
            <a:r>
              <a:rPr lang="en-US" dirty="0"/>
              <a:t>Market research is important because it helps businesses make better and more informed decisions. It allows a business to understand customers’ needs, preferences, and buying behavior, so products and services can be designed to meet those needs. Market research reduces the risk of failure by providing accurate information before launching a new product or entering a new market. It also helps businesses identify market trends, understand competitors, set the right prices, and choose effective promotional strategies. Overall, market research helps a business save time and money, improve customer satisfaction, and increase its chances of success.</a:t>
            </a:r>
            <a:endParaRPr lang="en-CA" dirty="0"/>
          </a:p>
        </p:txBody>
      </p:sp>
    </p:spTree>
    <p:extLst>
      <p:ext uri="{BB962C8B-B14F-4D97-AF65-F5344CB8AC3E}">
        <p14:creationId xmlns:p14="http://schemas.microsoft.com/office/powerpoint/2010/main" val="39064118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6D4D-7E09-5932-CA36-1560318441B4}"/>
              </a:ext>
            </a:extLst>
          </p:cNvPr>
          <p:cNvSpPr>
            <a:spLocks noGrp="1"/>
          </p:cNvSpPr>
          <p:nvPr>
            <p:ph type="title"/>
          </p:nvPr>
        </p:nvSpPr>
        <p:spPr/>
        <p:txBody>
          <a:bodyPr/>
          <a:lstStyle/>
          <a:p>
            <a:r>
              <a:rPr lang="en-US" altLang="en-US" b="1" dirty="0">
                <a:solidFill>
                  <a:srgbClr val="0F1115"/>
                </a:solidFill>
                <a:latin typeface="quote-cjk-patch"/>
              </a:rPr>
              <a:t>Key Methods of Market Research</a:t>
            </a:r>
            <a:br>
              <a:rPr lang="en-US" altLang="en-US" b="1" dirty="0">
                <a:solidFill>
                  <a:srgbClr val="0F1115"/>
                </a:solidFill>
                <a:latin typeface="quote-cjk-patch"/>
              </a:rPr>
            </a:br>
            <a:endParaRPr lang="en-CA" dirty="0"/>
          </a:p>
        </p:txBody>
      </p:sp>
      <p:graphicFrame>
        <p:nvGraphicFramePr>
          <p:cNvPr id="4" name="Content Placeholder 3">
            <a:extLst>
              <a:ext uri="{FF2B5EF4-FFF2-40B4-BE49-F238E27FC236}">
                <a16:creationId xmlns:a16="http://schemas.microsoft.com/office/drawing/2014/main" id="{4FBBCEB7-0C63-5026-6469-341F00CE5AB0}"/>
              </a:ext>
            </a:extLst>
          </p:cNvPr>
          <p:cNvGraphicFramePr>
            <a:graphicFrameLocks noGrp="1"/>
          </p:cNvGraphicFramePr>
          <p:nvPr>
            <p:ph idx="1"/>
            <p:extLst>
              <p:ext uri="{D42A27DB-BD31-4B8C-83A1-F6EECF244321}">
                <p14:modId xmlns:p14="http://schemas.microsoft.com/office/powerpoint/2010/main" val="392395816"/>
              </p:ext>
            </p:extLst>
          </p:nvPr>
        </p:nvGraphicFramePr>
        <p:xfrm>
          <a:off x="838200" y="1856232"/>
          <a:ext cx="10515600" cy="3034062"/>
        </p:xfrm>
        <a:graphic>
          <a:graphicData uri="http://schemas.openxmlformats.org/drawingml/2006/table">
            <a:tbl>
              <a:tblPr/>
              <a:tblGrid>
                <a:gridCol w="3045502">
                  <a:extLst>
                    <a:ext uri="{9D8B030D-6E8A-4147-A177-3AD203B41FA5}">
                      <a16:colId xmlns:a16="http://schemas.microsoft.com/office/drawing/2014/main" val="2139774908"/>
                    </a:ext>
                  </a:extLst>
                </a:gridCol>
                <a:gridCol w="3735049">
                  <a:extLst>
                    <a:ext uri="{9D8B030D-6E8A-4147-A177-3AD203B41FA5}">
                      <a16:colId xmlns:a16="http://schemas.microsoft.com/office/drawing/2014/main" val="57086290"/>
                    </a:ext>
                  </a:extLst>
                </a:gridCol>
                <a:gridCol w="3735049">
                  <a:extLst>
                    <a:ext uri="{9D8B030D-6E8A-4147-A177-3AD203B41FA5}">
                      <a16:colId xmlns:a16="http://schemas.microsoft.com/office/drawing/2014/main" val="2958190310"/>
                    </a:ext>
                  </a:extLst>
                </a:gridCol>
              </a:tblGrid>
              <a:tr h="736844">
                <a:tc>
                  <a:txBody>
                    <a:bodyPr/>
                    <a:lstStyle/>
                    <a:p>
                      <a:pPr algn="l">
                        <a:lnSpc>
                          <a:spcPts val="1875"/>
                        </a:lnSpc>
                        <a:buNone/>
                      </a:pPr>
                      <a:r>
                        <a:rPr lang="en-CA" b="0">
                          <a:effectLst/>
                          <a:latin typeface="quote-cjk-patch"/>
                        </a:rPr>
                        <a:t>Method</a:t>
                      </a:r>
                    </a:p>
                  </a:txBody>
                  <a:tcPr marR="152400" marT="95250" marB="95250" anchor="ctr">
                    <a:lnL>
                      <a:noFill/>
                    </a:lnL>
                    <a:lnR>
                      <a:noFill/>
                    </a:lnR>
                    <a:lnT>
                      <a:noFill/>
                    </a:lnT>
                    <a:lnB>
                      <a:noFill/>
                    </a:lnB>
                    <a:noFill/>
                  </a:tcPr>
                </a:tc>
                <a:tc>
                  <a:txBody>
                    <a:bodyPr/>
                    <a:lstStyle/>
                    <a:p>
                      <a:pPr algn="l">
                        <a:lnSpc>
                          <a:spcPts val="1875"/>
                        </a:lnSpc>
                        <a:buNone/>
                      </a:pPr>
                      <a:r>
                        <a:rPr lang="en-CA" b="0" dirty="0">
                          <a:effectLst/>
                          <a:latin typeface="quote-cjk-patch"/>
                        </a:rPr>
                        <a:t>Description</a:t>
                      </a:r>
                    </a:p>
                  </a:txBody>
                  <a:tcPr marL="152400" marR="152400" marT="95250" marB="95250" anchor="ctr">
                    <a:lnL>
                      <a:noFill/>
                    </a:lnL>
                    <a:lnR>
                      <a:noFill/>
                    </a:lnR>
                    <a:lnT>
                      <a:noFill/>
                    </a:lnT>
                    <a:lnB>
                      <a:noFill/>
                    </a:lnB>
                    <a:noFill/>
                  </a:tcPr>
                </a:tc>
                <a:tc>
                  <a:txBody>
                    <a:bodyPr/>
                    <a:lstStyle/>
                    <a:p>
                      <a:pPr algn="l">
                        <a:lnSpc>
                          <a:spcPts val="1875"/>
                        </a:lnSpc>
                        <a:buNone/>
                      </a:pPr>
                      <a:r>
                        <a:rPr lang="en-CA" b="0">
                          <a:effectLst/>
                          <a:latin typeface="quote-cjk-patch"/>
                        </a:rPr>
                        <a:t>When to Use</a:t>
                      </a:r>
                    </a:p>
                  </a:txBody>
                  <a:tcPr marL="152400" marR="152400" marT="95250" marB="95250" anchor="ctr">
                    <a:lnL>
                      <a:noFill/>
                    </a:lnL>
                    <a:lnR>
                      <a:noFill/>
                    </a:lnR>
                    <a:lnT>
                      <a:noFill/>
                    </a:lnT>
                    <a:lnB>
                      <a:noFill/>
                    </a:lnB>
                    <a:noFill/>
                  </a:tcPr>
                </a:tc>
                <a:extLst>
                  <a:ext uri="{0D108BD9-81ED-4DB2-BD59-A6C34878D82A}">
                    <a16:rowId xmlns:a16="http://schemas.microsoft.com/office/drawing/2014/main" val="401671796"/>
                  </a:ext>
                </a:extLst>
              </a:tr>
              <a:tr h="1148609">
                <a:tc>
                  <a:txBody>
                    <a:bodyPr/>
                    <a:lstStyle/>
                    <a:p>
                      <a:pPr>
                        <a:lnSpc>
                          <a:spcPts val="1875"/>
                        </a:lnSpc>
                        <a:buNone/>
                      </a:pPr>
                      <a:r>
                        <a:rPr lang="en-CA" b="1">
                          <a:effectLst/>
                          <a:latin typeface="quote-cjk-patch"/>
                        </a:rPr>
                        <a:t>Primary Research</a:t>
                      </a:r>
                      <a:endParaRPr lang="en-CA"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US" b="0" dirty="0">
                          <a:effectLst/>
                          <a:latin typeface="quote-cjk-patch"/>
                        </a:rPr>
                        <a:t>Collecting new, first-hand data directly from the source.</a:t>
                      </a:r>
                    </a:p>
                  </a:txBody>
                  <a:tcPr marL="152400" marR="152400" marT="95250" marB="95250" anchor="ctr">
                    <a:lnL>
                      <a:noFill/>
                    </a:lnL>
                    <a:lnR>
                      <a:noFill/>
                    </a:lnR>
                    <a:lnT>
                      <a:noFill/>
                    </a:lnT>
                    <a:lnB>
                      <a:noFill/>
                    </a:lnB>
                    <a:noFill/>
                  </a:tcPr>
                </a:tc>
                <a:tc>
                  <a:txBody>
                    <a:bodyPr/>
                    <a:lstStyle/>
                    <a:p>
                      <a:pPr>
                        <a:lnSpc>
                          <a:spcPts val="1875"/>
                        </a:lnSpc>
                        <a:buNone/>
                      </a:pPr>
                      <a:r>
                        <a:rPr lang="en-US" b="0">
                          <a:effectLst/>
                          <a:latin typeface="quote-cjk-patch"/>
                        </a:rPr>
                        <a:t>When you need specific, tailored information about your own market.</a:t>
                      </a:r>
                    </a:p>
                  </a:txBody>
                  <a:tcPr marL="152400" marT="95250" marB="95250" anchor="ctr">
                    <a:lnL>
                      <a:noFill/>
                    </a:lnL>
                    <a:lnR>
                      <a:noFill/>
                    </a:lnR>
                    <a:lnT>
                      <a:noFill/>
                    </a:lnT>
                    <a:lnB>
                      <a:noFill/>
                    </a:lnB>
                    <a:noFill/>
                  </a:tcPr>
                </a:tc>
                <a:extLst>
                  <a:ext uri="{0D108BD9-81ED-4DB2-BD59-A6C34878D82A}">
                    <a16:rowId xmlns:a16="http://schemas.microsoft.com/office/drawing/2014/main" val="784351245"/>
                  </a:ext>
                </a:extLst>
              </a:tr>
              <a:tr h="1148609">
                <a:tc>
                  <a:txBody>
                    <a:bodyPr/>
                    <a:lstStyle/>
                    <a:p>
                      <a:pPr>
                        <a:lnSpc>
                          <a:spcPts val="1875"/>
                        </a:lnSpc>
                        <a:buNone/>
                      </a:pPr>
                      <a:r>
                        <a:rPr lang="en-CA" b="1">
                          <a:effectLst/>
                          <a:latin typeface="quote-cjk-patch"/>
                        </a:rPr>
                        <a:t>Secondary Research</a:t>
                      </a:r>
                      <a:endParaRPr lang="en-CA"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US" b="0">
                          <a:effectLst/>
                          <a:latin typeface="quote-cjk-patch"/>
                        </a:rPr>
                        <a:t>Analyzing existing data that was collected by others.</a:t>
                      </a:r>
                    </a:p>
                  </a:txBody>
                  <a:tcPr marL="152400" marR="152400" marT="95250" marB="95250" anchor="ctr">
                    <a:lnL>
                      <a:noFill/>
                    </a:lnL>
                    <a:lnR>
                      <a:noFill/>
                    </a:lnR>
                    <a:lnT>
                      <a:noFill/>
                    </a:lnT>
                    <a:lnB>
                      <a:noFill/>
                    </a:lnB>
                    <a:noFill/>
                  </a:tcPr>
                </a:tc>
                <a:tc>
                  <a:txBody>
                    <a:bodyPr/>
                    <a:lstStyle/>
                    <a:p>
                      <a:pPr>
                        <a:lnSpc>
                          <a:spcPts val="1875"/>
                        </a:lnSpc>
                        <a:buNone/>
                      </a:pPr>
                      <a:r>
                        <a:rPr lang="en-CA" b="0" dirty="0">
                          <a:effectLst/>
                          <a:latin typeface="quote-cjk-patch"/>
                        </a:rPr>
                        <a:t>For a quick, cost-</a:t>
                      </a:r>
                      <a:r>
                        <a:rPr lang="en-CA" b="0" dirty="0" err="1">
                          <a:effectLst/>
                          <a:latin typeface="quote-cjk-patch"/>
                        </a:rPr>
                        <a:t>effe</a:t>
                      </a:r>
                      <a:r>
                        <a:rPr lang="en-US" sz="1800" b="0" i="0" kern="1200" dirty="0" err="1">
                          <a:solidFill>
                            <a:schemeClr val="tx1"/>
                          </a:solidFill>
                          <a:effectLst/>
                          <a:latin typeface="+mn-lt"/>
                          <a:ea typeface="+mn-ea"/>
                          <a:cs typeface="+mn-cs"/>
                        </a:rPr>
                        <a:t>ctive</a:t>
                      </a:r>
                      <a:r>
                        <a:rPr lang="en-US" sz="1800" b="0" i="0" kern="1200" dirty="0">
                          <a:solidFill>
                            <a:schemeClr val="tx1"/>
                          </a:solidFill>
                          <a:effectLst/>
                          <a:latin typeface="+mn-lt"/>
                          <a:ea typeface="+mn-ea"/>
                          <a:cs typeface="+mn-cs"/>
                        </a:rPr>
                        <a:t> understanding of the broader market landscape.</a:t>
                      </a:r>
                      <a:endParaRPr lang="en-CA" b="0" dirty="0">
                        <a:effectLst/>
                        <a:latin typeface="quote-cjk-patch"/>
                      </a:endParaRPr>
                    </a:p>
                  </a:txBody>
                  <a:tcPr marL="152400" marT="95250" marB="95250" anchor="ctr">
                    <a:lnL>
                      <a:noFill/>
                    </a:lnL>
                    <a:lnR>
                      <a:noFill/>
                    </a:lnR>
                    <a:lnT>
                      <a:noFill/>
                    </a:lnT>
                    <a:lnB>
                      <a:noFill/>
                    </a:lnB>
                    <a:noFill/>
                  </a:tcPr>
                </a:tc>
                <a:extLst>
                  <a:ext uri="{0D108BD9-81ED-4DB2-BD59-A6C34878D82A}">
                    <a16:rowId xmlns:a16="http://schemas.microsoft.com/office/drawing/2014/main" val="2049241610"/>
                  </a:ext>
                </a:extLst>
              </a:tr>
            </a:tbl>
          </a:graphicData>
        </a:graphic>
      </p:graphicFrame>
      <p:sp>
        <p:nvSpPr>
          <p:cNvPr id="5" name="Rectangle 1">
            <a:extLst>
              <a:ext uri="{FF2B5EF4-FFF2-40B4-BE49-F238E27FC236}">
                <a16:creationId xmlns:a16="http://schemas.microsoft.com/office/drawing/2014/main" id="{E38166C5-19EF-D7F1-8188-28EB0AD204BD}"/>
              </a:ext>
            </a:extLst>
          </p:cNvPr>
          <p:cNvSpPr>
            <a:spLocks noChangeArrowheads="1"/>
          </p:cNvSpPr>
          <p:nvPr/>
        </p:nvSpPr>
        <p:spPr bwMode="auto">
          <a:xfrm>
            <a:off x="0" y="-12459"/>
            <a:ext cx="65" cy="4821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3051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43B7-8AE9-B2CB-059A-6D94B47BB67E}"/>
              </a:ext>
            </a:extLst>
          </p:cNvPr>
          <p:cNvSpPr>
            <a:spLocks noGrp="1"/>
          </p:cNvSpPr>
          <p:nvPr>
            <p:ph type="title"/>
          </p:nvPr>
        </p:nvSpPr>
        <p:spPr>
          <a:xfrm>
            <a:off x="838200" y="365125"/>
            <a:ext cx="10515600" cy="40297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8E443F5-864D-771E-A522-90D327738DFB}"/>
              </a:ext>
            </a:extLst>
          </p:cNvPr>
          <p:cNvSpPr>
            <a:spLocks noGrp="1"/>
          </p:cNvSpPr>
          <p:nvPr>
            <p:ph idx="1"/>
          </p:nvPr>
        </p:nvSpPr>
        <p:spPr>
          <a:xfrm>
            <a:off x="530352" y="886968"/>
            <a:ext cx="10823448" cy="5289995"/>
          </a:xfrm>
        </p:spPr>
        <p:txBody>
          <a:bodyPr>
            <a:normAutofit fontScale="92500" lnSpcReduction="20000"/>
          </a:bodyPr>
          <a:lstStyle/>
          <a:p>
            <a:pPr algn="l">
              <a:spcBef>
                <a:spcPts val="1200"/>
              </a:spcBef>
              <a:spcAft>
                <a:spcPts val="1200"/>
              </a:spcAft>
              <a:buNone/>
            </a:pPr>
            <a:r>
              <a:rPr lang="en-US" b="1" i="0" dirty="0">
                <a:solidFill>
                  <a:srgbClr val="0F1115"/>
                </a:solidFill>
                <a:effectLst/>
                <a:latin typeface="quote-cjk-patch"/>
              </a:rPr>
              <a:t>Examples of Primary Research:</a:t>
            </a:r>
            <a:endParaRPr lang="en-US" b="0" i="0"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1" i="0" dirty="0">
                <a:solidFill>
                  <a:srgbClr val="0F1115"/>
                </a:solidFill>
                <a:effectLst/>
                <a:latin typeface="quote-cjk-patch"/>
              </a:rPr>
              <a:t>Surveys &amp; Questionnaires:</a:t>
            </a:r>
            <a:r>
              <a:rPr lang="en-US" b="0" i="0" dirty="0">
                <a:solidFill>
                  <a:srgbClr val="0F1115"/>
                </a:solidFill>
                <a:effectLst/>
                <a:latin typeface="quote-cjk-patch"/>
              </a:rPr>
              <a:t> To gather quantitative data from a large audience.</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Interviews:</a:t>
            </a:r>
            <a:r>
              <a:rPr lang="en-US" b="0" i="0" dirty="0">
                <a:solidFill>
                  <a:srgbClr val="0F1115"/>
                </a:solidFill>
                <a:effectLst/>
                <a:latin typeface="quote-cjk-patch"/>
              </a:rPr>
              <a:t> One-on-one conversations for deep, qualitative insights.</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Focus Groups:</a:t>
            </a:r>
            <a:r>
              <a:rPr lang="en-US" b="0" i="0" dirty="0">
                <a:solidFill>
                  <a:srgbClr val="0F1115"/>
                </a:solidFill>
                <a:effectLst/>
                <a:latin typeface="quote-cjk-patch"/>
              </a:rPr>
              <a:t> Guided discussions with a small group of target customers.</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Observation:</a:t>
            </a:r>
            <a:r>
              <a:rPr lang="en-US" b="0" i="0" dirty="0">
                <a:solidFill>
                  <a:srgbClr val="0F1115"/>
                </a:solidFill>
                <a:effectLst/>
                <a:latin typeface="quote-cjk-patch"/>
              </a:rPr>
              <a:t> Watching how customers behave in a natural setting (e.g., in a store).</a:t>
            </a:r>
          </a:p>
          <a:p>
            <a:pPr algn="l">
              <a:spcBef>
                <a:spcPts val="1200"/>
              </a:spcBef>
              <a:spcAft>
                <a:spcPts val="1200"/>
              </a:spcAft>
              <a:buNone/>
            </a:pPr>
            <a:r>
              <a:rPr lang="en-US" b="1" i="0" dirty="0">
                <a:solidFill>
                  <a:srgbClr val="0F1115"/>
                </a:solidFill>
                <a:effectLst/>
                <a:latin typeface="quote-cjk-patch"/>
              </a:rPr>
              <a:t>Examples of Secondary Research:</a:t>
            </a:r>
            <a:endParaRPr lang="en-US" b="0" i="0"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n-US" b="1" i="0" dirty="0">
                <a:solidFill>
                  <a:srgbClr val="0F1115"/>
                </a:solidFill>
                <a:effectLst/>
                <a:latin typeface="quote-cjk-patch"/>
              </a:rPr>
              <a:t>Industry Reports:</a:t>
            </a:r>
            <a:r>
              <a:rPr lang="en-US" b="0" i="0" dirty="0">
                <a:solidFill>
                  <a:srgbClr val="0F1115"/>
                </a:solidFill>
                <a:effectLst/>
                <a:latin typeface="quote-cjk-patch"/>
              </a:rPr>
              <a:t> From firms like Gartner, Statista, or IBISWorld.</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Government Data:</a:t>
            </a:r>
            <a:r>
              <a:rPr lang="en-US" b="0" i="0" dirty="0">
                <a:solidFill>
                  <a:srgbClr val="0F1115"/>
                </a:solidFill>
                <a:effectLst/>
                <a:latin typeface="quote-cjk-patch"/>
              </a:rPr>
              <a:t> Census data, economic reports.</a:t>
            </a: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Competitor Websites &amp; Financials:</a:t>
            </a:r>
            <a:r>
              <a:rPr lang="en-US" b="0" i="0" dirty="0">
                <a:solidFill>
                  <a:srgbClr val="0F1115"/>
                </a:solidFill>
                <a:effectLst/>
                <a:latin typeface="quote-cjk-patch"/>
              </a:rPr>
              <a:t> Analyzing their pricing, marketing, and public reports.</a:t>
            </a:r>
          </a:p>
          <a:p>
            <a:endParaRPr lang="en-CA" dirty="0"/>
          </a:p>
        </p:txBody>
      </p:sp>
    </p:spTree>
    <p:extLst>
      <p:ext uri="{BB962C8B-B14F-4D97-AF65-F5344CB8AC3E}">
        <p14:creationId xmlns:p14="http://schemas.microsoft.com/office/powerpoint/2010/main" val="682992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7A5B3-45CB-2DAF-44AF-1856F9011C94}"/>
              </a:ext>
            </a:extLst>
          </p:cNvPr>
          <p:cNvSpPr>
            <a:spLocks noGrp="1"/>
          </p:cNvSpPr>
          <p:nvPr>
            <p:ph type="title"/>
          </p:nvPr>
        </p:nvSpPr>
        <p:spPr>
          <a:xfrm>
            <a:off x="838200" y="681037"/>
            <a:ext cx="10515600" cy="1038035"/>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Target Customer Profile (or Buyer Identity)</a:t>
            </a:r>
            <a:b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6E623F84-FB68-4994-16EE-9DAD08E006CD}"/>
              </a:ext>
            </a:extLst>
          </p:cNvPr>
          <p:cNvSpPr>
            <a:spLocks noGrp="1"/>
          </p:cNvSpPr>
          <p:nvPr>
            <p:ph idx="1"/>
          </p:nvPr>
        </p:nvSpPr>
        <p:spPr>
          <a:xfrm>
            <a:off x="838200" y="1426464"/>
            <a:ext cx="10515600" cy="4750499"/>
          </a:xfrm>
        </p:spPr>
        <p:txBody>
          <a:bodyPr/>
          <a:lstStyle/>
          <a:p>
            <a:r>
              <a:rPr lang="en-US" dirty="0"/>
              <a:t>A </a:t>
            </a:r>
            <a:r>
              <a:rPr lang="en-US" b="1" dirty="0"/>
              <a:t>Target Customer Profile</a:t>
            </a:r>
            <a:r>
              <a:rPr lang="en-US" dirty="0"/>
              <a:t> is a clear description of the ideal customer a business wants to sell to. It includes important details such as the customer’s age, gender, income level, location, lifestyle, needs, preferences, and buying behavior. </a:t>
            </a:r>
          </a:p>
          <a:p>
            <a:r>
              <a:rPr lang="en-US" dirty="0"/>
              <a:t>By creating a target customer profile, a business can better understand who its customers are and what they want, which helps in designing the right product, setting suitable prices, choosing effective promotional methods, and communicating more clearly with customers. In simple terms, it helps a business focus its marketing efforts on the people most likely to buy its products or services.</a:t>
            </a:r>
            <a:endParaRPr lang="en-CA" dirty="0"/>
          </a:p>
        </p:txBody>
      </p:sp>
    </p:spTree>
    <p:extLst>
      <p:ext uri="{BB962C8B-B14F-4D97-AF65-F5344CB8AC3E}">
        <p14:creationId xmlns:p14="http://schemas.microsoft.com/office/powerpoint/2010/main" val="39256450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1ACA-C176-7927-3A01-36C782550237}"/>
              </a:ext>
            </a:extLst>
          </p:cNvPr>
          <p:cNvSpPr>
            <a:spLocks noGrp="1"/>
          </p:cNvSpPr>
          <p:nvPr>
            <p:ph type="title"/>
          </p:nvPr>
        </p:nvSpPr>
        <p:spPr>
          <a:xfrm>
            <a:off x="838200" y="411480"/>
            <a:ext cx="10515600" cy="402336"/>
          </a:xfrm>
        </p:spPr>
        <p:txBody>
          <a:bodyPr>
            <a:normAutofit fontScale="90000"/>
          </a:bodyPr>
          <a:lstStyle/>
          <a:p>
            <a:pPr marL="228600" marR="0" lvl="0" indent="-228600" defTabSz="914400" rtl="0" eaLnBrk="1" fontAlgn="auto" latinLnBrk="0" hangingPunct="1">
              <a:lnSpc>
                <a:spcPts val="2100"/>
              </a:lnSpc>
              <a:spcBef>
                <a:spcPts val="1200"/>
              </a:spcBef>
              <a:spcAft>
                <a:spcPts val="1200"/>
              </a:spcAft>
              <a:tabLst/>
              <a:defRPr/>
            </a:pPr>
            <a:br>
              <a:rPr kumimoji="0" lang="en-US" sz="2200" b="1" i="0" u="none" strike="noStrike" kern="1200" cap="none" spc="0" normalizeH="0" baseline="0" noProof="0" dirty="0">
                <a:ln>
                  <a:noFill/>
                </a:ln>
                <a:solidFill>
                  <a:srgbClr val="0F1115"/>
                </a:solidFill>
                <a:effectLst/>
                <a:uLnTx/>
                <a:uFillTx/>
                <a:latin typeface="quote-cjk-patch"/>
                <a:ea typeface="+mn-ea"/>
                <a:cs typeface="+mn-cs"/>
              </a:rPr>
            </a:br>
            <a:r>
              <a:rPr kumimoji="0" lang="en-US" sz="2200" b="1" i="0" u="none" strike="noStrike" kern="1200" cap="none" spc="0" normalizeH="0" baseline="0" noProof="0" dirty="0">
                <a:ln>
                  <a:noFill/>
                </a:ln>
                <a:solidFill>
                  <a:srgbClr val="0F1115"/>
                </a:solidFill>
                <a:effectLst/>
                <a:uLnTx/>
                <a:uFillTx/>
                <a:latin typeface="quote-cjk-patch"/>
                <a:ea typeface="+mn-ea"/>
                <a:cs typeface="+mn-cs"/>
              </a:rPr>
              <a:t>How to Build a Target Customer Profile</a:t>
            </a:r>
            <a:br>
              <a:rPr kumimoji="0" lang="en-US" sz="14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6D5C54B6-85B2-2B94-511B-6F2021091E06}"/>
              </a:ext>
            </a:extLst>
          </p:cNvPr>
          <p:cNvSpPr>
            <a:spLocks noGrp="1"/>
          </p:cNvSpPr>
          <p:nvPr>
            <p:ph idx="1"/>
          </p:nvPr>
        </p:nvSpPr>
        <p:spPr>
          <a:xfrm>
            <a:off x="838200" y="1024128"/>
            <a:ext cx="10994136" cy="5349240"/>
          </a:xfrm>
        </p:spPr>
        <p:txBody>
          <a:bodyPr>
            <a:normAutofit fontScale="62500" lnSpcReduction="20000"/>
          </a:bodyPr>
          <a:lstStyle/>
          <a:p>
            <a:pPr marL="0" algn="l">
              <a:spcBef>
                <a:spcPts val="1200"/>
              </a:spcBef>
              <a:spcAft>
                <a:spcPts val="1200"/>
              </a:spcAft>
              <a:buNone/>
            </a:pPr>
            <a:r>
              <a:rPr lang="en-US" b="0" i="0" dirty="0">
                <a:solidFill>
                  <a:srgbClr val="0F1115"/>
                </a:solidFill>
                <a:effectLst/>
                <a:latin typeface="quote-cjk-patch"/>
              </a:rPr>
              <a:t>Here are the key components to include, often summarized in a one-page document:</a:t>
            </a:r>
          </a:p>
          <a:p>
            <a:pPr marL="0" algn="l">
              <a:spcBef>
                <a:spcPts val="1200"/>
              </a:spcBef>
              <a:spcAft>
                <a:spcPts val="1200"/>
              </a:spcAft>
              <a:buNone/>
            </a:pPr>
            <a:r>
              <a:rPr lang="en-US" b="1" i="0" dirty="0">
                <a:solidFill>
                  <a:srgbClr val="0F1115"/>
                </a:solidFill>
                <a:effectLst/>
                <a:latin typeface="quote-cjk-patch"/>
              </a:rPr>
              <a:t>A. Demographics</a:t>
            </a:r>
            <a:endParaRPr lang="en-US" b="0" i="0" dirty="0">
              <a:solidFill>
                <a:srgbClr val="0F1115"/>
              </a:solidFill>
              <a:effectLst/>
              <a:latin typeface="quote-cjk-patch"/>
            </a:endParaRPr>
          </a:p>
          <a:p>
            <a:pPr marL="0" algn="l">
              <a:spcBef>
                <a:spcPts val="1200"/>
              </a:spcBef>
              <a:spcAft>
                <a:spcPts val="1200"/>
              </a:spcAft>
              <a:buFont typeface="Arial" panose="020B0604020202020204" pitchFamily="34" charset="0"/>
              <a:buChar char="•"/>
            </a:pPr>
            <a:r>
              <a:rPr lang="en-US" b="0" i="0" dirty="0">
                <a:solidFill>
                  <a:srgbClr val="0F1115"/>
                </a:solidFill>
                <a:effectLst/>
                <a:latin typeface="quote-cjk-patch"/>
              </a:rPr>
              <a:t>Age, Gender, Income Level, Education, Occupation, Location</a:t>
            </a:r>
          </a:p>
          <a:p>
            <a:pPr marL="0" algn="l">
              <a:spcBef>
                <a:spcPts val="1200"/>
              </a:spcBef>
              <a:spcAft>
                <a:spcPts val="1200"/>
              </a:spcAft>
              <a:buNone/>
            </a:pPr>
            <a:r>
              <a:rPr lang="en-US" b="1" i="0" dirty="0">
                <a:solidFill>
                  <a:srgbClr val="0F1115"/>
                </a:solidFill>
                <a:effectLst/>
                <a:latin typeface="quote-cjk-patch"/>
              </a:rPr>
              <a:t>B. Psychographics</a:t>
            </a:r>
            <a:endParaRPr lang="en-US" b="0" i="0" dirty="0">
              <a:solidFill>
                <a:srgbClr val="0F1115"/>
              </a:solidFill>
              <a:effectLst/>
              <a:latin typeface="quote-cjk-patch"/>
            </a:endParaRPr>
          </a:p>
          <a:p>
            <a:pPr marL="0" algn="l">
              <a:spcBef>
                <a:spcPts val="1200"/>
              </a:spcBef>
              <a:spcAft>
                <a:spcPts val="1200"/>
              </a:spcAft>
              <a:buFont typeface="Arial" panose="020B0604020202020204" pitchFamily="34" charset="0"/>
              <a:buChar char="•"/>
            </a:pPr>
            <a:r>
              <a:rPr lang="en-US" b="1" i="0" dirty="0">
                <a:solidFill>
                  <a:srgbClr val="0F1115"/>
                </a:solidFill>
                <a:effectLst/>
                <a:latin typeface="quote-cjk-patch"/>
              </a:rPr>
              <a:t>Goals &amp; Aspirations:</a:t>
            </a:r>
            <a:r>
              <a:rPr lang="en-US" b="0" i="0" dirty="0">
                <a:solidFill>
                  <a:srgbClr val="0F1115"/>
                </a:solidFill>
                <a:effectLst/>
                <a:latin typeface="quote-cjk-patch"/>
              </a:rPr>
              <a:t> What are they trying to achieve (in life or in their job)?</a:t>
            </a:r>
          </a:p>
          <a:p>
            <a:pPr marL="0" algn="l">
              <a:spcBef>
                <a:spcPts val="450"/>
              </a:spcBef>
              <a:spcAft>
                <a:spcPts val="1200"/>
              </a:spcAft>
              <a:buFont typeface="Arial" panose="020B0604020202020204" pitchFamily="34" charset="0"/>
              <a:buChar char="•"/>
            </a:pPr>
            <a:r>
              <a:rPr lang="en-US" b="1" i="0" dirty="0">
                <a:solidFill>
                  <a:srgbClr val="0F1115"/>
                </a:solidFill>
                <a:effectLst/>
                <a:latin typeface="quote-cjk-patch"/>
              </a:rPr>
              <a:t>Pain Points &amp; Challenges:</a:t>
            </a:r>
            <a:r>
              <a:rPr lang="en-US" b="0" i="0" dirty="0">
                <a:solidFill>
                  <a:srgbClr val="0F1115"/>
                </a:solidFill>
                <a:effectLst/>
                <a:latin typeface="quote-cjk-patch"/>
              </a:rPr>
              <a:t> What frustrations or problems do they face that your product could solve?</a:t>
            </a:r>
          </a:p>
          <a:p>
            <a:pPr marL="0" algn="l">
              <a:spcBef>
                <a:spcPts val="450"/>
              </a:spcBef>
              <a:spcAft>
                <a:spcPts val="1200"/>
              </a:spcAft>
              <a:buFont typeface="Arial" panose="020B0604020202020204" pitchFamily="34" charset="0"/>
              <a:buChar char="•"/>
            </a:pPr>
            <a:r>
              <a:rPr lang="en-US" b="1" i="0" dirty="0">
                <a:solidFill>
                  <a:srgbClr val="0F1115"/>
                </a:solidFill>
                <a:effectLst/>
                <a:latin typeface="quote-cjk-patch"/>
              </a:rPr>
              <a:t>Values &amp; Interests:</a:t>
            </a:r>
            <a:r>
              <a:rPr lang="en-US" b="0" i="0" dirty="0">
                <a:solidFill>
                  <a:srgbClr val="0F1115"/>
                </a:solidFill>
                <a:effectLst/>
                <a:latin typeface="quote-cjk-patch"/>
              </a:rPr>
              <a:t> What do they care about? What are their hobbies?</a:t>
            </a:r>
          </a:p>
          <a:p>
            <a:pPr marL="0" algn="l">
              <a:spcBef>
                <a:spcPts val="1200"/>
              </a:spcBef>
              <a:spcAft>
                <a:spcPts val="1200"/>
              </a:spcAft>
              <a:buNone/>
            </a:pPr>
            <a:r>
              <a:rPr lang="en-US" b="1" i="0" dirty="0">
                <a:solidFill>
                  <a:srgbClr val="0F1115"/>
                </a:solidFill>
                <a:effectLst/>
                <a:latin typeface="quote-cjk-patch"/>
              </a:rPr>
              <a:t>C. Behavior</a:t>
            </a:r>
            <a:endParaRPr lang="en-US" b="0" i="0" dirty="0">
              <a:solidFill>
                <a:srgbClr val="0F1115"/>
              </a:solidFill>
              <a:effectLst/>
              <a:latin typeface="quote-cjk-patch"/>
            </a:endParaRPr>
          </a:p>
          <a:p>
            <a:pPr marL="0" algn="l">
              <a:spcBef>
                <a:spcPts val="1200"/>
              </a:spcBef>
              <a:spcAft>
                <a:spcPts val="1200"/>
              </a:spcAft>
              <a:buFont typeface="Arial" panose="020B0604020202020204" pitchFamily="34" charset="0"/>
              <a:buChar char="•"/>
            </a:pPr>
            <a:r>
              <a:rPr lang="en-US" b="1" i="0" dirty="0">
                <a:solidFill>
                  <a:srgbClr val="0F1115"/>
                </a:solidFill>
                <a:effectLst/>
                <a:latin typeface="quote-cjk-patch"/>
              </a:rPr>
              <a:t>Buying Habits:</a:t>
            </a:r>
            <a:r>
              <a:rPr lang="en-US" b="0" i="0" dirty="0">
                <a:solidFill>
                  <a:srgbClr val="0F1115"/>
                </a:solidFill>
                <a:effectLst/>
                <a:latin typeface="quote-cjk-patch"/>
              </a:rPr>
              <a:t> How do they make purchasing decisions? Are they price-sensitive or value quality?</a:t>
            </a:r>
          </a:p>
          <a:p>
            <a:pPr marL="0" algn="l">
              <a:spcBef>
                <a:spcPts val="450"/>
              </a:spcBef>
              <a:spcAft>
                <a:spcPts val="1200"/>
              </a:spcAft>
              <a:buFont typeface="Arial" panose="020B0604020202020204" pitchFamily="34" charset="0"/>
              <a:buChar char="•"/>
            </a:pPr>
            <a:r>
              <a:rPr lang="en-US" b="1" i="0" dirty="0">
                <a:solidFill>
                  <a:srgbClr val="0F1115"/>
                </a:solidFill>
                <a:effectLst/>
                <a:latin typeface="quote-cjk-patch"/>
              </a:rPr>
              <a:t>Media Consumption:</a:t>
            </a:r>
            <a:r>
              <a:rPr lang="en-US" b="0" i="0" dirty="0">
                <a:solidFill>
                  <a:srgbClr val="0F1115"/>
                </a:solidFill>
                <a:effectLst/>
                <a:latin typeface="quote-cjk-patch"/>
              </a:rPr>
              <a:t> Where do they get their information? (e.g., LinkedIn, Instagram, specific blogs, podcasts)</a:t>
            </a:r>
          </a:p>
          <a:p>
            <a:pPr marL="0" algn="l">
              <a:spcBef>
                <a:spcPts val="450"/>
              </a:spcBef>
              <a:spcAft>
                <a:spcPts val="1200"/>
              </a:spcAft>
              <a:buFont typeface="Arial" panose="020B0604020202020204" pitchFamily="34" charset="0"/>
              <a:buChar char="•"/>
            </a:pPr>
            <a:r>
              <a:rPr lang="en-US" b="1" i="0" dirty="0">
                <a:solidFill>
                  <a:srgbClr val="0F1115"/>
                </a:solidFill>
                <a:effectLst/>
                <a:latin typeface="quote-cjk-patch"/>
              </a:rPr>
              <a:t>Brand Affinities:</a:t>
            </a:r>
            <a:r>
              <a:rPr lang="en-US" b="0" i="0" dirty="0">
                <a:solidFill>
                  <a:srgbClr val="0F1115"/>
                </a:solidFill>
                <a:effectLst/>
                <a:latin typeface="quote-cjk-patch"/>
              </a:rPr>
              <a:t> What other brands do they love and trust?</a:t>
            </a:r>
          </a:p>
          <a:p>
            <a:endParaRPr lang="en-CA" dirty="0"/>
          </a:p>
        </p:txBody>
      </p:sp>
    </p:spTree>
    <p:extLst>
      <p:ext uri="{BB962C8B-B14F-4D97-AF65-F5344CB8AC3E}">
        <p14:creationId xmlns:p14="http://schemas.microsoft.com/office/powerpoint/2010/main" val="10054177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7351-AB7A-555B-ACCC-37E4DC17BAD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3818B0C-F1DA-EA3F-C0B9-72F820BF88E3}"/>
              </a:ext>
            </a:extLst>
          </p:cNvPr>
          <p:cNvSpPr>
            <a:spLocks noGrp="1"/>
          </p:cNvSpPr>
          <p:nvPr>
            <p:ph idx="1"/>
          </p:nvPr>
        </p:nvSpPr>
        <p:spPr/>
        <p:txBody>
          <a:bodyPr/>
          <a:lstStyle/>
          <a:p>
            <a:pPr algn="l">
              <a:lnSpc>
                <a:spcPts val="2250"/>
              </a:lnSpc>
              <a:spcBef>
                <a:spcPts val="2400"/>
              </a:spcBef>
              <a:spcAft>
                <a:spcPts val="1200"/>
              </a:spcAft>
              <a:buNone/>
            </a:pPr>
            <a:r>
              <a:rPr lang="en-US" b="1" dirty="0">
                <a:solidFill>
                  <a:srgbClr val="0F1115"/>
                </a:solidFill>
                <a:effectLst/>
                <a:latin typeface="quote-cjk-patch"/>
              </a:rPr>
              <a:t>How Market Research and Customer Profiles Work Together</a:t>
            </a:r>
          </a:p>
          <a:p>
            <a:pPr algn="l">
              <a:spcBef>
                <a:spcPts val="1200"/>
              </a:spcBef>
              <a:spcAft>
                <a:spcPts val="1200"/>
              </a:spcAft>
              <a:buFont typeface="+mj-lt"/>
              <a:buAutoNum type="arabicPeriod"/>
            </a:pPr>
            <a:r>
              <a:rPr lang="en-US" b="1" i="0" dirty="0">
                <a:solidFill>
                  <a:srgbClr val="0F1115"/>
                </a:solidFill>
                <a:effectLst/>
                <a:latin typeface="quote-cjk-patch"/>
              </a:rPr>
              <a:t>Market Research</a:t>
            </a:r>
            <a:r>
              <a:rPr lang="en-US" b="0" i="0" dirty="0">
                <a:solidFill>
                  <a:srgbClr val="0F1115"/>
                </a:solidFill>
                <a:effectLst/>
                <a:latin typeface="quote-cjk-patch"/>
              </a:rPr>
              <a:t> helps you </a:t>
            </a:r>
            <a:r>
              <a:rPr lang="en-US" b="1" i="0" dirty="0">
                <a:solidFill>
                  <a:srgbClr val="0F1115"/>
                </a:solidFill>
                <a:effectLst/>
                <a:latin typeface="quote-cjk-patch"/>
              </a:rPr>
              <a:t>discover</a:t>
            </a:r>
            <a:r>
              <a:rPr lang="en-US" b="0" i="0" dirty="0">
                <a:solidFill>
                  <a:srgbClr val="0F1115"/>
                </a:solidFill>
                <a:effectLst/>
                <a:latin typeface="quote-cjk-patch"/>
              </a:rPr>
              <a:t> who your potential customers are and what the market looks like.</a:t>
            </a:r>
          </a:p>
          <a:p>
            <a:pPr algn="l">
              <a:spcBef>
                <a:spcPts val="450"/>
              </a:spcBef>
              <a:spcAft>
                <a:spcPts val="1200"/>
              </a:spcAft>
              <a:buFont typeface="+mj-lt"/>
              <a:buAutoNum type="arabicPeriod"/>
            </a:pPr>
            <a:r>
              <a:rPr lang="en-US" b="0" i="0" dirty="0">
                <a:solidFill>
                  <a:srgbClr val="0F1115"/>
                </a:solidFill>
                <a:effectLst/>
                <a:latin typeface="quote-cjk-patch"/>
              </a:rPr>
              <a:t>The </a:t>
            </a:r>
            <a:r>
              <a:rPr lang="en-US" b="1" i="0" dirty="0">
                <a:solidFill>
                  <a:srgbClr val="0F1115"/>
                </a:solidFill>
                <a:effectLst/>
                <a:latin typeface="quote-cjk-patch"/>
              </a:rPr>
              <a:t>Target Customer Profile</a:t>
            </a:r>
            <a:r>
              <a:rPr lang="en-US" b="0" i="0" dirty="0">
                <a:solidFill>
                  <a:srgbClr val="0F1115"/>
                </a:solidFill>
                <a:effectLst/>
                <a:latin typeface="quote-cjk-patch"/>
              </a:rPr>
              <a:t> is the </a:t>
            </a:r>
            <a:r>
              <a:rPr lang="en-US" b="1" i="0" dirty="0">
                <a:solidFill>
                  <a:srgbClr val="0F1115"/>
                </a:solidFill>
                <a:effectLst/>
                <a:latin typeface="quote-cjk-patch"/>
              </a:rPr>
              <a:t>output</a:t>
            </a:r>
            <a:r>
              <a:rPr lang="en-US" b="0" i="0" dirty="0">
                <a:solidFill>
                  <a:srgbClr val="0F1115"/>
                </a:solidFill>
                <a:effectLst/>
                <a:latin typeface="quote-cjk-patch"/>
              </a:rPr>
              <a:t> of that research—a concrete, actionable representation of your ideal customer.</a:t>
            </a:r>
          </a:p>
          <a:p>
            <a:endParaRPr lang="en-CA" dirty="0"/>
          </a:p>
        </p:txBody>
      </p:sp>
    </p:spTree>
    <p:extLst>
      <p:ext uri="{BB962C8B-B14F-4D97-AF65-F5344CB8AC3E}">
        <p14:creationId xmlns:p14="http://schemas.microsoft.com/office/powerpoint/2010/main" val="7158112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5147-8D37-5866-120B-7430D6B0AC06}"/>
              </a:ext>
            </a:extLst>
          </p:cNvPr>
          <p:cNvSpPr>
            <a:spLocks noGrp="1"/>
          </p:cNvSpPr>
          <p:nvPr>
            <p:ph type="title"/>
          </p:nvPr>
        </p:nvSpPr>
        <p:spPr>
          <a:xfrm>
            <a:off x="838200" y="749808"/>
            <a:ext cx="10515600" cy="940880"/>
          </a:xfrm>
        </p:spPr>
        <p:txBody>
          <a:bodyPr>
            <a:normAutofit fontScale="90000"/>
          </a:bodyPr>
          <a:lstStyle/>
          <a:p>
            <a:pPr marL="0" marR="0" lvl="0" indent="0" defTabSz="914400" rtl="0" eaLnBrk="1" fontAlgn="auto" latinLnBrk="0" hangingPunct="1">
              <a:lnSpc>
                <a:spcPct val="90000"/>
              </a:lnSpc>
              <a:spcBef>
                <a:spcPts val="1000"/>
              </a:spcBef>
              <a:spcAft>
                <a:spcPts val="0"/>
              </a:spcAft>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Serviceable Available Market (SAM)</a:t>
            </a:r>
            <a:b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9D7AB8A9-1DFA-37F6-2FE6-668EECE4B78D}"/>
              </a:ext>
            </a:extLst>
          </p:cNvPr>
          <p:cNvSpPr>
            <a:spLocks noGrp="1"/>
          </p:cNvSpPr>
          <p:nvPr>
            <p:ph idx="1"/>
          </p:nvPr>
        </p:nvSpPr>
        <p:spPr>
          <a:xfrm>
            <a:off x="566928" y="1344168"/>
            <a:ext cx="11393424" cy="4832795"/>
          </a:xfrm>
        </p:spPr>
        <p:txBody>
          <a:bodyPr/>
          <a:lstStyle/>
          <a:p>
            <a:r>
              <a:rPr lang="en-US" dirty="0"/>
              <a:t>The </a:t>
            </a:r>
            <a:r>
              <a:rPr lang="en-US" b="1" dirty="0"/>
              <a:t>Serviceable Available Market (SAM)</a:t>
            </a:r>
            <a:r>
              <a:rPr lang="en-US" dirty="0"/>
              <a:t> is the portion of the total market that a company can realistically target with its current products, resources, and limitations. Even though the overall market (TAM) may be very large, a business can only serve customers it can reach based on factors like geography, distribution channels, product features, and legal requirements. SAM represents the customers a company is actually capable of serving today, helping businesses create realistic plans, set achievable sales goals, and show investors a focused and practical opportunity, which is later narrowed down further into the Serviceable Obtainable Market (SOM).</a:t>
            </a:r>
            <a:endParaRPr lang="en-CA" dirty="0"/>
          </a:p>
        </p:txBody>
      </p:sp>
    </p:spTree>
    <p:extLst>
      <p:ext uri="{BB962C8B-B14F-4D97-AF65-F5344CB8AC3E}">
        <p14:creationId xmlns:p14="http://schemas.microsoft.com/office/powerpoint/2010/main" val="17775908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A14F-2D7E-F338-8965-3427A4D6D646}"/>
              </a:ext>
            </a:extLst>
          </p:cNvPr>
          <p:cNvSpPr>
            <a:spLocks noGrp="1"/>
          </p:cNvSpPr>
          <p:nvPr>
            <p:ph type="title"/>
          </p:nvPr>
        </p:nvSpPr>
        <p:spPr>
          <a:xfrm>
            <a:off x="838200" y="681037"/>
            <a:ext cx="10515600" cy="1009651"/>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Why is SAM Important?</a:t>
            </a:r>
            <a:b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AFE6BD9D-52CD-F89A-13B1-1264B519E517}"/>
              </a:ext>
            </a:extLst>
          </p:cNvPr>
          <p:cNvSpPr>
            <a:spLocks noGrp="1"/>
          </p:cNvSpPr>
          <p:nvPr>
            <p:ph idx="1"/>
          </p:nvPr>
        </p:nvSpPr>
        <p:spPr/>
        <p:txBody>
          <a:bodyPr>
            <a:normAutofit/>
          </a:bodyPr>
          <a:lstStyle/>
          <a:p>
            <a:r>
              <a:rPr lang="en-US" b="1" dirty="0"/>
              <a:t>Realistic Planning:</a:t>
            </a:r>
            <a:r>
              <a:rPr lang="en-US" dirty="0"/>
              <a:t> It moves you from a theoretical "everyone" to a focused, achievable target.</a:t>
            </a:r>
          </a:p>
          <a:p>
            <a:r>
              <a:rPr lang="en-US" b="1" dirty="0"/>
              <a:t>Resource Allocation:</a:t>
            </a:r>
            <a:r>
              <a:rPr lang="en-US" dirty="0"/>
              <a:t> Helps you allocate marketing budgets, sales teams, and operational resources efficiently.</a:t>
            </a:r>
          </a:p>
          <a:p>
            <a:r>
              <a:rPr lang="en-US" b="1" dirty="0"/>
              <a:t>Strategy Formulation:</a:t>
            </a:r>
            <a:r>
              <a:rPr lang="en-US" dirty="0"/>
              <a:t> Your entire go-to-market strategy (marketing, sales, partnerships) should be built around capturing your SAM.</a:t>
            </a:r>
          </a:p>
          <a:p>
            <a:endParaRPr lang="en-CA" dirty="0"/>
          </a:p>
        </p:txBody>
      </p:sp>
    </p:spTree>
    <p:extLst>
      <p:ext uri="{BB962C8B-B14F-4D97-AF65-F5344CB8AC3E}">
        <p14:creationId xmlns:p14="http://schemas.microsoft.com/office/powerpoint/2010/main" val="26571241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85D0-D61E-01F0-B799-466BC0AF0E10}"/>
              </a:ext>
            </a:extLst>
          </p:cNvPr>
          <p:cNvSpPr>
            <a:spLocks noGrp="1"/>
          </p:cNvSpPr>
          <p:nvPr>
            <p:ph type="title"/>
          </p:nvPr>
        </p:nvSpPr>
        <p:spPr>
          <a:xfrm>
            <a:off x="984504" y="471678"/>
            <a:ext cx="10515600" cy="1325563"/>
          </a:xfrm>
        </p:spPr>
        <p:txBody>
          <a:bodyPr/>
          <a:lstStyle/>
          <a:p>
            <a:pPr marL="228600" marR="0" lvl="0" indent="-228600" defTabSz="914400" rtl="0" eaLnBrk="1" fontAlgn="auto" latinLnBrk="0" hangingPunct="1">
              <a:lnSpc>
                <a:spcPts val="2250"/>
              </a:lnSpc>
              <a:spcBef>
                <a:spcPts val="2400"/>
              </a:spcBef>
              <a:spcAft>
                <a:spcPts val="1200"/>
              </a:spcAft>
              <a:tabLst/>
              <a:defRPr/>
            </a:pPr>
            <a:r>
              <a:rPr kumimoji="0" lang="en-US" sz="2600" b="1" i="0" u="none" strike="noStrike" kern="1200" cap="none" spc="0" normalizeH="0" baseline="0" noProof="0" dirty="0">
                <a:ln>
                  <a:noFill/>
                </a:ln>
                <a:solidFill>
                  <a:srgbClr val="0F1115"/>
                </a:solidFill>
                <a:effectLst/>
                <a:uLnTx/>
                <a:uFillTx/>
                <a:latin typeface="quote-cjk-patch"/>
                <a:ea typeface="+mn-ea"/>
                <a:cs typeface="+mn-cs"/>
              </a:rPr>
              <a:t>What is Total Addressable Market (TAM)?</a:t>
            </a:r>
            <a:br>
              <a:rPr kumimoji="0" lang="en-US" sz="26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453662FF-BAFD-B46A-BE5F-40609E428E29}"/>
              </a:ext>
            </a:extLst>
          </p:cNvPr>
          <p:cNvSpPr>
            <a:spLocks noGrp="1"/>
          </p:cNvSpPr>
          <p:nvPr>
            <p:ph idx="1"/>
          </p:nvPr>
        </p:nvSpPr>
        <p:spPr>
          <a:xfrm>
            <a:off x="838200" y="1325880"/>
            <a:ext cx="10515600" cy="4851083"/>
          </a:xfrm>
        </p:spPr>
        <p:txBody>
          <a:bodyPr>
            <a:normAutofit/>
          </a:bodyPr>
          <a:lstStyle/>
          <a:p>
            <a:pPr algn="l">
              <a:spcBef>
                <a:spcPts val="1200"/>
              </a:spcBef>
              <a:spcAft>
                <a:spcPts val="1200"/>
              </a:spcAft>
              <a:buNone/>
            </a:pPr>
            <a:r>
              <a:rPr lang="en-US" b="1" i="0" dirty="0">
                <a:solidFill>
                  <a:srgbClr val="0F1115"/>
                </a:solidFill>
                <a:effectLst/>
                <a:latin typeface="quote-cjk-patch"/>
              </a:rPr>
              <a:t>Total Addressable Market (TAM)</a:t>
            </a:r>
            <a:r>
              <a:rPr lang="en-US" b="0" i="0" dirty="0">
                <a:solidFill>
                  <a:srgbClr val="0F1115"/>
                </a:solidFill>
                <a:effectLst/>
                <a:latin typeface="quote-cjk-patch"/>
              </a:rPr>
              <a:t> represents the </a:t>
            </a:r>
            <a:r>
              <a:rPr lang="en-US" b="1" i="0" dirty="0">
                <a:solidFill>
                  <a:srgbClr val="0F1115"/>
                </a:solidFill>
                <a:effectLst/>
                <a:latin typeface="quote-cjk-patch"/>
              </a:rPr>
              <a:t>total revenue opportunity</a:t>
            </a:r>
            <a:r>
              <a:rPr lang="en-US" b="0" i="0" dirty="0">
                <a:solidFill>
                  <a:srgbClr val="0F1115"/>
                </a:solidFill>
                <a:effectLst/>
                <a:latin typeface="quote-cjk-patch"/>
              </a:rPr>
              <a:t> for a product or service if it achieved </a:t>
            </a:r>
            <a:r>
              <a:rPr lang="en-US" b="1" i="0" dirty="0">
                <a:solidFill>
                  <a:srgbClr val="0F1115"/>
                </a:solidFill>
                <a:effectLst/>
                <a:latin typeface="quote-cjk-patch"/>
              </a:rPr>
              <a:t>100% market share</a:t>
            </a:r>
            <a:r>
              <a:rPr lang="en-US" b="0" i="0" dirty="0">
                <a:solidFill>
                  <a:srgbClr val="0F1115"/>
                </a:solidFill>
                <a:effectLst/>
                <a:latin typeface="quote-cjk-patch"/>
              </a:rPr>
              <a:t> in its specific category.</a:t>
            </a:r>
          </a:p>
          <a:p>
            <a:pPr algn="l">
              <a:spcBef>
                <a:spcPts val="1200"/>
              </a:spcBef>
              <a:spcAft>
                <a:spcPts val="1200"/>
              </a:spcAft>
              <a:buNone/>
            </a:pPr>
            <a:r>
              <a:rPr lang="en-US" b="0" i="0" dirty="0">
                <a:solidFill>
                  <a:srgbClr val="0F1115"/>
                </a:solidFill>
                <a:effectLst/>
                <a:latin typeface="quote-cjk-patch"/>
              </a:rPr>
              <a:t>In simple terms, it answers the question:</a:t>
            </a:r>
          </a:p>
          <a:p>
            <a:pPr algn="l">
              <a:spcBef>
                <a:spcPts val="1200"/>
              </a:spcBef>
              <a:buNone/>
            </a:pPr>
            <a:r>
              <a:rPr lang="en-US" b="1" i="0" dirty="0">
                <a:solidFill>
                  <a:srgbClr val="0F1115"/>
                </a:solidFill>
                <a:effectLst/>
                <a:latin typeface="quote-cjk-patch"/>
              </a:rPr>
              <a:t>"If everyone who could possibly buy my product did so, how much revenue would that generate?"</a:t>
            </a:r>
            <a:endParaRPr lang="en-US" b="0" i="0" dirty="0">
              <a:solidFill>
                <a:srgbClr val="0F1115"/>
              </a:solidFill>
              <a:effectLst/>
              <a:latin typeface="quote-cjk-patch"/>
            </a:endParaRPr>
          </a:p>
          <a:p>
            <a:pPr algn="l">
              <a:spcBef>
                <a:spcPts val="1200"/>
              </a:spcBef>
              <a:spcAft>
                <a:spcPts val="1200"/>
              </a:spcAft>
              <a:buNone/>
            </a:pPr>
            <a:r>
              <a:rPr lang="en-US" b="0" i="0" dirty="0">
                <a:solidFill>
                  <a:srgbClr val="0F1115"/>
                </a:solidFill>
                <a:effectLst/>
                <a:latin typeface="quote-cjk-patch"/>
              </a:rPr>
              <a:t>It is the </a:t>
            </a:r>
            <a:r>
              <a:rPr lang="en-US" b="1" i="0" dirty="0">
                <a:solidFill>
                  <a:srgbClr val="0F1115"/>
                </a:solidFill>
                <a:effectLst/>
                <a:latin typeface="quote-cjk-patch"/>
              </a:rPr>
              <a:t>theoretical maximum ceiling</a:t>
            </a:r>
            <a:r>
              <a:rPr lang="en-US" b="0" i="0" dirty="0">
                <a:solidFill>
                  <a:srgbClr val="0F1115"/>
                </a:solidFill>
                <a:effectLst/>
                <a:latin typeface="quote-cjk-patch"/>
              </a:rPr>
              <a:t> for your business's growth.</a:t>
            </a:r>
          </a:p>
          <a:p>
            <a:pPr>
              <a:buNone/>
            </a:pPr>
            <a:br>
              <a:rPr lang="en-US" dirty="0"/>
            </a:br>
            <a:endParaRPr lang="en-CA" dirty="0"/>
          </a:p>
        </p:txBody>
      </p:sp>
    </p:spTree>
    <p:extLst>
      <p:ext uri="{BB962C8B-B14F-4D97-AF65-F5344CB8AC3E}">
        <p14:creationId xmlns:p14="http://schemas.microsoft.com/office/powerpoint/2010/main" val="26992480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B6F7-2F29-C983-011B-579E63277186}"/>
              </a:ext>
            </a:extLst>
          </p:cNvPr>
          <p:cNvSpPr>
            <a:spLocks noGrp="1"/>
          </p:cNvSpPr>
          <p:nvPr>
            <p:ph type="title"/>
          </p:nvPr>
        </p:nvSpPr>
        <p:spPr>
          <a:xfrm>
            <a:off x="838200" y="365125"/>
            <a:ext cx="10515600" cy="62242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666B409-6D26-4B46-7540-417170E45F37}"/>
              </a:ext>
            </a:extLst>
          </p:cNvPr>
          <p:cNvSpPr>
            <a:spLocks noGrp="1"/>
          </p:cNvSpPr>
          <p:nvPr>
            <p:ph idx="1"/>
          </p:nvPr>
        </p:nvSpPr>
        <p:spPr>
          <a:xfrm>
            <a:off x="838200" y="1069848"/>
            <a:ext cx="10515600" cy="5107115"/>
          </a:xfrm>
        </p:spPr>
        <p:txBody>
          <a:bodyPr/>
          <a:lstStyle/>
          <a:p>
            <a:r>
              <a:rPr lang="en-US" b="1" dirty="0"/>
              <a:t>Why is TAM Important?</a:t>
            </a:r>
          </a:p>
          <a:p>
            <a:r>
              <a:rPr lang="en-US" dirty="0"/>
              <a:t>TAM is important because it shows the maximum potential of a business</a:t>
            </a:r>
            <a:r>
              <a:rPr lang="en-US" b="1" dirty="0"/>
              <a:t>.</a:t>
            </a:r>
            <a:r>
              <a:rPr lang="en-US" dirty="0"/>
              <a:t> It tells you how big the overall opportunity is and helps you understand whether the market is worth entering. Investors pay close attention to TAM because it shows whether a company can grow large enough to deliver strong returns. TAM also helps guide strategy—if the market is big, there’s plenty of room to grow and compete, while a smaller TAM suggests the business will operate in a more limited.</a:t>
            </a:r>
            <a:endParaRPr lang="en-CA" dirty="0"/>
          </a:p>
        </p:txBody>
      </p:sp>
    </p:spTree>
    <p:extLst>
      <p:ext uri="{BB962C8B-B14F-4D97-AF65-F5344CB8AC3E}">
        <p14:creationId xmlns:p14="http://schemas.microsoft.com/office/powerpoint/2010/main" val="34641223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E0B3-FDC8-442A-3DFE-71628159706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2DD333A-20C0-1BCC-46E3-B258496D5AC8}"/>
              </a:ext>
            </a:extLst>
          </p:cNvPr>
          <p:cNvSpPr>
            <a:spLocks noGrp="1"/>
          </p:cNvSpPr>
          <p:nvPr>
            <p:ph idx="1"/>
          </p:nvPr>
        </p:nvSpPr>
        <p:spPr/>
        <p:txBody>
          <a:bodyPr/>
          <a:lstStyle/>
          <a:p>
            <a:r>
              <a:rPr lang="en-US" dirty="0"/>
              <a:t>TAM is your vision number; it defines the scale of the opportunity and shows that you are playing in a large enough market to build a significant business. </a:t>
            </a:r>
            <a:endParaRPr lang="en-CA" dirty="0"/>
          </a:p>
        </p:txBody>
      </p:sp>
    </p:spTree>
    <p:extLst>
      <p:ext uri="{BB962C8B-B14F-4D97-AF65-F5344CB8AC3E}">
        <p14:creationId xmlns:p14="http://schemas.microsoft.com/office/powerpoint/2010/main" val="22990098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EA7E-4FB4-1DAC-55B4-E6AE2962D153}"/>
              </a:ext>
            </a:extLst>
          </p:cNvPr>
          <p:cNvSpPr>
            <a:spLocks noGrp="1"/>
          </p:cNvSpPr>
          <p:nvPr>
            <p:ph type="title"/>
          </p:nvPr>
        </p:nvSpPr>
        <p:spPr/>
        <p:txBody>
          <a:bodyPr/>
          <a:lstStyle/>
          <a:p>
            <a:r>
              <a:rPr lang="en-US" b="1" dirty="0"/>
              <a:t>Serviceable Obtainable Market (SOM)</a:t>
            </a:r>
            <a:endParaRPr lang="en-CA" dirty="0"/>
          </a:p>
        </p:txBody>
      </p:sp>
      <p:sp>
        <p:nvSpPr>
          <p:cNvPr id="3" name="Content Placeholder 2">
            <a:extLst>
              <a:ext uri="{FF2B5EF4-FFF2-40B4-BE49-F238E27FC236}">
                <a16:creationId xmlns:a16="http://schemas.microsoft.com/office/drawing/2014/main" id="{818B6D64-51DE-8B60-3076-FED762125CEE}"/>
              </a:ext>
            </a:extLst>
          </p:cNvPr>
          <p:cNvSpPr>
            <a:spLocks noGrp="1"/>
          </p:cNvSpPr>
          <p:nvPr>
            <p:ph idx="1"/>
          </p:nvPr>
        </p:nvSpPr>
        <p:spPr/>
        <p:txBody>
          <a:bodyPr/>
          <a:lstStyle/>
          <a:p>
            <a:r>
              <a:rPr lang="en-US" dirty="0"/>
              <a:t>The Serviceable Obtainable Market (SOM) is a marketing and business metric that represents the portion of the market that your company can realistically capture — given your resources, competition, and business model.</a:t>
            </a:r>
            <a:endParaRPr lang="en-CA" dirty="0"/>
          </a:p>
        </p:txBody>
      </p:sp>
    </p:spTree>
    <p:extLst>
      <p:ext uri="{BB962C8B-B14F-4D97-AF65-F5344CB8AC3E}">
        <p14:creationId xmlns:p14="http://schemas.microsoft.com/office/powerpoint/2010/main" val="1582934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64BD-2318-3E77-3F64-E4A6BA0AD6EF}"/>
              </a:ext>
            </a:extLst>
          </p:cNvPr>
          <p:cNvSpPr>
            <a:spLocks noGrp="1"/>
          </p:cNvSpPr>
          <p:nvPr>
            <p:ph type="title"/>
          </p:nvPr>
        </p:nvSpPr>
        <p:spPr/>
        <p:txBody>
          <a:bodyPr/>
          <a:lstStyle/>
          <a:p>
            <a:endParaRPr lang="en-CA"/>
          </a:p>
        </p:txBody>
      </p:sp>
      <p:pic>
        <p:nvPicPr>
          <p:cNvPr id="5" name="Content Placeholder 4">
            <a:extLst>
              <a:ext uri="{FF2B5EF4-FFF2-40B4-BE49-F238E27FC236}">
                <a16:creationId xmlns:a16="http://schemas.microsoft.com/office/drawing/2014/main" id="{D21C70A3-3A60-76E1-CFFD-AD7CB2E96358}"/>
              </a:ext>
            </a:extLst>
          </p:cNvPr>
          <p:cNvPicPr>
            <a:picLocks noGrp="1" noChangeAspect="1"/>
          </p:cNvPicPr>
          <p:nvPr>
            <p:ph idx="1"/>
          </p:nvPr>
        </p:nvPicPr>
        <p:blipFill>
          <a:blip r:embed="rId2"/>
          <a:stretch>
            <a:fillRect/>
          </a:stretch>
        </p:blipFill>
        <p:spPr>
          <a:xfrm>
            <a:off x="960120" y="2001584"/>
            <a:ext cx="8476488" cy="3377782"/>
          </a:xfrm>
          <a:prstGeom prst="rect">
            <a:avLst/>
          </a:prstGeom>
        </p:spPr>
      </p:pic>
    </p:spTree>
    <p:extLst>
      <p:ext uri="{BB962C8B-B14F-4D97-AF65-F5344CB8AC3E}">
        <p14:creationId xmlns:p14="http://schemas.microsoft.com/office/powerpoint/2010/main" val="35756904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B0E16-2C22-5EEB-8544-97861CCD13F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1D07438-EFBD-6670-5BC3-93F819D8CADD}"/>
              </a:ext>
            </a:extLst>
          </p:cNvPr>
          <p:cNvSpPr>
            <a:spLocks noGrp="1"/>
          </p:cNvSpPr>
          <p:nvPr>
            <p:ph idx="1"/>
          </p:nvPr>
        </p:nvSpPr>
        <p:spPr/>
        <p:txBody>
          <a:bodyPr/>
          <a:lstStyle/>
          <a:p>
            <a:pPr marL="0" indent="0">
              <a:buNone/>
            </a:pPr>
            <a:r>
              <a:rPr lang="en-US" b="1" dirty="0"/>
              <a:t>   In short</a:t>
            </a:r>
          </a:p>
          <a:p>
            <a:r>
              <a:rPr lang="en-US" b="1" dirty="0"/>
              <a:t>SAM</a:t>
            </a:r>
            <a:r>
              <a:rPr lang="en-US" dirty="0"/>
              <a:t> = “Can serve”</a:t>
            </a:r>
          </a:p>
          <a:p>
            <a:r>
              <a:rPr lang="en-US" b="1" dirty="0"/>
              <a:t>SOM</a:t>
            </a:r>
            <a:r>
              <a:rPr lang="en-US" dirty="0"/>
              <a:t> = “Will realistically serve”</a:t>
            </a:r>
          </a:p>
          <a:p>
            <a:endParaRPr lang="en-CA" dirty="0"/>
          </a:p>
        </p:txBody>
      </p:sp>
    </p:spTree>
    <p:extLst>
      <p:ext uri="{BB962C8B-B14F-4D97-AF65-F5344CB8AC3E}">
        <p14:creationId xmlns:p14="http://schemas.microsoft.com/office/powerpoint/2010/main" val="29577151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15E76-8A97-75CA-E6B1-79C75962A1C4}"/>
              </a:ext>
            </a:extLst>
          </p:cNvPr>
          <p:cNvSpPr>
            <a:spLocks noGrp="1"/>
          </p:cNvSpPr>
          <p:nvPr>
            <p:ph type="title"/>
          </p:nvPr>
        </p:nvSpPr>
        <p:spPr/>
        <p:txBody>
          <a:bodyPr/>
          <a:lstStyle/>
          <a:p>
            <a:r>
              <a:rPr lang="en-US" b="1" dirty="0"/>
              <a:t>Go-To-Market (GTM) Strategy</a:t>
            </a:r>
            <a:endParaRPr lang="en-CA" dirty="0"/>
          </a:p>
        </p:txBody>
      </p:sp>
      <p:sp>
        <p:nvSpPr>
          <p:cNvPr id="3" name="Content Placeholder 2">
            <a:extLst>
              <a:ext uri="{FF2B5EF4-FFF2-40B4-BE49-F238E27FC236}">
                <a16:creationId xmlns:a16="http://schemas.microsoft.com/office/drawing/2014/main" id="{109314DB-F183-4A0B-0ADC-E2F38BBC6F8D}"/>
              </a:ext>
            </a:extLst>
          </p:cNvPr>
          <p:cNvSpPr>
            <a:spLocks noGrp="1"/>
          </p:cNvSpPr>
          <p:nvPr>
            <p:ph idx="1"/>
          </p:nvPr>
        </p:nvSpPr>
        <p:spPr/>
        <p:txBody>
          <a:bodyPr>
            <a:normAutofit/>
          </a:bodyPr>
          <a:lstStyle/>
          <a:p>
            <a:r>
              <a:rPr lang="en-US" dirty="0"/>
              <a:t>A Go-To-Market (GTM) strategy is a clear plan for how a company will introduce, promote, and sell its product or service to the right customers. It explains how the business will reach people, what channels it will use, and what message it will communicate. A GTM strategy acts like a blueprint for a successful market launch, making sure all teams—such as marketing, sales, and product—work together toward the same goals and help the company gain a competitive advantage.</a:t>
            </a:r>
            <a:endParaRPr lang="en-CA" dirty="0"/>
          </a:p>
        </p:txBody>
      </p:sp>
    </p:spTree>
    <p:extLst>
      <p:ext uri="{BB962C8B-B14F-4D97-AF65-F5344CB8AC3E}">
        <p14:creationId xmlns:p14="http://schemas.microsoft.com/office/powerpoint/2010/main" val="27130691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EEFC-1D42-D409-F20C-ED56FA11BB7A}"/>
              </a:ext>
            </a:extLst>
          </p:cNvPr>
          <p:cNvSpPr>
            <a:spLocks noGrp="1"/>
          </p:cNvSpPr>
          <p:nvPr>
            <p:ph type="title"/>
          </p:nvPr>
        </p:nvSpPr>
        <p:spPr>
          <a:xfrm>
            <a:off x="838200" y="365125"/>
            <a:ext cx="10515600" cy="17437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5CB96E8-79A7-A513-5044-062650EE00A9}"/>
              </a:ext>
            </a:extLst>
          </p:cNvPr>
          <p:cNvSpPr>
            <a:spLocks noGrp="1"/>
          </p:cNvSpPr>
          <p:nvPr>
            <p:ph idx="1"/>
          </p:nvPr>
        </p:nvSpPr>
        <p:spPr>
          <a:xfrm>
            <a:off x="838200" y="758952"/>
            <a:ext cx="10515600" cy="5418011"/>
          </a:xfrm>
        </p:spPr>
        <p:txBody>
          <a:bodyPr>
            <a:normAutofit fontScale="85000" lnSpcReduction="20000"/>
          </a:bodyPr>
          <a:lstStyle/>
          <a:p>
            <a:r>
              <a:rPr lang="en-US" b="1" dirty="0"/>
              <a:t>Key Components of a GTM Strategy</a:t>
            </a:r>
          </a:p>
          <a:p>
            <a:r>
              <a:rPr lang="en-US" dirty="0"/>
              <a:t>A strong GTM strategy typically addresses several fundamental questions, forming a clear roadmap for the launch and subsequent growth:</a:t>
            </a:r>
          </a:p>
          <a:p>
            <a:r>
              <a:rPr lang="en-US" b="1" dirty="0"/>
              <a:t>1. Target Customers &amp; Market</a:t>
            </a:r>
          </a:p>
          <a:p>
            <a:r>
              <a:rPr lang="en-US" b="1" dirty="0"/>
              <a:t>Who are we selling to?</a:t>
            </a:r>
            <a:r>
              <a:rPr lang="en-US" dirty="0"/>
              <a:t> This involves defining the </a:t>
            </a:r>
            <a:r>
              <a:rPr lang="en-US" b="1" dirty="0"/>
              <a:t>Ideal Customer Profile (ICP)</a:t>
            </a:r>
            <a:r>
              <a:rPr lang="en-US" dirty="0"/>
              <a:t> and detailed </a:t>
            </a:r>
            <a:r>
              <a:rPr lang="en-US" b="1" dirty="0"/>
              <a:t>buyer personas</a:t>
            </a:r>
            <a:r>
              <a:rPr lang="en-US" dirty="0"/>
              <a:t> to understand their needs, and behaviors.</a:t>
            </a:r>
          </a:p>
          <a:p>
            <a:r>
              <a:rPr lang="en-US" b="1" dirty="0"/>
              <a:t>What is the market size and competitive landscape?</a:t>
            </a:r>
            <a:endParaRPr lang="en-US" dirty="0"/>
          </a:p>
          <a:p>
            <a:r>
              <a:rPr lang="en-US" b="1" dirty="0"/>
              <a:t>2. Product/Service Offering</a:t>
            </a:r>
          </a:p>
          <a:p>
            <a:r>
              <a:rPr lang="en-US" b="1" dirty="0"/>
              <a:t>What is the value proposition?</a:t>
            </a:r>
            <a:r>
              <a:rPr lang="en-US" dirty="0"/>
              <a:t> This defines how the product solves a customer problem better than the competition.</a:t>
            </a:r>
          </a:p>
          <a:p>
            <a:r>
              <a:rPr lang="en-US" b="1" dirty="0"/>
              <a:t>What is the pricing strategy?</a:t>
            </a:r>
            <a:r>
              <a:rPr lang="en-US" dirty="0"/>
              <a:t> (e.g., subscription, one-time purchase, freemium).</a:t>
            </a:r>
          </a:p>
          <a:p>
            <a:r>
              <a:rPr lang="en-US" b="1" dirty="0"/>
              <a:t>3. Distribution &amp; Channels</a:t>
            </a:r>
          </a:p>
          <a:p>
            <a:r>
              <a:rPr lang="en-US" b="1" dirty="0"/>
              <a:t>Where will the product be sold?</a:t>
            </a:r>
            <a:r>
              <a:rPr lang="en-US" dirty="0"/>
              <a:t> This covers the </a:t>
            </a:r>
            <a:r>
              <a:rPr lang="en-US" b="1" dirty="0"/>
              <a:t>sales channels</a:t>
            </a:r>
            <a:r>
              <a:rPr lang="en-US" dirty="0"/>
              <a:t> (e.g., direct sales team, e-commerce, third-party resellers, partners).</a:t>
            </a:r>
          </a:p>
          <a:p>
            <a:r>
              <a:rPr lang="en-US" b="1" dirty="0"/>
              <a:t>How will we deliver the product?</a:t>
            </a:r>
            <a:r>
              <a:rPr lang="en-US" dirty="0"/>
              <a:t> (physical logistics, digital delivery, etc.).</a:t>
            </a:r>
          </a:p>
          <a:p>
            <a:endParaRPr lang="en-CA" dirty="0"/>
          </a:p>
        </p:txBody>
      </p:sp>
    </p:spTree>
    <p:extLst>
      <p:ext uri="{BB962C8B-B14F-4D97-AF65-F5344CB8AC3E}">
        <p14:creationId xmlns:p14="http://schemas.microsoft.com/office/powerpoint/2010/main" val="23767355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86EAA-BFB6-1B2B-DF09-CCE1A87C4D1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04A0DC1-C99D-EAE2-5D77-6F42B899B5DF}"/>
              </a:ext>
            </a:extLst>
          </p:cNvPr>
          <p:cNvSpPr>
            <a:spLocks noGrp="1"/>
          </p:cNvSpPr>
          <p:nvPr>
            <p:ph idx="1"/>
          </p:nvPr>
        </p:nvSpPr>
        <p:spPr/>
        <p:txBody>
          <a:bodyPr>
            <a:normAutofit/>
          </a:bodyPr>
          <a:lstStyle/>
          <a:p>
            <a:r>
              <a:rPr lang="en-US" b="1" dirty="0"/>
              <a:t>4. Marketing &amp; Messaging</a:t>
            </a:r>
          </a:p>
          <a:p>
            <a:r>
              <a:rPr lang="en-US" dirty="0"/>
              <a:t>How will we generate awareness and demand? This includes the marketing mix (content, PR, advertising, social media).</a:t>
            </a:r>
          </a:p>
          <a:p>
            <a:pPr marL="0" indent="0">
              <a:buNone/>
            </a:pPr>
            <a:endParaRPr lang="en-CA" dirty="0"/>
          </a:p>
        </p:txBody>
      </p:sp>
    </p:spTree>
    <p:extLst>
      <p:ext uri="{BB962C8B-B14F-4D97-AF65-F5344CB8AC3E}">
        <p14:creationId xmlns:p14="http://schemas.microsoft.com/office/powerpoint/2010/main" val="40668459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56A6-F442-790B-DFEA-6DCF186FF2DD}"/>
              </a:ext>
            </a:extLst>
          </p:cNvPr>
          <p:cNvSpPr>
            <a:spLocks noGrp="1"/>
          </p:cNvSpPr>
          <p:nvPr>
            <p:ph type="title"/>
          </p:nvPr>
        </p:nvSpPr>
        <p:spPr>
          <a:xfrm>
            <a:off x="838200" y="365125"/>
            <a:ext cx="10515600" cy="466979"/>
          </a:xfrm>
        </p:spPr>
        <p:txBody>
          <a:bodyPr>
            <a:normAutofit fontScale="90000"/>
          </a:bodyPr>
          <a:lstStyle/>
          <a:p>
            <a:endParaRPr lang="en-CA" dirty="0"/>
          </a:p>
        </p:txBody>
      </p:sp>
      <p:pic>
        <p:nvPicPr>
          <p:cNvPr id="1026" name="Picture 2" descr="Image of a diagram illustrating TAM, SAM, and SOM as nested circles or a Venn diagram">
            <a:extLst>
              <a:ext uri="{FF2B5EF4-FFF2-40B4-BE49-F238E27FC236}">
                <a16:creationId xmlns:a16="http://schemas.microsoft.com/office/drawing/2014/main" id="{E7F08A7A-8ECC-05CC-63C0-F1A9AC5BA0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316736"/>
            <a:ext cx="8842248" cy="4851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18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0BB9-66A5-5ED8-B86D-9D2C85A34BF9}"/>
              </a:ext>
            </a:extLst>
          </p:cNvPr>
          <p:cNvSpPr>
            <a:spLocks noGrp="1"/>
          </p:cNvSpPr>
          <p:nvPr>
            <p:ph type="title"/>
          </p:nvPr>
        </p:nvSpPr>
        <p:spPr/>
        <p:txBody>
          <a:bodyPr/>
          <a:lstStyle/>
          <a:p>
            <a:r>
              <a:rPr lang="en-US" b="1" dirty="0"/>
              <a:t>Branding</a:t>
            </a:r>
            <a:r>
              <a:rPr lang="en-US" dirty="0"/>
              <a:t> and </a:t>
            </a:r>
            <a:r>
              <a:rPr lang="en-US" b="1" dirty="0"/>
              <a:t>Promotional Strategies</a:t>
            </a:r>
            <a:endParaRPr lang="en-CA" dirty="0"/>
          </a:p>
        </p:txBody>
      </p:sp>
      <p:sp>
        <p:nvSpPr>
          <p:cNvPr id="3" name="Content Placeholder 2">
            <a:extLst>
              <a:ext uri="{FF2B5EF4-FFF2-40B4-BE49-F238E27FC236}">
                <a16:creationId xmlns:a16="http://schemas.microsoft.com/office/drawing/2014/main" id="{921983C3-117A-1D9B-6061-AC9A502EC675}"/>
              </a:ext>
            </a:extLst>
          </p:cNvPr>
          <p:cNvSpPr>
            <a:spLocks noGrp="1"/>
          </p:cNvSpPr>
          <p:nvPr>
            <p:ph idx="1"/>
          </p:nvPr>
        </p:nvSpPr>
        <p:spPr/>
        <p:txBody>
          <a:bodyPr/>
          <a:lstStyle/>
          <a:p>
            <a:r>
              <a:rPr lang="en-US" b="1" dirty="0"/>
              <a:t>Branding</a:t>
            </a:r>
            <a:r>
              <a:rPr lang="en-US" dirty="0"/>
              <a:t> and </a:t>
            </a:r>
            <a:r>
              <a:rPr lang="en-US" b="1" dirty="0"/>
              <a:t>Promotional Strategies</a:t>
            </a:r>
            <a:r>
              <a:rPr lang="en-US" dirty="0"/>
              <a:t> are two fundamental  but distinct  pillars of marketing. They work together to build </a:t>
            </a:r>
            <a:r>
              <a:rPr lang="en-US" b="1" dirty="0"/>
              <a:t>awareness</a:t>
            </a:r>
            <a:r>
              <a:rPr lang="en-US" dirty="0"/>
              <a:t>, </a:t>
            </a:r>
            <a:r>
              <a:rPr lang="en-US" b="1" dirty="0"/>
              <a:t>trust</a:t>
            </a:r>
            <a:r>
              <a:rPr lang="en-US" dirty="0"/>
              <a:t>, and </a:t>
            </a:r>
            <a:r>
              <a:rPr lang="en-US" b="1" dirty="0"/>
              <a:t>sales</a:t>
            </a:r>
            <a:r>
              <a:rPr lang="en-US" dirty="0"/>
              <a:t> for a business.</a:t>
            </a:r>
            <a:endParaRPr lang="en-CA" dirty="0"/>
          </a:p>
        </p:txBody>
      </p:sp>
    </p:spTree>
    <p:extLst>
      <p:ext uri="{BB962C8B-B14F-4D97-AF65-F5344CB8AC3E}">
        <p14:creationId xmlns:p14="http://schemas.microsoft.com/office/powerpoint/2010/main" val="34652685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D399-C93A-1920-8F96-7F87461BD730}"/>
              </a:ext>
            </a:extLst>
          </p:cNvPr>
          <p:cNvSpPr>
            <a:spLocks noGrp="1"/>
          </p:cNvSpPr>
          <p:nvPr>
            <p:ph type="title"/>
          </p:nvPr>
        </p:nvSpPr>
        <p:spPr/>
        <p:txBody>
          <a:bodyPr/>
          <a:lstStyle/>
          <a:p>
            <a:r>
              <a:rPr lang="en-US" b="1" dirty="0"/>
              <a:t>Branding Strategy</a:t>
            </a:r>
            <a:r>
              <a:rPr lang="en-US" dirty="0"/>
              <a:t> </a:t>
            </a:r>
            <a:endParaRPr lang="en-CA" dirty="0"/>
          </a:p>
        </p:txBody>
      </p:sp>
      <p:sp>
        <p:nvSpPr>
          <p:cNvPr id="3" name="Content Placeholder 2">
            <a:extLst>
              <a:ext uri="{FF2B5EF4-FFF2-40B4-BE49-F238E27FC236}">
                <a16:creationId xmlns:a16="http://schemas.microsoft.com/office/drawing/2014/main" id="{87A70D50-9728-D904-7B35-0C320AEBD75A}"/>
              </a:ext>
            </a:extLst>
          </p:cNvPr>
          <p:cNvSpPr>
            <a:spLocks noGrp="1"/>
          </p:cNvSpPr>
          <p:nvPr>
            <p:ph idx="1"/>
          </p:nvPr>
        </p:nvSpPr>
        <p:spPr>
          <a:xfrm>
            <a:off x="585216" y="1472184"/>
            <a:ext cx="11430000" cy="4704779"/>
          </a:xfrm>
        </p:spPr>
        <p:txBody>
          <a:bodyPr>
            <a:normAutofit fontScale="92500" lnSpcReduction="20000"/>
          </a:bodyPr>
          <a:lstStyle/>
          <a:p>
            <a:endParaRPr lang="en-US" dirty="0"/>
          </a:p>
          <a:p>
            <a:r>
              <a:rPr lang="en-US" dirty="0"/>
              <a:t>Branding is the process of creating a unique identity, personality, and perception for a product, service, or company in the customer's mind.</a:t>
            </a:r>
          </a:p>
          <a:p>
            <a:r>
              <a:rPr lang="en-US" dirty="0"/>
              <a:t>A Branding Strategy is a long-term plan for the systematic development of a brand to achieve specific, predefined goals. It's not just about a logo or a tagline; it's the master plan that shapes how you present your brand to the world and how you want it to be perceived by your target customers.</a:t>
            </a:r>
          </a:p>
          <a:p>
            <a:r>
              <a:rPr lang="en-US" dirty="0"/>
              <a:t>It's not just a logo or a name—it's the total experience a customer has with your business.</a:t>
            </a:r>
          </a:p>
          <a:p>
            <a:r>
              <a:rPr lang="en-US" dirty="0"/>
              <a:t>Think of it this way:</a:t>
            </a:r>
          </a:p>
          <a:p>
            <a:r>
              <a:rPr lang="en-US" dirty="0"/>
              <a:t>A Product is what you sell.</a:t>
            </a:r>
          </a:p>
          <a:p>
            <a:r>
              <a:rPr lang="en-US" dirty="0"/>
              <a:t>A Brand is the perceived image and emotional connection people have with what you sell.</a:t>
            </a:r>
          </a:p>
          <a:p>
            <a:endParaRPr lang="en-CA" dirty="0"/>
          </a:p>
        </p:txBody>
      </p:sp>
    </p:spTree>
    <p:extLst>
      <p:ext uri="{BB962C8B-B14F-4D97-AF65-F5344CB8AC3E}">
        <p14:creationId xmlns:p14="http://schemas.microsoft.com/office/powerpoint/2010/main" val="39095626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A1B9-0347-11D1-3745-F9B225DD64AE}"/>
              </a:ext>
            </a:extLst>
          </p:cNvPr>
          <p:cNvSpPr>
            <a:spLocks noGrp="1"/>
          </p:cNvSpPr>
          <p:nvPr>
            <p:ph type="title"/>
          </p:nvPr>
        </p:nvSpPr>
        <p:spPr>
          <a:xfrm>
            <a:off x="838200" y="681037"/>
            <a:ext cx="10515600" cy="1009651"/>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Why is a Branding Strategy Important?</a:t>
            </a: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51090B4A-C228-D9F3-E921-CEE6E8B680F8}"/>
              </a:ext>
            </a:extLst>
          </p:cNvPr>
          <p:cNvSpPr>
            <a:spLocks noGrp="1"/>
          </p:cNvSpPr>
          <p:nvPr>
            <p:ph idx="1"/>
          </p:nvPr>
        </p:nvSpPr>
        <p:spPr>
          <a:xfrm>
            <a:off x="838200" y="1289304"/>
            <a:ext cx="10515600" cy="5212079"/>
          </a:xfrm>
        </p:spPr>
        <p:txBody>
          <a:bodyPr>
            <a:normAutofit/>
          </a:bodyPr>
          <a:lstStyle/>
          <a:p>
            <a:r>
              <a:rPr lang="en-US" dirty="0"/>
              <a:t>Builds Recognition: Makes your brand memorable and easily identifiable.</a:t>
            </a:r>
          </a:p>
          <a:p>
            <a:r>
              <a:rPr lang="en-US" dirty="0"/>
              <a:t>Creates Trust &amp; Loyalty: A consistent, authentic brand fosters customer trust and encourages repeat business.</a:t>
            </a:r>
          </a:p>
          <a:p>
            <a:r>
              <a:rPr lang="en-US" dirty="0"/>
              <a:t>Differentiates from Competitors: Clearly communicates what makes you unique and why customers should choose you.</a:t>
            </a:r>
          </a:p>
          <a:p>
            <a:r>
              <a:rPr lang="en-US" dirty="0"/>
              <a:t>Supports Marketing Efforts: Provides a consistent foundation for all your marketing campaigns and messaging.</a:t>
            </a:r>
          </a:p>
          <a:p>
            <a:r>
              <a:rPr lang="en-US" dirty="0"/>
              <a:t>Justifies Premium Pricing: A strong brand allows you to charge more than generic competitors (e.g., Apple vs. a no-name smartphone).</a:t>
            </a:r>
          </a:p>
          <a:p>
            <a:endParaRPr lang="en-CA" dirty="0"/>
          </a:p>
        </p:txBody>
      </p:sp>
    </p:spTree>
    <p:extLst>
      <p:ext uri="{BB962C8B-B14F-4D97-AF65-F5344CB8AC3E}">
        <p14:creationId xmlns:p14="http://schemas.microsoft.com/office/powerpoint/2010/main" val="3634561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515D-7E31-C807-77EA-54FB184F9AFE}"/>
              </a:ext>
            </a:extLst>
          </p:cNvPr>
          <p:cNvSpPr>
            <a:spLocks noGrp="1"/>
          </p:cNvSpPr>
          <p:nvPr>
            <p:ph type="title"/>
          </p:nvPr>
        </p:nvSpPr>
        <p:spPr>
          <a:xfrm>
            <a:off x="838200" y="813816"/>
            <a:ext cx="10515600" cy="594360"/>
          </a:xfrm>
        </p:spPr>
        <p:txBody>
          <a:bodyPr>
            <a:normAutofit fontScale="90000"/>
          </a:bodyPr>
          <a:lstStyle/>
          <a:p>
            <a:r>
              <a:rPr lang="en-US" b="1" dirty="0"/>
              <a:t>Key Components of a Branding Strategy/ Key pillars </a:t>
            </a:r>
            <a:br>
              <a:rPr lang="en-US" b="1" dirty="0"/>
            </a:br>
            <a:endParaRPr lang="en-CA" dirty="0"/>
          </a:p>
        </p:txBody>
      </p:sp>
      <p:sp>
        <p:nvSpPr>
          <p:cNvPr id="3" name="Content Placeholder 2">
            <a:extLst>
              <a:ext uri="{FF2B5EF4-FFF2-40B4-BE49-F238E27FC236}">
                <a16:creationId xmlns:a16="http://schemas.microsoft.com/office/drawing/2014/main" id="{351D72CE-4AB5-BF6A-60EB-8187C2B64199}"/>
              </a:ext>
            </a:extLst>
          </p:cNvPr>
          <p:cNvSpPr>
            <a:spLocks noGrp="1"/>
          </p:cNvSpPr>
          <p:nvPr>
            <p:ph idx="1"/>
          </p:nvPr>
        </p:nvSpPr>
        <p:spPr>
          <a:xfrm>
            <a:off x="301752" y="1408176"/>
            <a:ext cx="11567160" cy="4768787"/>
          </a:xfrm>
        </p:spPr>
        <p:txBody>
          <a:bodyPr>
            <a:normAutofit/>
          </a:bodyPr>
          <a:lstStyle/>
          <a:p>
            <a:r>
              <a:rPr lang="en-US" b="1" dirty="0"/>
              <a:t>Brand Purpose &amp; Vision</a:t>
            </a:r>
            <a:br>
              <a:rPr lang="en-US" dirty="0"/>
            </a:br>
            <a:r>
              <a:rPr lang="en-US" dirty="0"/>
              <a:t>This defines why the brand exists and what it aims to achieve in the long run. It goes beyond products or services and focuses on the brand’s core reason for being, its values, and the impact it wants to make in the world.</a:t>
            </a:r>
          </a:p>
          <a:p>
            <a:r>
              <a:rPr lang="en-US" b="1" dirty="0"/>
              <a:t>Target Customers </a:t>
            </a:r>
            <a:br>
              <a:rPr lang="en-US" dirty="0"/>
            </a:br>
            <a:r>
              <a:rPr lang="en-US" dirty="0"/>
              <a:t>This identifies the specific group of people the brand is trying to reach. It includes understanding their demographics, behaviors, needs, motivations, and challenges so the brand can communicate and deliver value effectively.</a:t>
            </a:r>
          </a:p>
          <a:p>
            <a:endParaRPr lang="en-CA" dirty="0"/>
          </a:p>
        </p:txBody>
      </p:sp>
    </p:spTree>
    <p:extLst>
      <p:ext uri="{BB962C8B-B14F-4D97-AF65-F5344CB8AC3E}">
        <p14:creationId xmlns:p14="http://schemas.microsoft.com/office/powerpoint/2010/main" val="25213022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BCAE-03BE-6A66-DA64-58429D1FB12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BE20FB8-75B5-0C1A-BFB2-36E1A611B4ED}"/>
              </a:ext>
            </a:extLst>
          </p:cNvPr>
          <p:cNvSpPr>
            <a:spLocks noGrp="1"/>
          </p:cNvSpPr>
          <p:nvPr>
            <p:ph idx="1"/>
          </p:nvPr>
        </p:nvSpPr>
        <p:spPr/>
        <p:txBody>
          <a:bodyPr>
            <a:normAutofit/>
          </a:bodyPr>
          <a:lstStyle/>
          <a:p>
            <a:r>
              <a:rPr lang="en-US" b="1" dirty="0"/>
              <a:t>Brand Positioning</a:t>
            </a:r>
            <a:br>
              <a:rPr lang="en-US" dirty="0"/>
            </a:br>
            <a:r>
              <a:rPr lang="en-US" dirty="0"/>
              <a:t>Brand positioning explains how the brand is distinct from competitors and where it stands in the market. It clarifies the unique space the brand occupies in the customer’s mind and the key benefit it is known for.</a:t>
            </a:r>
          </a:p>
          <a:p>
            <a:r>
              <a:rPr lang="en-US" b="1" dirty="0"/>
              <a:t>Value Proposition</a:t>
            </a:r>
            <a:br>
              <a:rPr lang="en-US" dirty="0"/>
            </a:br>
            <a:r>
              <a:rPr lang="en-US" dirty="0"/>
              <a:t>The value proposition communicates the main benefits the brand offers to customers. It answers the question of why someone should choose this brand over others by clearly stating the value it delivers.</a:t>
            </a:r>
          </a:p>
          <a:p>
            <a:endParaRPr lang="en-CA" dirty="0"/>
          </a:p>
        </p:txBody>
      </p:sp>
    </p:spTree>
    <p:extLst>
      <p:ext uri="{BB962C8B-B14F-4D97-AF65-F5344CB8AC3E}">
        <p14:creationId xmlns:p14="http://schemas.microsoft.com/office/powerpoint/2010/main" val="41962453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B819-06A4-0CD1-8006-74A63FDDB2C9}"/>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57B8522E-D5C2-C185-2BDD-8EAF81454273}"/>
              </a:ext>
            </a:extLst>
          </p:cNvPr>
          <p:cNvSpPr>
            <a:spLocks noGrp="1"/>
          </p:cNvSpPr>
          <p:nvPr>
            <p:ph idx="1"/>
          </p:nvPr>
        </p:nvSpPr>
        <p:spPr>
          <a:xfrm>
            <a:off x="838200" y="1124712"/>
            <a:ext cx="10515600" cy="5052251"/>
          </a:xfrm>
        </p:spPr>
        <p:txBody>
          <a:bodyPr>
            <a:normAutofit/>
          </a:bodyPr>
          <a:lstStyle/>
          <a:p>
            <a:r>
              <a:rPr lang="en-US" b="1" dirty="0"/>
              <a:t>Brand Messaging</a:t>
            </a:r>
            <a:br>
              <a:rPr lang="en-US" dirty="0"/>
            </a:br>
            <a:r>
              <a:rPr lang="en-US" dirty="0"/>
              <a:t>Brand messaging includes the key ideas, stories, and statements the brand uses to communicate with its customers. It ensures the brand’s promises and values are clearly and consistently expressed across all channels.</a:t>
            </a:r>
          </a:p>
          <a:p>
            <a:endParaRPr lang="en-CA" dirty="0"/>
          </a:p>
        </p:txBody>
      </p:sp>
    </p:spTree>
    <p:extLst>
      <p:ext uri="{BB962C8B-B14F-4D97-AF65-F5344CB8AC3E}">
        <p14:creationId xmlns:p14="http://schemas.microsoft.com/office/powerpoint/2010/main" val="38535563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7D0F-0F01-5128-1726-97F74485878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4874BD9-BEDD-89D9-1E19-CA6BC0690E5F}"/>
              </a:ext>
            </a:extLst>
          </p:cNvPr>
          <p:cNvSpPr>
            <a:spLocks noGrp="1"/>
          </p:cNvSpPr>
          <p:nvPr>
            <p:ph idx="1"/>
          </p:nvPr>
        </p:nvSpPr>
        <p:spPr/>
        <p:txBody>
          <a:bodyPr>
            <a:normAutofit/>
          </a:bodyPr>
          <a:lstStyle/>
          <a:p>
            <a:r>
              <a:rPr lang="en-US" b="1" dirty="0"/>
              <a:t>Visual Identity</a:t>
            </a:r>
            <a:br>
              <a:rPr lang="en-US" dirty="0"/>
            </a:br>
            <a:r>
              <a:rPr lang="en-US" dirty="0"/>
              <a:t>Visual identity includes all visual elements such as the logo, color palette, typography, and imagery. These elements work together to create recognition, reinforce brand values, and establish a strong visual presence.</a:t>
            </a:r>
          </a:p>
          <a:p>
            <a:r>
              <a:rPr lang="en-US" b="1" dirty="0"/>
              <a:t>Brand Experience</a:t>
            </a:r>
            <a:br>
              <a:rPr lang="en-US" dirty="0"/>
            </a:br>
            <a:r>
              <a:rPr lang="en-US" dirty="0"/>
              <a:t>Brand experience refers to how customers interact with the brand at every touchpoint. This includes digital platforms, customer service, product usage, and post-purchase interactions, shaping overall perception and loyalty.</a:t>
            </a:r>
          </a:p>
          <a:p>
            <a:endParaRPr lang="en-CA" dirty="0"/>
          </a:p>
        </p:txBody>
      </p:sp>
    </p:spTree>
    <p:extLst>
      <p:ext uri="{BB962C8B-B14F-4D97-AF65-F5344CB8AC3E}">
        <p14:creationId xmlns:p14="http://schemas.microsoft.com/office/powerpoint/2010/main" val="14539506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E04F1-5071-7AD9-5FCD-3EC5EFD87C8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62F2634-BC95-D907-D168-FA7FB544FDD0}"/>
              </a:ext>
            </a:extLst>
          </p:cNvPr>
          <p:cNvSpPr>
            <a:spLocks noGrp="1"/>
          </p:cNvSpPr>
          <p:nvPr>
            <p:ph idx="1"/>
          </p:nvPr>
        </p:nvSpPr>
        <p:spPr/>
        <p:txBody>
          <a:bodyPr/>
          <a:lstStyle/>
          <a:p>
            <a:r>
              <a:rPr lang="en-US" b="1" dirty="0"/>
              <a:t>Consistency &amp; Brand Guidelines</a:t>
            </a:r>
            <a:br>
              <a:rPr lang="en-US" dirty="0"/>
            </a:br>
            <a:r>
              <a:rPr lang="en-US" dirty="0"/>
              <a:t>Consistency ensures the brand is presented uniformly across all platforms and teams. Brand guidelines provide clear rules for using visual and verbal elements to maintain a cohesive and professional brand image.</a:t>
            </a:r>
          </a:p>
          <a:p>
            <a:r>
              <a:rPr lang="en-US" b="1" dirty="0"/>
              <a:t>Brand Equity &amp; Measurement</a:t>
            </a:r>
            <a:br>
              <a:rPr lang="en-US" dirty="0"/>
            </a:br>
            <a:r>
              <a:rPr lang="en-US" dirty="0"/>
              <a:t>This focuses on the value the brand holds in the minds of customers. Measuring brand equity involves tracking awareness, trust, loyalty, and perception to understand the brand’s strength and long-term success.</a:t>
            </a:r>
          </a:p>
          <a:p>
            <a:endParaRPr lang="en-CA" dirty="0"/>
          </a:p>
        </p:txBody>
      </p:sp>
    </p:spTree>
    <p:extLst>
      <p:ext uri="{BB962C8B-B14F-4D97-AF65-F5344CB8AC3E}">
        <p14:creationId xmlns:p14="http://schemas.microsoft.com/office/powerpoint/2010/main" val="7476907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38C71-AF5F-DA93-BD3A-D305BC2A93BB}"/>
              </a:ext>
            </a:extLst>
          </p:cNvPr>
          <p:cNvSpPr>
            <a:spLocks noGrp="1"/>
          </p:cNvSpPr>
          <p:nvPr>
            <p:ph type="title"/>
          </p:nvPr>
        </p:nvSpPr>
        <p:spPr>
          <a:xfrm>
            <a:off x="201168" y="365125"/>
            <a:ext cx="11640312" cy="1325563"/>
          </a:xfrm>
        </p:spPr>
        <p:txBody>
          <a:bodyPr>
            <a:normAutofit fontScale="90000"/>
          </a:bodyPr>
          <a:lstStyle/>
          <a:p>
            <a:r>
              <a:rPr lang="en-US" sz="4000" b="1" dirty="0"/>
              <a:t>How to Develop a Branding Strategy: A Simple Framework</a:t>
            </a:r>
            <a:br>
              <a:rPr lang="en-US" b="1" dirty="0"/>
            </a:br>
            <a:endParaRPr lang="en-CA" dirty="0"/>
          </a:p>
        </p:txBody>
      </p:sp>
      <p:sp>
        <p:nvSpPr>
          <p:cNvPr id="3" name="Content Placeholder 2">
            <a:extLst>
              <a:ext uri="{FF2B5EF4-FFF2-40B4-BE49-F238E27FC236}">
                <a16:creationId xmlns:a16="http://schemas.microsoft.com/office/drawing/2014/main" id="{1713634E-A663-CAC4-11BA-547F6CD89329}"/>
              </a:ext>
            </a:extLst>
          </p:cNvPr>
          <p:cNvSpPr>
            <a:spLocks noGrp="1"/>
          </p:cNvSpPr>
          <p:nvPr>
            <p:ph idx="1"/>
          </p:nvPr>
        </p:nvSpPr>
        <p:spPr>
          <a:xfrm>
            <a:off x="838200" y="1271016"/>
            <a:ext cx="10515600" cy="4905947"/>
          </a:xfrm>
        </p:spPr>
        <p:txBody>
          <a:bodyPr>
            <a:normAutofit fontScale="92500"/>
          </a:bodyPr>
          <a:lstStyle/>
          <a:p>
            <a:r>
              <a:rPr lang="en-US" b="1" dirty="0"/>
              <a:t>Conduct Research:</a:t>
            </a:r>
            <a:r>
              <a:rPr lang="en-US" dirty="0"/>
              <a:t> Understand your market, competitors, and customers.</a:t>
            </a:r>
          </a:p>
          <a:p>
            <a:r>
              <a:rPr lang="en-US" b="1" dirty="0"/>
              <a:t>Define Your Core:</a:t>
            </a:r>
            <a:r>
              <a:rPr lang="en-US" dirty="0"/>
              <a:t> Clarify your purpose, vision, mission, and values.</a:t>
            </a:r>
          </a:p>
          <a:p>
            <a:r>
              <a:rPr lang="en-US" b="1" dirty="0"/>
              <a:t>Identify Your Audience:</a:t>
            </a:r>
            <a:r>
              <a:rPr lang="en-US" dirty="0"/>
              <a:t> Create detailed buyer personas.</a:t>
            </a:r>
          </a:p>
          <a:p>
            <a:r>
              <a:rPr lang="en-US" b="1" dirty="0"/>
              <a:t>Position Your Brand:</a:t>
            </a:r>
            <a:r>
              <a:rPr lang="en-US" dirty="0"/>
              <a:t> Determine your unique space in the market.</a:t>
            </a:r>
          </a:p>
          <a:p>
            <a:r>
              <a:rPr lang="en-US" b="1" dirty="0"/>
              <a:t>Craft Your Identity:</a:t>
            </a:r>
            <a:r>
              <a:rPr lang="en-US" dirty="0"/>
              <a:t> Design your logo, choose colors, and define your voice.</a:t>
            </a:r>
          </a:p>
          <a:p>
            <a:r>
              <a:rPr lang="en-US" b="1" dirty="0"/>
              <a:t>Implement Consistently:</a:t>
            </a:r>
            <a:r>
              <a:rPr lang="en-US" dirty="0"/>
              <a:t> Apply your brand across all channels (website, social media, packaging, ads).</a:t>
            </a:r>
          </a:p>
          <a:p>
            <a:r>
              <a:rPr lang="en-US" b="1" dirty="0"/>
              <a:t>Monitor &amp; Adapt:</a:t>
            </a:r>
            <a:r>
              <a:rPr lang="en-US" dirty="0"/>
              <a:t> Track how your brand is perceived and adjust as needed.</a:t>
            </a:r>
          </a:p>
          <a:p>
            <a:pPr marL="0" indent="0">
              <a:buNone/>
            </a:pPr>
            <a:br>
              <a:rPr lang="en-US" dirty="0"/>
            </a:br>
            <a:endParaRPr lang="en-CA" dirty="0"/>
          </a:p>
        </p:txBody>
      </p:sp>
    </p:spTree>
    <p:extLst>
      <p:ext uri="{BB962C8B-B14F-4D97-AF65-F5344CB8AC3E}">
        <p14:creationId xmlns:p14="http://schemas.microsoft.com/office/powerpoint/2010/main" val="37297591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98121-50CC-8523-1C3E-22A801ACF412}"/>
              </a:ext>
            </a:extLst>
          </p:cNvPr>
          <p:cNvSpPr>
            <a:spLocks noGrp="1"/>
          </p:cNvSpPr>
          <p:nvPr>
            <p:ph type="title"/>
          </p:nvPr>
        </p:nvSpPr>
        <p:spPr/>
        <p:txBody>
          <a:bodyPr/>
          <a:lstStyle/>
          <a:p>
            <a:r>
              <a:rPr lang="en-US" b="1" dirty="0"/>
              <a:t>Promotional Strategy</a:t>
            </a:r>
            <a:r>
              <a:rPr lang="en-US" dirty="0"/>
              <a:t> </a:t>
            </a:r>
            <a:endParaRPr lang="en-CA" dirty="0"/>
          </a:p>
        </p:txBody>
      </p:sp>
      <p:sp>
        <p:nvSpPr>
          <p:cNvPr id="3" name="Content Placeholder 2">
            <a:extLst>
              <a:ext uri="{FF2B5EF4-FFF2-40B4-BE49-F238E27FC236}">
                <a16:creationId xmlns:a16="http://schemas.microsoft.com/office/drawing/2014/main" id="{22B8132D-E4ED-CFE1-9607-AC4572D85B11}"/>
              </a:ext>
            </a:extLst>
          </p:cNvPr>
          <p:cNvSpPr>
            <a:spLocks noGrp="1"/>
          </p:cNvSpPr>
          <p:nvPr>
            <p:ph idx="1"/>
          </p:nvPr>
        </p:nvSpPr>
        <p:spPr>
          <a:xfrm>
            <a:off x="838200" y="1825625"/>
            <a:ext cx="10966704" cy="4351338"/>
          </a:xfrm>
        </p:spPr>
        <p:txBody>
          <a:bodyPr/>
          <a:lstStyle/>
          <a:p>
            <a:r>
              <a:rPr lang="en-US" dirty="0"/>
              <a:t>A </a:t>
            </a:r>
            <a:r>
              <a:rPr lang="en-US" b="1" dirty="0"/>
              <a:t>Promotional Strategy</a:t>
            </a:r>
            <a:r>
              <a:rPr lang="en-US" dirty="0"/>
              <a:t> (also known as the </a:t>
            </a:r>
            <a:r>
              <a:rPr lang="en-US" b="1" dirty="0"/>
              <a:t>Promotional Mix</a:t>
            </a:r>
            <a:r>
              <a:rPr lang="en-US" dirty="0"/>
              <a:t>) is a planned set of activities and tactics designed to communicate the value of a product, service, or brand to a target audience, with the ultimate goal of </a:t>
            </a:r>
            <a:r>
              <a:rPr lang="en-US" b="1" dirty="0"/>
              <a:t>generating interest, stimulating demand, and persuading people to make a purchase</a:t>
            </a:r>
            <a:r>
              <a:rPr lang="en-US" dirty="0"/>
              <a:t>.</a:t>
            </a:r>
          </a:p>
          <a:p>
            <a:r>
              <a:rPr lang="en-US" dirty="0"/>
              <a:t>In simple terms, it’s your </a:t>
            </a:r>
            <a:r>
              <a:rPr lang="en-US" b="1" dirty="0"/>
              <a:t> plan for telling the world you exist and convincing them to buy from you.</a:t>
            </a:r>
            <a:endParaRPr lang="en-US" dirty="0"/>
          </a:p>
          <a:p>
            <a:endParaRPr lang="en-CA" dirty="0"/>
          </a:p>
        </p:txBody>
      </p:sp>
    </p:spTree>
    <p:extLst>
      <p:ext uri="{BB962C8B-B14F-4D97-AF65-F5344CB8AC3E}">
        <p14:creationId xmlns:p14="http://schemas.microsoft.com/office/powerpoint/2010/main" val="32263833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FCD26-5C7B-CD4F-C9BE-52059CE643F1}"/>
              </a:ext>
            </a:extLst>
          </p:cNvPr>
          <p:cNvSpPr>
            <a:spLocks noGrp="1"/>
          </p:cNvSpPr>
          <p:nvPr>
            <p:ph type="title"/>
          </p:nvPr>
        </p:nvSpPr>
        <p:spPr/>
        <p:txBody>
          <a:bodyPr/>
          <a:lstStyle/>
          <a:p>
            <a:r>
              <a:rPr lang="en-US" b="1" dirty="0"/>
              <a:t>Why is a Promotional Strategy Important?</a:t>
            </a:r>
            <a:br>
              <a:rPr lang="en-US" b="1" dirty="0"/>
            </a:br>
            <a:endParaRPr lang="en-CA" dirty="0"/>
          </a:p>
        </p:txBody>
      </p:sp>
      <p:sp>
        <p:nvSpPr>
          <p:cNvPr id="3" name="Content Placeholder 2">
            <a:extLst>
              <a:ext uri="{FF2B5EF4-FFF2-40B4-BE49-F238E27FC236}">
                <a16:creationId xmlns:a16="http://schemas.microsoft.com/office/drawing/2014/main" id="{42269A5C-6875-A5E5-F78E-F65C7F7FF7BB}"/>
              </a:ext>
            </a:extLst>
          </p:cNvPr>
          <p:cNvSpPr>
            <a:spLocks noGrp="1"/>
          </p:cNvSpPr>
          <p:nvPr>
            <p:ph idx="1"/>
          </p:nvPr>
        </p:nvSpPr>
        <p:spPr/>
        <p:txBody>
          <a:bodyPr/>
          <a:lstStyle/>
          <a:p>
            <a:r>
              <a:rPr lang="en-US" b="1" dirty="0"/>
              <a:t>Increases Awareness:</a:t>
            </a:r>
            <a:r>
              <a:rPr lang="en-US" dirty="0"/>
              <a:t> Makes potential customers aware of your product.</a:t>
            </a:r>
          </a:p>
          <a:p>
            <a:r>
              <a:rPr lang="en-US" b="1" dirty="0"/>
              <a:t>Generates Leads &amp; Sales:</a:t>
            </a:r>
            <a:r>
              <a:rPr lang="en-US" dirty="0"/>
              <a:t> Directly drives revenue.</a:t>
            </a:r>
          </a:p>
          <a:p>
            <a:r>
              <a:rPr lang="en-US" b="1" dirty="0"/>
              <a:t>Builds Brand Image:</a:t>
            </a:r>
            <a:r>
              <a:rPr lang="en-US" dirty="0"/>
              <a:t> Shapes how people perceive your brand.</a:t>
            </a:r>
          </a:p>
          <a:p>
            <a:r>
              <a:rPr lang="en-US" b="1" dirty="0"/>
              <a:t>Differentiates from Competitors:</a:t>
            </a:r>
            <a:r>
              <a:rPr lang="en-US" dirty="0"/>
              <a:t> Highlights your unique advantages.</a:t>
            </a:r>
          </a:p>
          <a:p>
            <a:r>
              <a:rPr lang="en-US" b="1" dirty="0"/>
              <a:t>Retains Customers:</a:t>
            </a:r>
            <a:r>
              <a:rPr lang="en-US" dirty="0"/>
              <a:t> Encourages repeat business and loyalty.</a:t>
            </a:r>
          </a:p>
          <a:p>
            <a:endParaRPr lang="en-CA" dirty="0"/>
          </a:p>
        </p:txBody>
      </p:sp>
    </p:spTree>
    <p:extLst>
      <p:ext uri="{BB962C8B-B14F-4D97-AF65-F5344CB8AC3E}">
        <p14:creationId xmlns:p14="http://schemas.microsoft.com/office/powerpoint/2010/main" val="14822315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F4730-D4B3-CFA8-8ACB-6D0F870EF77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8303A8F-DC00-9FB3-037C-F26868D58882}"/>
              </a:ext>
            </a:extLst>
          </p:cNvPr>
          <p:cNvSpPr>
            <a:spLocks noGrp="1"/>
          </p:cNvSpPr>
          <p:nvPr>
            <p:ph idx="1"/>
          </p:nvPr>
        </p:nvSpPr>
        <p:spPr/>
        <p:txBody>
          <a:bodyPr>
            <a:normAutofit fontScale="85000" lnSpcReduction="20000"/>
          </a:bodyPr>
          <a:lstStyle/>
          <a:p>
            <a:r>
              <a:rPr lang="en-US" b="1" dirty="0"/>
              <a:t>The Core Components: The 5 (or 6) Elements of the Promotional Mix</a:t>
            </a:r>
          </a:p>
          <a:p>
            <a:r>
              <a:rPr lang="en-US" dirty="0"/>
              <a:t>A strong promotional strategy uses a blend of the following tools, often summarized as the </a:t>
            </a:r>
            <a:r>
              <a:rPr lang="en-US" b="1" dirty="0"/>
              <a:t>"Five Ps of Promotion"</a:t>
            </a:r>
            <a:r>
              <a:rPr lang="en-US" dirty="0"/>
              <a:t> or the </a:t>
            </a:r>
            <a:r>
              <a:rPr lang="en-US" b="1" dirty="0"/>
              <a:t>Promotional Mix</a:t>
            </a:r>
            <a:r>
              <a:rPr lang="en-US" dirty="0"/>
              <a:t>.</a:t>
            </a:r>
          </a:p>
          <a:p>
            <a:r>
              <a:rPr lang="en-US" b="1" dirty="0"/>
              <a:t>1. Advertising</a:t>
            </a:r>
          </a:p>
          <a:p>
            <a:r>
              <a:rPr lang="en-US" b="1" dirty="0"/>
              <a:t>What it is:</a:t>
            </a:r>
            <a:r>
              <a:rPr lang="en-US" dirty="0"/>
              <a:t> </a:t>
            </a:r>
            <a:r>
              <a:rPr lang="en-US" b="1" dirty="0"/>
              <a:t>Paid</a:t>
            </a:r>
            <a:r>
              <a:rPr lang="en-US" dirty="0"/>
              <a:t>, non-personal communication through mass media.</a:t>
            </a:r>
          </a:p>
          <a:p>
            <a:r>
              <a:rPr lang="en-US" b="1" dirty="0"/>
              <a:t>Key Features:</a:t>
            </a:r>
            <a:r>
              <a:rPr lang="en-US" dirty="0"/>
              <a:t> Reaches a large audience, builds brand awareness quickly, but can be expensive.</a:t>
            </a:r>
          </a:p>
          <a:p>
            <a:r>
              <a:rPr lang="en-US" b="1" dirty="0"/>
              <a:t>Examples:</a:t>
            </a:r>
            <a:endParaRPr lang="en-US" dirty="0"/>
          </a:p>
          <a:p>
            <a:pPr lvl="1"/>
            <a:r>
              <a:rPr lang="en-US" dirty="0"/>
              <a:t>TV and radio commercials</a:t>
            </a:r>
          </a:p>
          <a:p>
            <a:pPr lvl="1"/>
            <a:r>
              <a:rPr lang="en-US" dirty="0"/>
              <a:t>Online display ads (banners, YouTube pre-roll)</a:t>
            </a:r>
          </a:p>
          <a:p>
            <a:pPr lvl="1"/>
            <a:r>
              <a:rPr lang="en-US" dirty="0"/>
              <a:t>Social media ads (Facebook, Instagram, TikTok)</a:t>
            </a:r>
          </a:p>
          <a:p>
            <a:pPr lvl="1"/>
            <a:r>
              <a:rPr lang="en-US" dirty="0"/>
              <a:t>Print ads (newspapers, magazines)</a:t>
            </a:r>
          </a:p>
          <a:p>
            <a:pPr lvl="1"/>
            <a:r>
              <a:rPr lang="en-US" dirty="0"/>
              <a:t>Billboards</a:t>
            </a:r>
          </a:p>
          <a:p>
            <a:endParaRPr lang="en-CA" dirty="0"/>
          </a:p>
        </p:txBody>
      </p:sp>
    </p:spTree>
    <p:extLst>
      <p:ext uri="{BB962C8B-B14F-4D97-AF65-F5344CB8AC3E}">
        <p14:creationId xmlns:p14="http://schemas.microsoft.com/office/powerpoint/2010/main" val="15815369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EF7F4-1E47-2D23-689B-D220C6E395C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2FB8805-A82D-655A-4638-A5E475E64978}"/>
              </a:ext>
            </a:extLst>
          </p:cNvPr>
          <p:cNvSpPr>
            <a:spLocks noGrp="1"/>
          </p:cNvSpPr>
          <p:nvPr>
            <p:ph idx="1"/>
          </p:nvPr>
        </p:nvSpPr>
        <p:spPr/>
        <p:txBody>
          <a:bodyPr>
            <a:normAutofit/>
          </a:bodyPr>
          <a:lstStyle/>
          <a:p>
            <a:r>
              <a:rPr lang="en-US" b="1" dirty="0"/>
              <a:t>2. Sales Promotion</a:t>
            </a:r>
          </a:p>
          <a:p>
            <a:r>
              <a:rPr lang="en-US" b="1" dirty="0"/>
              <a:t>What it is:</a:t>
            </a:r>
            <a:r>
              <a:rPr lang="en-US" dirty="0"/>
              <a:t> </a:t>
            </a:r>
            <a:r>
              <a:rPr lang="en-US" b="1" dirty="0"/>
              <a:t>Short-term</a:t>
            </a:r>
            <a:r>
              <a:rPr lang="en-US" dirty="0"/>
              <a:t> incentives to encourage immediate purchase or trial.</a:t>
            </a:r>
          </a:p>
          <a:p>
            <a:r>
              <a:rPr lang="en-US" b="1" dirty="0"/>
              <a:t>Key Features:</a:t>
            </a:r>
            <a:r>
              <a:rPr lang="en-US" dirty="0"/>
              <a:t> Effective for boosting short-term sales, but overuse can damage brand value.</a:t>
            </a:r>
          </a:p>
          <a:p>
            <a:r>
              <a:rPr lang="en-US" b="1" dirty="0"/>
              <a:t>Examples:</a:t>
            </a:r>
            <a:endParaRPr lang="en-US" dirty="0"/>
          </a:p>
          <a:p>
            <a:pPr lvl="1"/>
            <a:r>
              <a:rPr lang="en-US" dirty="0"/>
              <a:t>Discounts, coupons, and "Buy One Get One Free" (BOGO)</a:t>
            </a:r>
          </a:p>
          <a:p>
            <a:pPr lvl="1"/>
            <a:r>
              <a:rPr lang="en-US" dirty="0"/>
              <a:t>Contests and giveaways</a:t>
            </a:r>
          </a:p>
          <a:p>
            <a:pPr lvl="1"/>
            <a:r>
              <a:rPr lang="en-US" dirty="0"/>
              <a:t>Free samples or trial versions</a:t>
            </a:r>
          </a:p>
          <a:p>
            <a:pPr lvl="1"/>
            <a:r>
              <a:rPr lang="en-US" dirty="0"/>
              <a:t>Point-of-sale displays in stores</a:t>
            </a:r>
          </a:p>
          <a:p>
            <a:endParaRPr lang="en-CA" dirty="0"/>
          </a:p>
        </p:txBody>
      </p:sp>
    </p:spTree>
    <p:extLst>
      <p:ext uri="{BB962C8B-B14F-4D97-AF65-F5344CB8AC3E}">
        <p14:creationId xmlns:p14="http://schemas.microsoft.com/office/powerpoint/2010/main" val="39586284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F30E-858A-62F1-D61E-AE0BC08A719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B4C8243-0573-3ACE-6BBE-FEE3A74BFDA9}"/>
              </a:ext>
            </a:extLst>
          </p:cNvPr>
          <p:cNvSpPr>
            <a:spLocks noGrp="1"/>
          </p:cNvSpPr>
          <p:nvPr>
            <p:ph idx="1"/>
          </p:nvPr>
        </p:nvSpPr>
        <p:spPr/>
        <p:txBody>
          <a:bodyPr>
            <a:normAutofit/>
          </a:bodyPr>
          <a:lstStyle/>
          <a:p>
            <a:r>
              <a:rPr lang="en-US" b="1" dirty="0"/>
              <a:t>3. Public Relations (PR)</a:t>
            </a:r>
          </a:p>
          <a:p>
            <a:r>
              <a:rPr lang="en-US" b="1" dirty="0"/>
              <a:t>What it is:</a:t>
            </a:r>
            <a:r>
              <a:rPr lang="en-US" dirty="0"/>
              <a:t> Managing and influencing a brand's </a:t>
            </a:r>
            <a:r>
              <a:rPr lang="en-US" b="1" dirty="0"/>
              <a:t>public image and reputation</a:t>
            </a:r>
            <a:r>
              <a:rPr lang="en-US" dirty="0"/>
              <a:t> through earned media.</a:t>
            </a:r>
          </a:p>
          <a:p>
            <a:r>
              <a:rPr lang="en-US" b="1" dirty="0"/>
              <a:t>Key Features:</a:t>
            </a:r>
            <a:r>
              <a:rPr lang="en-US" dirty="0"/>
              <a:t> Builds credibility and trust, as it's seen as a third-party endorsement.</a:t>
            </a:r>
          </a:p>
          <a:p>
            <a:r>
              <a:rPr lang="en-US" b="1" dirty="0"/>
              <a:t>Examples:</a:t>
            </a:r>
            <a:endParaRPr lang="en-US" dirty="0"/>
          </a:p>
          <a:p>
            <a:pPr lvl="1"/>
            <a:r>
              <a:rPr lang="en-US" dirty="0"/>
              <a:t>Press releases featured in news articles</a:t>
            </a:r>
          </a:p>
          <a:p>
            <a:pPr lvl="1"/>
            <a:r>
              <a:rPr lang="en-US" dirty="0"/>
              <a:t>Sponsoring community events</a:t>
            </a:r>
          </a:p>
          <a:p>
            <a:pPr lvl="1"/>
            <a:r>
              <a:rPr lang="en-US" dirty="0"/>
              <a:t>Managing a crisis communication</a:t>
            </a:r>
          </a:p>
          <a:p>
            <a:pPr lvl="1"/>
            <a:r>
              <a:rPr lang="en-US" dirty="0"/>
              <a:t>Getting positive product reviews from influencers or media outlets</a:t>
            </a:r>
          </a:p>
          <a:p>
            <a:endParaRPr lang="en-CA" dirty="0"/>
          </a:p>
        </p:txBody>
      </p:sp>
    </p:spTree>
    <p:extLst>
      <p:ext uri="{BB962C8B-B14F-4D97-AF65-F5344CB8AC3E}">
        <p14:creationId xmlns:p14="http://schemas.microsoft.com/office/powerpoint/2010/main" val="23571061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E3A5-D394-6B28-734A-9248257F2FC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9911C5B-8F08-BA28-A970-10F3A520B575}"/>
              </a:ext>
            </a:extLst>
          </p:cNvPr>
          <p:cNvSpPr>
            <a:spLocks noGrp="1"/>
          </p:cNvSpPr>
          <p:nvPr>
            <p:ph idx="1"/>
          </p:nvPr>
        </p:nvSpPr>
        <p:spPr/>
        <p:txBody>
          <a:bodyPr>
            <a:normAutofit/>
          </a:bodyPr>
          <a:lstStyle/>
          <a:p>
            <a:r>
              <a:rPr lang="en-US" b="1" dirty="0"/>
              <a:t>4. Personal Selling</a:t>
            </a:r>
          </a:p>
          <a:p>
            <a:r>
              <a:rPr lang="en-US" b="1" dirty="0"/>
              <a:t>What it is:</a:t>
            </a:r>
            <a:r>
              <a:rPr lang="en-US" dirty="0"/>
              <a:t> </a:t>
            </a:r>
            <a:r>
              <a:rPr lang="en-US" b="1" dirty="0"/>
              <a:t>Person-to-person</a:t>
            </a:r>
            <a:r>
              <a:rPr lang="en-US" dirty="0"/>
              <a:t> communication where a salesperson persuades a customer to buy.</a:t>
            </a:r>
          </a:p>
          <a:p>
            <a:r>
              <a:rPr lang="en-US" b="1" dirty="0"/>
              <a:t>Key Features:</a:t>
            </a:r>
            <a:r>
              <a:rPr lang="en-US" dirty="0"/>
              <a:t> Highly interactive, builds strong relationships, but is labor-intensive and expensive.</a:t>
            </a:r>
          </a:p>
          <a:p>
            <a:r>
              <a:rPr lang="en-US" b="1" dirty="0"/>
              <a:t>Examples:</a:t>
            </a:r>
            <a:endParaRPr lang="en-US" dirty="0"/>
          </a:p>
          <a:p>
            <a:pPr lvl="1"/>
            <a:r>
              <a:rPr lang="en-US" dirty="0"/>
              <a:t>A car salesperson working with a customer</a:t>
            </a:r>
          </a:p>
          <a:p>
            <a:pPr lvl="1"/>
            <a:r>
              <a:rPr lang="en-US" dirty="0"/>
              <a:t>A B2B sales representative pitching software to a business</a:t>
            </a:r>
          </a:p>
          <a:p>
            <a:pPr lvl="1"/>
            <a:r>
              <a:rPr lang="en-US" dirty="0"/>
              <a:t>A real estate agent showing a house</a:t>
            </a:r>
          </a:p>
          <a:p>
            <a:endParaRPr lang="en-CA" dirty="0"/>
          </a:p>
        </p:txBody>
      </p:sp>
    </p:spTree>
    <p:extLst>
      <p:ext uri="{BB962C8B-B14F-4D97-AF65-F5344CB8AC3E}">
        <p14:creationId xmlns:p14="http://schemas.microsoft.com/office/powerpoint/2010/main" val="33326937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C5BF9-E7F8-4AD1-275C-B0476E9DDA6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EC0FF7F-1DAB-6CBC-1636-E7B3120A29AA}"/>
              </a:ext>
            </a:extLst>
          </p:cNvPr>
          <p:cNvSpPr>
            <a:spLocks noGrp="1"/>
          </p:cNvSpPr>
          <p:nvPr>
            <p:ph idx="1"/>
          </p:nvPr>
        </p:nvSpPr>
        <p:spPr/>
        <p:txBody>
          <a:bodyPr>
            <a:normAutofit/>
          </a:bodyPr>
          <a:lstStyle/>
          <a:p>
            <a:r>
              <a:rPr lang="en-US" b="1" dirty="0"/>
              <a:t>5. Direct Marketing</a:t>
            </a:r>
          </a:p>
          <a:p>
            <a:r>
              <a:rPr lang="en-US" b="1" dirty="0"/>
              <a:t>What it is:</a:t>
            </a:r>
            <a:r>
              <a:rPr lang="en-US" dirty="0"/>
              <a:t> Communicating </a:t>
            </a:r>
            <a:r>
              <a:rPr lang="en-US" b="1" dirty="0"/>
              <a:t>directly with individual customers</a:t>
            </a:r>
            <a:r>
              <a:rPr lang="en-US" dirty="0"/>
              <a:t> to generate a response or transaction.</a:t>
            </a:r>
          </a:p>
          <a:p>
            <a:r>
              <a:rPr lang="en-US" b="1" dirty="0"/>
              <a:t>Key Features:</a:t>
            </a:r>
            <a:r>
              <a:rPr lang="en-US" dirty="0"/>
              <a:t> Highly targeted and measurable, but can be perceived as "junk mail" or "spam" if not done well.</a:t>
            </a:r>
          </a:p>
          <a:p>
            <a:r>
              <a:rPr lang="en-US" b="1" dirty="0"/>
              <a:t>Examples:</a:t>
            </a:r>
            <a:endParaRPr lang="en-US" dirty="0"/>
          </a:p>
          <a:p>
            <a:pPr lvl="1"/>
            <a:r>
              <a:rPr lang="en-US" dirty="0"/>
              <a:t>Email marketing campaigns</a:t>
            </a:r>
          </a:p>
          <a:p>
            <a:pPr lvl="1"/>
            <a:r>
              <a:rPr lang="en-US" dirty="0"/>
              <a:t>Targeted text messages (SMS)</a:t>
            </a:r>
          </a:p>
          <a:p>
            <a:pPr lvl="1"/>
            <a:r>
              <a:rPr lang="en-US" dirty="0"/>
              <a:t>Direct mail (catalogs, postcards)</a:t>
            </a:r>
          </a:p>
          <a:p>
            <a:pPr lvl="1"/>
            <a:r>
              <a:rPr lang="en-US" dirty="0"/>
              <a:t>Telemarketing</a:t>
            </a:r>
          </a:p>
          <a:p>
            <a:endParaRPr lang="en-CA" dirty="0"/>
          </a:p>
        </p:txBody>
      </p:sp>
    </p:spTree>
    <p:extLst>
      <p:ext uri="{BB962C8B-B14F-4D97-AF65-F5344CB8AC3E}">
        <p14:creationId xmlns:p14="http://schemas.microsoft.com/office/powerpoint/2010/main" val="27947335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CBDBB-B4D6-EFAF-19A7-850AE71BA01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DD0896B-CE49-0DE7-8E00-8B64FA5DFBD2}"/>
              </a:ext>
            </a:extLst>
          </p:cNvPr>
          <p:cNvSpPr>
            <a:spLocks noGrp="1"/>
          </p:cNvSpPr>
          <p:nvPr>
            <p:ph idx="1"/>
          </p:nvPr>
        </p:nvSpPr>
        <p:spPr/>
        <p:txBody>
          <a:bodyPr>
            <a:normAutofit fontScale="92500"/>
          </a:bodyPr>
          <a:lstStyle/>
          <a:p>
            <a:r>
              <a:rPr lang="en-US" b="1" dirty="0"/>
              <a:t>6. Digital / Online Marketing (Modern Addition)</a:t>
            </a:r>
          </a:p>
          <a:p>
            <a:r>
              <a:rPr lang="en-US" b="1" dirty="0"/>
              <a:t>What it is:</a:t>
            </a:r>
            <a:r>
              <a:rPr lang="en-US" dirty="0"/>
              <a:t> While often falling under Advertising and Direct Marketing, digital channels are now so crucial they are often considered their own category.</a:t>
            </a:r>
          </a:p>
          <a:p>
            <a:r>
              <a:rPr lang="en-US" b="1" dirty="0"/>
              <a:t>Examples:</a:t>
            </a:r>
            <a:endParaRPr lang="en-US" dirty="0"/>
          </a:p>
          <a:p>
            <a:pPr lvl="1"/>
            <a:r>
              <a:rPr lang="en-US" b="1" dirty="0"/>
              <a:t>Content Marketing:</a:t>
            </a:r>
            <a:r>
              <a:rPr lang="en-US" dirty="0"/>
              <a:t> Blog posts, e-books, and videos that provide value.</a:t>
            </a:r>
          </a:p>
          <a:p>
            <a:pPr lvl="1"/>
            <a:r>
              <a:rPr lang="en-US" b="1" dirty="0"/>
              <a:t>Social Media Marketing:</a:t>
            </a:r>
            <a:r>
              <a:rPr lang="en-US" dirty="0"/>
              <a:t> Organic posts and community engagement on platforms like Instagram or LinkedIn.</a:t>
            </a:r>
          </a:p>
          <a:p>
            <a:pPr lvl="1"/>
            <a:r>
              <a:rPr lang="en-US" b="1" dirty="0"/>
              <a:t>Search Engine Optimization (SEO):</a:t>
            </a:r>
            <a:r>
              <a:rPr lang="en-US" dirty="0"/>
              <a:t> Optimizing your website to rank higher in organic search results.</a:t>
            </a:r>
          </a:p>
          <a:p>
            <a:pPr lvl="1"/>
            <a:r>
              <a:rPr lang="en-US" b="1" dirty="0"/>
              <a:t>Influencer Marketing:</a:t>
            </a:r>
            <a:r>
              <a:rPr lang="en-US" dirty="0"/>
              <a:t> Partnering with online personalities to promote your product.</a:t>
            </a:r>
          </a:p>
          <a:p>
            <a:endParaRPr lang="en-CA" dirty="0"/>
          </a:p>
        </p:txBody>
      </p:sp>
    </p:spTree>
    <p:extLst>
      <p:ext uri="{BB962C8B-B14F-4D97-AF65-F5344CB8AC3E}">
        <p14:creationId xmlns:p14="http://schemas.microsoft.com/office/powerpoint/2010/main" val="23791134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58A4-08E6-6286-7581-8B9FFA638FCA}"/>
              </a:ext>
            </a:extLst>
          </p:cNvPr>
          <p:cNvSpPr>
            <a:spLocks noGrp="1"/>
          </p:cNvSpPr>
          <p:nvPr>
            <p:ph type="title"/>
          </p:nvPr>
        </p:nvSpPr>
        <p:spPr/>
        <p:txBody>
          <a:bodyPr/>
          <a:lstStyle/>
          <a:p>
            <a:r>
              <a:rPr lang="en-US" altLang="en-US" b="1" dirty="0">
                <a:solidFill>
                  <a:srgbClr val="0F1115"/>
                </a:solidFill>
                <a:latin typeface="quote-cjk-patch"/>
              </a:rPr>
              <a:t>Key Differences and Their Partnership</a:t>
            </a:r>
            <a:br>
              <a:rPr lang="en-US" altLang="en-US" b="1" dirty="0">
                <a:solidFill>
                  <a:srgbClr val="0F1115"/>
                </a:solidFill>
                <a:latin typeface="quote-cjk-patch"/>
              </a:rPr>
            </a:br>
            <a:endParaRPr lang="en-CA" dirty="0"/>
          </a:p>
        </p:txBody>
      </p:sp>
      <p:graphicFrame>
        <p:nvGraphicFramePr>
          <p:cNvPr id="4" name="Content Placeholder 3">
            <a:extLst>
              <a:ext uri="{FF2B5EF4-FFF2-40B4-BE49-F238E27FC236}">
                <a16:creationId xmlns:a16="http://schemas.microsoft.com/office/drawing/2014/main" id="{927ACCD8-2619-8851-0978-39AE7CDCB063}"/>
              </a:ext>
            </a:extLst>
          </p:cNvPr>
          <p:cNvGraphicFramePr>
            <a:graphicFrameLocks noGrp="1"/>
          </p:cNvGraphicFramePr>
          <p:nvPr>
            <p:ph idx="1"/>
            <p:extLst>
              <p:ext uri="{D42A27DB-BD31-4B8C-83A1-F6EECF244321}">
                <p14:modId xmlns:p14="http://schemas.microsoft.com/office/powerpoint/2010/main" val="3306397285"/>
              </p:ext>
            </p:extLst>
          </p:nvPr>
        </p:nvGraphicFramePr>
        <p:xfrm>
          <a:off x="838200" y="1481328"/>
          <a:ext cx="10515600" cy="4855464"/>
        </p:xfrm>
        <a:graphic>
          <a:graphicData uri="http://schemas.openxmlformats.org/drawingml/2006/table">
            <a:tbl>
              <a:tblPr/>
              <a:tblGrid>
                <a:gridCol w="3045502">
                  <a:extLst>
                    <a:ext uri="{9D8B030D-6E8A-4147-A177-3AD203B41FA5}">
                      <a16:colId xmlns:a16="http://schemas.microsoft.com/office/drawing/2014/main" val="75565653"/>
                    </a:ext>
                  </a:extLst>
                </a:gridCol>
                <a:gridCol w="3735049">
                  <a:extLst>
                    <a:ext uri="{9D8B030D-6E8A-4147-A177-3AD203B41FA5}">
                      <a16:colId xmlns:a16="http://schemas.microsoft.com/office/drawing/2014/main" val="4153753406"/>
                    </a:ext>
                  </a:extLst>
                </a:gridCol>
                <a:gridCol w="3735049">
                  <a:extLst>
                    <a:ext uri="{9D8B030D-6E8A-4147-A177-3AD203B41FA5}">
                      <a16:colId xmlns:a16="http://schemas.microsoft.com/office/drawing/2014/main" val="3312206458"/>
                    </a:ext>
                  </a:extLst>
                </a:gridCol>
              </a:tblGrid>
              <a:tr h="793682">
                <a:tc>
                  <a:txBody>
                    <a:bodyPr/>
                    <a:lstStyle/>
                    <a:p>
                      <a:pPr algn="l">
                        <a:lnSpc>
                          <a:spcPts val="1875"/>
                        </a:lnSpc>
                        <a:buNone/>
                      </a:pPr>
                      <a:r>
                        <a:rPr lang="en-CA" sz="2800" b="0">
                          <a:effectLst/>
                          <a:latin typeface="quote-cjk-patch"/>
                        </a:rPr>
                        <a:t>Aspect</a:t>
                      </a:r>
                    </a:p>
                  </a:txBody>
                  <a:tcPr marR="152400" marT="95250" marB="95250" anchor="ctr">
                    <a:lnL>
                      <a:noFill/>
                    </a:lnL>
                    <a:lnR>
                      <a:noFill/>
                    </a:lnR>
                    <a:lnT>
                      <a:noFill/>
                    </a:lnT>
                    <a:lnB>
                      <a:noFill/>
                    </a:lnB>
                    <a:noFill/>
                  </a:tcPr>
                </a:tc>
                <a:tc>
                  <a:txBody>
                    <a:bodyPr/>
                    <a:lstStyle/>
                    <a:p>
                      <a:pPr algn="l">
                        <a:lnSpc>
                          <a:spcPts val="1875"/>
                        </a:lnSpc>
                        <a:buNone/>
                      </a:pPr>
                      <a:r>
                        <a:rPr lang="en-CA" sz="2800" b="0">
                          <a:effectLst/>
                          <a:latin typeface="quote-cjk-patch"/>
                        </a:rPr>
                        <a:t>Branding</a:t>
                      </a:r>
                    </a:p>
                  </a:txBody>
                  <a:tcPr marL="152400" marR="152400" marT="95250" marB="95250" anchor="ctr">
                    <a:lnL>
                      <a:noFill/>
                    </a:lnL>
                    <a:lnR>
                      <a:noFill/>
                    </a:lnR>
                    <a:lnT>
                      <a:noFill/>
                    </a:lnT>
                    <a:lnB>
                      <a:noFill/>
                    </a:lnB>
                    <a:noFill/>
                  </a:tcPr>
                </a:tc>
                <a:tc>
                  <a:txBody>
                    <a:bodyPr/>
                    <a:lstStyle/>
                    <a:p>
                      <a:pPr algn="l">
                        <a:lnSpc>
                          <a:spcPts val="1875"/>
                        </a:lnSpc>
                        <a:buNone/>
                      </a:pPr>
                      <a:r>
                        <a:rPr lang="en-CA" sz="2800" b="0">
                          <a:effectLst/>
                          <a:latin typeface="quote-cjk-patch"/>
                        </a:rPr>
                        <a:t>Promotion</a:t>
                      </a:r>
                    </a:p>
                  </a:txBody>
                  <a:tcPr marL="152400" marR="152400" marT="95250" marB="95250" anchor="ctr">
                    <a:lnL>
                      <a:noFill/>
                    </a:lnL>
                    <a:lnR>
                      <a:noFill/>
                    </a:lnR>
                    <a:lnT>
                      <a:noFill/>
                    </a:lnT>
                    <a:lnB>
                      <a:noFill/>
                    </a:lnB>
                    <a:noFill/>
                  </a:tcPr>
                </a:tc>
                <a:extLst>
                  <a:ext uri="{0D108BD9-81ED-4DB2-BD59-A6C34878D82A}">
                    <a16:rowId xmlns:a16="http://schemas.microsoft.com/office/drawing/2014/main" val="4157903350"/>
                  </a:ext>
                </a:extLst>
              </a:tr>
              <a:tr h="1237209">
                <a:tc>
                  <a:txBody>
                    <a:bodyPr/>
                    <a:lstStyle/>
                    <a:p>
                      <a:pPr>
                        <a:lnSpc>
                          <a:spcPts val="1875"/>
                        </a:lnSpc>
                        <a:buNone/>
                      </a:pPr>
                      <a:r>
                        <a:rPr lang="en-CA" sz="2800" b="1">
                          <a:effectLst/>
                          <a:latin typeface="quote-cjk-patch"/>
                        </a:rPr>
                        <a:t>Focus</a:t>
                      </a:r>
                      <a:endParaRPr lang="en-CA" sz="2800"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CA" sz="2800" b="0" dirty="0">
                          <a:effectLst/>
                          <a:latin typeface="quote-cjk-patch"/>
                        </a:rPr>
                        <a:t>Long-term identity building</a:t>
                      </a:r>
                    </a:p>
                  </a:txBody>
                  <a:tcPr marL="152400" marR="152400" marT="95250" marB="95250" anchor="ctr">
                    <a:lnL>
                      <a:noFill/>
                    </a:lnL>
                    <a:lnR>
                      <a:noFill/>
                    </a:lnR>
                    <a:lnT>
                      <a:noFill/>
                    </a:lnT>
                    <a:lnB>
                      <a:noFill/>
                    </a:lnB>
                    <a:noFill/>
                  </a:tcPr>
                </a:tc>
                <a:tc>
                  <a:txBody>
                    <a:bodyPr/>
                    <a:lstStyle/>
                    <a:p>
                      <a:pPr>
                        <a:lnSpc>
                          <a:spcPts val="1875"/>
                        </a:lnSpc>
                        <a:buNone/>
                      </a:pPr>
                      <a:r>
                        <a:rPr lang="en-CA" sz="2800" b="0">
                          <a:effectLst/>
                          <a:latin typeface="quote-cjk-patch"/>
                        </a:rPr>
                        <a:t>Short-to-medium term sales generation</a:t>
                      </a:r>
                    </a:p>
                  </a:txBody>
                  <a:tcPr marL="152400" marT="95250" marB="95250" anchor="ctr">
                    <a:lnL>
                      <a:noFill/>
                    </a:lnL>
                    <a:lnR>
                      <a:noFill/>
                    </a:lnR>
                    <a:lnT>
                      <a:noFill/>
                    </a:lnT>
                    <a:lnB>
                      <a:noFill/>
                    </a:lnB>
                    <a:noFill/>
                  </a:tcPr>
                </a:tc>
                <a:extLst>
                  <a:ext uri="{0D108BD9-81ED-4DB2-BD59-A6C34878D82A}">
                    <a16:rowId xmlns:a16="http://schemas.microsoft.com/office/drawing/2014/main" val="235965760"/>
                  </a:ext>
                </a:extLst>
              </a:tr>
              <a:tr h="1237209">
                <a:tc>
                  <a:txBody>
                    <a:bodyPr/>
                    <a:lstStyle/>
                    <a:p>
                      <a:pPr>
                        <a:lnSpc>
                          <a:spcPts val="1875"/>
                        </a:lnSpc>
                        <a:buNone/>
                      </a:pPr>
                      <a:r>
                        <a:rPr lang="en-CA" sz="2800" b="1">
                          <a:effectLst/>
                          <a:latin typeface="quote-cjk-patch"/>
                        </a:rPr>
                        <a:t>Goal</a:t>
                      </a:r>
                      <a:endParaRPr lang="en-CA" sz="2800"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US" sz="2800" b="0" dirty="0">
                          <a:effectLst/>
                          <a:latin typeface="quote-cjk-patch"/>
                        </a:rPr>
                        <a:t>Create loyalty and perceived value</a:t>
                      </a:r>
                    </a:p>
                  </a:txBody>
                  <a:tcPr marL="152400" marR="152400" marT="95250" marB="95250" anchor="ctr">
                    <a:lnL>
                      <a:noFill/>
                    </a:lnL>
                    <a:lnR>
                      <a:noFill/>
                    </a:lnR>
                    <a:lnT>
                      <a:noFill/>
                    </a:lnT>
                    <a:lnB>
                      <a:noFill/>
                    </a:lnB>
                    <a:noFill/>
                  </a:tcPr>
                </a:tc>
                <a:tc>
                  <a:txBody>
                    <a:bodyPr/>
                    <a:lstStyle/>
                    <a:p>
                      <a:pPr>
                        <a:lnSpc>
                          <a:spcPts val="1875"/>
                        </a:lnSpc>
                        <a:buNone/>
                      </a:pPr>
                      <a:r>
                        <a:rPr lang="en-US" sz="2800" b="0">
                          <a:effectLst/>
                          <a:latin typeface="quote-cjk-patch"/>
                        </a:rPr>
                        <a:t>Generate awareness and immediate action</a:t>
                      </a:r>
                    </a:p>
                  </a:txBody>
                  <a:tcPr marL="152400" marT="95250" marB="95250" anchor="ctr">
                    <a:lnL>
                      <a:noFill/>
                    </a:lnL>
                    <a:lnR>
                      <a:noFill/>
                    </a:lnR>
                    <a:lnT>
                      <a:noFill/>
                    </a:lnT>
                    <a:lnB>
                      <a:noFill/>
                    </a:lnB>
                    <a:noFill/>
                  </a:tcPr>
                </a:tc>
                <a:extLst>
                  <a:ext uri="{0D108BD9-81ED-4DB2-BD59-A6C34878D82A}">
                    <a16:rowId xmlns:a16="http://schemas.microsoft.com/office/drawing/2014/main" val="1937730217"/>
                  </a:ext>
                </a:extLst>
              </a:tr>
              <a:tr h="793682">
                <a:tc>
                  <a:txBody>
                    <a:bodyPr/>
                    <a:lstStyle/>
                    <a:p>
                      <a:pPr>
                        <a:lnSpc>
                          <a:spcPts val="1875"/>
                        </a:lnSpc>
                        <a:buNone/>
                      </a:pPr>
                      <a:r>
                        <a:rPr lang="en-CA" sz="2800" b="1">
                          <a:effectLst/>
                          <a:latin typeface="quote-cjk-patch"/>
                        </a:rPr>
                        <a:t>Nature</a:t>
                      </a:r>
                      <a:endParaRPr lang="en-CA" sz="2800"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US" sz="2800" b="0">
                          <a:effectLst/>
                          <a:latin typeface="quote-cjk-patch"/>
                        </a:rPr>
                        <a:t>Strategic (planning who you are)</a:t>
                      </a:r>
                    </a:p>
                  </a:txBody>
                  <a:tcPr marL="152400" marR="152400" marT="95250" marB="95250" anchor="ctr">
                    <a:lnL>
                      <a:noFill/>
                    </a:lnL>
                    <a:lnR>
                      <a:noFill/>
                    </a:lnR>
                    <a:lnT>
                      <a:noFill/>
                    </a:lnT>
                    <a:lnB>
                      <a:noFill/>
                    </a:lnB>
                    <a:noFill/>
                  </a:tcPr>
                </a:tc>
                <a:tc>
                  <a:txBody>
                    <a:bodyPr/>
                    <a:lstStyle/>
                    <a:p>
                      <a:pPr>
                        <a:lnSpc>
                          <a:spcPts val="1875"/>
                        </a:lnSpc>
                        <a:buNone/>
                      </a:pPr>
                      <a:r>
                        <a:rPr lang="en-CA" sz="2800" b="0">
                          <a:effectLst/>
                          <a:latin typeface="quote-cjk-patch"/>
                        </a:rPr>
                        <a:t>Tactical (executing communication)</a:t>
                      </a:r>
                    </a:p>
                  </a:txBody>
                  <a:tcPr marL="152400" marT="95250" marB="95250" anchor="ctr">
                    <a:lnL>
                      <a:noFill/>
                    </a:lnL>
                    <a:lnR>
                      <a:noFill/>
                    </a:lnR>
                    <a:lnT>
                      <a:noFill/>
                    </a:lnT>
                    <a:lnB>
                      <a:noFill/>
                    </a:lnB>
                    <a:noFill/>
                  </a:tcPr>
                </a:tc>
                <a:extLst>
                  <a:ext uri="{0D108BD9-81ED-4DB2-BD59-A6C34878D82A}">
                    <a16:rowId xmlns:a16="http://schemas.microsoft.com/office/drawing/2014/main" val="2291145793"/>
                  </a:ext>
                </a:extLst>
              </a:tr>
              <a:tr h="793682">
                <a:tc>
                  <a:txBody>
                    <a:bodyPr/>
                    <a:lstStyle/>
                    <a:p>
                      <a:pPr>
                        <a:lnSpc>
                          <a:spcPts val="1875"/>
                        </a:lnSpc>
                        <a:buNone/>
                      </a:pPr>
                      <a:r>
                        <a:rPr lang="en-CA" sz="2800" b="1">
                          <a:effectLst/>
                          <a:latin typeface="quote-cjk-patch"/>
                        </a:rPr>
                        <a:t>Timeframe</a:t>
                      </a:r>
                      <a:endParaRPr lang="en-CA" sz="2800"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CA" sz="2800" b="0">
                          <a:effectLst/>
                          <a:latin typeface="quote-cjk-patch"/>
                        </a:rPr>
                        <a:t>Years to decades</a:t>
                      </a:r>
                    </a:p>
                  </a:txBody>
                  <a:tcPr marL="152400" marR="152400" marT="95250" marB="95250" anchor="ctr">
                    <a:lnL>
                      <a:noFill/>
                    </a:lnL>
                    <a:lnR>
                      <a:noFill/>
                    </a:lnR>
                    <a:lnT>
                      <a:noFill/>
                    </a:lnT>
                    <a:lnB>
                      <a:noFill/>
                    </a:lnB>
                    <a:noFill/>
                  </a:tcPr>
                </a:tc>
                <a:tc>
                  <a:txBody>
                    <a:bodyPr/>
                    <a:lstStyle/>
                    <a:p>
                      <a:pPr>
                        <a:lnSpc>
                          <a:spcPts val="1875"/>
                        </a:lnSpc>
                        <a:buNone/>
                      </a:pPr>
                      <a:r>
                        <a:rPr lang="en-CA" sz="2800" b="0" dirty="0">
                          <a:effectLst/>
                          <a:latin typeface="quote-cjk-patch"/>
                        </a:rPr>
                        <a:t>Weeks to months</a:t>
                      </a:r>
                    </a:p>
                  </a:txBody>
                  <a:tcPr marL="152400" marT="95250" marB="95250" anchor="ctr">
                    <a:lnL>
                      <a:noFill/>
                    </a:lnL>
                    <a:lnR>
                      <a:noFill/>
                    </a:lnR>
                    <a:lnT>
                      <a:noFill/>
                    </a:lnT>
                    <a:lnB>
                      <a:noFill/>
                    </a:lnB>
                    <a:noFill/>
                  </a:tcPr>
                </a:tc>
                <a:extLst>
                  <a:ext uri="{0D108BD9-81ED-4DB2-BD59-A6C34878D82A}">
                    <a16:rowId xmlns:a16="http://schemas.microsoft.com/office/drawing/2014/main" val="2927854186"/>
                  </a:ext>
                </a:extLst>
              </a:tr>
            </a:tbl>
          </a:graphicData>
        </a:graphic>
      </p:graphicFrame>
      <p:sp>
        <p:nvSpPr>
          <p:cNvPr id="5" name="Rectangle 1">
            <a:extLst>
              <a:ext uri="{FF2B5EF4-FFF2-40B4-BE49-F238E27FC236}">
                <a16:creationId xmlns:a16="http://schemas.microsoft.com/office/drawing/2014/main" id="{D681C41F-17E6-844F-E446-721214CED903}"/>
              </a:ext>
            </a:extLst>
          </p:cNvPr>
          <p:cNvSpPr>
            <a:spLocks noChangeArrowheads="1"/>
          </p:cNvSpPr>
          <p:nvPr/>
        </p:nvSpPr>
        <p:spPr bwMode="auto">
          <a:xfrm>
            <a:off x="0" y="-63739"/>
            <a:ext cx="65" cy="5846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3136"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94615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82A08-FA6D-F2C0-145E-C9E91CB214C7}"/>
              </a:ext>
            </a:extLst>
          </p:cNvPr>
          <p:cNvSpPr>
            <a:spLocks noGrp="1"/>
          </p:cNvSpPr>
          <p:nvPr>
            <p:ph type="title"/>
          </p:nvPr>
        </p:nvSpPr>
        <p:spPr/>
        <p:txBody>
          <a:bodyPr/>
          <a:lstStyle/>
          <a:p>
            <a:r>
              <a:rPr lang="en-US" dirty="0">
                <a:solidFill>
                  <a:prstClr val="black"/>
                </a:solidFill>
                <a:latin typeface="Times New Roman" panose="02020603050405020304" pitchFamily="18" charset="0"/>
                <a:ea typeface="Times New Roman" panose="02020603050405020304" pitchFamily="18" charset="0"/>
              </a:rPr>
              <a:t>Business strategy development</a:t>
            </a:r>
            <a:endParaRPr lang="en-CA" dirty="0"/>
          </a:p>
        </p:txBody>
      </p:sp>
      <p:sp>
        <p:nvSpPr>
          <p:cNvPr id="3" name="Content Placeholder 2">
            <a:extLst>
              <a:ext uri="{FF2B5EF4-FFF2-40B4-BE49-F238E27FC236}">
                <a16:creationId xmlns:a16="http://schemas.microsoft.com/office/drawing/2014/main" id="{00DC03B3-3A69-08A3-2D2F-05DD946856BA}"/>
              </a:ext>
            </a:extLst>
          </p:cNvPr>
          <p:cNvSpPr>
            <a:spLocks noGrp="1"/>
          </p:cNvSpPr>
          <p:nvPr>
            <p:ph idx="1"/>
          </p:nvPr>
        </p:nvSpPr>
        <p:spPr>
          <a:xfrm>
            <a:off x="475488" y="1825625"/>
            <a:ext cx="11521440" cy="4351338"/>
          </a:xfrm>
        </p:spPr>
        <p:txBody>
          <a:bodyPr/>
          <a:lstStyle/>
          <a:p>
            <a:r>
              <a:rPr lang="en-US" dirty="0"/>
              <a:t>A </a:t>
            </a:r>
            <a:r>
              <a:rPr lang="en-US" b="1" dirty="0"/>
              <a:t>Business Strategy</a:t>
            </a:r>
            <a:r>
              <a:rPr lang="en-US" dirty="0"/>
              <a:t> is a comprehensive plan that plans how a business will achieve its vision, mission, and long-term objectives. It's a roadmap that aligns the company's activities and resources to create a sustainable competitive advantage.</a:t>
            </a:r>
            <a:br>
              <a:rPr lang="en-US" dirty="0"/>
            </a:br>
            <a:r>
              <a:rPr lang="en-US" b="1" dirty="0"/>
              <a:t>Business Strategy Development</a:t>
            </a:r>
            <a:r>
              <a:rPr lang="en-US" dirty="0"/>
              <a:t> is the systematic process of defining a company's direction, making strategic choices about allocating resources, and executing plans to achieve long-term goals and beat competitors.</a:t>
            </a:r>
            <a:endParaRPr lang="en-CA" dirty="0"/>
          </a:p>
        </p:txBody>
      </p:sp>
    </p:spTree>
    <p:extLst>
      <p:ext uri="{BB962C8B-B14F-4D97-AF65-F5344CB8AC3E}">
        <p14:creationId xmlns:p14="http://schemas.microsoft.com/office/powerpoint/2010/main" val="360715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F11AE-3CE6-04A2-1678-DCB66DB31914}"/>
              </a:ext>
            </a:extLst>
          </p:cNvPr>
          <p:cNvSpPr>
            <a:spLocks noGrp="1"/>
          </p:cNvSpPr>
          <p:nvPr>
            <p:ph type="title"/>
          </p:nvPr>
        </p:nvSpPr>
        <p:spPr/>
        <p:txBody>
          <a:bodyPr/>
          <a:lstStyle/>
          <a:p>
            <a:r>
              <a:rPr lang="en-US" b="1" dirty="0"/>
              <a:t>Vision and Mission statements</a:t>
            </a:r>
            <a:r>
              <a:rPr lang="en-US" dirty="0"/>
              <a:t> </a:t>
            </a:r>
            <a:endParaRPr lang="en-CA" dirty="0"/>
          </a:p>
        </p:txBody>
      </p:sp>
      <p:sp>
        <p:nvSpPr>
          <p:cNvPr id="3" name="Content Placeholder 2">
            <a:extLst>
              <a:ext uri="{FF2B5EF4-FFF2-40B4-BE49-F238E27FC236}">
                <a16:creationId xmlns:a16="http://schemas.microsoft.com/office/drawing/2014/main" id="{C57323C0-23F7-829D-294D-CAA186AA4FAC}"/>
              </a:ext>
            </a:extLst>
          </p:cNvPr>
          <p:cNvSpPr>
            <a:spLocks noGrp="1"/>
          </p:cNvSpPr>
          <p:nvPr>
            <p:ph idx="1"/>
          </p:nvPr>
        </p:nvSpPr>
        <p:spPr>
          <a:xfrm>
            <a:off x="758952" y="1789049"/>
            <a:ext cx="10933176" cy="4351338"/>
          </a:xfrm>
        </p:spPr>
        <p:txBody>
          <a:bodyPr/>
          <a:lstStyle/>
          <a:p>
            <a:r>
              <a:rPr lang="en-US" b="1" dirty="0"/>
              <a:t>Vision and Mission statements</a:t>
            </a:r>
            <a:r>
              <a:rPr lang="en-US" dirty="0"/>
              <a:t> are the foundational pillars of business strategy development. They provide direction, purpose, and alignment for all strategic decisions.</a:t>
            </a:r>
            <a:endParaRPr lang="en-CA" dirty="0"/>
          </a:p>
        </p:txBody>
      </p:sp>
    </p:spTree>
    <p:extLst>
      <p:ext uri="{BB962C8B-B14F-4D97-AF65-F5344CB8AC3E}">
        <p14:creationId xmlns:p14="http://schemas.microsoft.com/office/powerpoint/2010/main" val="3833226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833B9-62A9-C1E6-4F72-0BC912B8255C}"/>
              </a:ext>
            </a:extLst>
          </p:cNvPr>
          <p:cNvSpPr>
            <a:spLocks noGrp="1"/>
          </p:cNvSpPr>
          <p:nvPr>
            <p:ph type="title"/>
          </p:nvPr>
        </p:nvSpPr>
        <p:spPr>
          <a:xfrm>
            <a:off x="838200" y="612648"/>
            <a:ext cx="10515600" cy="1078040"/>
          </a:xfrm>
        </p:spPr>
        <p:txBody>
          <a:bodyPr>
            <a:normAutofit fontScale="90000"/>
          </a:bodyPr>
          <a:lstStyle/>
          <a:p>
            <a:r>
              <a:rPr lang="en-US" b="1" dirty="0"/>
              <a:t>Vision Statement: The Dream</a:t>
            </a:r>
            <a:br>
              <a:rPr lang="en-US" b="1" dirty="0"/>
            </a:br>
            <a:endParaRPr lang="en-CA" dirty="0"/>
          </a:p>
        </p:txBody>
      </p:sp>
      <p:sp>
        <p:nvSpPr>
          <p:cNvPr id="3" name="Content Placeholder 2">
            <a:extLst>
              <a:ext uri="{FF2B5EF4-FFF2-40B4-BE49-F238E27FC236}">
                <a16:creationId xmlns:a16="http://schemas.microsoft.com/office/drawing/2014/main" id="{61045362-6F64-C227-B324-F461DAB8F1CA}"/>
              </a:ext>
            </a:extLst>
          </p:cNvPr>
          <p:cNvSpPr>
            <a:spLocks noGrp="1"/>
          </p:cNvSpPr>
          <p:nvPr>
            <p:ph idx="1"/>
          </p:nvPr>
        </p:nvSpPr>
        <p:spPr>
          <a:xfrm>
            <a:off x="265176" y="1389888"/>
            <a:ext cx="11585448" cy="5468112"/>
          </a:xfrm>
        </p:spPr>
        <p:txBody>
          <a:bodyPr>
            <a:normAutofit lnSpcReduction="10000"/>
          </a:bodyPr>
          <a:lstStyle/>
          <a:p>
            <a:r>
              <a:rPr lang="en-US" dirty="0"/>
              <a:t>A Vision Statement is a company's big dream for the future. It's not about what they do every day, but about the positive change they want to create in the world someday.</a:t>
            </a:r>
          </a:p>
          <a:p>
            <a:r>
              <a:rPr lang="en-US" dirty="0"/>
              <a:t>A </a:t>
            </a:r>
            <a:r>
              <a:rPr lang="en-US" b="1" dirty="0"/>
              <a:t>vision statement</a:t>
            </a:r>
            <a:r>
              <a:rPr lang="en-US" dirty="0"/>
              <a:t> is a short and clear description of what an organization </a:t>
            </a:r>
            <a:r>
              <a:rPr lang="en-US" b="1" dirty="0"/>
              <a:t>wants to achieve in the future</a:t>
            </a:r>
            <a:r>
              <a:rPr lang="en-US" dirty="0"/>
              <a:t>. It shows the </a:t>
            </a:r>
            <a:r>
              <a:rPr lang="en-US" b="1" dirty="0"/>
              <a:t>dream or long-term goal</a:t>
            </a:r>
            <a:r>
              <a:rPr lang="en-US" dirty="0"/>
              <a:t> of the organization and guides everyone toward where it wants to go.</a:t>
            </a:r>
          </a:p>
          <a:p>
            <a:endParaRPr lang="en-US" dirty="0"/>
          </a:p>
          <a:p>
            <a:r>
              <a:rPr lang="en-US" dirty="0"/>
              <a:t> A good vision statement is easy to remember and gets people excited. For example, Tesla's vision is to help the world switch to clean energy, </a:t>
            </a:r>
          </a:p>
          <a:p>
            <a:r>
              <a:rPr lang="en-US" dirty="0"/>
              <a:t>Microsoft's is to help everyone achieve more, and </a:t>
            </a:r>
          </a:p>
          <a:p>
            <a:r>
              <a:rPr lang="en-US" dirty="0"/>
              <a:t>the Chaudhary Group's vision is to help represent Nepal on the global stage. </a:t>
            </a:r>
          </a:p>
          <a:p>
            <a:r>
              <a:rPr lang="en-US" dirty="0"/>
              <a:t>In fact vision statement is all about painting a picture of the ideal future they are working to build.</a:t>
            </a:r>
            <a:endParaRPr lang="en-CA" dirty="0"/>
          </a:p>
        </p:txBody>
      </p:sp>
    </p:spTree>
    <p:extLst>
      <p:ext uri="{BB962C8B-B14F-4D97-AF65-F5344CB8AC3E}">
        <p14:creationId xmlns:p14="http://schemas.microsoft.com/office/powerpoint/2010/main" val="24588192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3F7DB-C84D-803D-819A-9CB89BC262E9}"/>
              </a:ext>
            </a:extLst>
          </p:cNvPr>
          <p:cNvSpPr>
            <a:spLocks noGrp="1"/>
          </p:cNvSpPr>
          <p:nvPr>
            <p:ph type="title"/>
          </p:nvPr>
        </p:nvSpPr>
        <p:spPr/>
        <p:txBody>
          <a:bodyPr/>
          <a:lstStyle/>
          <a:p>
            <a:r>
              <a:rPr lang="en-US" dirty="0">
                <a:solidFill>
                  <a:prstClr val="black"/>
                </a:solidFill>
                <a:latin typeface="Times New Roman" panose="02020603050405020304" pitchFamily="18" charset="0"/>
                <a:ea typeface="Times New Roman" panose="02020603050405020304" pitchFamily="18" charset="0"/>
              </a:rPr>
              <a:t>Mission statements</a:t>
            </a:r>
            <a:endParaRPr lang="en-CA" dirty="0"/>
          </a:p>
        </p:txBody>
      </p:sp>
      <p:sp>
        <p:nvSpPr>
          <p:cNvPr id="3" name="Content Placeholder 2">
            <a:extLst>
              <a:ext uri="{FF2B5EF4-FFF2-40B4-BE49-F238E27FC236}">
                <a16:creationId xmlns:a16="http://schemas.microsoft.com/office/drawing/2014/main" id="{194CC7B4-7786-ADF8-8A1A-4272C45A40E5}"/>
              </a:ext>
            </a:extLst>
          </p:cNvPr>
          <p:cNvSpPr>
            <a:spLocks noGrp="1"/>
          </p:cNvSpPr>
          <p:nvPr>
            <p:ph idx="1"/>
          </p:nvPr>
        </p:nvSpPr>
        <p:spPr>
          <a:xfrm>
            <a:off x="838200" y="1750315"/>
            <a:ext cx="10515600" cy="4351338"/>
          </a:xfrm>
        </p:spPr>
        <p:txBody>
          <a:bodyPr>
            <a:normAutofit fontScale="92500" lnSpcReduction="20000"/>
          </a:bodyPr>
          <a:lstStyle/>
          <a:p>
            <a:r>
              <a:rPr lang="en-US" dirty="0"/>
              <a:t>A </a:t>
            </a:r>
            <a:r>
              <a:rPr lang="en-US" b="1" dirty="0"/>
              <a:t>mission statement</a:t>
            </a:r>
            <a:r>
              <a:rPr lang="en-US" dirty="0"/>
              <a:t> is a formal, brief written declaration of a company's core purpose and focus. It explains </a:t>
            </a:r>
            <a:r>
              <a:rPr lang="en-US" i="1" dirty="0"/>
              <a:t>why</a:t>
            </a:r>
            <a:r>
              <a:rPr lang="en-US" dirty="0"/>
              <a:t> the company exists, </a:t>
            </a:r>
            <a:r>
              <a:rPr lang="en-US" i="1" dirty="0"/>
              <a:t>what</a:t>
            </a:r>
            <a:r>
              <a:rPr lang="en-US" dirty="0"/>
              <a:t> it does, </a:t>
            </a:r>
            <a:r>
              <a:rPr lang="en-US" i="1" dirty="0"/>
              <a:t>who</a:t>
            </a:r>
            <a:r>
              <a:rPr lang="en-US" dirty="0"/>
              <a:t> it serves, and </a:t>
            </a:r>
            <a:r>
              <a:rPr lang="en-US" i="1" dirty="0"/>
              <a:t>what</a:t>
            </a:r>
            <a:r>
              <a:rPr lang="en-US" dirty="0"/>
              <a:t> it hopes to achieve.</a:t>
            </a:r>
          </a:p>
          <a:p>
            <a:endParaRPr lang="en-US" dirty="0"/>
          </a:p>
          <a:p>
            <a:r>
              <a:rPr lang="en-US" dirty="0"/>
              <a:t>A </a:t>
            </a:r>
            <a:r>
              <a:rPr lang="en-US" b="1" dirty="0"/>
              <a:t>mission statement</a:t>
            </a:r>
            <a:r>
              <a:rPr lang="en-US" dirty="0"/>
              <a:t> is a clear explanation of </a:t>
            </a:r>
            <a:r>
              <a:rPr lang="en-US" b="1" dirty="0"/>
              <a:t>what an organization does, who it serves, and how it works</a:t>
            </a:r>
            <a:r>
              <a:rPr lang="en-US" dirty="0"/>
              <a:t>. It describes the company’s </a:t>
            </a:r>
            <a:r>
              <a:rPr lang="en-US" b="1" dirty="0"/>
              <a:t>purpose today</a:t>
            </a:r>
            <a:r>
              <a:rPr lang="en-US" dirty="0"/>
              <a:t> and guides its daily actions and decisions.</a:t>
            </a:r>
          </a:p>
          <a:p>
            <a:r>
              <a:rPr lang="en-US" dirty="0"/>
              <a:t>The </a:t>
            </a:r>
            <a:r>
              <a:rPr lang="en-US" b="1" dirty="0"/>
              <a:t>mission statement of Tesla</a:t>
            </a:r>
            <a:r>
              <a:rPr lang="en-US" dirty="0"/>
              <a:t> is:</a:t>
            </a:r>
          </a:p>
          <a:p>
            <a:r>
              <a:rPr lang="en-US" b="1" dirty="0"/>
              <a:t>“To accelerate the world’s transition to sustainable energy.”</a:t>
            </a:r>
            <a:endParaRPr lang="en-US" dirty="0"/>
          </a:p>
          <a:p>
            <a:r>
              <a:rPr lang="en-US" dirty="0"/>
              <a:t>This means Tesla aims to reduce dependence on fossil fuels by promoting clean energy through electric vehicles, solar power, and energy storage solutions.</a:t>
            </a:r>
          </a:p>
          <a:p>
            <a:endParaRPr lang="en-CA" dirty="0"/>
          </a:p>
        </p:txBody>
      </p:sp>
    </p:spTree>
    <p:extLst>
      <p:ext uri="{BB962C8B-B14F-4D97-AF65-F5344CB8AC3E}">
        <p14:creationId xmlns:p14="http://schemas.microsoft.com/office/powerpoint/2010/main" val="26800969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A8CB4-8245-2EFF-711A-515C1C0BEC37}"/>
              </a:ext>
            </a:extLst>
          </p:cNvPr>
          <p:cNvSpPr>
            <a:spLocks noGrp="1"/>
          </p:cNvSpPr>
          <p:nvPr>
            <p:ph type="title"/>
          </p:nvPr>
        </p:nvSpPr>
        <p:spPr/>
        <p:txBody>
          <a:bodyPr>
            <a:normAutofit fontScale="90000"/>
          </a:bodyPr>
          <a:lstStyle/>
          <a:p>
            <a:r>
              <a:rPr lang="en-US" b="1" dirty="0"/>
              <a:t>Key Characteristics of a Strong Mission Statement</a:t>
            </a:r>
            <a:br>
              <a:rPr lang="en-US" b="1" dirty="0"/>
            </a:br>
            <a:endParaRPr lang="en-CA" dirty="0"/>
          </a:p>
        </p:txBody>
      </p:sp>
      <p:sp>
        <p:nvSpPr>
          <p:cNvPr id="3" name="Content Placeholder 2">
            <a:extLst>
              <a:ext uri="{FF2B5EF4-FFF2-40B4-BE49-F238E27FC236}">
                <a16:creationId xmlns:a16="http://schemas.microsoft.com/office/drawing/2014/main" id="{9DC40299-E115-2D13-BFE0-EA06CACBEF2E}"/>
              </a:ext>
            </a:extLst>
          </p:cNvPr>
          <p:cNvSpPr>
            <a:spLocks noGrp="1"/>
          </p:cNvSpPr>
          <p:nvPr>
            <p:ph idx="1"/>
          </p:nvPr>
        </p:nvSpPr>
        <p:spPr/>
        <p:txBody>
          <a:bodyPr/>
          <a:lstStyle/>
          <a:p>
            <a:r>
              <a:rPr lang="en-US" b="1" dirty="0"/>
              <a:t>Brief and Clear:</a:t>
            </a:r>
            <a:r>
              <a:rPr lang="en-US" dirty="0"/>
              <a:t> Easy to understand and remember.</a:t>
            </a:r>
          </a:p>
          <a:p>
            <a:r>
              <a:rPr lang="en-US" b="1" dirty="0"/>
              <a:t>Customer-Focused:</a:t>
            </a:r>
            <a:r>
              <a:rPr lang="en-US" dirty="0"/>
              <a:t> Defines the value provided to the customer.</a:t>
            </a:r>
          </a:p>
          <a:p>
            <a:r>
              <a:rPr lang="en-US" b="1" dirty="0"/>
              <a:t>Action-Oriented:</a:t>
            </a:r>
            <a:r>
              <a:rPr lang="en-US" dirty="0"/>
              <a:t> Describes the core business activities.</a:t>
            </a:r>
          </a:p>
          <a:p>
            <a:r>
              <a:rPr lang="en-US" b="1" dirty="0"/>
              <a:t>Distinctive:</a:t>
            </a:r>
            <a:r>
              <a:rPr lang="en-US" dirty="0"/>
              <a:t> Differentiates the company from its competitors.</a:t>
            </a:r>
          </a:p>
          <a:p>
            <a:r>
              <a:rPr lang="en-US" b="1" dirty="0"/>
              <a:t>Motivational:</a:t>
            </a:r>
            <a:r>
              <a:rPr lang="en-US" dirty="0"/>
              <a:t> Inspires employees and stakeholders.</a:t>
            </a:r>
          </a:p>
          <a:p>
            <a:endParaRPr lang="en-CA" dirty="0"/>
          </a:p>
        </p:txBody>
      </p:sp>
    </p:spTree>
    <p:extLst>
      <p:ext uri="{BB962C8B-B14F-4D97-AF65-F5344CB8AC3E}">
        <p14:creationId xmlns:p14="http://schemas.microsoft.com/office/powerpoint/2010/main" val="10105893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40175-0A65-724D-FA87-13FB2331C0D5}"/>
              </a:ext>
            </a:extLst>
          </p:cNvPr>
          <p:cNvSpPr>
            <a:spLocks noGrp="1"/>
          </p:cNvSpPr>
          <p:nvPr>
            <p:ph type="title"/>
          </p:nvPr>
        </p:nvSpPr>
        <p:spPr/>
        <p:txBody>
          <a:bodyPr/>
          <a:lstStyle/>
          <a:p>
            <a:r>
              <a:rPr lang="en-US" dirty="0"/>
              <a:t>Vision statement vs mission statement </a:t>
            </a:r>
            <a:endParaRPr lang="en-CA" dirty="0"/>
          </a:p>
        </p:txBody>
      </p:sp>
      <p:graphicFrame>
        <p:nvGraphicFramePr>
          <p:cNvPr id="4" name="Content Placeholder 3">
            <a:extLst>
              <a:ext uri="{FF2B5EF4-FFF2-40B4-BE49-F238E27FC236}">
                <a16:creationId xmlns:a16="http://schemas.microsoft.com/office/drawing/2014/main" id="{96352F84-2A3B-3810-2B90-38926AAAF4DE}"/>
              </a:ext>
            </a:extLst>
          </p:cNvPr>
          <p:cNvGraphicFramePr>
            <a:graphicFrameLocks noGrp="1"/>
          </p:cNvGraphicFramePr>
          <p:nvPr>
            <p:ph idx="1"/>
            <p:extLst>
              <p:ext uri="{D42A27DB-BD31-4B8C-83A1-F6EECF244321}">
                <p14:modId xmlns:p14="http://schemas.microsoft.com/office/powerpoint/2010/main" val="1715076446"/>
              </p:ext>
            </p:extLst>
          </p:nvPr>
        </p:nvGraphicFramePr>
        <p:xfrm>
          <a:off x="1014984" y="1825625"/>
          <a:ext cx="10187178" cy="4389729"/>
        </p:xfrm>
        <a:graphic>
          <a:graphicData uri="http://schemas.openxmlformats.org/drawingml/2006/table">
            <a:tbl>
              <a:tblPr/>
              <a:tblGrid>
                <a:gridCol w="3378962">
                  <a:extLst>
                    <a:ext uri="{9D8B030D-6E8A-4147-A177-3AD203B41FA5}">
                      <a16:colId xmlns:a16="http://schemas.microsoft.com/office/drawing/2014/main" val="4147836167"/>
                    </a:ext>
                  </a:extLst>
                </a:gridCol>
                <a:gridCol w="3404108">
                  <a:extLst>
                    <a:ext uri="{9D8B030D-6E8A-4147-A177-3AD203B41FA5}">
                      <a16:colId xmlns:a16="http://schemas.microsoft.com/office/drawing/2014/main" val="1299999066"/>
                    </a:ext>
                  </a:extLst>
                </a:gridCol>
                <a:gridCol w="3404108">
                  <a:extLst>
                    <a:ext uri="{9D8B030D-6E8A-4147-A177-3AD203B41FA5}">
                      <a16:colId xmlns:a16="http://schemas.microsoft.com/office/drawing/2014/main" val="3455245692"/>
                    </a:ext>
                  </a:extLst>
                </a:gridCol>
              </a:tblGrid>
              <a:tr h="355211">
                <a:tc>
                  <a:txBody>
                    <a:bodyPr/>
                    <a:lstStyle/>
                    <a:p>
                      <a:pPr>
                        <a:buNone/>
                      </a:pPr>
                      <a:r>
                        <a:rPr lang="en-CA" sz="2000" b="1" dirty="0"/>
                        <a:t>Aspect</a:t>
                      </a:r>
                    </a:p>
                  </a:txBody>
                  <a:tcPr marL="88803" marR="88803" marT="44401" marB="44401" anchor="ctr">
                    <a:lnL>
                      <a:noFill/>
                    </a:lnL>
                    <a:lnR>
                      <a:noFill/>
                    </a:lnR>
                    <a:lnT>
                      <a:noFill/>
                    </a:lnT>
                    <a:lnB>
                      <a:noFill/>
                    </a:lnB>
                    <a:noFill/>
                  </a:tcPr>
                </a:tc>
                <a:tc>
                  <a:txBody>
                    <a:bodyPr/>
                    <a:lstStyle/>
                    <a:p>
                      <a:pPr>
                        <a:buNone/>
                      </a:pPr>
                      <a:r>
                        <a:rPr lang="en-CA" sz="2000" b="1" dirty="0"/>
                        <a:t>Mission Statement</a:t>
                      </a:r>
                    </a:p>
                  </a:txBody>
                  <a:tcPr marL="88803" marR="88803" marT="44401" marB="44401" anchor="ctr">
                    <a:lnL>
                      <a:noFill/>
                    </a:lnL>
                    <a:lnR>
                      <a:noFill/>
                    </a:lnR>
                    <a:lnT>
                      <a:noFill/>
                    </a:lnT>
                    <a:lnB>
                      <a:noFill/>
                    </a:lnB>
                    <a:noFill/>
                  </a:tcPr>
                </a:tc>
                <a:tc>
                  <a:txBody>
                    <a:bodyPr/>
                    <a:lstStyle/>
                    <a:p>
                      <a:pPr>
                        <a:buNone/>
                      </a:pPr>
                      <a:r>
                        <a:rPr lang="en-CA" sz="2000" b="1" dirty="0"/>
                        <a:t>Vision Statement</a:t>
                      </a:r>
                    </a:p>
                  </a:txBody>
                  <a:tcPr marL="88803" marR="88803" marT="44401" marB="44401" anchor="ctr">
                    <a:lnL>
                      <a:noFill/>
                    </a:lnL>
                    <a:lnR>
                      <a:noFill/>
                    </a:lnR>
                    <a:lnT>
                      <a:noFill/>
                    </a:lnT>
                    <a:lnB>
                      <a:noFill/>
                    </a:lnB>
                    <a:noFill/>
                  </a:tcPr>
                </a:tc>
                <a:extLst>
                  <a:ext uri="{0D108BD9-81ED-4DB2-BD59-A6C34878D82A}">
                    <a16:rowId xmlns:a16="http://schemas.microsoft.com/office/drawing/2014/main" val="3483884415"/>
                  </a:ext>
                </a:extLst>
              </a:tr>
              <a:tr h="355211">
                <a:tc>
                  <a:txBody>
                    <a:bodyPr/>
                    <a:lstStyle/>
                    <a:p>
                      <a:pPr>
                        <a:buNone/>
                      </a:pPr>
                      <a:r>
                        <a:rPr lang="en-CA" sz="1700" b="1" dirty="0"/>
                        <a:t>Timeframe</a:t>
                      </a:r>
                      <a:endParaRPr lang="en-CA" sz="1700" dirty="0"/>
                    </a:p>
                  </a:txBody>
                  <a:tcPr marL="88803" marR="88803" marT="44401" marB="44401" anchor="ctr">
                    <a:lnL>
                      <a:noFill/>
                    </a:lnL>
                    <a:lnR>
                      <a:noFill/>
                    </a:lnR>
                    <a:lnT>
                      <a:noFill/>
                    </a:lnT>
                    <a:lnB>
                      <a:noFill/>
                    </a:lnB>
                    <a:noFill/>
                  </a:tcPr>
                </a:tc>
                <a:tc>
                  <a:txBody>
                    <a:bodyPr/>
                    <a:lstStyle/>
                    <a:p>
                      <a:pPr>
                        <a:buNone/>
                      </a:pPr>
                      <a:r>
                        <a:rPr lang="en-CA" sz="1700" b="1" dirty="0"/>
                        <a:t>Present</a:t>
                      </a:r>
                      <a:r>
                        <a:rPr lang="en-CA" sz="1700" dirty="0"/>
                        <a:t> and near-future.</a:t>
                      </a:r>
                    </a:p>
                  </a:txBody>
                  <a:tcPr marL="88803" marR="88803" marT="44401" marB="44401" anchor="ctr">
                    <a:lnL>
                      <a:noFill/>
                    </a:lnL>
                    <a:lnR>
                      <a:noFill/>
                    </a:lnR>
                    <a:lnT>
                      <a:noFill/>
                    </a:lnT>
                    <a:lnB>
                      <a:noFill/>
                    </a:lnB>
                    <a:noFill/>
                  </a:tcPr>
                </a:tc>
                <a:tc>
                  <a:txBody>
                    <a:bodyPr/>
                    <a:lstStyle/>
                    <a:p>
                      <a:pPr>
                        <a:buNone/>
                      </a:pPr>
                      <a:r>
                        <a:rPr lang="en-US" sz="1700" b="1"/>
                        <a:t>Future</a:t>
                      </a:r>
                      <a:r>
                        <a:rPr lang="en-US" sz="1700"/>
                        <a:t> and long-term (5-10+ years).</a:t>
                      </a:r>
                    </a:p>
                  </a:txBody>
                  <a:tcPr marL="88803" marR="88803" marT="44401" marB="44401" anchor="ctr">
                    <a:lnL>
                      <a:noFill/>
                    </a:lnL>
                    <a:lnR>
                      <a:noFill/>
                    </a:lnR>
                    <a:lnT>
                      <a:noFill/>
                    </a:lnT>
                    <a:lnB>
                      <a:noFill/>
                    </a:lnB>
                    <a:noFill/>
                  </a:tcPr>
                </a:tc>
                <a:extLst>
                  <a:ext uri="{0D108BD9-81ED-4DB2-BD59-A6C34878D82A}">
                    <a16:rowId xmlns:a16="http://schemas.microsoft.com/office/drawing/2014/main" val="3728012323"/>
                  </a:ext>
                </a:extLst>
              </a:tr>
              <a:tr h="621620">
                <a:tc>
                  <a:txBody>
                    <a:bodyPr/>
                    <a:lstStyle/>
                    <a:p>
                      <a:pPr>
                        <a:buNone/>
                      </a:pPr>
                      <a:r>
                        <a:rPr lang="en-CA" sz="1700" b="1" dirty="0"/>
                        <a:t>Focus</a:t>
                      </a:r>
                      <a:endParaRPr lang="en-CA" sz="1700" dirty="0"/>
                    </a:p>
                  </a:txBody>
                  <a:tcPr marL="88803" marR="88803" marT="44401" marB="44401" anchor="ctr">
                    <a:lnL>
                      <a:noFill/>
                    </a:lnL>
                    <a:lnR>
                      <a:noFill/>
                    </a:lnR>
                    <a:lnT>
                      <a:noFill/>
                    </a:lnT>
                    <a:lnB>
                      <a:noFill/>
                    </a:lnB>
                    <a:noFill/>
                  </a:tcPr>
                </a:tc>
                <a:tc>
                  <a:txBody>
                    <a:bodyPr/>
                    <a:lstStyle/>
                    <a:p>
                      <a:pPr>
                        <a:buNone/>
                      </a:pPr>
                      <a:r>
                        <a:rPr lang="en-CA" sz="1700" b="1" dirty="0"/>
                        <a:t>Action-oriented</a:t>
                      </a:r>
                      <a:r>
                        <a:rPr lang="en-CA" sz="1700" dirty="0"/>
                        <a:t> (What we do).</a:t>
                      </a:r>
                    </a:p>
                  </a:txBody>
                  <a:tcPr marL="88803" marR="88803" marT="44401" marB="44401" anchor="ctr">
                    <a:lnL>
                      <a:noFill/>
                    </a:lnL>
                    <a:lnR>
                      <a:noFill/>
                    </a:lnR>
                    <a:lnT>
                      <a:noFill/>
                    </a:lnT>
                    <a:lnB>
                      <a:noFill/>
                    </a:lnB>
                    <a:noFill/>
                  </a:tcPr>
                </a:tc>
                <a:tc>
                  <a:txBody>
                    <a:bodyPr/>
                    <a:lstStyle/>
                    <a:p>
                      <a:pPr>
                        <a:buNone/>
                      </a:pPr>
                      <a:r>
                        <a:rPr lang="en-US" sz="1700" b="1" dirty="0"/>
                        <a:t>Aspirational</a:t>
                      </a:r>
                      <a:r>
                        <a:rPr lang="en-US" sz="1700" dirty="0"/>
                        <a:t> (What we want to become).</a:t>
                      </a:r>
                    </a:p>
                  </a:txBody>
                  <a:tcPr marL="88803" marR="88803" marT="44401" marB="44401" anchor="ctr">
                    <a:lnL>
                      <a:noFill/>
                    </a:lnL>
                    <a:lnR>
                      <a:noFill/>
                    </a:lnR>
                    <a:lnT>
                      <a:noFill/>
                    </a:lnT>
                    <a:lnB>
                      <a:noFill/>
                    </a:lnB>
                    <a:noFill/>
                  </a:tcPr>
                </a:tc>
                <a:extLst>
                  <a:ext uri="{0D108BD9-81ED-4DB2-BD59-A6C34878D82A}">
                    <a16:rowId xmlns:a16="http://schemas.microsoft.com/office/drawing/2014/main" val="1408192156"/>
                  </a:ext>
                </a:extLst>
              </a:tr>
              <a:tr h="888028">
                <a:tc>
                  <a:txBody>
                    <a:bodyPr/>
                    <a:lstStyle/>
                    <a:p>
                      <a:pPr>
                        <a:buNone/>
                      </a:pPr>
                      <a:r>
                        <a:rPr lang="en-CA" sz="1700" b="1"/>
                        <a:t>Purpose</a:t>
                      </a:r>
                      <a:endParaRPr lang="en-CA" sz="1700"/>
                    </a:p>
                  </a:txBody>
                  <a:tcPr marL="88803" marR="88803" marT="44401" marB="44401" anchor="ctr">
                    <a:lnL>
                      <a:noFill/>
                    </a:lnL>
                    <a:lnR>
                      <a:noFill/>
                    </a:lnR>
                    <a:lnT>
                      <a:noFill/>
                    </a:lnT>
                    <a:lnB>
                      <a:noFill/>
                    </a:lnB>
                    <a:noFill/>
                  </a:tcPr>
                </a:tc>
                <a:tc>
                  <a:txBody>
                    <a:bodyPr/>
                    <a:lstStyle/>
                    <a:p>
                      <a:pPr>
                        <a:buNone/>
                      </a:pPr>
                      <a:r>
                        <a:rPr lang="en-US" sz="1700"/>
                        <a:t>Defines the company's </a:t>
                      </a:r>
                      <a:r>
                        <a:rPr lang="en-US" sz="1700" b="1"/>
                        <a:t>purpose, core business, and how it delivers value</a:t>
                      </a:r>
                      <a:r>
                        <a:rPr lang="en-US" sz="1700"/>
                        <a:t> to customers today.</a:t>
                      </a:r>
                    </a:p>
                  </a:txBody>
                  <a:tcPr marL="88803" marR="88803" marT="44401" marB="44401" anchor="ctr">
                    <a:lnL>
                      <a:noFill/>
                    </a:lnL>
                    <a:lnR>
                      <a:noFill/>
                    </a:lnR>
                    <a:lnT>
                      <a:noFill/>
                    </a:lnT>
                    <a:lnB>
                      <a:noFill/>
                    </a:lnB>
                    <a:noFill/>
                  </a:tcPr>
                </a:tc>
                <a:tc>
                  <a:txBody>
                    <a:bodyPr/>
                    <a:lstStyle/>
                    <a:p>
                      <a:pPr>
                        <a:buNone/>
                      </a:pPr>
                      <a:r>
                        <a:rPr lang="en-US" sz="1700"/>
                        <a:t>Defines the ultimate </a:t>
                      </a:r>
                      <a:r>
                        <a:rPr lang="en-US" sz="1700" b="1"/>
                        <a:t>goal, dream, or desired future state</a:t>
                      </a:r>
                      <a:r>
                        <a:rPr lang="en-US" sz="1700"/>
                        <a:t> and inspires change in the world.</a:t>
                      </a:r>
                    </a:p>
                  </a:txBody>
                  <a:tcPr marL="88803" marR="88803" marT="44401" marB="44401" anchor="ctr">
                    <a:lnL>
                      <a:noFill/>
                    </a:lnL>
                    <a:lnR>
                      <a:noFill/>
                    </a:lnR>
                    <a:lnT>
                      <a:noFill/>
                    </a:lnT>
                    <a:lnB>
                      <a:noFill/>
                    </a:lnB>
                    <a:noFill/>
                  </a:tcPr>
                </a:tc>
                <a:extLst>
                  <a:ext uri="{0D108BD9-81ED-4DB2-BD59-A6C34878D82A}">
                    <a16:rowId xmlns:a16="http://schemas.microsoft.com/office/drawing/2014/main" val="3523984047"/>
                  </a:ext>
                </a:extLst>
              </a:tr>
              <a:tr h="888028">
                <a:tc>
                  <a:txBody>
                    <a:bodyPr/>
                    <a:lstStyle/>
                    <a:p>
                      <a:pPr>
                        <a:buNone/>
                      </a:pPr>
                      <a:r>
                        <a:rPr lang="en-CA" sz="1700" b="1" dirty="0"/>
                        <a:t>Answers</a:t>
                      </a:r>
                      <a:endParaRPr lang="en-CA" sz="1700" dirty="0"/>
                    </a:p>
                  </a:txBody>
                  <a:tcPr marL="88803" marR="88803" marT="44401" marB="44401" anchor="ctr">
                    <a:lnL>
                      <a:noFill/>
                    </a:lnL>
                    <a:lnR>
                      <a:noFill/>
                    </a:lnR>
                    <a:lnT>
                      <a:noFill/>
                    </a:lnT>
                    <a:lnB>
                      <a:noFill/>
                    </a:lnB>
                    <a:noFill/>
                  </a:tcPr>
                </a:tc>
                <a:tc>
                  <a:txBody>
                    <a:bodyPr/>
                    <a:lstStyle/>
                    <a:p>
                      <a:pPr>
                        <a:buNone/>
                      </a:pPr>
                      <a:r>
                        <a:rPr lang="en-US" sz="1700" b="1"/>
                        <a:t>"What business are we in and how do we serve our customers?"</a:t>
                      </a:r>
                      <a:endParaRPr lang="en-US" sz="1700"/>
                    </a:p>
                  </a:txBody>
                  <a:tcPr marL="88803" marR="88803" marT="44401" marB="44401" anchor="ctr">
                    <a:lnL>
                      <a:noFill/>
                    </a:lnL>
                    <a:lnR>
                      <a:noFill/>
                    </a:lnR>
                    <a:lnT>
                      <a:noFill/>
                    </a:lnT>
                    <a:lnB>
                      <a:noFill/>
                    </a:lnB>
                    <a:noFill/>
                  </a:tcPr>
                </a:tc>
                <a:tc>
                  <a:txBody>
                    <a:bodyPr/>
                    <a:lstStyle/>
                    <a:p>
                      <a:pPr>
                        <a:buNone/>
                      </a:pPr>
                      <a:r>
                        <a:rPr lang="en-US" sz="1700" b="1"/>
                        <a:t>"What do we want to achieve and what will the world look like when we succeed?"</a:t>
                      </a: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2225467670"/>
                  </a:ext>
                </a:extLst>
              </a:tr>
              <a:tr h="621620">
                <a:tc>
                  <a:txBody>
                    <a:bodyPr/>
                    <a:lstStyle/>
                    <a:p>
                      <a:pPr>
                        <a:buNone/>
                      </a:pPr>
                      <a:r>
                        <a:rPr lang="en-CA" sz="1700" b="1"/>
                        <a:t>Role</a:t>
                      </a:r>
                      <a:endParaRPr lang="en-CA" sz="1700"/>
                    </a:p>
                  </a:txBody>
                  <a:tcPr marL="88803" marR="88803" marT="44401" marB="44401" anchor="ctr">
                    <a:lnL>
                      <a:noFill/>
                    </a:lnL>
                    <a:lnR>
                      <a:noFill/>
                    </a:lnR>
                    <a:lnT>
                      <a:noFill/>
                    </a:lnT>
                    <a:lnB>
                      <a:noFill/>
                    </a:lnB>
                    <a:noFill/>
                  </a:tcPr>
                </a:tc>
                <a:tc>
                  <a:txBody>
                    <a:bodyPr/>
                    <a:lstStyle/>
                    <a:p>
                      <a:pPr>
                        <a:buNone/>
                      </a:pPr>
                      <a:r>
                        <a:rPr lang="en-US" sz="1700" b="1"/>
                        <a:t>Guides daily decisions,</a:t>
                      </a:r>
                      <a:r>
                        <a:rPr lang="en-US" sz="1700"/>
                        <a:t> operations, and priorities.</a:t>
                      </a:r>
                    </a:p>
                  </a:txBody>
                  <a:tcPr marL="88803" marR="88803" marT="44401" marB="44401" anchor="ctr">
                    <a:lnL>
                      <a:noFill/>
                    </a:lnL>
                    <a:lnR>
                      <a:noFill/>
                    </a:lnR>
                    <a:lnT>
                      <a:noFill/>
                    </a:lnT>
                    <a:lnB>
                      <a:noFill/>
                    </a:lnB>
                    <a:noFill/>
                  </a:tcPr>
                </a:tc>
                <a:tc>
                  <a:txBody>
                    <a:bodyPr/>
                    <a:lstStyle/>
                    <a:p>
                      <a:pPr>
                        <a:buNone/>
                      </a:pPr>
                      <a:r>
                        <a:rPr lang="en-US" sz="1700" b="1"/>
                        <a:t>Provides direction</a:t>
                      </a:r>
                      <a:r>
                        <a:rPr lang="en-US" sz="1700"/>
                        <a:t> and motivation for the entire organization.</a:t>
                      </a:r>
                    </a:p>
                  </a:txBody>
                  <a:tcPr marL="88803" marR="88803" marT="44401" marB="44401" anchor="ctr">
                    <a:lnL>
                      <a:noFill/>
                    </a:lnL>
                    <a:lnR>
                      <a:noFill/>
                    </a:lnR>
                    <a:lnT>
                      <a:noFill/>
                    </a:lnT>
                    <a:lnB>
                      <a:noFill/>
                    </a:lnB>
                    <a:noFill/>
                  </a:tcPr>
                </a:tc>
                <a:extLst>
                  <a:ext uri="{0D108BD9-81ED-4DB2-BD59-A6C34878D82A}">
                    <a16:rowId xmlns:a16="http://schemas.microsoft.com/office/drawing/2014/main" val="2844723245"/>
                  </a:ext>
                </a:extLst>
              </a:tr>
              <a:tr h="621620">
                <a:tc>
                  <a:txBody>
                    <a:bodyPr/>
                    <a:lstStyle/>
                    <a:p>
                      <a:pPr>
                        <a:buNone/>
                      </a:pPr>
                      <a:r>
                        <a:rPr lang="en-CA" sz="1700" b="1"/>
                        <a:t>Nature</a:t>
                      </a:r>
                      <a:endParaRPr lang="en-CA" sz="1700"/>
                    </a:p>
                  </a:txBody>
                  <a:tcPr marL="88803" marR="88803" marT="44401" marB="44401" anchor="ctr">
                    <a:lnL>
                      <a:noFill/>
                    </a:lnL>
                    <a:lnR>
                      <a:noFill/>
                    </a:lnR>
                    <a:lnT>
                      <a:noFill/>
                    </a:lnT>
                    <a:lnB>
                      <a:noFill/>
                    </a:lnB>
                    <a:noFill/>
                  </a:tcPr>
                </a:tc>
                <a:tc>
                  <a:txBody>
                    <a:bodyPr/>
                    <a:lstStyle/>
                    <a:p>
                      <a:pPr>
                        <a:buNone/>
                      </a:pPr>
                      <a:r>
                        <a:rPr lang="en-US" sz="1700"/>
                        <a:t>Specific, realistic, and often includes key activities.</a:t>
                      </a:r>
                    </a:p>
                  </a:txBody>
                  <a:tcPr marL="88803" marR="88803" marT="44401" marB="44401" anchor="ctr">
                    <a:lnL>
                      <a:noFill/>
                    </a:lnL>
                    <a:lnR>
                      <a:noFill/>
                    </a:lnR>
                    <a:lnT>
                      <a:noFill/>
                    </a:lnT>
                    <a:lnB>
                      <a:noFill/>
                    </a:lnB>
                    <a:noFill/>
                  </a:tcPr>
                </a:tc>
                <a:tc>
                  <a:txBody>
                    <a:bodyPr/>
                    <a:lstStyle/>
                    <a:p>
                      <a:pPr>
                        <a:buNone/>
                      </a:pPr>
                      <a:r>
                        <a:rPr lang="en-US" sz="1700" dirty="0"/>
                        <a:t>Broad, inspirational, and sometimes mental.</a:t>
                      </a:r>
                    </a:p>
                  </a:txBody>
                  <a:tcPr marL="88803" marR="88803" marT="44401" marB="44401" anchor="ctr">
                    <a:lnL>
                      <a:noFill/>
                    </a:lnL>
                    <a:lnR>
                      <a:noFill/>
                    </a:lnR>
                    <a:lnT>
                      <a:noFill/>
                    </a:lnT>
                    <a:lnB>
                      <a:noFill/>
                    </a:lnB>
                    <a:noFill/>
                  </a:tcPr>
                </a:tc>
                <a:extLst>
                  <a:ext uri="{0D108BD9-81ED-4DB2-BD59-A6C34878D82A}">
                    <a16:rowId xmlns:a16="http://schemas.microsoft.com/office/drawing/2014/main" val="1482109554"/>
                  </a:ext>
                </a:extLst>
              </a:tr>
            </a:tbl>
          </a:graphicData>
        </a:graphic>
      </p:graphicFrame>
    </p:spTree>
    <p:extLst>
      <p:ext uri="{BB962C8B-B14F-4D97-AF65-F5344CB8AC3E}">
        <p14:creationId xmlns:p14="http://schemas.microsoft.com/office/powerpoint/2010/main" val="34822394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BD838-1A5F-202D-3100-24CF25C8ECD6}"/>
              </a:ext>
            </a:extLst>
          </p:cNvPr>
          <p:cNvSpPr>
            <a:spLocks noGrp="1"/>
          </p:cNvSpPr>
          <p:nvPr>
            <p:ph type="title"/>
          </p:nvPr>
        </p:nvSpPr>
        <p:spPr/>
        <p:txBody>
          <a:bodyPr/>
          <a:lstStyle/>
          <a:p>
            <a:r>
              <a:rPr lang="en-US" b="1" dirty="0"/>
              <a:t>SMART</a:t>
            </a:r>
            <a:r>
              <a:rPr lang="en-US" dirty="0"/>
              <a:t> goal</a:t>
            </a:r>
            <a:endParaRPr lang="en-CA" dirty="0"/>
          </a:p>
        </p:txBody>
      </p:sp>
      <p:sp>
        <p:nvSpPr>
          <p:cNvPr id="3" name="Content Placeholder 2">
            <a:extLst>
              <a:ext uri="{FF2B5EF4-FFF2-40B4-BE49-F238E27FC236}">
                <a16:creationId xmlns:a16="http://schemas.microsoft.com/office/drawing/2014/main" id="{E10A77E3-84BE-9AD6-B4EC-D0D153EEED1D}"/>
              </a:ext>
            </a:extLst>
          </p:cNvPr>
          <p:cNvSpPr>
            <a:spLocks noGrp="1"/>
          </p:cNvSpPr>
          <p:nvPr>
            <p:ph idx="1"/>
          </p:nvPr>
        </p:nvSpPr>
        <p:spPr/>
        <p:txBody>
          <a:bodyPr/>
          <a:lstStyle/>
          <a:p>
            <a:r>
              <a:rPr lang="en-US" dirty="0"/>
              <a:t>The SMART goal framework is a powerful and widely adopted tool in business strategy development for translating high-level vision and mission statements into concrete, actionable steps.</a:t>
            </a:r>
          </a:p>
          <a:p>
            <a:r>
              <a:rPr lang="en-US" dirty="0"/>
              <a:t>It provides a structure for setting objectives that are clear, trackable, and linked to organizational success.</a:t>
            </a:r>
          </a:p>
          <a:p>
            <a:r>
              <a:rPr lang="en-US" dirty="0"/>
              <a:t>SMART is an abbreviation where each letter represents a necessary characteristic of a well-defined goal as follows </a:t>
            </a:r>
            <a:endParaRPr lang="en-CA" dirty="0"/>
          </a:p>
        </p:txBody>
      </p:sp>
    </p:spTree>
    <p:extLst>
      <p:ext uri="{BB962C8B-B14F-4D97-AF65-F5344CB8AC3E}">
        <p14:creationId xmlns:p14="http://schemas.microsoft.com/office/powerpoint/2010/main" val="20035488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DC1C-4213-CBF6-4580-D434C68C8C29}"/>
              </a:ext>
            </a:extLst>
          </p:cNvPr>
          <p:cNvSpPr>
            <a:spLocks noGrp="1"/>
          </p:cNvSpPr>
          <p:nvPr>
            <p:ph type="title"/>
          </p:nvPr>
        </p:nvSpPr>
        <p:spPr>
          <a:xfrm>
            <a:off x="838200" y="365125"/>
            <a:ext cx="10515600" cy="333753"/>
          </a:xfrm>
        </p:spPr>
        <p:txBody>
          <a:bodyPr>
            <a:normAutofit fontScale="90000"/>
          </a:bodyPr>
          <a:lstStyle/>
          <a:p>
            <a:endParaRPr lang="en-CA" dirty="0"/>
          </a:p>
        </p:txBody>
      </p:sp>
      <p:graphicFrame>
        <p:nvGraphicFramePr>
          <p:cNvPr id="4" name="Content Placeholder 3">
            <a:extLst>
              <a:ext uri="{FF2B5EF4-FFF2-40B4-BE49-F238E27FC236}">
                <a16:creationId xmlns:a16="http://schemas.microsoft.com/office/drawing/2014/main" id="{0EE5C4BC-483A-F827-5308-43C197E22BB2}"/>
              </a:ext>
            </a:extLst>
          </p:cNvPr>
          <p:cNvGraphicFramePr>
            <a:graphicFrameLocks noGrp="1"/>
          </p:cNvGraphicFramePr>
          <p:nvPr>
            <p:ph idx="1"/>
            <p:extLst>
              <p:ext uri="{D42A27DB-BD31-4B8C-83A1-F6EECF244321}">
                <p14:modId xmlns:p14="http://schemas.microsoft.com/office/powerpoint/2010/main" val="4005796092"/>
              </p:ext>
            </p:extLst>
          </p:nvPr>
        </p:nvGraphicFramePr>
        <p:xfrm>
          <a:off x="155448" y="822960"/>
          <a:ext cx="12036553" cy="6137699"/>
        </p:xfrm>
        <a:graphic>
          <a:graphicData uri="http://schemas.openxmlformats.org/drawingml/2006/table">
            <a:tbl>
              <a:tblPr/>
              <a:tblGrid>
                <a:gridCol w="731221">
                  <a:extLst>
                    <a:ext uri="{9D8B030D-6E8A-4147-A177-3AD203B41FA5}">
                      <a16:colId xmlns:a16="http://schemas.microsoft.com/office/drawing/2014/main" val="3499035590"/>
                    </a:ext>
                  </a:extLst>
                </a:gridCol>
                <a:gridCol w="2134920">
                  <a:extLst>
                    <a:ext uri="{9D8B030D-6E8A-4147-A177-3AD203B41FA5}">
                      <a16:colId xmlns:a16="http://schemas.microsoft.com/office/drawing/2014/main" val="1368102251"/>
                    </a:ext>
                  </a:extLst>
                </a:gridCol>
                <a:gridCol w="5320229">
                  <a:extLst>
                    <a:ext uri="{9D8B030D-6E8A-4147-A177-3AD203B41FA5}">
                      <a16:colId xmlns:a16="http://schemas.microsoft.com/office/drawing/2014/main" val="3407807065"/>
                    </a:ext>
                  </a:extLst>
                </a:gridCol>
                <a:gridCol w="3850183">
                  <a:extLst>
                    <a:ext uri="{9D8B030D-6E8A-4147-A177-3AD203B41FA5}">
                      <a16:colId xmlns:a16="http://schemas.microsoft.com/office/drawing/2014/main" val="948928746"/>
                    </a:ext>
                  </a:extLst>
                </a:gridCol>
              </a:tblGrid>
              <a:tr h="464048">
                <a:tc>
                  <a:txBody>
                    <a:bodyPr/>
                    <a:lstStyle/>
                    <a:p>
                      <a:pPr>
                        <a:buNone/>
                      </a:pPr>
                      <a:r>
                        <a:rPr lang="en-CA" sz="1800" b="1" dirty="0"/>
                        <a:t>Letter</a:t>
                      </a:r>
                    </a:p>
                  </a:txBody>
                  <a:tcPr marL="40290" marR="40290" marT="20145" marB="20145" anchor="ctr">
                    <a:lnL>
                      <a:noFill/>
                    </a:lnL>
                    <a:lnR>
                      <a:noFill/>
                    </a:lnR>
                    <a:lnT>
                      <a:noFill/>
                    </a:lnT>
                    <a:lnB>
                      <a:noFill/>
                    </a:lnB>
                    <a:noFill/>
                  </a:tcPr>
                </a:tc>
                <a:tc>
                  <a:txBody>
                    <a:bodyPr/>
                    <a:lstStyle/>
                    <a:p>
                      <a:pPr>
                        <a:buNone/>
                      </a:pPr>
                      <a:r>
                        <a:rPr lang="en-CA" sz="1800" b="1" dirty="0"/>
                        <a:t>Characteristic</a:t>
                      </a:r>
                    </a:p>
                  </a:txBody>
                  <a:tcPr marL="40290" marR="40290" marT="20145" marB="20145" anchor="ctr">
                    <a:lnL>
                      <a:noFill/>
                    </a:lnL>
                    <a:lnR>
                      <a:noFill/>
                    </a:lnR>
                    <a:lnT>
                      <a:noFill/>
                    </a:lnT>
                    <a:lnB>
                      <a:noFill/>
                    </a:lnB>
                    <a:noFill/>
                  </a:tcPr>
                </a:tc>
                <a:tc>
                  <a:txBody>
                    <a:bodyPr/>
                    <a:lstStyle/>
                    <a:p>
                      <a:pPr>
                        <a:buNone/>
                      </a:pPr>
                      <a:r>
                        <a:rPr lang="en-US" sz="1800" b="1" dirty="0"/>
                        <a:t>In Business Strategy, it means...</a:t>
                      </a:r>
                    </a:p>
                  </a:txBody>
                  <a:tcPr marL="40290" marR="40290" marT="20145" marB="20145" anchor="ctr">
                    <a:lnL>
                      <a:noFill/>
                    </a:lnL>
                    <a:lnR>
                      <a:noFill/>
                    </a:lnR>
                    <a:lnT>
                      <a:noFill/>
                    </a:lnT>
                    <a:lnB>
                      <a:noFill/>
                    </a:lnB>
                    <a:noFill/>
                  </a:tcPr>
                </a:tc>
                <a:tc>
                  <a:txBody>
                    <a:bodyPr/>
                    <a:lstStyle/>
                    <a:p>
                      <a:pPr>
                        <a:buNone/>
                      </a:pPr>
                      <a:r>
                        <a:rPr lang="en-CA" sz="1800" b="1" dirty="0"/>
                        <a:t>Guiding Questions</a:t>
                      </a:r>
                    </a:p>
                  </a:txBody>
                  <a:tcPr marL="40290" marR="40290" marT="20145" marB="20145" anchor="ctr">
                    <a:lnL>
                      <a:noFill/>
                    </a:lnL>
                    <a:lnR>
                      <a:noFill/>
                    </a:lnR>
                    <a:lnT>
                      <a:noFill/>
                    </a:lnT>
                    <a:lnB>
                      <a:noFill/>
                    </a:lnB>
                    <a:noFill/>
                  </a:tcPr>
                </a:tc>
                <a:extLst>
                  <a:ext uri="{0D108BD9-81ED-4DB2-BD59-A6C34878D82A}">
                    <a16:rowId xmlns:a16="http://schemas.microsoft.com/office/drawing/2014/main" val="77677682"/>
                  </a:ext>
                </a:extLst>
              </a:tr>
              <a:tr h="991128">
                <a:tc>
                  <a:txBody>
                    <a:bodyPr/>
                    <a:lstStyle/>
                    <a:p>
                      <a:pPr>
                        <a:buNone/>
                      </a:pPr>
                      <a:r>
                        <a:rPr lang="en-CA" sz="1800" b="1"/>
                        <a:t>S</a:t>
                      </a:r>
                      <a:endParaRPr lang="en-CA" sz="1800"/>
                    </a:p>
                  </a:txBody>
                  <a:tcPr marL="40290" marR="40290" marT="20145" marB="20145" anchor="ctr">
                    <a:lnL>
                      <a:noFill/>
                    </a:lnL>
                    <a:lnR>
                      <a:noFill/>
                    </a:lnR>
                    <a:lnT>
                      <a:noFill/>
                    </a:lnT>
                    <a:lnB>
                      <a:noFill/>
                    </a:lnB>
                    <a:noFill/>
                  </a:tcPr>
                </a:tc>
                <a:tc>
                  <a:txBody>
                    <a:bodyPr/>
                    <a:lstStyle/>
                    <a:p>
                      <a:pPr>
                        <a:buNone/>
                      </a:pPr>
                      <a:r>
                        <a:rPr lang="en-CA" sz="1800" b="1" dirty="0"/>
                        <a:t>Specific</a:t>
                      </a:r>
                      <a:endParaRPr lang="en-CA" sz="1800" dirty="0"/>
                    </a:p>
                  </a:txBody>
                  <a:tcPr marL="40290" marR="40290" marT="20145" marB="20145" anchor="ctr">
                    <a:lnL>
                      <a:noFill/>
                    </a:lnL>
                    <a:lnR>
                      <a:noFill/>
                    </a:lnR>
                    <a:lnT>
                      <a:noFill/>
                    </a:lnT>
                    <a:lnB>
                      <a:noFill/>
                    </a:lnB>
                    <a:noFill/>
                  </a:tcPr>
                </a:tc>
                <a:tc>
                  <a:txBody>
                    <a:bodyPr/>
                    <a:lstStyle/>
                    <a:p>
                      <a:pPr>
                        <a:buNone/>
                      </a:pPr>
                      <a:r>
                        <a:rPr lang="en-US" sz="1800" dirty="0"/>
                        <a:t>The goal must clearly state </a:t>
                      </a:r>
                      <a:r>
                        <a:rPr lang="en-US" sz="1800" i="1" dirty="0"/>
                        <a:t>what</a:t>
                      </a:r>
                      <a:r>
                        <a:rPr lang="en-US" sz="1800" dirty="0"/>
                        <a:t> will be accomplished, </a:t>
                      </a:r>
                      <a:r>
                        <a:rPr lang="en-US" sz="1800" i="1" dirty="0"/>
                        <a:t>who</a:t>
                      </a:r>
                      <a:r>
                        <a:rPr lang="en-US" sz="1800" dirty="0"/>
                        <a:t> is responsible, and </a:t>
                      </a:r>
                      <a:r>
                        <a:rPr lang="en-US" sz="1800" i="1" dirty="0"/>
                        <a:t>why</a:t>
                      </a:r>
                      <a:r>
                        <a:rPr lang="en-US" sz="1800" dirty="0"/>
                        <a:t> it is important. It avoids vague language.</a:t>
                      </a:r>
                    </a:p>
                  </a:txBody>
                  <a:tcPr marL="40290" marR="40290" marT="20145" marB="20145" anchor="ctr">
                    <a:lnL>
                      <a:noFill/>
                    </a:lnL>
                    <a:lnR>
                      <a:noFill/>
                    </a:lnR>
                    <a:lnT>
                      <a:noFill/>
                    </a:lnT>
                    <a:lnB>
                      <a:noFill/>
                    </a:lnB>
                    <a:noFill/>
                  </a:tcPr>
                </a:tc>
                <a:tc>
                  <a:txBody>
                    <a:bodyPr/>
                    <a:lstStyle/>
                    <a:p>
                      <a:pPr>
                        <a:buNone/>
                      </a:pPr>
                      <a:r>
                        <a:rPr lang="en-US" sz="1800"/>
                        <a:t>What exactly do we want to achieve? Who is involved? What are the requirements?</a:t>
                      </a:r>
                    </a:p>
                  </a:txBody>
                  <a:tcPr marL="40290" marR="40290" marT="20145" marB="20145" anchor="ctr">
                    <a:lnL>
                      <a:noFill/>
                    </a:lnL>
                    <a:lnR>
                      <a:noFill/>
                    </a:lnR>
                    <a:lnT>
                      <a:noFill/>
                    </a:lnT>
                    <a:lnB>
                      <a:noFill/>
                    </a:lnB>
                    <a:noFill/>
                  </a:tcPr>
                </a:tc>
                <a:extLst>
                  <a:ext uri="{0D108BD9-81ED-4DB2-BD59-A6C34878D82A}">
                    <a16:rowId xmlns:a16="http://schemas.microsoft.com/office/drawing/2014/main" val="2199592096"/>
                  </a:ext>
                </a:extLst>
              </a:tr>
              <a:tr h="1307561">
                <a:tc>
                  <a:txBody>
                    <a:bodyPr/>
                    <a:lstStyle/>
                    <a:p>
                      <a:pPr>
                        <a:buNone/>
                      </a:pPr>
                      <a:r>
                        <a:rPr lang="en-CA" sz="1800" b="1" dirty="0"/>
                        <a:t>M</a:t>
                      </a:r>
                      <a:endParaRPr lang="en-CA" sz="1800" dirty="0"/>
                    </a:p>
                  </a:txBody>
                  <a:tcPr marL="40290" marR="40290" marT="20145" marB="20145" anchor="ctr">
                    <a:lnL>
                      <a:noFill/>
                    </a:lnL>
                    <a:lnR>
                      <a:noFill/>
                    </a:lnR>
                    <a:lnT>
                      <a:noFill/>
                    </a:lnT>
                    <a:lnB>
                      <a:noFill/>
                    </a:lnB>
                    <a:noFill/>
                  </a:tcPr>
                </a:tc>
                <a:tc>
                  <a:txBody>
                    <a:bodyPr/>
                    <a:lstStyle/>
                    <a:p>
                      <a:pPr>
                        <a:buNone/>
                      </a:pPr>
                      <a:r>
                        <a:rPr lang="en-CA" sz="1800" b="1" dirty="0"/>
                        <a:t>Measurable</a:t>
                      </a:r>
                      <a:endParaRPr lang="en-CA" sz="1800" dirty="0"/>
                    </a:p>
                  </a:txBody>
                  <a:tcPr marL="40290" marR="40290" marT="20145" marB="20145" anchor="ctr">
                    <a:lnL>
                      <a:noFill/>
                    </a:lnL>
                    <a:lnR>
                      <a:noFill/>
                    </a:lnR>
                    <a:lnT>
                      <a:noFill/>
                    </a:lnT>
                    <a:lnB>
                      <a:noFill/>
                    </a:lnB>
                    <a:noFill/>
                  </a:tcPr>
                </a:tc>
                <a:tc>
                  <a:txBody>
                    <a:bodyPr/>
                    <a:lstStyle/>
                    <a:p>
                      <a:pPr>
                        <a:buNone/>
                      </a:pPr>
                      <a:r>
                        <a:rPr lang="en-US" sz="1800" dirty="0"/>
                        <a:t>The goal must have quantifiable metrics (KPIs) to track progress and determine success. You need to know when you've reached it.</a:t>
                      </a:r>
                    </a:p>
                  </a:txBody>
                  <a:tcPr marL="40290" marR="40290" marT="20145" marB="20145" anchor="ctr">
                    <a:lnL>
                      <a:noFill/>
                    </a:lnL>
                    <a:lnR>
                      <a:noFill/>
                    </a:lnR>
                    <a:lnT>
                      <a:noFill/>
                    </a:lnT>
                    <a:lnB>
                      <a:noFill/>
                    </a:lnB>
                    <a:noFill/>
                  </a:tcPr>
                </a:tc>
                <a:tc>
                  <a:txBody>
                    <a:bodyPr/>
                    <a:lstStyle/>
                    <a:p>
                      <a:pPr>
                        <a:buNone/>
                      </a:pPr>
                      <a:r>
                        <a:rPr lang="en-US" sz="1800" dirty="0"/>
                        <a:t>How will we know when the goal is accomplished? What are the key performance indicators (KPIs)?</a:t>
                      </a:r>
                    </a:p>
                  </a:txBody>
                  <a:tcPr marL="40290" marR="40290" marT="20145" marB="20145" anchor="ctr">
                    <a:lnL>
                      <a:noFill/>
                    </a:lnL>
                    <a:lnR>
                      <a:noFill/>
                    </a:lnR>
                    <a:lnT>
                      <a:noFill/>
                    </a:lnT>
                    <a:lnB>
                      <a:noFill/>
                    </a:lnB>
                    <a:noFill/>
                  </a:tcPr>
                </a:tc>
                <a:extLst>
                  <a:ext uri="{0D108BD9-81ED-4DB2-BD59-A6C34878D82A}">
                    <a16:rowId xmlns:a16="http://schemas.microsoft.com/office/drawing/2014/main" val="1294289455"/>
                  </a:ext>
                </a:extLst>
              </a:tr>
              <a:tr h="1307561">
                <a:tc>
                  <a:txBody>
                    <a:bodyPr/>
                    <a:lstStyle/>
                    <a:p>
                      <a:pPr>
                        <a:buNone/>
                      </a:pPr>
                      <a:r>
                        <a:rPr lang="en-CA" sz="1800" b="1" dirty="0"/>
                        <a:t>A</a:t>
                      </a:r>
                      <a:endParaRPr lang="en-CA" sz="1800" dirty="0"/>
                    </a:p>
                  </a:txBody>
                  <a:tcPr marL="40290" marR="40290" marT="20145" marB="20145" anchor="ctr">
                    <a:lnL>
                      <a:noFill/>
                    </a:lnL>
                    <a:lnR>
                      <a:noFill/>
                    </a:lnR>
                    <a:lnT>
                      <a:noFill/>
                    </a:lnT>
                    <a:lnB>
                      <a:noFill/>
                    </a:lnB>
                    <a:noFill/>
                  </a:tcPr>
                </a:tc>
                <a:tc>
                  <a:txBody>
                    <a:bodyPr/>
                    <a:lstStyle/>
                    <a:p>
                      <a:pPr>
                        <a:buNone/>
                      </a:pPr>
                      <a:r>
                        <a:rPr lang="en-CA" sz="1800" b="1"/>
                        <a:t>Achievable</a:t>
                      </a:r>
                      <a:r>
                        <a:rPr lang="en-CA" sz="1800"/>
                        <a:t> (or Attainable)</a:t>
                      </a:r>
                    </a:p>
                  </a:txBody>
                  <a:tcPr marL="40290" marR="40290" marT="20145" marB="20145" anchor="ctr">
                    <a:lnL>
                      <a:noFill/>
                    </a:lnL>
                    <a:lnR>
                      <a:noFill/>
                    </a:lnR>
                    <a:lnT>
                      <a:noFill/>
                    </a:lnT>
                    <a:lnB>
                      <a:noFill/>
                    </a:lnB>
                    <a:noFill/>
                  </a:tcPr>
                </a:tc>
                <a:tc>
                  <a:txBody>
                    <a:bodyPr/>
                    <a:lstStyle/>
                    <a:p>
                      <a:pPr>
                        <a:buNone/>
                      </a:pPr>
                      <a:r>
                        <a:rPr lang="en-US" sz="1800" dirty="0"/>
                        <a:t>The goal should be realistic and within reach, given the organization's available resources, time, and capabilities. It should be challenging but not impossible.</a:t>
                      </a:r>
                    </a:p>
                  </a:txBody>
                  <a:tcPr marL="40290" marR="40290" marT="20145" marB="20145" anchor="ctr">
                    <a:lnL>
                      <a:noFill/>
                    </a:lnL>
                    <a:lnR>
                      <a:noFill/>
                    </a:lnR>
                    <a:lnT>
                      <a:noFill/>
                    </a:lnT>
                    <a:lnB>
                      <a:noFill/>
                    </a:lnB>
                    <a:noFill/>
                  </a:tcPr>
                </a:tc>
                <a:tc>
                  <a:txBody>
                    <a:bodyPr/>
                    <a:lstStyle/>
                    <a:p>
                      <a:pPr>
                        <a:buNone/>
                      </a:pPr>
                      <a:r>
                        <a:rPr lang="en-US" sz="1800" dirty="0"/>
                        <a:t>Can this goal realistically be achieved with the resources and time we have?</a:t>
                      </a:r>
                    </a:p>
                  </a:txBody>
                  <a:tcPr marL="40290" marR="40290" marT="20145" marB="20145" anchor="ctr">
                    <a:lnL>
                      <a:noFill/>
                    </a:lnL>
                    <a:lnR>
                      <a:noFill/>
                    </a:lnR>
                    <a:lnT>
                      <a:noFill/>
                    </a:lnT>
                    <a:lnB>
                      <a:noFill/>
                    </a:lnB>
                    <a:noFill/>
                  </a:tcPr>
                </a:tc>
                <a:extLst>
                  <a:ext uri="{0D108BD9-81ED-4DB2-BD59-A6C34878D82A}">
                    <a16:rowId xmlns:a16="http://schemas.microsoft.com/office/drawing/2014/main" val="906174414"/>
                  </a:ext>
                </a:extLst>
              </a:tr>
              <a:tr h="991128">
                <a:tc>
                  <a:txBody>
                    <a:bodyPr/>
                    <a:lstStyle/>
                    <a:p>
                      <a:pPr>
                        <a:buNone/>
                      </a:pPr>
                      <a:r>
                        <a:rPr lang="en-CA" sz="1800" b="1" dirty="0"/>
                        <a:t>R</a:t>
                      </a:r>
                      <a:endParaRPr lang="en-CA" sz="1800" dirty="0"/>
                    </a:p>
                  </a:txBody>
                  <a:tcPr marL="40290" marR="40290" marT="20145" marB="20145" anchor="ctr">
                    <a:lnL>
                      <a:noFill/>
                    </a:lnL>
                    <a:lnR>
                      <a:noFill/>
                    </a:lnR>
                    <a:lnT>
                      <a:noFill/>
                    </a:lnT>
                    <a:lnB>
                      <a:noFill/>
                    </a:lnB>
                    <a:noFill/>
                  </a:tcPr>
                </a:tc>
                <a:tc>
                  <a:txBody>
                    <a:bodyPr/>
                    <a:lstStyle/>
                    <a:p>
                      <a:pPr>
                        <a:buNone/>
                      </a:pPr>
                      <a:r>
                        <a:rPr lang="en-CA" sz="1800" b="1"/>
                        <a:t>Relevant</a:t>
                      </a:r>
                      <a:endParaRPr lang="en-CA" sz="1800"/>
                    </a:p>
                  </a:txBody>
                  <a:tcPr marL="40290" marR="40290" marT="20145" marB="20145" anchor="ctr">
                    <a:lnL>
                      <a:noFill/>
                    </a:lnL>
                    <a:lnR>
                      <a:noFill/>
                    </a:lnR>
                    <a:lnT>
                      <a:noFill/>
                    </a:lnT>
                    <a:lnB>
                      <a:noFill/>
                    </a:lnB>
                    <a:noFill/>
                  </a:tcPr>
                </a:tc>
                <a:tc>
                  <a:txBody>
                    <a:bodyPr/>
                    <a:lstStyle/>
                    <a:p>
                      <a:pPr>
                        <a:buNone/>
                      </a:pPr>
                      <a:r>
                        <a:rPr lang="en-US" sz="1800" dirty="0"/>
                        <a:t>The goal must align with the company's broader mission, vision, and strategic priorities. It should be worthwhile for the business.</a:t>
                      </a:r>
                    </a:p>
                  </a:txBody>
                  <a:tcPr marL="40290" marR="40290" marT="20145" marB="20145" anchor="ctr">
                    <a:lnL>
                      <a:noFill/>
                    </a:lnL>
                    <a:lnR>
                      <a:noFill/>
                    </a:lnR>
                    <a:lnT>
                      <a:noFill/>
                    </a:lnT>
                    <a:lnB>
                      <a:noFill/>
                    </a:lnB>
                    <a:noFill/>
                  </a:tcPr>
                </a:tc>
                <a:tc>
                  <a:txBody>
                    <a:bodyPr/>
                    <a:lstStyle/>
                    <a:p>
                      <a:pPr>
                        <a:buNone/>
                      </a:pPr>
                      <a:r>
                        <a:rPr lang="en-US" sz="1800"/>
                        <a:t>Is this goal aligned with our long-term strategy (Vision)? Is it the right time to pursue this?</a:t>
                      </a:r>
                    </a:p>
                  </a:txBody>
                  <a:tcPr marL="40290" marR="40290" marT="20145" marB="20145" anchor="ctr">
                    <a:lnL>
                      <a:noFill/>
                    </a:lnL>
                    <a:lnR>
                      <a:noFill/>
                    </a:lnR>
                    <a:lnT>
                      <a:noFill/>
                    </a:lnT>
                    <a:lnB>
                      <a:noFill/>
                    </a:lnB>
                    <a:noFill/>
                  </a:tcPr>
                </a:tc>
                <a:extLst>
                  <a:ext uri="{0D108BD9-81ED-4DB2-BD59-A6C34878D82A}">
                    <a16:rowId xmlns:a16="http://schemas.microsoft.com/office/drawing/2014/main" val="2608004422"/>
                  </a:ext>
                </a:extLst>
              </a:tr>
              <a:tr h="1076273">
                <a:tc>
                  <a:txBody>
                    <a:bodyPr/>
                    <a:lstStyle/>
                    <a:p>
                      <a:pPr>
                        <a:buNone/>
                      </a:pPr>
                      <a:r>
                        <a:rPr lang="en-CA" sz="1800" b="1"/>
                        <a:t>T</a:t>
                      </a:r>
                      <a:endParaRPr lang="en-CA" sz="1800"/>
                    </a:p>
                  </a:txBody>
                  <a:tcPr marL="40290" marR="40290" marT="20145" marB="20145" anchor="ctr">
                    <a:lnL>
                      <a:noFill/>
                    </a:lnL>
                    <a:lnR>
                      <a:noFill/>
                    </a:lnR>
                    <a:lnT>
                      <a:noFill/>
                    </a:lnT>
                    <a:lnB>
                      <a:noFill/>
                    </a:lnB>
                    <a:noFill/>
                  </a:tcPr>
                </a:tc>
                <a:tc>
                  <a:txBody>
                    <a:bodyPr/>
                    <a:lstStyle/>
                    <a:p>
                      <a:pPr>
                        <a:buNone/>
                      </a:pPr>
                      <a:r>
                        <a:rPr lang="en-CA" sz="1800" b="1"/>
                        <a:t>Time-Bound</a:t>
                      </a:r>
                      <a:endParaRPr lang="en-CA" sz="1800"/>
                    </a:p>
                  </a:txBody>
                  <a:tcPr marL="40290" marR="40290" marT="20145" marB="20145" anchor="ctr">
                    <a:lnL>
                      <a:noFill/>
                    </a:lnL>
                    <a:lnR>
                      <a:noFill/>
                    </a:lnR>
                    <a:lnT>
                      <a:noFill/>
                    </a:lnT>
                    <a:lnB>
                      <a:noFill/>
                    </a:lnB>
                    <a:noFill/>
                  </a:tcPr>
                </a:tc>
                <a:tc>
                  <a:txBody>
                    <a:bodyPr/>
                    <a:lstStyle/>
                    <a:p>
                      <a:pPr>
                        <a:buNone/>
                      </a:pPr>
                      <a:r>
                        <a:rPr lang="en-US" sz="1800"/>
                        <a:t>The goal must have a clearly defined start and end date (a deadline). This creates urgency and prevents the goal from being indefinitely delayed.</a:t>
                      </a:r>
                    </a:p>
                  </a:txBody>
                  <a:tcPr marL="40290" marR="40290" marT="20145" marB="20145" anchor="ctr">
                    <a:lnL>
                      <a:noFill/>
                    </a:lnL>
                    <a:lnR>
                      <a:noFill/>
                    </a:lnR>
                    <a:lnT>
                      <a:noFill/>
                    </a:lnT>
                    <a:lnB>
                      <a:noFill/>
                    </a:lnB>
                    <a:noFill/>
                  </a:tcPr>
                </a:tc>
                <a:tc>
                  <a:txBody>
                    <a:bodyPr/>
                    <a:lstStyle/>
                    <a:p>
                      <a:pPr>
                        <a:buNone/>
                      </a:pPr>
                      <a:r>
                        <a:rPr lang="en-US" sz="1800" dirty="0"/>
                        <a:t>When exactly will this goal be accomplished? What is the deadline?</a:t>
                      </a:r>
                    </a:p>
                  </a:txBody>
                  <a:tcPr marL="40290" marR="40290" marT="20145" marB="20145" anchor="ctr">
                    <a:lnL>
                      <a:noFill/>
                    </a:lnL>
                    <a:lnR>
                      <a:noFill/>
                    </a:lnR>
                    <a:lnT>
                      <a:noFill/>
                    </a:lnT>
                    <a:lnB>
                      <a:noFill/>
                    </a:lnB>
                    <a:noFill/>
                  </a:tcPr>
                </a:tc>
                <a:extLst>
                  <a:ext uri="{0D108BD9-81ED-4DB2-BD59-A6C34878D82A}">
                    <a16:rowId xmlns:a16="http://schemas.microsoft.com/office/drawing/2014/main" val="2365186817"/>
                  </a:ext>
                </a:extLst>
              </a:tr>
            </a:tbl>
          </a:graphicData>
        </a:graphic>
      </p:graphicFrame>
    </p:spTree>
    <p:extLst>
      <p:ext uri="{BB962C8B-B14F-4D97-AF65-F5344CB8AC3E}">
        <p14:creationId xmlns:p14="http://schemas.microsoft.com/office/powerpoint/2010/main" val="11967222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6750-8638-F6B9-9452-77B44D810B4E}"/>
              </a:ext>
            </a:extLst>
          </p:cNvPr>
          <p:cNvSpPr>
            <a:spLocks noGrp="1"/>
          </p:cNvSpPr>
          <p:nvPr>
            <p:ph type="title"/>
          </p:nvPr>
        </p:nvSpPr>
        <p:spPr/>
        <p:txBody>
          <a:bodyPr/>
          <a:lstStyle/>
          <a:p>
            <a:r>
              <a:rPr lang="en-US" dirty="0">
                <a:solidFill>
                  <a:prstClr val="black"/>
                </a:solidFill>
                <a:latin typeface="Times New Roman" panose="02020603050405020304" pitchFamily="18" charset="0"/>
                <a:ea typeface="Times New Roman" panose="02020603050405020304" pitchFamily="18" charset="0"/>
              </a:rPr>
              <a:t>Building team for startup</a:t>
            </a:r>
            <a:endParaRPr lang="en-CA" dirty="0"/>
          </a:p>
        </p:txBody>
      </p:sp>
      <p:sp>
        <p:nvSpPr>
          <p:cNvPr id="3" name="Content Placeholder 2">
            <a:extLst>
              <a:ext uri="{FF2B5EF4-FFF2-40B4-BE49-F238E27FC236}">
                <a16:creationId xmlns:a16="http://schemas.microsoft.com/office/drawing/2014/main" id="{62C27C6F-BDCF-74B6-0D46-0039FBE5F65F}"/>
              </a:ext>
            </a:extLst>
          </p:cNvPr>
          <p:cNvSpPr>
            <a:spLocks noGrp="1"/>
          </p:cNvSpPr>
          <p:nvPr>
            <p:ph idx="1"/>
          </p:nvPr>
        </p:nvSpPr>
        <p:spPr/>
        <p:txBody>
          <a:bodyPr/>
          <a:lstStyle/>
          <a:p>
            <a:r>
              <a:rPr lang="en-US" dirty="0"/>
              <a:t>The team-building structure for a startup is strategically important because the right team is the primary engine for execution, directly enabling the company to achieve its mission and successfully deploy its Go-To-Market (GTM) strategy. A strong team is a necessity for survival, funding, and growth in a fast-paced environment.</a:t>
            </a:r>
            <a:endParaRPr lang="en-CA" dirty="0"/>
          </a:p>
        </p:txBody>
      </p:sp>
    </p:spTree>
    <p:extLst>
      <p:ext uri="{BB962C8B-B14F-4D97-AF65-F5344CB8AC3E}">
        <p14:creationId xmlns:p14="http://schemas.microsoft.com/office/powerpoint/2010/main" val="31684949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04F1-CC00-4096-BFF1-1B70E614B77E}"/>
              </a:ext>
            </a:extLst>
          </p:cNvPr>
          <p:cNvSpPr>
            <a:spLocks noGrp="1"/>
          </p:cNvSpPr>
          <p:nvPr>
            <p:ph type="title"/>
          </p:nvPr>
        </p:nvSpPr>
        <p:spPr>
          <a:xfrm>
            <a:off x="0" y="365125"/>
            <a:ext cx="12298680" cy="1325563"/>
          </a:xfrm>
        </p:spPr>
        <p:txBody>
          <a:bodyPr/>
          <a:lstStyle/>
          <a:p>
            <a:r>
              <a:rPr lang="en-US" dirty="0"/>
              <a:t>Recruiting founders and early employees for a startup</a:t>
            </a:r>
            <a:endParaRPr lang="en-CA" dirty="0"/>
          </a:p>
        </p:txBody>
      </p:sp>
      <p:sp>
        <p:nvSpPr>
          <p:cNvPr id="3" name="Content Placeholder 2">
            <a:extLst>
              <a:ext uri="{FF2B5EF4-FFF2-40B4-BE49-F238E27FC236}">
                <a16:creationId xmlns:a16="http://schemas.microsoft.com/office/drawing/2014/main" id="{24D4BE67-C968-11BE-FD2B-454D882C5A60}"/>
              </a:ext>
            </a:extLst>
          </p:cNvPr>
          <p:cNvSpPr>
            <a:spLocks noGrp="1"/>
          </p:cNvSpPr>
          <p:nvPr>
            <p:ph idx="1"/>
          </p:nvPr>
        </p:nvSpPr>
        <p:spPr/>
        <p:txBody>
          <a:bodyPr/>
          <a:lstStyle/>
          <a:p>
            <a:r>
              <a:rPr lang="en-US" dirty="0"/>
              <a:t>Recruiting founders and early employees for a startup is fundamentally different from standard hiring. It's about finding mission-driven partners who will build the company's foundation with you.</a:t>
            </a:r>
          </a:p>
        </p:txBody>
      </p:sp>
    </p:spTree>
    <p:extLst>
      <p:ext uri="{BB962C8B-B14F-4D97-AF65-F5344CB8AC3E}">
        <p14:creationId xmlns:p14="http://schemas.microsoft.com/office/powerpoint/2010/main" val="4004174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A346-6AC0-2FAC-DC1F-4CBE8251A221}"/>
              </a:ext>
            </a:extLst>
          </p:cNvPr>
          <p:cNvSpPr>
            <a:spLocks noGrp="1"/>
          </p:cNvSpPr>
          <p:nvPr>
            <p:ph type="title"/>
          </p:nvPr>
        </p:nvSpPr>
        <p:spPr>
          <a:xfrm>
            <a:off x="838200" y="365125"/>
            <a:ext cx="10515600" cy="14693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5786A59-586A-40CA-6A0E-4D036DA28E7D}"/>
              </a:ext>
            </a:extLst>
          </p:cNvPr>
          <p:cNvSpPr>
            <a:spLocks noGrp="1"/>
          </p:cNvSpPr>
          <p:nvPr>
            <p:ph idx="1"/>
          </p:nvPr>
        </p:nvSpPr>
        <p:spPr>
          <a:xfrm>
            <a:off x="429768" y="713232"/>
            <a:ext cx="11631168" cy="5907024"/>
          </a:xfrm>
        </p:spPr>
        <p:txBody>
          <a:bodyPr>
            <a:normAutofit/>
          </a:bodyPr>
          <a:lstStyle/>
          <a:p>
            <a:pPr fontAlgn="base"/>
            <a:r>
              <a:rPr lang="en-US" dirty="0"/>
              <a:t>For a startup, every hire is crucial. From shaping the company culture to driving innovation, the right team can catalyze success or lead to unforeseen challenges. That’s why recruitment strategies for startups central concerns to the very essence of building a prosperous business.</a:t>
            </a:r>
          </a:p>
          <a:p>
            <a:pPr fontAlgn="base"/>
            <a:r>
              <a:rPr lang="en-US" dirty="0"/>
              <a:t>In this competitive landscape, </a:t>
            </a:r>
            <a:r>
              <a:rPr lang="en-US" b="1" dirty="0"/>
              <a:t>recruiting for startups</a:t>
            </a:r>
            <a:r>
              <a:rPr lang="en-US" dirty="0"/>
              <a:t> is distinctly different from the established corporate world. Here, resources may be limited, but the need for top talent is very essential. </a:t>
            </a:r>
          </a:p>
          <a:p>
            <a:pPr fontAlgn="base"/>
            <a:r>
              <a:rPr lang="en-US" dirty="0"/>
              <a:t>To </a:t>
            </a:r>
            <a:r>
              <a:rPr lang="en-US" b="1" dirty="0"/>
              <a:t>hire top talent for your startup</a:t>
            </a:r>
            <a:r>
              <a:rPr lang="en-US" dirty="0"/>
              <a:t>, it’s essential to create a structured approach that is both innovative and effective. </a:t>
            </a:r>
            <a:endParaRPr lang="en-CA" dirty="0"/>
          </a:p>
        </p:txBody>
      </p:sp>
    </p:spTree>
    <p:extLst>
      <p:ext uri="{BB962C8B-B14F-4D97-AF65-F5344CB8AC3E}">
        <p14:creationId xmlns:p14="http://schemas.microsoft.com/office/powerpoint/2010/main" val="6213259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6991D-2A25-0484-725C-298E19C6864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06B9018-8404-6691-FD56-F7548DBB5B48}"/>
              </a:ext>
            </a:extLst>
          </p:cNvPr>
          <p:cNvSpPr>
            <a:spLocks noGrp="1"/>
          </p:cNvSpPr>
          <p:nvPr>
            <p:ph idx="1"/>
          </p:nvPr>
        </p:nvSpPr>
        <p:spPr/>
        <p:txBody>
          <a:bodyPr/>
          <a:lstStyle/>
          <a:p>
            <a:r>
              <a:rPr lang="en-US" dirty="0"/>
              <a:t>For startups, the right recruitment strategies are not just about filling positions, but about building the foundation of your company’s future. A strategic approach to recruitment must be established early on to ensure that you not only hire, but also retain the top talent that will drive your startup forward.</a:t>
            </a:r>
            <a:endParaRPr lang="en-CA" dirty="0"/>
          </a:p>
        </p:txBody>
      </p:sp>
    </p:spTree>
    <p:extLst>
      <p:ext uri="{BB962C8B-B14F-4D97-AF65-F5344CB8AC3E}">
        <p14:creationId xmlns:p14="http://schemas.microsoft.com/office/powerpoint/2010/main" val="36393632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604B7-F63D-3ABE-03D2-B9E1CAFF2C9D}"/>
              </a:ext>
            </a:extLst>
          </p:cNvPr>
          <p:cNvSpPr>
            <a:spLocks noGrp="1"/>
          </p:cNvSpPr>
          <p:nvPr>
            <p:ph type="title"/>
          </p:nvPr>
        </p:nvSpPr>
        <p:spPr>
          <a:xfrm>
            <a:off x="457200" y="681037"/>
            <a:ext cx="11667744" cy="672275"/>
          </a:xfrm>
        </p:spPr>
        <p:txBody>
          <a:bodyPr>
            <a:normAutofit fontScale="90000"/>
          </a:bodyPr>
          <a:lstStyle/>
          <a:p>
            <a:r>
              <a:rPr lang="en-US" b="1" dirty="0"/>
              <a:t>Key Strategies for Recruiting Founders &amp; Early Employees</a:t>
            </a:r>
            <a:br>
              <a:rPr lang="en-US" b="1" dirty="0"/>
            </a:br>
            <a:endParaRPr lang="en-CA" dirty="0"/>
          </a:p>
        </p:txBody>
      </p:sp>
      <p:sp>
        <p:nvSpPr>
          <p:cNvPr id="3" name="Content Placeholder 2">
            <a:extLst>
              <a:ext uri="{FF2B5EF4-FFF2-40B4-BE49-F238E27FC236}">
                <a16:creationId xmlns:a16="http://schemas.microsoft.com/office/drawing/2014/main" id="{8C8A3712-D659-FFF1-5A5F-D06C02F6B225}"/>
              </a:ext>
            </a:extLst>
          </p:cNvPr>
          <p:cNvSpPr>
            <a:spLocks noGrp="1"/>
          </p:cNvSpPr>
          <p:nvPr>
            <p:ph idx="1"/>
          </p:nvPr>
        </p:nvSpPr>
        <p:spPr>
          <a:xfrm>
            <a:off x="457200" y="1252728"/>
            <a:ext cx="11393424" cy="4924235"/>
          </a:xfrm>
        </p:spPr>
        <p:txBody>
          <a:bodyPr>
            <a:normAutofit/>
          </a:bodyPr>
          <a:lstStyle/>
          <a:p>
            <a:r>
              <a:rPr lang="en-US" b="1" dirty="0"/>
              <a:t>Define Roles and Vision Clearly</a:t>
            </a:r>
            <a:endParaRPr lang="en-US" dirty="0"/>
          </a:p>
          <a:p>
            <a:pPr lvl="1"/>
            <a:r>
              <a:rPr lang="en-US" dirty="0"/>
              <a:t>Outline the startup’s mission, long-term vision, and core values.</a:t>
            </a:r>
          </a:p>
          <a:p>
            <a:pPr lvl="1"/>
            <a:r>
              <a:rPr lang="en-US" dirty="0"/>
              <a:t>Clarify what skills, experience, and mindset are needed in co-founders and first hires.</a:t>
            </a:r>
          </a:p>
          <a:p>
            <a:r>
              <a:rPr lang="en-US" b="1" dirty="0"/>
              <a:t>Leverage Networks</a:t>
            </a:r>
            <a:endParaRPr lang="en-US" dirty="0"/>
          </a:p>
          <a:p>
            <a:pPr lvl="1"/>
            <a:r>
              <a:rPr lang="en-US" dirty="0"/>
              <a:t>Use personal and professional networks to find people with shared interests.</a:t>
            </a:r>
          </a:p>
          <a:p>
            <a:pPr lvl="1"/>
            <a:r>
              <a:rPr lang="en-US" dirty="0"/>
              <a:t>Attend startup events and local exhibition programs to meet potential co-founders.</a:t>
            </a:r>
          </a:p>
          <a:p>
            <a:r>
              <a:rPr lang="en-US" b="1" dirty="0"/>
              <a:t>Look for Complementary Skills</a:t>
            </a:r>
            <a:endParaRPr lang="en-US" dirty="0"/>
          </a:p>
          <a:p>
            <a:pPr lvl="1"/>
            <a:r>
              <a:rPr lang="en-US" dirty="0"/>
              <a:t>Combine technical, business, and creative expertise.</a:t>
            </a:r>
          </a:p>
          <a:p>
            <a:pPr lvl="1"/>
            <a:r>
              <a:rPr lang="en-US" dirty="0"/>
              <a:t>Ensure founders’ strengths balance each other (e.g., one product-focused, one marketing-focused).</a:t>
            </a:r>
            <a:endParaRPr lang="en-CA" dirty="0"/>
          </a:p>
        </p:txBody>
      </p:sp>
    </p:spTree>
    <p:extLst>
      <p:ext uri="{BB962C8B-B14F-4D97-AF65-F5344CB8AC3E}">
        <p14:creationId xmlns:p14="http://schemas.microsoft.com/office/powerpoint/2010/main" val="9119766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ECBA5-CE4F-87BA-2F7A-549893F70FEC}"/>
              </a:ext>
            </a:extLst>
          </p:cNvPr>
          <p:cNvSpPr>
            <a:spLocks noGrp="1"/>
          </p:cNvSpPr>
          <p:nvPr>
            <p:ph type="title"/>
          </p:nvPr>
        </p:nvSpPr>
        <p:spPr>
          <a:xfrm>
            <a:off x="838200" y="365125"/>
            <a:ext cx="10515600" cy="723011"/>
          </a:xfrm>
        </p:spPr>
        <p:txBody>
          <a:bodyPr/>
          <a:lstStyle/>
          <a:p>
            <a:endParaRPr lang="en-CA" dirty="0"/>
          </a:p>
        </p:txBody>
      </p:sp>
      <p:sp>
        <p:nvSpPr>
          <p:cNvPr id="3" name="Content Placeholder 2">
            <a:extLst>
              <a:ext uri="{FF2B5EF4-FFF2-40B4-BE49-F238E27FC236}">
                <a16:creationId xmlns:a16="http://schemas.microsoft.com/office/drawing/2014/main" id="{A90B0349-E60B-A0ED-D867-99E1ACA590FF}"/>
              </a:ext>
            </a:extLst>
          </p:cNvPr>
          <p:cNvSpPr>
            <a:spLocks noGrp="1"/>
          </p:cNvSpPr>
          <p:nvPr>
            <p:ph idx="1"/>
          </p:nvPr>
        </p:nvSpPr>
        <p:spPr>
          <a:xfrm>
            <a:off x="448056" y="1280160"/>
            <a:ext cx="11320272" cy="4896803"/>
          </a:xfrm>
        </p:spPr>
        <p:txBody>
          <a:bodyPr>
            <a:normAutofit/>
          </a:bodyPr>
          <a:lstStyle/>
          <a:p>
            <a:r>
              <a:rPr lang="en-US" b="1" dirty="0"/>
              <a:t>Offer Equity and Incentives</a:t>
            </a:r>
            <a:endParaRPr lang="en-US" dirty="0"/>
          </a:p>
          <a:p>
            <a:pPr lvl="1"/>
            <a:r>
              <a:rPr lang="en-US" dirty="0"/>
              <a:t>Use equity, profit-sharing, or stock options to attract talent despite limited cash.</a:t>
            </a:r>
          </a:p>
          <a:p>
            <a:pPr lvl="1"/>
            <a:r>
              <a:rPr lang="en-US" dirty="0"/>
              <a:t>Communicate growth potential and ownership benefits clearly.</a:t>
            </a:r>
          </a:p>
          <a:p>
            <a:r>
              <a:rPr lang="en-US" b="1" dirty="0"/>
              <a:t>Build a Strong Employer Brand</a:t>
            </a:r>
            <a:endParaRPr lang="en-US" dirty="0"/>
          </a:p>
          <a:p>
            <a:pPr lvl="1"/>
            <a:r>
              <a:rPr lang="en-US" dirty="0"/>
              <a:t>Highlight innovation, flexibility, and learning opportunities.</a:t>
            </a:r>
          </a:p>
          <a:p>
            <a:pPr lvl="1"/>
            <a:r>
              <a:rPr lang="en-US" dirty="0"/>
              <a:t>Share authentic stories about the startup’s journey.</a:t>
            </a:r>
          </a:p>
          <a:p>
            <a:r>
              <a:rPr lang="en-US" b="1" dirty="0"/>
              <a:t>Use Startup-Specific Recruitment Platforms</a:t>
            </a:r>
            <a:endParaRPr lang="en-US" dirty="0"/>
          </a:p>
          <a:p>
            <a:pPr lvl="1"/>
            <a:r>
              <a:rPr lang="en-US" dirty="0"/>
              <a:t>Post on platforms like AngelList, or local startup job boards.</a:t>
            </a:r>
          </a:p>
          <a:p>
            <a:pPr lvl="1"/>
            <a:r>
              <a:rPr lang="en-US" dirty="0"/>
              <a:t>Engage in online founder communities and startup accelerators.</a:t>
            </a:r>
          </a:p>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                   AngelList</a:t>
            </a:r>
            <a:r>
              <a:rPr lang="en-US" altLang="en-US" sz="1800" dirty="0">
                <a:latin typeface="Arial" panose="020B0604020202020204" pitchFamily="34" charset="0"/>
              </a:rPr>
              <a:t> is one of the biggest global platforms for startups.</a:t>
            </a: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It connects </a:t>
            </a:r>
            <a:r>
              <a:rPr lang="en-US" altLang="en-US" sz="1800" b="1" dirty="0">
                <a:latin typeface="Arial" panose="020B0604020202020204" pitchFamily="34" charset="0"/>
              </a:rPr>
              <a:t>startups</a:t>
            </a:r>
            <a:r>
              <a:rPr lang="en-US" altLang="en-US" sz="1800" dirty="0">
                <a:latin typeface="Arial" panose="020B0604020202020204" pitchFamily="34" charset="0"/>
              </a:rPr>
              <a:t> with </a:t>
            </a:r>
            <a:r>
              <a:rPr lang="en-US" altLang="en-US" sz="1800" b="1" dirty="0">
                <a:latin typeface="Arial" panose="020B0604020202020204" pitchFamily="34" charset="0"/>
              </a:rPr>
              <a:t>job seekers, investors, and co-founders</a:t>
            </a:r>
            <a:r>
              <a:rPr lang="en-US" altLang="en-US" sz="1800" dirty="0">
                <a:latin typeface="Arial" panose="020B0604020202020204" pitchFamily="34" charset="0"/>
              </a:rPr>
              <a:t>.</a:t>
            </a:r>
          </a:p>
          <a:p>
            <a:pPr marL="457200" lvl="1" indent="0">
              <a:buNone/>
            </a:pPr>
            <a:endParaRPr lang="en-US" dirty="0"/>
          </a:p>
          <a:p>
            <a:endParaRPr lang="en-CA" dirty="0"/>
          </a:p>
        </p:txBody>
      </p:sp>
    </p:spTree>
    <p:extLst>
      <p:ext uri="{BB962C8B-B14F-4D97-AF65-F5344CB8AC3E}">
        <p14:creationId xmlns:p14="http://schemas.microsoft.com/office/powerpoint/2010/main" val="3353323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BAA3C-5435-33AF-1873-75A58B9808E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2048D30-C03C-643F-33E4-B564BF6C4055}"/>
              </a:ext>
            </a:extLst>
          </p:cNvPr>
          <p:cNvSpPr>
            <a:spLocks noGrp="1"/>
          </p:cNvSpPr>
          <p:nvPr>
            <p:ph idx="1"/>
          </p:nvPr>
        </p:nvSpPr>
        <p:spPr/>
        <p:txBody>
          <a:bodyPr/>
          <a:lstStyle/>
          <a:p>
            <a:r>
              <a:rPr lang="en-US" dirty="0"/>
              <a:t>implement a Structured Process:	Use a clear hiring plan, defined roles, and streamlined interviews (2-3 rounds).	This saves time, improves candidate experience, and ensures alignment on what you need.</a:t>
            </a:r>
            <a:endParaRPr lang="en-CA" dirty="0"/>
          </a:p>
        </p:txBody>
      </p:sp>
    </p:spTree>
    <p:extLst>
      <p:ext uri="{BB962C8B-B14F-4D97-AF65-F5344CB8AC3E}">
        <p14:creationId xmlns:p14="http://schemas.microsoft.com/office/powerpoint/2010/main" val="4946103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3876-AB52-E67B-F743-C57422ADDFFD}"/>
              </a:ext>
            </a:extLst>
          </p:cNvPr>
          <p:cNvSpPr>
            <a:spLocks noGrp="1"/>
          </p:cNvSpPr>
          <p:nvPr>
            <p:ph type="title"/>
          </p:nvPr>
        </p:nvSpPr>
        <p:spPr/>
        <p:txBody>
          <a:bodyPr/>
          <a:lstStyle/>
          <a:p>
            <a:r>
              <a:rPr lang="en-US" dirty="0"/>
              <a:t>Financial Analysis </a:t>
            </a:r>
            <a:endParaRPr lang="en-CA" dirty="0"/>
          </a:p>
        </p:txBody>
      </p:sp>
      <p:sp>
        <p:nvSpPr>
          <p:cNvPr id="3" name="Content Placeholder 2">
            <a:extLst>
              <a:ext uri="{FF2B5EF4-FFF2-40B4-BE49-F238E27FC236}">
                <a16:creationId xmlns:a16="http://schemas.microsoft.com/office/drawing/2014/main" id="{B9E5255F-F76D-D0D3-3255-8E107D79B3FF}"/>
              </a:ext>
            </a:extLst>
          </p:cNvPr>
          <p:cNvSpPr>
            <a:spLocks noGrp="1"/>
          </p:cNvSpPr>
          <p:nvPr>
            <p:ph idx="1"/>
          </p:nvPr>
        </p:nvSpPr>
        <p:spPr/>
        <p:txBody>
          <a:bodyPr/>
          <a:lstStyle/>
          <a:p>
            <a:r>
              <a:rPr lang="en-US" b="1" dirty="0"/>
              <a:t>Financial Analysis</a:t>
            </a:r>
            <a:r>
              <a:rPr lang="en-US" dirty="0"/>
              <a:t> in a startup is the process of evaluating a company's financial data, projections, and overall health to guide decision-making, attract investors, managing funds, and ensure long-term survival</a:t>
            </a:r>
            <a:endParaRPr lang="en-CA" dirty="0"/>
          </a:p>
        </p:txBody>
      </p:sp>
    </p:spTree>
    <p:extLst>
      <p:ext uri="{BB962C8B-B14F-4D97-AF65-F5344CB8AC3E}">
        <p14:creationId xmlns:p14="http://schemas.microsoft.com/office/powerpoint/2010/main" val="398152514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C9A9-DB3F-A84A-D7D6-CA2ADD3E6AB3}"/>
              </a:ext>
            </a:extLst>
          </p:cNvPr>
          <p:cNvSpPr>
            <a:spLocks noGrp="1"/>
          </p:cNvSpPr>
          <p:nvPr>
            <p:ph type="title"/>
          </p:nvPr>
        </p:nvSpPr>
        <p:spPr/>
        <p:txBody>
          <a:bodyPr/>
          <a:lstStyle/>
          <a:p>
            <a:r>
              <a:rPr lang="en-US" b="1" dirty="0"/>
              <a:t>Revenue Streams</a:t>
            </a:r>
            <a:r>
              <a:rPr lang="en-US" dirty="0"/>
              <a:t> and </a:t>
            </a:r>
            <a:r>
              <a:rPr lang="en-US" b="1" dirty="0"/>
              <a:t>Cost Structures</a:t>
            </a:r>
            <a:r>
              <a:rPr lang="en-US" dirty="0"/>
              <a:t> </a:t>
            </a:r>
            <a:endParaRPr lang="en-CA" dirty="0"/>
          </a:p>
        </p:txBody>
      </p:sp>
      <p:sp>
        <p:nvSpPr>
          <p:cNvPr id="3" name="Content Placeholder 2">
            <a:extLst>
              <a:ext uri="{FF2B5EF4-FFF2-40B4-BE49-F238E27FC236}">
                <a16:creationId xmlns:a16="http://schemas.microsoft.com/office/drawing/2014/main" id="{BD07ADBA-5F81-FE48-2032-A134B7CFDDA8}"/>
              </a:ext>
            </a:extLst>
          </p:cNvPr>
          <p:cNvSpPr>
            <a:spLocks noGrp="1"/>
          </p:cNvSpPr>
          <p:nvPr>
            <p:ph idx="1"/>
          </p:nvPr>
        </p:nvSpPr>
        <p:spPr/>
        <p:txBody>
          <a:bodyPr/>
          <a:lstStyle/>
          <a:p>
            <a:r>
              <a:rPr lang="en-US" b="1" dirty="0"/>
              <a:t>Revenue Streams</a:t>
            </a:r>
            <a:r>
              <a:rPr lang="en-US" dirty="0"/>
              <a:t> and </a:t>
            </a:r>
            <a:r>
              <a:rPr lang="en-US" b="1" dirty="0"/>
              <a:t>Cost Structures</a:t>
            </a:r>
            <a:r>
              <a:rPr lang="en-US" dirty="0"/>
              <a:t> are two of the most critical building blocks of any business model. They define how a company makes money and how it spends money, ultimately determining its profitability. They are cash flows of the enterprise. Cash flows are either cash inflow or cash outflow. Generating revenues (all receipts) are cash inflows and expenditures, costs are cash outflows. </a:t>
            </a:r>
            <a:endParaRPr lang="en-CA" dirty="0"/>
          </a:p>
        </p:txBody>
      </p:sp>
    </p:spTree>
    <p:extLst>
      <p:ext uri="{BB962C8B-B14F-4D97-AF65-F5344CB8AC3E}">
        <p14:creationId xmlns:p14="http://schemas.microsoft.com/office/powerpoint/2010/main" val="6934124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19C9C-0B26-9166-5DD5-0D22520670FB}"/>
              </a:ext>
            </a:extLst>
          </p:cNvPr>
          <p:cNvSpPr>
            <a:spLocks noGrp="1"/>
          </p:cNvSpPr>
          <p:nvPr>
            <p:ph type="title"/>
          </p:nvPr>
        </p:nvSpPr>
        <p:spPr>
          <a:xfrm>
            <a:off x="838200" y="681037"/>
            <a:ext cx="10515600" cy="1009651"/>
          </a:xfrm>
        </p:spPr>
        <p:txBody>
          <a:bodyPr>
            <a:normAutofit fontScale="90000"/>
          </a:bodyPr>
          <a:lstStyle/>
          <a:p>
            <a:r>
              <a:rPr lang="en-US" b="1" dirty="0"/>
              <a:t>Revenue Streams</a:t>
            </a:r>
            <a:br>
              <a:rPr lang="en-US" b="1" dirty="0"/>
            </a:br>
            <a:endParaRPr lang="en-CA" dirty="0"/>
          </a:p>
        </p:txBody>
      </p:sp>
      <p:sp>
        <p:nvSpPr>
          <p:cNvPr id="3" name="Content Placeholder 2">
            <a:extLst>
              <a:ext uri="{FF2B5EF4-FFF2-40B4-BE49-F238E27FC236}">
                <a16:creationId xmlns:a16="http://schemas.microsoft.com/office/drawing/2014/main" id="{849F7DF3-E9B4-37B1-AB05-4B41BC535395}"/>
              </a:ext>
            </a:extLst>
          </p:cNvPr>
          <p:cNvSpPr>
            <a:spLocks noGrp="1"/>
          </p:cNvSpPr>
          <p:nvPr>
            <p:ph idx="1"/>
          </p:nvPr>
        </p:nvSpPr>
        <p:spPr/>
        <p:txBody>
          <a:bodyPr/>
          <a:lstStyle/>
          <a:p>
            <a:r>
              <a:rPr lang="en-US" b="1" dirty="0"/>
              <a:t>Revenue Streams</a:t>
            </a:r>
            <a:r>
              <a:rPr lang="en-US" dirty="0"/>
              <a:t> represent the various sources of cash inflows a business generates from its customers. In simple terms, it's </a:t>
            </a:r>
            <a:r>
              <a:rPr lang="en-US" b="1" dirty="0"/>
              <a:t>"How you make money."</a:t>
            </a:r>
            <a:endParaRPr lang="en-US" dirty="0"/>
          </a:p>
          <a:p>
            <a:endParaRPr lang="en-CA" dirty="0"/>
          </a:p>
        </p:txBody>
      </p:sp>
    </p:spTree>
    <p:extLst>
      <p:ext uri="{BB962C8B-B14F-4D97-AF65-F5344CB8AC3E}">
        <p14:creationId xmlns:p14="http://schemas.microsoft.com/office/powerpoint/2010/main" val="34806720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1FA6-BE00-237C-1387-9A381C81FDA7}"/>
              </a:ext>
            </a:extLst>
          </p:cNvPr>
          <p:cNvSpPr>
            <a:spLocks noGrp="1"/>
          </p:cNvSpPr>
          <p:nvPr>
            <p:ph type="title"/>
          </p:nvPr>
        </p:nvSpPr>
        <p:spPr>
          <a:xfrm>
            <a:off x="838200" y="365125"/>
            <a:ext cx="10515600" cy="558419"/>
          </a:xfrm>
        </p:spPr>
        <p:txBody>
          <a:bodyPr>
            <a:normAutofit fontScale="90000"/>
          </a:bodyPr>
          <a:lstStyle/>
          <a:p>
            <a:endParaRPr lang="en-CA" dirty="0"/>
          </a:p>
        </p:txBody>
      </p:sp>
      <p:graphicFrame>
        <p:nvGraphicFramePr>
          <p:cNvPr id="4" name="Content Placeholder 3">
            <a:extLst>
              <a:ext uri="{FF2B5EF4-FFF2-40B4-BE49-F238E27FC236}">
                <a16:creationId xmlns:a16="http://schemas.microsoft.com/office/drawing/2014/main" id="{37CBDB33-AB29-8C54-11AE-9B81F969F955}"/>
              </a:ext>
            </a:extLst>
          </p:cNvPr>
          <p:cNvGraphicFramePr>
            <a:graphicFrameLocks noGrp="1"/>
          </p:cNvGraphicFramePr>
          <p:nvPr>
            <p:ph idx="1"/>
            <p:extLst>
              <p:ext uri="{D42A27DB-BD31-4B8C-83A1-F6EECF244321}">
                <p14:modId xmlns:p14="http://schemas.microsoft.com/office/powerpoint/2010/main" val="157987621"/>
              </p:ext>
            </p:extLst>
          </p:nvPr>
        </p:nvGraphicFramePr>
        <p:xfrm>
          <a:off x="466344" y="1605784"/>
          <a:ext cx="11173969" cy="4856448"/>
        </p:xfrm>
        <a:graphic>
          <a:graphicData uri="http://schemas.openxmlformats.org/drawingml/2006/table">
            <a:tbl>
              <a:tblPr/>
              <a:tblGrid>
                <a:gridCol w="3236177">
                  <a:extLst>
                    <a:ext uri="{9D8B030D-6E8A-4147-A177-3AD203B41FA5}">
                      <a16:colId xmlns:a16="http://schemas.microsoft.com/office/drawing/2014/main" val="2570847999"/>
                    </a:ext>
                  </a:extLst>
                </a:gridCol>
                <a:gridCol w="3968896">
                  <a:extLst>
                    <a:ext uri="{9D8B030D-6E8A-4147-A177-3AD203B41FA5}">
                      <a16:colId xmlns:a16="http://schemas.microsoft.com/office/drawing/2014/main" val="3275134790"/>
                    </a:ext>
                  </a:extLst>
                </a:gridCol>
                <a:gridCol w="3968896">
                  <a:extLst>
                    <a:ext uri="{9D8B030D-6E8A-4147-A177-3AD203B41FA5}">
                      <a16:colId xmlns:a16="http://schemas.microsoft.com/office/drawing/2014/main" val="3663838189"/>
                    </a:ext>
                  </a:extLst>
                </a:gridCol>
              </a:tblGrid>
              <a:tr h="223959">
                <a:tc>
                  <a:txBody>
                    <a:bodyPr/>
                    <a:lstStyle/>
                    <a:p>
                      <a:pPr algn="l">
                        <a:lnSpc>
                          <a:spcPts val="1875"/>
                        </a:lnSpc>
                        <a:buNone/>
                      </a:pPr>
                      <a:r>
                        <a:rPr lang="en-CA" sz="1600" b="1" dirty="0">
                          <a:effectLst/>
                          <a:latin typeface="quote-cjk-patch"/>
                        </a:rPr>
                        <a:t>Type</a:t>
                      </a:r>
                    </a:p>
                  </a:txBody>
                  <a:tcPr marL="80332" marR="133887" marT="83680" marB="83680" anchor="ctr">
                    <a:lnL>
                      <a:noFill/>
                    </a:lnL>
                    <a:lnR>
                      <a:noFill/>
                    </a:lnR>
                    <a:lnT>
                      <a:noFill/>
                    </a:lnT>
                    <a:lnB>
                      <a:noFill/>
                    </a:lnB>
                    <a:solidFill>
                      <a:srgbClr val="FFFFFF"/>
                    </a:solidFill>
                  </a:tcPr>
                </a:tc>
                <a:tc>
                  <a:txBody>
                    <a:bodyPr/>
                    <a:lstStyle/>
                    <a:p>
                      <a:pPr algn="l">
                        <a:lnSpc>
                          <a:spcPts val="1875"/>
                        </a:lnSpc>
                        <a:buNone/>
                      </a:pPr>
                      <a:r>
                        <a:rPr lang="en-CA" sz="1600" b="1" dirty="0">
                          <a:effectLst/>
                          <a:latin typeface="quote-cjk-patch"/>
                        </a:rPr>
                        <a:t>Description</a:t>
                      </a:r>
                    </a:p>
                  </a:txBody>
                  <a:tcPr marL="133887" marR="133887" marT="83680" marB="83680" anchor="ctr">
                    <a:lnL>
                      <a:noFill/>
                    </a:lnL>
                    <a:lnR>
                      <a:noFill/>
                    </a:lnR>
                    <a:lnT>
                      <a:noFill/>
                    </a:lnT>
                    <a:lnB>
                      <a:noFill/>
                    </a:lnB>
                    <a:solidFill>
                      <a:srgbClr val="FFFFFF"/>
                    </a:solidFill>
                  </a:tcPr>
                </a:tc>
                <a:tc>
                  <a:txBody>
                    <a:bodyPr/>
                    <a:lstStyle/>
                    <a:p>
                      <a:pPr algn="l">
                        <a:lnSpc>
                          <a:spcPts val="1875"/>
                        </a:lnSpc>
                        <a:buNone/>
                      </a:pPr>
                      <a:r>
                        <a:rPr lang="en-CA" sz="1600" b="1" dirty="0">
                          <a:effectLst/>
                          <a:latin typeface="quote-cjk-patch"/>
                        </a:rPr>
                        <a:t>Examples</a:t>
                      </a:r>
                    </a:p>
                    <a:p>
                      <a:pPr algn="l">
                        <a:lnSpc>
                          <a:spcPts val="1875"/>
                        </a:lnSpc>
                        <a:buNone/>
                      </a:pPr>
                      <a:endParaRPr lang="en-CA" sz="1600" b="1" dirty="0">
                        <a:effectLst/>
                        <a:latin typeface="quote-cjk-patch"/>
                      </a:endParaRPr>
                    </a:p>
                  </a:txBody>
                  <a:tcPr marL="133887" marR="133887" marT="83680" marB="83680" anchor="ctr">
                    <a:lnL>
                      <a:noFill/>
                    </a:lnL>
                    <a:lnR>
                      <a:noFill/>
                    </a:lnR>
                    <a:lnT>
                      <a:noFill/>
                    </a:lnT>
                    <a:lnB>
                      <a:noFill/>
                    </a:lnB>
                    <a:solidFill>
                      <a:srgbClr val="FFFFFF"/>
                    </a:solidFill>
                  </a:tcPr>
                </a:tc>
                <a:extLst>
                  <a:ext uri="{0D108BD9-81ED-4DB2-BD59-A6C34878D82A}">
                    <a16:rowId xmlns:a16="http://schemas.microsoft.com/office/drawing/2014/main" val="1130089437"/>
                  </a:ext>
                </a:extLst>
              </a:tr>
              <a:tr h="591336">
                <a:tc>
                  <a:txBody>
                    <a:bodyPr/>
                    <a:lstStyle/>
                    <a:p>
                      <a:pPr>
                        <a:lnSpc>
                          <a:spcPts val="1875"/>
                        </a:lnSpc>
                        <a:buNone/>
                      </a:pPr>
                      <a:r>
                        <a:rPr lang="en-CA" sz="1600" b="1" dirty="0">
                          <a:effectLst/>
                          <a:latin typeface="quote-cjk-patch"/>
                        </a:rPr>
                        <a:t>Regular Sale</a:t>
                      </a:r>
                      <a:endParaRPr lang="en-CA" sz="1600" b="0" dirty="0">
                        <a:effectLst/>
                        <a:latin typeface="quote-cjk-patch"/>
                      </a:endParaRPr>
                    </a:p>
                  </a:txBody>
                  <a:tcPr marL="80332" marR="133887" marT="83680" marB="83680"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Selling ownership rights of a physical product or services. </a:t>
                      </a:r>
                    </a:p>
                  </a:txBody>
                  <a:tcPr marL="133887"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A coffee shop selling a cup of coffee; Apple selling an iPhone.</a:t>
                      </a:r>
                    </a:p>
                  </a:txBody>
                  <a:tcPr marL="133887" marR="80332" marT="83680" marB="83680" anchor="ctr">
                    <a:lnL>
                      <a:noFill/>
                    </a:lnL>
                    <a:lnR>
                      <a:noFill/>
                    </a:lnR>
                    <a:lnT>
                      <a:noFill/>
                    </a:lnT>
                    <a:lnB>
                      <a:noFill/>
                    </a:lnB>
                    <a:solidFill>
                      <a:srgbClr val="FFFFFF"/>
                    </a:solidFill>
                  </a:tcPr>
                </a:tc>
                <a:extLst>
                  <a:ext uri="{0D108BD9-81ED-4DB2-BD59-A6C34878D82A}">
                    <a16:rowId xmlns:a16="http://schemas.microsoft.com/office/drawing/2014/main" val="2045743328"/>
                  </a:ext>
                </a:extLst>
              </a:tr>
              <a:tr h="803324">
                <a:tc>
                  <a:txBody>
                    <a:bodyPr/>
                    <a:lstStyle/>
                    <a:p>
                      <a:pPr>
                        <a:lnSpc>
                          <a:spcPts val="1875"/>
                        </a:lnSpc>
                        <a:buNone/>
                      </a:pPr>
                      <a:r>
                        <a:rPr lang="en-CA" sz="1600" b="1" dirty="0">
                          <a:effectLst/>
                          <a:latin typeface="quote-cjk-patch"/>
                        </a:rPr>
                        <a:t>Usage Fee</a:t>
                      </a:r>
                      <a:endParaRPr lang="en-CA" sz="1600" b="0" dirty="0">
                        <a:effectLst/>
                        <a:latin typeface="quote-cjk-patch"/>
                      </a:endParaRPr>
                    </a:p>
                  </a:txBody>
                  <a:tcPr marL="80332" marR="133887" marT="83680" marB="83680"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Charging for the use of a service.</a:t>
                      </a:r>
                    </a:p>
                  </a:txBody>
                  <a:tcPr marL="133887" marR="133887" marT="83680" marB="83680"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Uber (per ride), </a:t>
                      </a:r>
                    </a:p>
                  </a:txBody>
                  <a:tcPr marL="133887" marR="80332" marT="83680" marB="83680" anchor="ctr">
                    <a:lnL>
                      <a:noFill/>
                    </a:lnL>
                    <a:lnR>
                      <a:noFill/>
                    </a:lnR>
                    <a:lnT>
                      <a:noFill/>
                    </a:lnT>
                    <a:lnB>
                      <a:noFill/>
                    </a:lnB>
                    <a:solidFill>
                      <a:srgbClr val="FFFFFF"/>
                    </a:solidFill>
                  </a:tcPr>
                </a:tc>
                <a:extLst>
                  <a:ext uri="{0D108BD9-81ED-4DB2-BD59-A6C34878D82A}">
                    <a16:rowId xmlns:a16="http://schemas.microsoft.com/office/drawing/2014/main" val="842795682"/>
                  </a:ext>
                </a:extLst>
              </a:tr>
              <a:tr h="591336">
                <a:tc>
                  <a:txBody>
                    <a:bodyPr/>
                    <a:lstStyle/>
                    <a:p>
                      <a:pPr>
                        <a:lnSpc>
                          <a:spcPts val="1875"/>
                        </a:lnSpc>
                        <a:buNone/>
                      </a:pPr>
                      <a:r>
                        <a:rPr lang="en-CA" sz="1600" b="1" dirty="0">
                          <a:effectLst/>
                          <a:latin typeface="quote-cjk-patch"/>
                        </a:rPr>
                        <a:t>Subscription Fee</a:t>
                      </a:r>
                      <a:endParaRPr lang="en-CA" sz="1600" b="0" dirty="0">
                        <a:effectLst/>
                        <a:latin typeface="quote-cjk-patch"/>
                      </a:endParaRPr>
                    </a:p>
                  </a:txBody>
                  <a:tcPr marL="80332"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Charging for continuous access to a service.</a:t>
                      </a:r>
                    </a:p>
                  </a:txBody>
                  <a:tcPr marL="133887" marR="133887" marT="83680" marB="83680"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Netflix, World link,  your monthly phone plan.</a:t>
                      </a:r>
                    </a:p>
                  </a:txBody>
                  <a:tcPr marL="133887" marR="80332" marT="83680" marB="83680" anchor="ctr">
                    <a:lnL>
                      <a:noFill/>
                    </a:lnL>
                    <a:lnR>
                      <a:noFill/>
                    </a:lnR>
                    <a:lnT>
                      <a:noFill/>
                    </a:lnT>
                    <a:lnB>
                      <a:noFill/>
                    </a:lnB>
                    <a:solidFill>
                      <a:srgbClr val="FFFFFF"/>
                    </a:solidFill>
                  </a:tcPr>
                </a:tc>
                <a:extLst>
                  <a:ext uri="{0D108BD9-81ED-4DB2-BD59-A6C34878D82A}">
                    <a16:rowId xmlns:a16="http://schemas.microsoft.com/office/drawing/2014/main" val="3446593584"/>
                  </a:ext>
                </a:extLst>
              </a:tr>
              <a:tr h="591336">
                <a:tc>
                  <a:txBody>
                    <a:bodyPr/>
                    <a:lstStyle/>
                    <a:p>
                      <a:pPr>
                        <a:lnSpc>
                          <a:spcPts val="1875"/>
                        </a:lnSpc>
                        <a:buNone/>
                      </a:pPr>
                      <a:r>
                        <a:rPr lang="en-CA" sz="1600" b="1">
                          <a:effectLst/>
                          <a:latin typeface="quote-cjk-patch"/>
                        </a:rPr>
                        <a:t>Licensing</a:t>
                      </a:r>
                      <a:endParaRPr lang="en-CA" sz="1600" b="0">
                        <a:effectLst/>
                        <a:latin typeface="quote-cjk-patch"/>
                      </a:endParaRPr>
                    </a:p>
                  </a:txBody>
                  <a:tcPr marL="80332"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Charging for the use of intellectual property.</a:t>
                      </a:r>
                    </a:p>
                  </a:txBody>
                  <a:tcPr marL="133887"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Microsoft licensing Windows to PC manufacturers; a franchise model.</a:t>
                      </a:r>
                    </a:p>
                  </a:txBody>
                  <a:tcPr marL="133887" marR="80332" marT="83680" marB="83680" anchor="ctr">
                    <a:lnL>
                      <a:noFill/>
                    </a:lnL>
                    <a:lnR>
                      <a:noFill/>
                    </a:lnR>
                    <a:lnT>
                      <a:noFill/>
                    </a:lnT>
                    <a:lnB>
                      <a:noFill/>
                    </a:lnB>
                    <a:solidFill>
                      <a:srgbClr val="FFFFFF"/>
                    </a:solidFill>
                  </a:tcPr>
                </a:tc>
                <a:extLst>
                  <a:ext uri="{0D108BD9-81ED-4DB2-BD59-A6C34878D82A}">
                    <a16:rowId xmlns:a16="http://schemas.microsoft.com/office/drawing/2014/main" val="2621215325"/>
                  </a:ext>
                </a:extLst>
              </a:tr>
              <a:tr h="803324">
                <a:tc>
                  <a:txBody>
                    <a:bodyPr/>
                    <a:lstStyle/>
                    <a:p>
                      <a:pPr>
                        <a:lnSpc>
                          <a:spcPts val="1875"/>
                        </a:lnSpc>
                        <a:buNone/>
                      </a:pPr>
                      <a:r>
                        <a:rPr lang="en-CA" sz="1600" b="1">
                          <a:effectLst/>
                          <a:latin typeface="quote-cjk-patch"/>
                        </a:rPr>
                        <a:t>Brokerage Fees</a:t>
                      </a:r>
                      <a:endParaRPr lang="en-CA" sz="1600" b="0">
                        <a:effectLst/>
                        <a:latin typeface="quote-cjk-patch"/>
                      </a:endParaRPr>
                    </a:p>
                  </a:txBody>
                  <a:tcPr marL="80332"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Charging an intermediary or transaction fee.</a:t>
                      </a:r>
                    </a:p>
                  </a:txBody>
                  <a:tcPr marL="133887"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eBay (listing fees), Robinhood (transaction commission), real estate agents.</a:t>
                      </a:r>
                    </a:p>
                  </a:txBody>
                  <a:tcPr marL="133887" marR="80332" marT="83680" marB="83680" anchor="ctr">
                    <a:lnL>
                      <a:noFill/>
                    </a:lnL>
                    <a:lnR>
                      <a:noFill/>
                    </a:lnR>
                    <a:lnT>
                      <a:noFill/>
                    </a:lnT>
                    <a:lnB>
                      <a:noFill/>
                    </a:lnB>
                    <a:solidFill>
                      <a:srgbClr val="FFFFFF"/>
                    </a:solidFill>
                  </a:tcPr>
                </a:tc>
                <a:extLst>
                  <a:ext uri="{0D108BD9-81ED-4DB2-BD59-A6C34878D82A}">
                    <a16:rowId xmlns:a16="http://schemas.microsoft.com/office/drawing/2014/main" val="4249006514"/>
                  </a:ext>
                </a:extLst>
              </a:tr>
              <a:tr h="591336">
                <a:tc>
                  <a:txBody>
                    <a:bodyPr/>
                    <a:lstStyle/>
                    <a:p>
                      <a:pPr>
                        <a:lnSpc>
                          <a:spcPts val="1875"/>
                        </a:lnSpc>
                        <a:buNone/>
                      </a:pPr>
                      <a:r>
                        <a:rPr lang="en-CA" sz="1600" b="1">
                          <a:effectLst/>
                          <a:latin typeface="quote-cjk-patch"/>
                        </a:rPr>
                        <a:t>Advertising</a:t>
                      </a:r>
                      <a:endParaRPr lang="en-CA" sz="1600" b="0">
                        <a:effectLst/>
                        <a:latin typeface="quote-cjk-patch"/>
                      </a:endParaRPr>
                    </a:p>
                  </a:txBody>
                  <a:tcPr marL="80332" marR="133887" marT="83680" marB="83680"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Charging fees for advertising a product/service.</a:t>
                      </a:r>
                    </a:p>
                  </a:txBody>
                  <a:tcPr marL="133887" marR="133887" marT="83680" marB="83680"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Google Ads, YouTube, Instagram, sponsored content.</a:t>
                      </a:r>
                    </a:p>
                  </a:txBody>
                  <a:tcPr marL="133887" marR="80332" marT="83680" marB="83680" anchor="ctr">
                    <a:lnL>
                      <a:noFill/>
                    </a:lnL>
                    <a:lnR>
                      <a:noFill/>
                    </a:lnR>
                    <a:lnT>
                      <a:noFill/>
                    </a:lnT>
                    <a:lnB>
                      <a:noFill/>
                    </a:lnB>
                    <a:solidFill>
                      <a:srgbClr val="FFFFFF"/>
                    </a:solidFill>
                  </a:tcPr>
                </a:tc>
                <a:extLst>
                  <a:ext uri="{0D108BD9-81ED-4DB2-BD59-A6C34878D82A}">
                    <a16:rowId xmlns:a16="http://schemas.microsoft.com/office/drawing/2014/main" val="4044422024"/>
                  </a:ext>
                </a:extLst>
              </a:tr>
            </a:tbl>
          </a:graphicData>
        </a:graphic>
      </p:graphicFrame>
    </p:spTree>
    <p:extLst>
      <p:ext uri="{BB962C8B-B14F-4D97-AF65-F5344CB8AC3E}">
        <p14:creationId xmlns:p14="http://schemas.microsoft.com/office/powerpoint/2010/main" val="45899189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F49C4-931C-E91C-3236-32ACA515E60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15B5B60-9FB4-4051-0442-C987665A31D2}"/>
              </a:ext>
            </a:extLst>
          </p:cNvPr>
          <p:cNvSpPr>
            <a:spLocks noGrp="1"/>
          </p:cNvSpPr>
          <p:nvPr>
            <p:ph idx="1"/>
          </p:nvPr>
        </p:nvSpPr>
        <p:spPr/>
        <p:txBody>
          <a:bodyPr/>
          <a:lstStyle/>
          <a:p>
            <a:r>
              <a:rPr lang="en-US" b="1" dirty="0"/>
              <a:t>Key Questions to Identify Your Revenue Streams:</a:t>
            </a:r>
            <a:endParaRPr lang="en-US" dirty="0"/>
          </a:p>
          <a:p>
            <a:r>
              <a:rPr lang="en-US" dirty="0"/>
              <a:t>What value are customers truly willing to pay for?</a:t>
            </a:r>
          </a:p>
          <a:p>
            <a:r>
              <a:rPr lang="en-US" dirty="0"/>
              <a:t>How are they currently paying for it?</a:t>
            </a:r>
          </a:p>
          <a:p>
            <a:r>
              <a:rPr lang="en-US" dirty="0"/>
              <a:t>How much does each revenue stream contribute to overall revenues?</a:t>
            </a:r>
          </a:p>
          <a:p>
            <a:endParaRPr lang="en-CA" dirty="0"/>
          </a:p>
        </p:txBody>
      </p:sp>
    </p:spTree>
    <p:extLst>
      <p:ext uri="{BB962C8B-B14F-4D97-AF65-F5344CB8AC3E}">
        <p14:creationId xmlns:p14="http://schemas.microsoft.com/office/powerpoint/2010/main" val="17184001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F64D-B1F1-3E66-EBC7-3F4B005A474F}"/>
              </a:ext>
            </a:extLst>
          </p:cNvPr>
          <p:cNvSpPr>
            <a:spLocks noGrp="1"/>
          </p:cNvSpPr>
          <p:nvPr>
            <p:ph type="title"/>
          </p:nvPr>
        </p:nvSpPr>
        <p:spPr/>
        <p:txBody>
          <a:bodyPr/>
          <a:lstStyle/>
          <a:p>
            <a:r>
              <a:rPr lang="en-US" b="1" dirty="0"/>
              <a:t>Cost Structure</a:t>
            </a:r>
            <a:br>
              <a:rPr lang="en-US" b="1" dirty="0"/>
            </a:br>
            <a:endParaRPr lang="en-CA" dirty="0"/>
          </a:p>
        </p:txBody>
      </p:sp>
      <p:sp>
        <p:nvSpPr>
          <p:cNvPr id="3" name="Content Placeholder 2">
            <a:extLst>
              <a:ext uri="{FF2B5EF4-FFF2-40B4-BE49-F238E27FC236}">
                <a16:creationId xmlns:a16="http://schemas.microsoft.com/office/drawing/2014/main" id="{1AD7DB06-DE6C-1DF1-4483-78CE6572DE91}"/>
              </a:ext>
            </a:extLst>
          </p:cNvPr>
          <p:cNvSpPr>
            <a:spLocks noGrp="1"/>
          </p:cNvSpPr>
          <p:nvPr>
            <p:ph idx="1"/>
          </p:nvPr>
        </p:nvSpPr>
        <p:spPr/>
        <p:txBody>
          <a:bodyPr/>
          <a:lstStyle/>
          <a:p>
            <a:r>
              <a:rPr lang="en-US" b="1" dirty="0"/>
              <a:t>Cost Structure</a:t>
            </a:r>
            <a:r>
              <a:rPr lang="en-US" dirty="0"/>
              <a:t> describes all the costs incurred to operate a business model. It's </a:t>
            </a:r>
            <a:r>
              <a:rPr lang="en-US" b="1" dirty="0"/>
              <a:t>"How you spend money.“ </a:t>
            </a:r>
            <a:r>
              <a:rPr lang="en-US" dirty="0"/>
              <a:t>It is the cash out flow of the organizations. </a:t>
            </a:r>
          </a:p>
          <a:p>
            <a:endParaRPr lang="en-CA" dirty="0"/>
          </a:p>
        </p:txBody>
      </p:sp>
    </p:spTree>
    <p:extLst>
      <p:ext uri="{BB962C8B-B14F-4D97-AF65-F5344CB8AC3E}">
        <p14:creationId xmlns:p14="http://schemas.microsoft.com/office/powerpoint/2010/main" val="41766907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C2D13-4A2A-4B83-AA1E-4B92365AA99C}"/>
              </a:ext>
            </a:extLst>
          </p:cNvPr>
          <p:cNvSpPr>
            <a:spLocks noGrp="1"/>
          </p:cNvSpPr>
          <p:nvPr>
            <p:ph type="title"/>
          </p:nvPr>
        </p:nvSpPr>
        <p:spPr/>
        <p:txBody>
          <a:bodyPr/>
          <a:lstStyle/>
          <a:p>
            <a:r>
              <a:rPr lang="en-US" altLang="en-US" b="1" dirty="0">
                <a:solidFill>
                  <a:srgbClr val="0F1115"/>
                </a:solidFill>
                <a:latin typeface="quote-cjk-patch"/>
              </a:rPr>
              <a:t>Types of Costs:</a:t>
            </a:r>
            <a:br>
              <a:rPr lang="en-US" altLang="en-US" b="1" dirty="0">
                <a:solidFill>
                  <a:srgbClr val="0F1115"/>
                </a:solidFill>
                <a:latin typeface="quote-cjk-patch"/>
              </a:rPr>
            </a:br>
            <a:endParaRPr lang="en-CA" dirty="0"/>
          </a:p>
        </p:txBody>
      </p:sp>
      <p:graphicFrame>
        <p:nvGraphicFramePr>
          <p:cNvPr id="4" name="Content Placeholder 3">
            <a:extLst>
              <a:ext uri="{FF2B5EF4-FFF2-40B4-BE49-F238E27FC236}">
                <a16:creationId xmlns:a16="http://schemas.microsoft.com/office/drawing/2014/main" id="{D9FEDE52-60E9-4B62-BB16-118705F56D17}"/>
              </a:ext>
            </a:extLst>
          </p:cNvPr>
          <p:cNvGraphicFramePr>
            <a:graphicFrameLocks noGrp="1"/>
          </p:cNvGraphicFramePr>
          <p:nvPr>
            <p:ph idx="1"/>
            <p:extLst>
              <p:ext uri="{D42A27DB-BD31-4B8C-83A1-F6EECF244321}">
                <p14:modId xmlns:p14="http://schemas.microsoft.com/office/powerpoint/2010/main" val="1635105450"/>
              </p:ext>
            </p:extLst>
          </p:nvPr>
        </p:nvGraphicFramePr>
        <p:xfrm>
          <a:off x="911352" y="1130710"/>
          <a:ext cx="10515600" cy="5045716"/>
        </p:xfrm>
        <a:graphic>
          <a:graphicData uri="http://schemas.openxmlformats.org/drawingml/2006/table">
            <a:tbl>
              <a:tblPr/>
              <a:tblGrid>
                <a:gridCol w="3045502">
                  <a:extLst>
                    <a:ext uri="{9D8B030D-6E8A-4147-A177-3AD203B41FA5}">
                      <a16:colId xmlns:a16="http://schemas.microsoft.com/office/drawing/2014/main" val="2159784733"/>
                    </a:ext>
                  </a:extLst>
                </a:gridCol>
                <a:gridCol w="3735049">
                  <a:extLst>
                    <a:ext uri="{9D8B030D-6E8A-4147-A177-3AD203B41FA5}">
                      <a16:colId xmlns:a16="http://schemas.microsoft.com/office/drawing/2014/main" val="1222579287"/>
                    </a:ext>
                  </a:extLst>
                </a:gridCol>
                <a:gridCol w="3735049">
                  <a:extLst>
                    <a:ext uri="{9D8B030D-6E8A-4147-A177-3AD203B41FA5}">
                      <a16:colId xmlns:a16="http://schemas.microsoft.com/office/drawing/2014/main" val="215620601"/>
                    </a:ext>
                  </a:extLst>
                </a:gridCol>
              </a:tblGrid>
              <a:tr h="473459">
                <a:tc>
                  <a:txBody>
                    <a:bodyPr/>
                    <a:lstStyle/>
                    <a:p>
                      <a:pPr algn="l">
                        <a:lnSpc>
                          <a:spcPts val="1875"/>
                        </a:lnSpc>
                        <a:buNone/>
                      </a:pPr>
                      <a:endParaRPr lang="en-CA" b="0" dirty="0">
                        <a:effectLst/>
                        <a:latin typeface="quote-cjk-patch"/>
                      </a:endParaRPr>
                    </a:p>
                    <a:p>
                      <a:pPr algn="l">
                        <a:lnSpc>
                          <a:spcPts val="1875"/>
                        </a:lnSpc>
                        <a:buNone/>
                      </a:pPr>
                      <a:endParaRPr lang="en-CA" b="0" dirty="0">
                        <a:effectLst/>
                        <a:latin typeface="quote-cjk-patch"/>
                      </a:endParaRPr>
                    </a:p>
                    <a:p>
                      <a:pPr algn="l">
                        <a:lnSpc>
                          <a:spcPts val="1875"/>
                        </a:lnSpc>
                        <a:buNone/>
                      </a:pPr>
                      <a:endParaRPr lang="en-CA" b="0" dirty="0">
                        <a:effectLst/>
                        <a:latin typeface="quote-cjk-patch"/>
                      </a:endParaRPr>
                    </a:p>
                    <a:p>
                      <a:pPr algn="l">
                        <a:lnSpc>
                          <a:spcPts val="1875"/>
                        </a:lnSpc>
                        <a:buNone/>
                      </a:pPr>
                      <a:endParaRPr lang="en-CA" b="0" dirty="0">
                        <a:effectLst/>
                        <a:latin typeface="quote-cjk-patch"/>
                      </a:endParaRPr>
                    </a:p>
                    <a:p>
                      <a:pPr algn="l">
                        <a:lnSpc>
                          <a:spcPts val="1875"/>
                        </a:lnSpc>
                        <a:buNone/>
                      </a:pPr>
                      <a:endParaRPr lang="en-CA" b="0" dirty="0">
                        <a:effectLst/>
                        <a:latin typeface="quote-cjk-patch"/>
                      </a:endParaRPr>
                    </a:p>
                    <a:p>
                      <a:pPr algn="l">
                        <a:lnSpc>
                          <a:spcPts val="1875"/>
                        </a:lnSpc>
                        <a:buNone/>
                      </a:pPr>
                      <a:r>
                        <a:rPr lang="en-CA" b="0" dirty="0">
                          <a:effectLst/>
                          <a:latin typeface="quote-cjk-patch"/>
                        </a:rPr>
                        <a:t>Type</a:t>
                      </a:r>
                    </a:p>
                  </a:txBody>
                  <a:tcPr marR="152400" marT="95250" marB="95250" anchor="ctr">
                    <a:lnL>
                      <a:noFill/>
                    </a:lnL>
                    <a:lnR>
                      <a:noFill/>
                    </a:lnR>
                    <a:lnT>
                      <a:noFill/>
                    </a:lnT>
                    <a:lnB>
                      <a:noFill/>
                    </a:lnB>
                    <a:noFill/>
                  </a:tcPr>
                </a:tc>
                <a:tc>
                  <a:txBody>
                    <a:bodyPr/>
                    <a:lstStyle/>
                    <a:p>
                      <a:pPr algn="l">
                        <a:lnSpc>
                          <a:spcPts val="1875"/>
                        </a:lnSpc>
                        <a:buNone/>
                      </a:pPr>
                      <a:r>
                        <a:rPr lang="en-CA" b="0">
                          <a:effectLst/>
                          <a:latin typeface="quote-cjk-patch"/>
                        </a:rPr>
                        <a:t>Description</a:t>
                      </a:r>
                    </a:p>
                  </a:txBody>
                  <a:tcPr marL="152400" marR="152400" marT="95250" marB="95250" anchor="ctr">
                    <a:lnL>
                      <a:noFill/>
                    </a:lnL>
                    <a:lnR>
                      <a:noFill/>
                    </a:lnR>
                    <a:lnT>
                      <a:noFill/>
                    </a:lnT>
                    <a:lnB>
                      <a:noFill/>
                    </a:lnB>
                    <a:noFill/>
                  </a:tcPr>
                </a:tc>
                <a:tc>
                  <a:txBody>
                    <a:bodyPr/>
                    <a:lstStyle/>
                    <a:p>
                      <a:pPr algn="l">
                        <a:lnSpc>
                          <a:spcPts val="1875"/>
                        </a:lnSpc>
                        <a:buNone/>
                      </a:pPr>
                      <a:r>
                        <a:rPr lang="en-CA" b="0">
                          <a:effectLst/>
                          <a:latin typeface="quote-cjk-patch"/>
                        </a:rPr>
                        <a:t>Examples</a:t>
                      </a:r>
                    </a:p>
                  </a:txBody>
                  <a:tcPr marL="152400" marR="152400" marT="95250" marB="95250" anchor="ctr">
                    <a:lnL>
                      <a:noFill/>
                    </a:lnL>
                    <a:lnR>
                      <a:noFill/>
                    </a:lnR>
                    <a:lnT>
                      <a:noFill/>
                    </a:lnT>
                    <a:lnB>
                      <a:noFill/>
                    </a:lnB>
                    <a:noFill/>
                  </a:tcPr>
                </a:tc>
                <a:extLst>
                  <a:ext uri="{0D108BD9-81ED-4DB2-BD59-A6C34878D82A}">
                    <a16:rowId xmlns:a16="http://schemas.microsoft.com/office/drawing/2014/main" val="3125276928"/>
                  </a:ext>
                </a:extLst>
              </a:tr>
              <a:tr h="1002619">
                <a:tc>
                  <a:txBody>
                    <a:bodyPr/>
                    <a:lstStyle/>
                    <a:p>
                      <a:pPr>
                        <a:lnSpc>
                          <a:spcPts val="1875"/>
                        </a:lnSpc>
                        <a:buNone/>
                      </a:pPr>
                      <a:r>
                        <a:rPr lang="en-CA" b="1">
                          <a:effectLst/>
                          <a:latin typeface="quote-cjk-patch"/>
                        </a:rPr>
                        <a:t>Fixed Costs</a:t>
                      </a:r>
                      <a:endParaRPr lang="en-CA"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US" b="0">
                          <a:effectLst/>
                          <a:latin typeface="quote-cjk-patch"/>
                        </a:rPr>
                        <a:t>Costs that remain the same regardless of the volume of goods/services produced.</a:t>
                      </a:r>
                    </a:p>
                  </a:txBody>
                  <a:tcPr marL="152400" marR="152400" marT="95250" marB="95250" anchor="ctr">
                    <a:lnL>
                      <a:noFill/>
                    </a:lnL>
                    <a:lnR>
                      <a:noFill/>
                    </a:lnR>
                    <a:lnT>
                      <a:noFill/>
                    </a:lnT>
                    <a:lnB>
                      <a:noFill/>
                    </a:lnB>
                    <a:noFill/>
                  </a:tcPr>
                </a:tc>
                <a:tc>
                  <a:txBody>
                    <a:bodyPr/>
                    <a:lstStyle/>
                    <a:p>
                      <a:pPr>
                        <a:lnSpc>
                          <a:spcPts val="1875"/>
                        </a:lnSpc>
                        <a:buNone/>
                      </a:pPr>
                      <a:r>
                        <a:rPr lang="en-CA" b="0">
                          <a:effectLst/>
                          <a:latin typeface="quote-cjk-patch"/>
                        </a:rPr>
                        <a:t>Salaries, rent, software subscriptions, insurance.</a:t>
                      </a:r>
                    </a:p>
                  </a:txBody>
                  <a:tcPr marL="152400" marT="95250" marB="95250" anchor="ctr">
                    <a:lnL>
                      <a:noFill/>
                    </a:lnL>
                    <a:lnR>
                      <a:noFill/>
                    </a:lnR>
                    <a:lnT>
                      <a:noFill/>
                    </a:lnT>
                    <a:lnB>
                      <a:noFill/>
                    </a:lnB>
                    <a:noFill/>
                  </a:tcPr>
                </a:tc>
                <a:extLst>
                  <a:ext uri="{0D108BD9-81ED-4DB2-BD59-A6C34878D82A}">
                    <a16:rowId xmlns:a16="http://schemas.microsoft.com/office/drawing/2014/main" val="931666826"/>
                  </a:ext>
                </a:extLst>
              </a:tr>
              <a:tr h="1002619">
                <a:tc>
                  <a:txBody>
                    <a:bodyPr/>
                    <a:lstStyle/>
                    <a:p>
                      <a:pPr>
                        <a:lnSpc>
                          <a:spcPts val="1875"/>
                        </a:lnSpc>
                        <a:buNone/>
                      </a:pPr>
                      <a:r>
                        <a:rPr lang="en-CA" b="1">
                          <a:effectLst/>
                          <a:latin typeface="quote-cjk-patch"/>
                        </a:rPr>
                        <a:t>Variable Costs</a:t>
                      </a:r>
                      <a:endParaRPr lang="en-CA" b="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r>
                        <a:rPr lang="en-US" b="0">
                          <a:effectLst/>
                          <a:latin typeface="quote-cjk-patch"/>
                        </a:rPr>
                        <a:t>Costs that vary directly with the volume of production or service delivery.</a:t>
                      </a:r>
                    </a:p>
                  </a:txBody>
                  <a:tcPr marL="152400" marR="152400" marT="95250" marB="95250" anchor="ctr">
                    <a:lnL>
                      <a:noFill/>
                    </a:lnL>
                    <a:lnR>
                      <a:noFill/>
                    </a:lnR>
                    <a:lnT>
                      <a:noFill/>
                    </a:lnT>
                    <a:lnB>
                      <a:noFill/>
                    </a:lnB>
                    <a:noFill/>
                  </a:tcPr>
                </a:tc>
                <a:tc>
                  <a:txBody>
                    <a:bodyPr/>
                    <a:lstStyle/>
                    <a:p>
                      <a:pPr>
                        <a:lnSpc>
                          <a:spcPts val="1875"/>
                        </a:lnSpc>
                        <a:buNone/>
                      </a:pPr>
                      <a:r>
                        <a:rPr lang="en-US" b="0">
                          <a:effectLst/>
                          <a:latin typeface="quote-cjk-patch"/>
                        </a:rPr>
                        <a:t>Raw materials, shipping costs, transaction fees, sales commissions.</a:t>
                      </a:r>
                    </a:p>
                  </a:txBody>
                  <a:tcPr marL="152400" marT="95250" marB="95250" anchor="ctr">
                    <a:lnL>
                      <a:noFill/>
                    </a:lnL>
                    <a:lnR>
                      <a:noFill/>
                    </a:lnR>
                    <a:lnT>
                      <a:noFill/>
                    </a:lnT>
                    <a:lnB>
                      <a:noFill/>
                    </a:lnB>
                    <a:noFill/>
                  </a:tcPr>
                </a:tc>
                <a:extLst>
                  <a:ext uri="{0D108BD9-81ED-4DB2-BD59-A6C34878D82A}">
                    <a16:rowId xmlns:a16="http://schemas.microsoft.com/office/drawing/2014/main" val="965467956"/>
                  </a:ext>
                </a:extLst>
              </a:tr>
              <a:tr h="594523">
                <a:tc>
                  <a:txBody>
                    <a:bodyPr/>
                    <a:lstStyle/>
                    <a:p>
                      <a:pPr>
                        <a:lnSpc>
                          <a:spcPts val="1875"/>
                        </a:lnSpc>
                        <a:buNone/>
                      </a:pPr>
                      <a:endParaRPr lang="en-US" b="0" dirty="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endParaRPr lang="en-US" b="0" dirty="0">
                        <a:effectLst/>
                        <a:latin typeface="quote-cjk-patch"/>
                      </a:endParaRPr>
                    </a:p>
                  </a:txBody>
                  <a:tcPr marL="152400" marR="152400" marT="95250" marB="95250" anchor="ctr">
                    <a:lnL>
                      <a:noFill/>
                    </a:lnL>
                    <a:lnR>
                      <a:noFill/>
                    </a:lnR>
                    <a:lnT>
                      <a:noFill/>
                    </a:lnT>
                    <a:lnB>
                      <a:noFill/>
                    </a:lnB>
                    <a:noFill/>
                  </a:tcPr>
                </a:tc>
                <a:tc>
                  <a:txBody>
                    <a:bodyPr/>
                    <a:lstStyle/>
                    <a:p>
                      <a:pPr>
                        <a:lnSpc>
                          <a:spcPts val="1875"/>
                        </a:lnSpc>
                        <a:buNone/>
                      </a:pPr>
                      <a:endParaRPr lang="en-US" b="0" dirty="0">
                        <a:effectLst/>
                        <a:latin typeface="quote-cjk-patch"/>
                      </a:endParaRPr>
                    </a:p>
                  </a:txBody>
                  <a:tcPr marL="152400" marT="95250" marB="95250" anchor="ctr">
                    <a:lnL>
                      <a:noFill/>
                    </a:lnL>
                    <a:lnR>
                      <a:noFill/>
                    </a:lnR>
                    <a:lnT>
                      <a:noFill/>
                    </a:lnT>
                    <a:lnB>
                      <a:noFill/>
                    </a:lnB>
                    <a:noFill/>
                  </a:tcPr>
                </a:tc>
                <a:extLst>
                  <a:ext uri="{0D108BD9-81ED-4DB2-BD59-A6C34878D82A}">
                    <a16:rowId xmlns:a16="http://schemas.microsoft.com/office/drawing/2014/main" val="1248089540"/>
                  </a:ext>
                </a:extLst>
              </a:tr>
              <a:tr h="807655">
                <a:tc>
                  <a:txBody>
                    <a:bodyPr/>
                    <a:lstStyle/>
                    <a:p>
                      <a:pPr>
                        <a:lnSpc>
                          <a:spcPts val="1875"/>
                        </a:lnSpc>
                        <a:buNone/>
                      </a:pPr>
                      <a:endParaRPr lang="en-CA" b="0" dirty="0">
                        <a:effectLst/>
                        <a:latin typeface="quote-cjk-patch"/>
                      </a:endParaRPr>
                    </a:p>
                  </a:txBody>
                  <a:tcPr marR="152400" marT="95250" marB="95250" anchor="ctr">
                    <a:lnL>
                      <a:noFill/>
                    </a:lnL>
                    <a:lnR>
                      <a:noFill/>
                    </a:lnR>
                    <a:lnT>
                      <a:noFill/>
                    </a:lnT>
                    <a:lnB>
                      <a:noFill/>
                    </a:lnB>
                    <a:noFill/>
                  </a:tcPr>
                </a:tc>
                <a:tc>
                  <a:txBody>
                    <a:bodyPr/>
                    <a:lstStyle/>
                    <a:p>
                      <a:pPr>
                        <a:lnSpc>
                          <a:spcPts val="1875"/>
                        </a:lnSpc>
                        <a:buNone/>
                      </a:pPr>
                      <a:endParaRPr lang="en-US" b="0" dirty="0">
                        <a:effectLst/>
                        <a:latin typeface="quote-cjk-patch"/>
                      </a:endParaRPr>
                    </a:p>
                  </a:txBody>
                  <a:tcPr marL="152400" marR="152400" marT="95250" marB="95250" anchor="ctr">
                    <a:lnL>
                      <a:noFill/>
                    </a:lnL>
                    <a:lnR>
                      <a:noFill/>
                    </a:lnR>
                    <a:lnT>
                      <a:noFill/>
                    </a:lnT>
                    <a:lnB>
                      <a:noFill/>
                    </a:lnB>
                    <a:noFill/>
                  </a:tcPr>
                </a:tc>
                <a:tc>
                  <a:txBody>
                    <a:bodyPr/>
                    <a:lstStyle/>
                    <a:p>
                      <a:endParaRPr lang="en-CA" dirty="0"/>
                    </a:p>
                  </a:txBody>
                  <a:tcPr>
                    <a:lnL>
                      <a:noFill/>
                    </a:lnL>
                    <a:lnT>
                      <a:noFill/>
                    </a:lnT>
                  </a:tcPr>
                </a:tc>
                <a:extLst>
                  <a:ext uri="{0D108BD9-81ED-4DB2-BD59-A6C34878D82A}">
                    <a16:rowId xmlns:a16="http://schemas.microsoft.com/office/drawing/2014/main" val="588701497"/>
                  </a:ext>
                </a:extLst>
              </a:tr>
            </a:tbl>
          </a:graphicData>
        </a:graphic>
      </p:graphicFrame>
      <p:sp>
        <p:nvSpPr>
          <p:cNvPr id="5" name="Rectangle 1">
            <a:extLst>
              <a:ext uri="{FF2B5EF4-FFF2-40B4-BE49-F238E27FC236}">
                <a16:creationId xmlns:a16="http://schemas.microsoft.com/office/drawing/2014/main" id="{4EA022BD-28CA-54D9-17E0-10BB8C923730}"/>
              </a:ext>
            </a:extLst>
          </p:cNvPr>
          <p:cNvSpPr>
            <a:spLocks noChangeArrowheads="1"/>
          </p:cNvSpPr>
          <p:nvPr/>
        </p:nvSpPr>
        <p:spPr bwMode="auto">
          <a:xfrm>
            <a:off x="73152" y="124066"/>
            <a:ext cx="65" cy="4821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53527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D82C1-05CD-8703-81CE-E5AFBA2E968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9219679-DBC3-E796-04BE-8B3722007D26}"/>
              </a:ext>
            </a:extLst>
          </p:cNvPr>
          <p:cNvSpPr>
            <a:spLocks noGrp="1"/>
          </p:cNvSpPr>
          <p:nvPr>
            <p:ph idx="1"/>
          </p:nvPr>
        </p:nvSpPr>
        <p:spPr/>
        <p:txBody>
          <a:bodyPr/>
          <a:lstStyle/>
          <a:p>
            <a:r>
              <a:rPr lang="en-US" b="1" dirty="0"/>
              <a:t>Key Questions to Define Your Cost Structure:</a:t>
            </a:r>
            <a:endParaRPr lang="en-US" dirty="0"/>
          </a:p>
          <a:p>
            <a:r>
              <a:rPr lang="en-US" dirty="0"/>
              <a:t>What are the most important costs inherent in our business model?</a:t>
            </a:r>
          </a:p>
          <a:p>
            <a:r>
              <a:rPr lang="en-US" dirty="0"/>
              <a:t>Which key resources and activities are the most expensive?</a:t>
            </a:r>
          </a:p>
          <a:p>
            <a:r>
              <a:rPr lang="en-US" dirty="0"/>
              <a:t>Is your business more cost-driven or value-driven?</a:t>
            </a:r>
          </a:p>
          <a:p>
            <a:endParaRPr lang="en-CA" dirty="0"/>
          </a:p>
        </p:txBody>
      </p:sp>
    </p:spTree>
    <p:extLst>
      <p:ext uri="{BB962C8B-B14F-4D97-AF65-F5344CB8AC3E}">
        <p14:creationId xmlns:p14="http://schemas.microsoft.com/office/powerpoint/2010/main" val="189658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48DB-193F-77A6-0584-4E06D671F558}"/>
              </a:ext>
            </a:extLst>
          </p:cNvPr>
          <p:cNvSpPr>
            <a:spLocks noGrp="1"/>
          </p:cNvSpPr>
          <p:nvPr>
            <p:ph type="title"/>
          </p:nvPr>
        </p:nvSpPr>
        <p:spPr/>
        <p:txBody>
          <a:bodyPr/>
          <a:lstStyle/>
          <a:p>
            <a:r>
              <a:rPr lang="en-US" dirty="0"/>
              <a:t>Financial Statements </a:t>
            </a:r>
            <a:endParaRPr lang="en-CA" dirty="0"/>
          </a:p>
        </p:txBody>
      </p:sp>
      <p:sp>
        <p:nvSpPr>
          <p:cNvPr id="3" name="Content Placeholder 2">
            <a:extLst>
              <a:ext uri="{FF2B5EF4-FFF2-40B4-BE49-F238E27FC236}">
                <a16:creationId xmlns:a16="http://schemas.microsoft.com/office/drawing/2014/main" id="{84CA6096-FAED-1249-BC72-6D754C481FF1}"/>
              </a:ext>
            </a:extLst>
          </p:cNvPr>
          <p:cNvSpPr>
            <a:spLocks noGrp="1"/>
          </p:cNvSpPr>
          <p:nvPr>
            <p:ph idx="1"/>
          </p:nvPr>
        </p:nvSpPr>
        <p:spPr>
          <a:xfrm>
            <a:off x="838200" y="1465006"/>
            <a:ext cx="10515600" cy="4711957"/>
          </a:xfrm>
        </p:spPr>
        <p:txBody>
          <a:bodyPr>
            <a:normAutofit fontScale="92500" lnSpcReduction="10000"/>
          </a:bodyPr>
          <a:lstStyle/>
          <a:p>
            <a:r>
              <a:rPr lang="en-US" dirty="0"/>
              <a:t>Financial statements are formal records that summarize the financial activities and financial position of a business, organization, or individual over a specific period.</a:t>
            </a:r>
          </a:p>
          <a:p>
            <a:r>
              <a:rPr lang="en-US" dirty="0"/>
              <a:t>They are used by owners, managers, investors, lenders, and regulators to understand financial performance and make decisions.</a:t>
            </a:r>
          </a:p>
          <a:p>
            <a:r>
              <a:rPr lang="en-US" dirty="0"/>
              <a:t>For startups and businesses planning for the future, financial projections are built on  three core statements used to report historical performance.</a:t>
            </a:r>
          </a:p>
          <a:p>
            <a:r>
              <a:rPr lang="en-US" dirty="0"/>
              <a:t>They are </a:t>
            </a:r>
          </a:p>
          <a:p>
            <a:r>
              <a:rPr lang="en-US" dirty="0"/>
              <a:t>Balance Sheet</a:t>
            </a:r>
          </a:p>
          <a:p>
            <a:r>
              <a:rPr lang="en-US" dirty="0"/>
              <a:t>Income Statement</a:t>
            </a:r>
          </a:p>
          <a:p>
            <a:r>
              <a:rPr lang="en-US" dirty="0"/>
              <a:t>Cashflow Statement </a:t>
            </a:r>
            <a:endParaRPr lang="en-CA" dirty="0"/>
          </a:p>
        </p:txBody>
      </p:sp>
    </p:spTree>
    <p:extLst>
      <p:ext uri="{BB962C8B-B14F-4D97-AF65-F5344CB8AC3E}">
        <p14:creationId xmlns:p14="http://schemas.microsoft.com/office/powerpoint/2010/main" val="28941520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7BA3-D5C7-67A8-0400-A95687BBCF9D}"/>
              </a:ext>
            </a:extLst>
          </p:cNvPr>
          <p:cNvSpPr>
            <a:spLocks noGrp="1"/>
          </p:cNvSpPr>
          <p:nvPr>
            <p:ph type="title"/>
          </p:nvPr>
        </p:nvSpPr>
        <p:spPr/>
        <p:txBody>
          <a:bodyPr/>
          <a:lstStyle/>
          <a:p>
            <a:endParaRPr lang="en-CA"/>
          </a:p>
        </p:txBody>
      </p:sp>
      <p:graphicFrame>
        <p:nvGraphicFramePr>
          <p:cNvPr id="4" name="Content Placeholder 3">
            <a:extLst>
              <a:ext uri="{FF2B5EF4-FFF2-40B4-BE49-F238E27FC236}">
                <a16:creationId xmlns:a16="http://schemas.microsoft.com/office/drawing/2014/main" id="{4E9C6B11-85A4-B24E-E959-2D5112945C3C}"/>
              </a:ext>
            </a:extLst>
          </p:cNvPr>
          <p:cNvGraphicFramePr>
            <a:graphicFrameLocks noGrp="1"/>
          </p:cNvGraphicFramePr>
          <p:nvPr>
            <p:ph idx="1"/>
            <p:extLst>
              <p:ext uri="{D42A27DB-BD31-4B8C-83A1-F6EECF244321}">
                <p14:modId xmlns:p14="http://schemas.microsoft.com/office/powerpoint/2010/main" val="3017101535"/>
              </p:ext>
            </p:extLst>
          </p:nvPr>
        </p:nvGraphicFramePr>
        <p:xfrm>
          <a:off x="838200" y="1858297"/>
          <a:ext cx="10515600" cy="3851146"/>
        </p:xfrm>
        <a:graphic>
          <a:graphicData uri="http://schemas.openxmlformats.org/drawingml/2006/table">
            <a:tbl>
              <a:tblPr/>
              <a:tblGrid>
                <a:gridCol w="3045502">
                  <a:extLst>
                    <a:ext uri="{9D8B030D-6E8A-4147-A177-3AD203B41FA5}">
                      <a16:colId xmlns:a16="http://schemas.microsoft.com/office/drawing/2014/main" val="2652492606"/>
                    </a:ext>
                  </a:extLst>
                </a:gridCol>
                <a:gridCol w="3735049">
                  <a:extLst>
                    <a:ext uri="{9D8B030D-6E8A-4147-A177-3AD203B41FA5}">
                      <a16:colId xmlns:a16="http://schemas.microsoft.com/office/drawing/2014/main" val="762188348"/>
                    </a:ext>
                  </a:extLst>
                </a:gridCol>
                <a:gridCol w="3735049">
                  <a:extLst>
                    <a:ext uri="{9D8B030D-6E8A-4147-A177-3AD203B41FA5}">
                      <a16:colId xmlns:a16="http://schemas.microsoft.com/office/drawing/2014/main" val="1390056448"/>
                    </a:ext>
                  </a:extLst>
                </a:gridCol>
              </a:tblGrid>
              <a:tr h="758776">
                <a:tc>
                  <a:txBody>
                    <a:bodyPr/>
                    <a:lstStyle/>
                    <a:p>
                      <a:pPr algn="l">
                        <a:lnSpc>
                          <a:spcPts val="1875"/>
                        </a:lnSpc>
                        <a:buNone/>
                      </a:pPr>
                      <a:r>
                        <a:rPr lang="en-CA" b="0">
                          <a:effectLst/>
                          <a:latin typeface="quote-cjk-patch"/>
                        </a:rPr>
                        <a:t>Financial Statement</a:t>
                      </a:r>
                    </a:p>
                  </a:txBody>
                  <a:tcPr marR="152400" marT="95250" marB="9525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Primary Question it Answers for the Future</a:t>
                      </a:r>
                    </a:p>
                  </a:txBody>
                  <a:tcPr marL="152400" marR="152400" marT="95250" marB="95250" anchor="ctr">
                    <a:lnL>
                      <a:noFill/>
                    </a:lnL>
                    <a:lnR>
                      <a:noFill/>
                    </a:lnR>
                    <a:lnT>
                      <a:noFill/>
                    </a:lnT>
                    <a:lnB>
                      <a:noFill/>
                    </a:lnB>
                    <a:solidFill>
                      <a:srgbClr val="FFFFFF"/>
                    </a:solidFill>
                  </a:tcPr>
                </a:tc>
                <a:tc>
                  <a:txBody>
                    <a:bodyPr/>
                    <a:lstStyle/>
                    <a:p>
                      <a:pPr algn="l">
                        <a:lnSpc>
                          <a:spcPts val="1875"/>
                        </a:lnSpc>
                        <a:buNone/>
                      </a:pPr>
                      <a:r>
                        <a:rPr lang="en-CA" b="0">
                          <a:effectLst/>
                          <a:latin typeface="quote-cjk-patch"/>
                        </a:rPr>
                        <a:t>Core Purpose in Projections</a:t>
                      </a:r>
                    </a:p>
                  </a:txBody>
                  <a:tcPr marL="152400" marR="152400" marT="95250" marB="95250" anchor="ctr">
                    <a:lnL>
                      <a:noFill/>
                    </a:lnL>
                    <a:lnR>
                      <a:noFill/>
                    </a:lnR>
                    <a:lnT>
                      <a:noFill/>
                    </a:lnT>
                    <a:lnB>
                      <a:noFill/>
                    </a:lnB>
                    <a:solidFill>
                      <a:srgbClr val="FFFFFF"/>
                    </a:solidFill>
                  </a:tcPr>
                </a:tc>
                <a:extLst>
                  <a:ext uri="{0D108BD9-81ED-4DB2-BD59-A6C34878D82A}">
                    <a16:rowId xmlns:a16="http://schemas.microsoft.com/office/drawing/2014/main" val="628203410"/>
                  </a:ext>
                </a:extLst>
              </a:tr>
              <a:tr h="1030790">
                <a:tc>
                  <a:txBody>
                    <a:bodyPr/>
                    <a:lstStyle/>
                    <a:p>
                      <a:pPr>
                        <a:lnSpc>
                          <a:spcPts val="1875"/>
                        </a:lnSpc>
                        <a:buNone/>
                      </a:pPr>
                      <a:r>
                        <a:rPr lang="en-CA" b="1" dirty="0">
                          <a:effectLst/>
                          <a:latin typeface="quote-cjk-patch"/>
                        </a:rPr>
                        <a:t>1. Income Statement</a:t>
                      </a:r>
                      <a:endParaRPr lang="en-CA" b="0" dirty="0">
                        <a:effectLst/>
                        <a:latin typeface="quote-cjk-patch"/>
                      </a:endParaRPr>
                    </a:p>
                  </a:txBody>
                  <a:tcPr marR="152400" marT="95250" marB="95250" anchor="ctr">
                    <a:lnL>
                      <a:noFill/>
                    </a:lnL>
                    <a:lnR>
                      <a:noFill/>
                    </a:lnR>
                    <a:lnT>
                      <a:noFill/>
                    </a:lnT>
                    <a:lnB>
                      <a:noFill/>
                    </a:lnB>
                    <a:solidFill>
                      <a:srgbClr val="FFFFFF"/>
                    </a:solidFill>
                  </a:tcPr>
                </a:tc>
                <a:tc>
                  <a:txBody>
                    <a:bodyPr/>
                    <a:lstStyle/>
                    <a:p>
                      <a:pPr>
                        <a:lnSpc>
                          <a:spcPts val="1875"/>
                        </a:lnSpc>
                        <a:buNone/>
                      </a:pPr>
                      <a:r>
                        <a:rPr lang="en-CA" b="1">
                          <a:effectLst/>
                          <a:latin typeface="quote-cjk-patch"/>
                        </a:rPr>
                        <a:t>"Will we be profitable?"</a:t>
                      </a:r>
                      <a:endParaRPr lang="en-CA" b="0">
                        <a:effectLst/>
                        <a:latin typeface="quote-cjk-patch"/>
                      </a:endParaRPr>
                    </a:p>
                  </a:txBody>
                  <a:tcPr marL="152400" marR="152400" marT="95250" marB="9525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Forecasts profitability (or loss) over a future period (e.g., monthly for the first year, then annually).</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4095494246"/>
                  </a:ext>
                </a:extLst>
              </a:tr>
              <a:tr h="1030790">
                <a:tc>
                  <a:txBody>
                    <a:bodyPr/>
                    <a:lstStyle/>
                    <a:p>
                      <a:pPr>
                        <a:lnSpc>
                          <a:spcPts val="1875"/>
                        </a:lnSpc>
                        <a:buNone/>
                      </a:pPr>
                      <a:r>
                        <a:rPr lang="en-CA" b="1">
                          <a:effectLst/>
                          <a:latin typeface="quote-cjk-patch"/>
                        </a:rPr>
                        <a:t>2. Cash Flow Statement</a:t>
                      </a:r>
                      <a:endParaRPr lang="en-CA" b="0">
                        <a:effectLst/>
                        <a:latin typeface="quote-cjk-patch"/>
                      </a:endParaRP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dirty="0">
                          <a:effectLst/>
                          <a:latin typeface="quote-cjk-patch"/>
                        </a:rPr>
                        <a:t>"Will we run out of cash?"</a:t>
                      </a:r>
                      <a:endParaRPr lang="en-US" b="0" dirty="0">
                        <a:effectLst/>
                        <a:latin typeface="quote-cjk-patch"/>
                      </a:endParaRPr>
                    </a:p>
                  </a:txBody>
                  <a:tcPr marL="152400" marR="152400" marT="95250" marB="9525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Tracks the predicted movement of cash, which is the lifeblood of a startup.</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1689031780"/>
                  </a:ext>
                </a:extLst>
              </a:tr>
              <a:tr h="1030790">
                <a:tc>
                  <a:txBody>
                    <a:bodyPr/>
                    <a:lstStyle/>
                    <a:p>
                      <a:pPr>
                        <a:lnSpc>
                          <a:spcPts val="1875"/>
                        </a:lnSpc>
                        <a:buNone/>
                      </a:pPr>
                      <a:r>
                        <a:rPr lang="en-CA" b="1">
                          <a:effectLst/>
                          <a:latin typeface="quote-cjk-patch"/>
                        </a:rPr>
                        <a:t>3. Balance Sheet</a:t>
                      </a:r>
                      <a:endParaRPr lang="en-CA" b="0">
                        <a:effectLst/>
                        <a:latin typeface="quote-cjk-patch"/>
                      </a:endParaRPr>
                    </a:p>
                  </a:txBody>
                  <a:tcPr marR="152400" marT="95250" marB="95250" anchor="ctr">
                    <a:lnL>
                      <a:noFill/>
                    </a:lnL>
                    <a:lnR>
                      <a:noFill/>
                    </a:lnR>
                    <a:lnT>
                      <a:noFill/>
                    </a:lnT>
                    <a:lnB>
                      <a:noFill/>
                    </a:lnB>
                    <a:solidFill>
                      <a:srgbClr val="FFFFFF"/>
                    </a:solidFill>
                  </a:tcPr>
                </a:tc>
                <a:tc>
                  <a:txBody>
                    <a:bodyPr/>
                    <a:lstStyle/>
                    <a:p>
                      <a:pPr>
                        <a:lnSpc>
                          <a:spcPts val="1875"/>
                        </a:lnSpc>
                        <a:buNone/>
                      </a:pPr>
                      <a:r>
                        <a:rPr lang="en-US" b="1">
                          <a:effectLst/>
                          <a:latin typeface="quote-cjk-patch"/>
                        </a:rPr>
                        <a:t>"What will our financial health look like?"</a:t>
                      </a:r>
                      <a:endParaRPr lang="en-US" b="0">
                        <a:effectLst/>
                        <a:latin typeface="quote-cjk-patch"/>
                      </a:endParaRPr>
                    </a:p>
                  </a:txBody>
                  <a:tcPr marL="152400" marR="152400" marT="95250" marB="95250" anchor="ctr">
                    <a:lnL>
                      <a:noFill/>
                    </a:lnL>
                    <a:lnR>
                      <a:noFill/>
                    </a:lnR>
                    <a:lnT>
                      <a:noFill/>
                    </a:lnT>
                    <a:lnB>
                      <a:noFill/>
                    </a:lnB>
                    <a:solidFill>
                      <a:srgbClr val="FFFFFF"/>
                    </a:solidFill>
                  </a:tcPr>
                </a:tc>
                <a:tc>
                  <a:txBody>
                    <a:bodyPr/>
                    <a:lstStyle/>
                    <a:p>
                      <a:pPr>
                        <a:lnSpc>
                          <a:spcPts val="1875"/>
                        </a:lnSpc>
                        <a:buNone/>
                      </a:pPr>
                      <a:r>
                        <a:rPr lang="en-US" b="0" dirty="0">
                          <a:effectLst/>
                          <a:latin typeface="quote-cjk-patch"/>
                        </a:rPr>
                        <a:t>Snapshots the company's anticipated financial position at a future point in time.</a:t>
                      </a:r>
                    </a:p>
                  </a:txBody>
                  <a:tcPr marL="152400" marT="95250" marB="95250" anchor="ctr">
                    <a:lnL>
                      <a:noFill/>
                    </a:lnL>
                    <a:lnR>
                      <a:noFill/>
                    </a:lnR>
                    <a:lnT>
                      <a:noFill/>
                    </a:lnT>
                    <a:lnB>
                      <a:noFill/>
                    </a:lnB>
                    <a:solidFill>
                      <a:srgbClr val="FFFFFF"/>
                    </a:solidFill>
                  </a:tcPr>
                </a:tc>
                <a:extLst>
                  <a:ext uri="{0D108BD9-81ED-4DB2-BD59-A6C34878D82A}">
                    <a16:rowId xmlns:a16="http://schemas.microsoft.com/office/drawing/2014/main" val="2414027385"/>
                  </a:ext>
                </a:extLst>
              </a:tr>
            </a:tbl>
          </a:graphicData>
        </a:graphic>
      </p:graphicFrame>
    </p:spTree>
    <p:extLst>
      <p:ext uri="{BB962C8B-B14F-4D97-AF65-F5344CB8AC3E}">
        <p14:creationId xmlns:p14="http://schemas.microsoft.com/office/powerpoint/2010/main" val="11662920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C37B4-79BD-6C34-CEFE-875E54A650BB}"/>
              </a:ext>
            </a:extLst>
          </p:cNvPr>
          <p:cNvSpPr>
            <a:spLocks noGrp="1"/>
          </p:cNvSpPr>
          <p:nvPr>
            <p:ph type="title"/>
          </p:nvPr>
        </p:nvSpPr>
        <p:spPr>
          <a:xfrm>
            <a:off x="420624" y="365125"/>
            <a:ext cx="11448288" cy="1325563"/>
          </a:xfrm>
        </p:spPr>
        <p:txBody>
          <a:bodyPr>
            <a:normAutofit fontScale="90000"/>
          </a:bodyPr>
          <a:lstStyle/>
          <a:p>
            <a:r>
              <a:rPr lang="en-US" b="1" dirty="0"/>
              <a:t>Income Statement Projection (The Profit &amp; Loss Forecast)</a:t>
            </a:r>
            <a:br>
              <a:rPr lang="en-US" b="1" dirty="0"/>
            </a:br>
            <a:endParaRPr lang="en-CA" dirty="0"/>
          </a:p>
        </p:txBody>
      </p:sp>
      <p:sp>
        <p:nvSpPr>
          <p:cNvPr id="3" name="Content Placeholder 2">
            <a:extLst>
              <a:ext uri="{FF2B5EF4-FFF2-40B4-BE49-F238E27FC236}">
                <a16:creationId xmlns:a16="http://schemas.microsoft.com/office/drawing/2014/main" id="{36A6A745-637A-C7EF-8E21-3BD764F44CFD}"/>
              </a:ext>
            </a:extLst>
          </p:cNvPr>
          <p:cNvSpPr>
            <a:spLocks noGrp="1"/>
          </p:cNvSpPr>
          <p:nvPr>
            <p:ph idx="1"/>
          </p:nvPr>
        </p:nvSpPr>
        <p:spPr>
          <a:xfrm>
            <a:off x="838200" y="1453896"/>
            <a:ext cx="10515600" cy="4723067"/>
          </a:xfrm>
        </p:spPr>
        <p:txBody>
          <a:bodyPr>
            <a:normAutofit fontScale="70000" lnSpcReduction="20000"/>
          </a:bodyPr>
          <a:lstStyle/>
          <a:p>
            <a:r>
              <a:rPr lang="en-US" dirty="0"/>
              <a:t>This is the starting point and shows your expected revenues and expenses.</a:t>
            </a:r>
          </a:p>
          <a:p>
            <a:r>
              <a:rPr lang="en-US" b="1" dirty="0"/>
              <a:t>What it forecasts:</a:t>
            </a:r>
            <a:r>
              <a:rPr lang="en-US" dirty="0"/>
              <a:t> Revenue, Cost of Goods Sold (COGS), Operating Expenses (</a:t>
            </a:r>
            <a:r>
              <a:rPr lang="en-US" dirty="0" err="1"/>
              <a:t>OpEx</a:t>
            </a:r>
            <a:r>
              <a:rPr lang="en-US" dirty="0"/>
              <a:t>), and ultimately, Net Profit or Loss.</a:t>
            </a:r>
          </a:p>
          <a:p>
            <a:r>
              <a:rPr lang="en-US" b="1" dirty="0"/>
              <a:t>Why it's critical:</a:t>
            </a:r>
            <a:r>
              <a:rPr lang="en-US" dirty="0"/>
              <a:t> It shows your path to </a:t>
            </a:r>
            <a:r>
              <a:rPr lang="en-US" b="1" dirty="0"/>
              <a:t>profitability</a:t>
            </a:r>
            <a:r>
              <a:rPr lang="en-US" dirty="0"/>
              <a:t> and helps investors understand your business model's potential.</a:t>
            </a:r>
          </a:p>
          <a:p>
            <a:r>
              <a:rPr lang="en-US" b="1" dirty="0"/>
              <a:t>Key Output:</a:t>
            </a:r>
            <a:r>
              <a:rPr lang="en-US" dirty="0"/>
              <a:t> </a:t>
            </a:r>
            <a:r>
              <a:rPr lang="en-US" b="1" dirty="0"/>
              <a:t>EBITDA</a:t>
            </a:r>
            <a:r>
              <a:rPr lang="en-US" dirty="0"/>
              <a:t> (Earnings Before Interest, Taxes, Depreciation, and Amortization) and </a:t>
            </a:r>
            <a:r>
              <a:rPr lang="en-US" b="1" dirty="0"/>
              <a:t>Net Income</a:t>
            </a:r>
            <a:r>
              <a:rPr lang="en-US" dirty="0"/>
              <a:t>.</a:t>
            </a:r>
          </a:p>
          <a:p>
            <a:pPr marL="0" indent="0">
              <a:buNone/>
            </a:pPr>
            <a:r>
              <a:rPr lang="en-US" b="1" dirty="0"/>
              <a:t>Simplified Build Process:</a:t>
            </a:r>
            <a:endParaRPr lang="en-US" dirty="0"/>
          </a:p>
          <a:p>
            <a:r>
              <a:rPr lang="en-US" b="1" dirty="0"/>
              <a:t>Start with Revenue:</a:t>
            </a:r>
            <a:r>
              <a:rPr lang="en-US" dirty="0"/>
              <a:t> Project sales based on your sales funnel, market size, and growth assumptions.</a:t>
            </a:r>
          </a:p>
          <a:p>
            <a:r>
              <a:rPr lang="en-US" b="1" dirty="0"/>
              <a:t>Subtract COGS:</a:t>
            </a:r>
            <a:r>
              <a:rPr lang="en-US" dirty="0"/>
              <a:t> Estimate the direct costs of delivering your product/service.</a:t>
            </a:r>
          </a:p>
          <a:p>
            <a:r>
              <a:rPr lang="en-US" b="1" dirty="0"/>
              <a:t>Calculate Gross Profit:</a:t>
            </a:r>
            <a:r>
              <a:rPr lang="en-US" dirty="0"/>
              <a:t> (Revenue - COGS). This shows your core product profitability.</a:t>
            </a:r>
          </a:p>
          <a:p>
            <a:r>
              <a:rPr lang="en-US" b="1" dirty="0"/>
              <a:t>Subtract Operating Expenses:</a:t>
            </a:r>
            <a:r>
              <a:rPr lang="en-US" dirty="0"/>
              <a:t> Forecast Salaries, Marketing, Rent, R&amp;D, etc.</a:t>
            </a:r>
          </a:p>
          <a:p>
            <a:r>
              <a:rPr lang="en-US" b="1" dirty="0"/>
              <a:t>Arrive at Net Income:</a:t>
            </a:r>
            <a:r>
              <a:rPr lang="en-US" dirty="0"/>
              <a:t> (Gross Profit - </a:t>
            </a:r>
            <a:r>
              <a:rPr lang="en-US" dirty="0" err="1"/>
              <a:t>OpEx</a:t>
            </a:r>
            <a:r>
              <a:rPr lang="en-US" dirty="0"/>
              <a:t> - Interest - Taxes).</a:t>
            </a:r>
            <a:br>
              <a:rPr lang="en-US" dirty="0"/>
            </a:br>
            <a:endParaRPr lang="en-US" dirty="0"/>
          </a:p>
          <a:p>
            <a:pPr marL="0" indent="0">
              <a:buNone/>
            </a:pPr>
            <a:endParaRPr lang="en-US" b="1" dirty="0"/>
          </a:p>
          <a:p>
            <a:endParaRPr lang="en-CA" dirty="0"/>
          </a:p>
        </p:txBody>
      </p:sp>
    </p:spTree>
    <p:extLst>
      <p:ext uri="{BB962C8B-B14F-4D97-AF65-F5344CB8AC3E}">
        <p14:creationId xmlns:p14="http://schemas.microsoft.com/office/powerpoint/2010/main" val="13324335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CD52-7E8C-DB27-AC53-3556B6CD6A19}"/>
              </a:ext>
            </a:extLst>
          </p:cNvPr>
          <p:cNvSpPr>
            <a:spLocks noGrp="1"/>
          </p:cNvSpPr>
          <p:nvPr>
            <p:ph type="title"/>
          </p:nvPr>
        </p:nvSpPr>
        <p:spPr>
          <a:xfrm>
            <a:off x="838200" y="539496"/>
            <a:ext cx="10515600" cy="1151192"/>
          </a:xfrm>
        </p:spPr>
        <p:txBody>
          <a:bodyPr>
            <a:normAutofit fontScale="90000"/>
          </a:bodyPr>
          <a:lstStyle/>
          <a:p>
            <a:r>
              <a:rPr lang="en-US" b="1" dirty="0"/>
              <a:t>Balance Sheet Projection</a:t>
            </a:r>
            <a:br>
              <a:rPr lang="en-US" b="1" dirty="0"/>
            </a:br>
            <a:endParaRPr lang="en-CA" dirty="0"/>
          </a:p>
        </p:txBody>
      </p:sp>
      <p:sp>
        <p:nvSpPr>
          <p:cNvPr id="3" name="Content Placeholder 2">
            <a:extLst>
              <a:ext uri="{FF2B5EF4-FFF2-40B4-BE49-F238E27FC236}">
                <a16:creationId xmlns:a16="http://schemas.microsoft.com/office/drawing/2014/main" id="{AD10A73A-902A-18C3-2999-3ADDB543744F}"/>
              </a:ext>
            </a:extLst>
          </p:cNvPr>
          <p:cNvSpPr>
            <a:spLocks noGrp="1"/>
          </p:cNvSpPr>
          <p:nvPr>
            <p:ph idx="1"/>
          </p:nvPr>
        </p:nvSpPr>
        <p:spPr>
          <a:xfrm>
            <a:off x="838200" y="1061884"/>
            <a:ext cx="10515600" cy="5115079"/>
          </a:xfrm>
        </p:spPr>
        <p:txBody>
          <a:bodyPr>
            <a:normAutofit fontScale="70000" lnSpcReduction="20000"/>
          </a:bodyPr>
          <a:lstStyle/>
          <a:p>
            <a:r>
              <a:rPr lang="en-US" dirty="0"/>
              <a:t>This is a snapshot of your company's financial position at the end of a future period.</a:t>
            </a:r>
          </a:p>
          <a:p>
            <a:r>
              <a:rPr lang="en-US" b="1" dirty="0"/>
              <a:t>What it forecasts:</a:t>
            </a:r>
            <a:r>
              <a:rPr lang="en-US" dirty="0"/>
              <a:t> Assets, Liabilities, and Shareholders' Equity at a specific future date.</a:t>
            </a:r>
          </a:p>
          <a:p>
            <a:r>
              <a:rPr lang="en-US" b="1" dirty="0"/>
              <a:t>Why it's critical:</a:t>
            </a:r>
            <a:r>
              <a:rPr lang="en-US" dirty="0"/>
              <a:t> It shows the company's projected </a:t>
            </a:r>
            <a:r>
              <a:rPr lang="en-US" b="1" dirty="0"/>
              <a:t>net worth</a:t>
            </a:r>
            <a:r>
              <a:rPr lang="en-US" dirty="0"/>
              <a:t> and financial stability. It must balance: </a:t>
            </a:r>
            <a:r>
              <a:rPr lang="en-US" b="1" dirty="0"/>
              <a:t>Assets = Liabilities + Equity</a:t>
            </a:r>
            <a:r>
              <a:rPr lang="en-US" dirty="0"/>
              <a:t>.</a:t>
            </a:r>
          </a:p>
          <a:p>
            <a:r>
              <a:rPr lang="en-US" b="1" dirty="0"/>
              <a:t>Key Output:</a:t>
            </a:r>
            <a:r>
              <a:rPr lang="en-US" dirty="0"/>
              <a:t> A picture of future financial health and leverage.</a:t>
            </a:r>
          </a:p>
          <a:p>
            <a:r>
              <a:rPr lang="en-US" b="1" dirty="0"/>
              <a:t>Simplified Build Process:</a:t>
            </a:r>
            <a:endParaRPr lang="en-US" dirty="0"/>
          </a:p>
          <a:p>
            <a:r>
              <a:rPr lang="en-US" b="1" dirty="0"/>
              <a:t>Project Assets:</a:t>
            </a:r>
            <a:endParaRPr lang="en-US" dirty="0"/>
          </a:p>
          <a:p>
            <a:pPr lvl="1"/>
            <a:r>
              <a:rPr lang="en-US" b="1" dirty="0"/>
              <a:t>Current Assets:</a:t>
            </a:r>
            <a:r>
              <a:rPr lang="en-US" dirty="0"/>
              <a:t> Cash (from the Cash Flow Statement!), Accounts Receivable, Inventory.</a:t>
            </a:r>
          </a:p>
          <a:p>
            <a:pPr lvl="1"/>
            <a:r>
              <a:rPr lang="en-US" b="1" dirty="0"/>
              <a:t>Fixed Assets:</a:t>
            </a:r>
            <a:r>
              <a:rPr lang="en-US" dirty="0"/>
              <a:t> Property &amp; Equipment (from prior period + new purchases - depreciation).</a:t>
            </a:r>
          </a:p>
          <a:p>
            <a:r>
              <a:rPr lang="en-US" b="1" dirty="0"/>
              <a:t>Project Liabilities:</a:t>
            </a:r>
            <a:endParaRPr lang="en-US" dirty="0"/>
          </a:p>
          <a:p>
            <a:pPr lvl="1"/>
            <a:r>
              <a:rPr lang="en-US" b="1" dirty="0"/>
              <a:t>Current Liabilities:</a:t>
            </a:r>
            <a:r>
              <a:rPr lang="en-US" dirty="0"/>
              <a:t> Accounts Payable, Accrued Expenses.</a:t>
            </a:r>
          </a:p>
          <a:p>
            <a:pPr lvl="1"/>
            <a:r>
              <a:rPr lang="en-US" b="1" dirty="0"/>
              <a:t>Long-Term Debt:</a:t>
            </a:r>
            <a:r>
              <a:rPr lang="en-US" dirty="0"/>
              <a:t> Loans (from prior period + new loans - repayments).</a:t>
            </a:r>
          </a:p>
          <a:p>
            <a:r>
              <a:rPr lang="en-US" b="1" dirty="0"/>
              <a:t>Project Equity:</a:t>
            </a:r>
            <a:endParaRPr lang="en-US" dirty="0"/>
          </a:p>
          <a:p>
            <a:pPr lvl="1"/>
            <a:r>
              <a:rPr lang="en-US" b="1" dirty="0"/>
              <a:t>Common Stock:</a:t>
            </a:r>
            <a:r>
              <a:rPr lang="en-US" dirty="0"/>
              <a:t> Prior balance + new investment.</a:t>
            </a:r>
          </a:p>
          <a:p>
            <a:pPr lvl="1"/>
            <a:r>
              <a:rPr lang="en-US" b="1" dirty="0"/>
              <a:t>Retained Earnings:</a:t>
            </a:r>
            <a:r>
              <a:rPr lang="en-US" dirty="0"/>
              <a:t> Prior balance + Net Income (from Income Statement) - Dividends.</a:t>
            </a:r>
          </a:p>
          <a:p>
            <a:br>
              <a:rPr lang="en-US" dirty="0"/>
            </a:br>
            <a:endParaRPr lang="en-CA" dirty="0"/>
          </a:p>
        </p:txBody>
      </p:sp>
    </p:spTree>
    <p:extLst>
      <p:ext uri="{BB962C8B-B14F-4D97-AF65-F5344CB8AC3E}">
        <p14:creationId xmlns:p14="http://schemas.microsoft.com/office/powerpoint/2010/main" val="18928936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ECFE-353C-B976-9FCF-F8538432E17D}"/>
              </a:ext>
            </a:extLst>
          </p:cNvPr>
          <p:cNvSpPr>
            <a:spLocks noGrp="1"/>
          </p:cNvSpPr>
          <p:nvPr>
            <p:ph type="title"/>
          </p:nvPr>
        </p:nvSpPr>
        <p:spPr>
          <a:xfrm>
            <a:off x="838200" y="512064"/>
            <a:ext cx="10515600" cy="594360"/>
          </a:xfrm>
        </p:spPr>
        <p:txBody>
          <a:bodyPr>
            <a:normAutofit fontScale="90000"/>
          </a:bodyPr>
          <a:lstStyle/>
          <a:p>
            <a:r>
              <a:rPr lang="en-US" b="1" dirty="0"/>
              <a:t> Cash Flow Statement Projection</a:t>
            </a:r>
            <a:br>
              <a:rPr lang="en-US" b="1" dirty="0"/>
            </a:br>
            <a:endParaRPr lang="en-CA" dirty="0"/>
          </a:p>
        </p:txBody>
      </p:sp>
      <p:sp>
        <p:nvSpPr>
          <p:cNvPr id="3" name="Content Placeholder 2">
            <a:extLst>
              <a:ext uri="{FF2B5EF4-FFF2-40B4-BE49-F238E27FC236}">
                <a16:creationId xmlns:a16="http://schemas.microsoft.com/office/drawing/2014/main" id="{B04F6599-55AD-C01E-D900-FFBA87D86B37}"/>
              </a:ext>
            </a:extLst>
          </p:cNvPr>
          <p:cNvSpPr>
            <a:spLocks noGrp="1"/>
          </p:cNvSpPr>
          <p:nvPr>
            <p:ph idx="1"/>
          </p:nvPr>
        </p:nvSpPr>
        <p:spPr>
          <a:xfrm>
            <a:off x="329184" y="1106424"/>
            <a:ext cx="11512296" cy="5394960"/>
          </a:xfrm>
        </p:spPr>
        <p:txBody>
          <a:bodyPr>
            <a:normAutofit fontScale="92500" lnSpcReduction="20000"/>
          </a:bodyPr>
          <a:lstStyle/>
          <a:p>
            <a:r>
              <a:rPr lang="en-US" dirty="0"/>
              <a:t>This is  the </a:t>
            </a:r>
            <a:r>
              <a:rPr lang="en-US" b="1" dirty="0"/>
              <a:t>most important projection for a startup</a:t>
            </a:r>
            <a:r>
              <a:rPr lang="en-US" dirty="0"/>
              <a:t>. A company can be profitable on paper (Income Statement) but still go bankrupt if it runs out of cash.</a:t>
            </a:r>
          </a:p>
          <a:p>
            <a:r>
              <a:rPr lang="en-US" b="1" dirty="0"/>
              <a:t>What it forecasts:</a:t>
            </a:r>
            <a:r>
              <a:rPr lang="en-US" dirty="0"/>
              <a:t> The actual cash inflows and outflows from Operations, Investing, and Financing activities.</a:t>
            </a:r>
          </a:p>
          <a:p>
            <a:r>
              <a:rPr lang="en-US" b="1" dirty="0"/>
              <a:t>Why it's critical:</a:t>
            </a:r>
            <a:r>
              <a:rPr lang="en-US" dirty="0"/>
              <a:t> It tells you your </a:t>
            </a:r>
            <a:r>
              <a:rPr lang="en-US" b="1" dirty="0"/>
              <a:t>burn rate</a:t>
            </a:r>
            <a:r>
              <a:rPr lang="en-US" dirty="0"/>
              <a:t> and </a:t>
            </a:r>
            <a:r>
              <a:rPr lang="en-US" b="1" dirty="0"/>
              <a:t>runway</a:t>
            </a:r>
            <a:r>
              <a:rPr lang="en-US" dirty="0"/>
              <a:t>—how fast you're spending cash and how long until you need more funding.</a:t>
            </a:r>
          </a:p>
          <a:p>
            <a:r>
              <a:rPr lang="en-US" b="1" dirty="0"/>
              <a:t>Burn Rate: "How Fast Are We Spending Cash?“</a:t>
            </a:r>
          </a:p>
          <a:p>
            <a:r>
              <a:rPr lang="en-US" b="1" dirty="0"/>
              <a:t>Burn Way: how long until you need more funding</a:t>
            </a:r>
          </a:p>
          <a:p>
            <a:r>
              <a:rPr lang="en-US" b="1" dirty="0"/>
              <a:t>Real-World Example:</a:t>
            </a:r>
          </a:p>
          <a:p>
            <a:r>
              <a:rPr lang="en-US" dirty="0"/>
              <a:t>Let's say your startup has:</a:t>
            </a:r>
          </a:p>
          <a:p>
            <a:r>
              <a:rPr lang="en-US" b="1" dirty="0"/>
              <a:t>Current Cash in the Bank:</a:t>
            </a:r>
            <a:r>
              <a:rPr lang="en-US" dirty="0"/>
              <a:t> $500,000</a:t>
            </a:r>
          </a:p>
          <a:p>
            <a:r>
              <a:rPr lang="en-US" b="1" dirty="0"/>
              <a:t>Monthly Net Burn Rate:</a:t>
            </a:r>
            <a:r>
              <a:rPr lang="en-US" dirty="0"/>
              <a:t> $50,000 </a:t>
            </a:r>
          </a:p>
          <a:p>
            <a:r>
              <a:rPr lang="en-US" b="1" dirty="0"/>
              <a:t>Your Runway is calculated as:</a:t>
            </a:r>
            <a:br>
              <a:rPr lang="en-US" dirty="0"/>
            </a:br>
            <a:r>
              <a:rPr lang="en-US" dirty="0"/>
              <a:t>$500,000 / $50,000 = 10 months</a:t>
            </a:r>
          </a:p>
          <a:p>
            <a:endParaRPr lang="en-CA" dirty="0"/>
          </a:p>
        </p:txBody>
      </p:sp>
    </p:spTree>
    <p:extLst>
      <p:ext uri="{BB962C8B-B14F-4D97-AF65-F5344CB8AC3E}">
        <p14:creationId xmlns:p14="http://schemas.microsoft.com/office/powerpoint/2010/main" val="18859419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4F386-2D18-C990-8C60-B5150CE3A5A3}"/>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637284F9-F215-2FCE-A935-255791A13512}"/>
              </a:ext>
            </a:extLst>
          </p:cNvPr>
          <p:cNvSpPr>
            <a:spLocks noGrp="1"/>
          </p:cNvSpPr>
          <p:nvPr>
            <p:ph idx="1"/>
          </p:nvPr>
        </p:nvSpPr>
        <p:spPr>
          <a:xfrm>
            <a:off x="566928" y="832104"/>
            <a:ext cx="11237976" cy="5344859"/>
          </a:xfrm>
        </p:spPr>
        <p:txBody>
          <a:bodyPr>
            <a:normAutofit/>
          </a:bodyPr>
          <a:lstStyle/>
          <a:p>
            <a:r>
              <a:rPr lang="en-US" b="1" dirty="0"/>
              <a:t>Key Output:</a:t>
            </a:r>
            <a:r>
              <a:rPr lang="en-US" dirty="0"/>
              <a:t> </a:t>
            </a:r>
            <a:r>
              <a:rPr lang="en-US" b="1" dirty="0"/>
              <a:t>Ending Cash Balance</a:t>
            </a:r>
            <a:r>
              <a:rPr lang="en-US" dirty="0"/>
              <a:t> for each period.</a:t>
            </a:r>
          </a:p>
          <a:p>
            <a:r>
              <a:rPr lang="en-US" b="1" dirty="0"/>
              <a:t>Simplified Build Process (Indirect Method):</a:t>
            </a:r>
            <a:endParaRPr lang="en-US" dirty="0"/>
          </a:p>
          <a:p>
            <a:r>
              <a:rPr lang="en-US" b="1" dirty="0"/>
              <a:t>Start with Net Income</a:t>
            </a:r>
            <a:r>
              <a:rPr lang="en-US" dirty="0"/>
              <a:t> (from the Income Statement).</a:t>
            </a:r>
          </a:p>
          <a:p>
            <a:r>
              <a:rPr lang="en-US" b="1" dirty="0"/>
              <a:t>Adjust for Non-Cash Items:</a:t>
            </a:r>
            <a:r>
              <a:rPr lang="en-US" dirty="0"/>
              <a:t> Add back Depreciation &amp; Amortization.</a:t>
            </a:r>
          </a:p>
          <a:p>
            <a:r>
              <a:rPr lang="en-US" b="1" dirty="0"/>
              <a:t>Adjust for Changes in Working Capital:</a:t>
            </a:r>
            <a:r>
              <a:rPr lang="en-US" dirty="0"/>
              <a:t> Account for changes in Accounts Receivable, Inventory, and Accounts Payable.</a:t>
            </a:r>
          </a:p>
          <a:p>
            <a:r>
              <a:rPr lang="en-US" b="1" dirty="0"/>
              <a:t>Calculate Cash from Operations.</a:t>
            </a:r>
            <a:endParaRPr lang="en-US" dirty="0"/>
          </a:p>
          <a:p>
            <a:r>
              <a:rPr lang="en-US" b="1" dirty="0"/>
              <a:t>Include Cash from Investing:</a:t>
            </a:r>
            <a:r>
              <a:rPr lang="en-US" dirty="0"/>
              <a:t> (e.g., purchasing equipment).</a:t>
            </a:r>
          </a:p>
          <a:p>
            <a:r>
              <a:rPr lang="en-US" b="1" dirty="0"/>
              <a:t>Include Cash from Financing:</a:t>
            </a:r>
            <a:r>
              <a:rPr lang="en-US" dirty="0"/>
              <a:t> (e.g., raising capital, taking out loans).</a:t>
            </a:r>
          </a:p>
          <a:p>
            <a:r>
              <a:rPr lang="en-US" b="1" dirty="0"/>
              <a:t>Arrive at Net Change in Cash.</a:t>
            </a:r>
            <a:endParaRPr lang="en-US" dirty="0"/>
          </a:p>
          <a:p>
            <a:endParaRPr lang="en-CA" dirty="0"/>
          </a:p>
        </p:txBody>
      </p:sp>
    </p:spTree>
    <p:extLst>
      <p:ext uri="{BB962C8B-B14F-4D97-AF65-F5344CB8AC3E}">
        <p14:creationId xmlns:p14="http://schemas.microsoft.com/office/powerpoint/2010/main" val="7787850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2007-4493-3E30-D99D-F90AAED17FC4}"/>
              </a:ext>
            </a:extLst>
          </p:cNvPr>
          <p:cNvSpPr>
            <a:spLocks noGrp="1"/>
          </p:cNvSpPr>
          <p:nvPr>
            <p:ph type="title"/>
          </p:nvPr>
        </p:nvSpPr>
        <p:spPr>
          <a:xfrm>
            <a:off x="0" y="512065"/>
            <a:ext cx="11946194" cy="1178624"/>
          </a:xfrm>
        </p:spPr>
        <p:txBody>
          <a:bodyPr>
            <a:normAutofit fontScale="90000"/>
          </a:bodyPr>
          <a:lstStyle/>
          <a:p>
            <a:r>
              <a:rPr lang="en-US" dirty="0">
                <a:solidFill>
                  <a:prstClr val="black"/>
                </a:solidFill>
                <a:latin typeface="Times New Roman" panose="02020603050405020304" pitchFamily="18" charset="0"/>
                <a:ea typeface="Times New Roman" panose="02020603050405020304" pitchFamily="18" charset="0"/>
              </a:rPr>
              <a:t>Raising capital for startup: seed capital, angel investment, venture capital </a:t>
            </a:r>
            <a:br>
              <a:rPr lang="en-CA" sz="2000" dirty="0">
                <a:solidFill>
                  <a:prstClr val="black"/>
                </a:solidFill>
                <a:latin typeface="Calibri" panose="020F0502020204030204"/>
              </a:rPr>
            </a:br>
            <a:endParaRPr lang="en-CA" dirty="0"/>
          </a:p>
        </p:txBody>
      </p:sp>
      <p:sp>
        <p:nvSpPr>
          <p:cNvPr id="3" name="Content Placeholder 2">
            <a:extLst>
              <a:ext uri="{FF2B5EF4-FFF2-40B4-BE49-F238E27FC236}">
                <a16:creationId xmlns:a16="http://schemas.microsoft.com/office/drawing/2014/main" id="{AF2FCBD0-E8C8-16A9-35D4-328EF827BEAE}"/>
              </a:ext>
            </a:extLst>
          </p:cNvPr>
          <p:cNvSpPr>
            <a:spLocks noGrp="1"/>
          </p:cNvSpPr>
          <p:nvPr>
            <p:ph idx="1"/>
          </p:nvPr>
        </p:nvSpPr>
        <p:spPr>
          <a:xfrm>
            <a:off x="235975" y="1524000"/>
            <a:ext cx="11621728" cy="4652963"/>
          </a:xfrm>
        </p:spPr>
        <p:txBody>
          <a:bodyPr>
            <a:normAutofit lnSpcReduction="10000"/>
          </a:bodyPr>
          <a:lstStyle/>
          <a:p>
            <a:r>
              <a:rPr lang="en-US" b="1" dirty="0"/>
              <a:t> Seed Capital</a:t>
            </a:r>
          </a:p>
          <a:p>
            <a:r>
              <a:rPr lang="en-US" dirty="0"/>
              <a:t>The </a:t>
            </a:r>
            <a:r>
              <a:rPr lang="en-US" b="1" dirty="0"/>
              <a:t>first official money</a:t>
            </a:r>
            <a:r>
              <a:rPr lang="en-US" dirty="0"/>
              <a:t> raised to start turning an idea into a business. It's called "seed" funding because it's used to plant the initial business and help it grow.</a:t>
            </a:r>
          </a:p>
          <a:p>
            <a:r>
              <a:rPr lang="en-US" b="1" dirty="0"/>
              <a:t>Stage:</a:t>
            </a:r>
            <a:r>
              <a:rPr lang="en-US" dirty="0"/>
              <a:t> </a:t>
            </a:r>
            <a:r>
              <a:rPr lang="en-US" b="1" dirty="0"/>
              <a:t>Earliest stage.</a:t>
            </a:r>
            <a:r>
              <a:rPr lang="en-US" dirty="0"/>
              <a:t> Often when you have little more than an idea, a prototype, or a founding team.</a:t>
            </a:r>
          </a:p>
          <a:p>
            <a:r>
              <a:rPr lang="en-US" b="1" dirty="0"/>
              <a:t>Purpose:</a:t>
            </a:r>
            <a:r>
              <a:rPr lang="en-US" dirty="0"/>
              <a:t> To achieve </a:t>
            </a:r>
            <a:r>
              <a:rPr lang="en-US" b="1" dirty="0"/>
              <a:t>product-market fit</a:t>
            </a:r>
            <a:r>
              <a:rPr lang="en-US" dirty="0"/>
              <a:t>—prove that people want what you're building. Used for market research, building a prototype, hiring the core team, and initial user acquisition.</a:t>
            </a:r>
          </a:p>
          <a:p>
            <a:pPr marL="0" indent="0">
              <a:buNone/>
            </a:pPr>
            <a:r>
              <a:rPr lang="en-US" b="1" dirty="0"/>
              <a:t>      Who Invests:</a:t>
            </a:r>
            <a:endParaRPr lang="en-US" dirty="0"/>
          </a:p>
          <a:p>
            <a:pPr lvl="1"/>
            <a:r>
              <a:rPr lang="en-US" b="1" dirty="0"/>
              <a:t>Founders, Friends, and Family:</a:t>
            </a:r>
            <a:r>
              <a:rPr lang="en-US" dirty="0"/>
              <a:t> The very first source.</a:t>
            </a:r>
          </a:p>
          <a:p>
            <a:endParaRPr lang="en-CA" dirty="0"/>
          </a:p>
        </p:txBody>
      </p:sp>
    </p:spTree>
    <p:extLst>
      <p:ext uri="{BB962C8B-B14F-4D97-AF65-F5344CB8AC3E}">
        <p14:creationId xmlns:p14="http://schemas.microsoft.com/office/powerpoint/2010/main" val="11279321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70078-DEFB-CDB0-132D-E543994AA81E}"/>
              </a:ext>
            </a:extLst>
          </p:cNvPr>
          <p:cNvSpPr>
            <a:spLocks noGrp="1"/>
          </p:cNvSpPr>
          <p:nvPr>
            <p:ph type="title"/>
          </p:nvPr>
        </p:nvSpPr>
        <p:spPr/>
        <p:txBody>
          <a:bodyPr/>
          <a:lstStyle/>
          <a:p>
            <a:r>
              <a:rPr lang="en-US" b="1" dirty="0"/>
              <a:t>Angel Investment</a:t>
            </a:r>
            <a:br>
              <a:rPr lang="en-US" b="1" dirty="0"/>
            </a:br>
            <a:endParaRPr lang="en-CA" dirty="0"/>
          </a:p>
        </p:txBody>
      </p:sp>
      <p:sp>
        <p:nvSpPr>
          <p:cNvPr id="3" name="Content Placeholder 2">
            <a:extLst>
              <a:ext uri="{FF2B5EF4-FFF2-40B4-BE49-F238E27FC236}">
                <a16:creationId xmlns:a16="http://schemas.microsoft.com/office/drawing/2014/main" id="{D5E33456-2051-6479-72D6-A0DA92A80EB2}"/>
              </a:ext>
            </a:extLst>
          </p:cNvPr>
          <p:cNvSpPr>
            <a:spLocks noGrp="1"/>
          </p:cNvSpPr>
          <p:nvPr>
            <p:ph idx="1"/>
          </p:nvPr>
        </p:nvSpPr>
        <p:spPr>
          <a:xfrm>
            <a:off x="838200" y="1690688"/>
            <a:ext cx="10515600" cy="4486275"/>
          </a:xfrm>
        </p:spPr>
        <p:txBody>
          <a:bodyPr>
            <a:normAutofit lnSpcReduction="10000"/>
          </a:bodyPr>
          <a:lstStyle/>
          <a:p>
            <a:pPr marL="0" indent="0">
              <a:buNone/>
            </a:pPr>
            <a:r>
              <a:rPr lang="en-US" dirty="0"/>
              <a:t>Investments from </a:t>
            </a:r>
            <a:r>
              <a:rPr lang="en-US" b="1" dirty="0"/>
              <a:t>affluent individuals</a:t>
            </a:r>
            <a:r>
              <a:rPr lang="en-US" dirty="0"/>
              <a:t> (Angel Investors) who use their own personal wealth to back early-stage companies.</a:t>
            </a:r>
          </a:p>
          <a:p>
            <a:r>
              <a:rPr lang="en-US" b="1" dirty="0"/>
              <a:t>Stage:</a:t>
            </a:r>
            <a:r>
              <a:rPr lang="en-US" dirty="0"/>
              <a:t> </a:t>
            </a:r>
            <a:r>
              <a:rPr lang="en-US" b="1" dirty="0"/>
              <a:t>Seed and Early-Stage.</a:t>
            </a:r>
            <a:r>
              <a:rPr lang="en-US" dirty="0"/>
              <a:t> Often the first outside capital after friends and family.</a:t>
            </a:r>
          </a:p>
          <a:p>
            <a:r>
              <a:rPr lang="en-US" b="1" dirty="0"/>
              <a:t>Purpose:</a:t>
            </a:r>
            <a:r>
              <a:rPr lang="en-US" dirty="0"/>
              <a:t> Similar to seed capital—to fund product development, initial marketing, and early operations.</a:t>
            </a:r>
          </a:p>
          <a:p>
            <a:r>
              <a:rPr lang="en-US" b="1" dirty="0"/>
              <a:t>Who Invests:</a:t>
            </a:r>
            <a:endParaRPr lang="en-US" dirty="0"/>
          </a:p>
          <a:p>
            <a:pPr lvl="1"/>
            <a:r>
              <a:rPr lang="en-US" b="1" dirty="0"/>
              <a:t>Successful Entrepreneurs:</a:t>
            </a:r>
            <a:r>
              <a:rPr lang="en-US" dirty="0"/>
              <a:t> People who have "been there, done that" and can offer valuable advice.</a:t>
            </a:r>
          </a:p>
          <a:p>
            <a:pPr lvl="1"/>
            <a:r>
              <a:rPr lang="en-US" b="1" dirty="0"/>
              <a:t>High-Net-Worth Professionals:</a:t>
            </a:r>
            <a:r>
              <a:rPr lang="en-US" dirty="0"/>
              <a:t> Doctors, lawyers, executives looking for high-risk, high-reward investments.</a:t>
            </a:r>
          </a:p>
          <a:p>
            <a:pPr marL="0" indent="0">
              <a:buNone/>
            </a:pPr>
            <a:endParaRPr lang="en-US" dirty="0"/>
          </a:p>
          <a:p>
            <a:endParaRPr lang="en-CA" dirty="0"/>
          </a:p>
        </p:txBody>
      </p:sp>
    </p:spTree>
    <p:extLst>
      <p:ext uri="{BB962C8B-B14F-4D97-AF65-F5344CB8AC3E}">
        <p14:creationId xmlns:p14="http://schemas.microsoft.com/office/powerpoint/2010/main" val="31637822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25D88-03CD-EB32-3A35-1118544D9719}"/>
              </a:ext>
            </a:extLst>
          </p:cNvPr>
          <p:cNvSpPr>
            <a:spLocks noGrp="1"/>
          </p:cNvSpPr>
          <p:nvPr>
            <p:ph type="title"/>
          </p:nvPr>
        </p:nvSpPr>
        <p:spPr>
          <a:xfrm>
            <a:off x="838200" y="681037"/>
            <a:ext cx="10515600" cy="1009651"/>
          </a:xfrm>
        </p:spPr>
        <p:txBody>
          <a:bodyPr>
            <a:normAutofit fontScale="90000"/>
          </a:bodyPr>
          <a:lstStyle/>
          <a:p>
            <a:r>
              <a:rPr lang="en-US" b="1" dirty="0"/>
              <a:t>Venture Capital (VC)</a:t>
            </a:r>
            <a:br>
              <a:rPr lang="en-US" b="1" dirty="0"/>
            </a:br>
            <a:endParaRPr lang="en-CA" dirty="0"/>
          </a:p>
        </p:txBody>
      </p:sp>
      <p:sp>
        <p:nvSpPr>
          <p:cNvPr id="3" name="Content Placeholder 2">
            <a:extLst>
              <a:ext uri="{FF2B5EF4-FFF2-40B4-BE49-F238E27FC236}">
                <a16:creationId xmlns:a16="http://schemas.microsoft.com/office/drawing/2014/main" id="{ABFFF17D-0776-5674-28B0-65737854EDF0}"/>
              </a:ext>
            </a:extLst>
          </p:cNvPr>
          <p:cNvSpPr>
            <a:spLocks noGrp="1"/>
          </p:cNvSpPr>
          <p:nvPr>
            <p:ph idx="1"/>
          </p:nvPr>
        </p:nvSpPr>
        <p:spPr/>
        <p:txBody>
          <a:bodyPr>
            <a:normAutofit fontScale="92500"/>
          </a:bodyPr>
          <a:lstStyle/>
          <a:p>
            <a:pPr marL="0" indent="0">
              <a:buNone/>
            </a:pPr>
            <a:r>
              <a:rPr lang="en-US" dirty="0"/>
              <a:t>Venture Capital (VC) is a form of financing provided to early-stage or fast-growing startups that have strong potential but may be too risky for traditional bank loans.</a:t>
            </a:r>
          </a:p>
          <a:p>
            <a:pPr marL="0" indent="0">
              <a:buNone/>
            </a:pPr>
            <a:r>
              <a:rPr lang="en-US" b="1" dirty="0"/>
              <a:t>Venture Capital (VC)</a:t>
            </a:r>
            <a:r>
              <a:rPr lang="en-US" dirty="0"/>
              <a:t> is </a:t>
            </a:r>
            <a:r>
              <a:rPr lang="en-US" b="1" dirty="0"/>
              <a:t>money invested by venture capital firms </a:t>
            </a:r>
            <a:r>
              <a:rPr lang="en-US" dirty="0"/>
              <a:t> into startups or small businesses that are believed to have </a:t>
            </a:r>
            <a:r>
              <a:rPr lang="en-US" b="1" dirty="0"/>
              <a:t>high growth potential</a:t>
            </a:r>
            <a:r>
              <a:rPr lang="en-US" dirty="0"/>
              <a:t>.</a:t>
            </a:r>
            <a:br>
              <a:rPr lang="en-US" dirty="0"/>
            </a:br>
            <a:r>
              <a:rPr lang="en-US" dirty="0"/>
              <a:t>In return, the investors receive </a:t>
            </a:r>
            <a:r>
              <a:rPr lang="en-US" b="1" dirty="0"/>
              <a:t>equity (ownership shares)</a:t>
            </a:r>
            <a:r>
              <a:rPr lang="en-US" dirty="0"/>
              <a:t> in the company.</a:t>
            </a:r>
          </a:p>
          <a:p>
            <a:r>
              <a:rPr lang="en-US" dirty="0"/>
              <a:t>Purpose: To scale the business aggressively. Used for major market expansion, heavy marketing, and building out the full team.</a:t>
            </a:r>
          </a:p>
          <a:p>
            <a:pPr marL="0" indent="0">
              <a:buNone/>
            </a:pPr>
            <a:br>
              <a:rPr lang="en-US" dirty="0"/>
            </a:br>
            <a:endParaRPr lang="en-CA" dirty="0"/>
          </a:p>
        </p:txBody>
      </p:sp>
    </p:spTree>
    <p:extLst>
      <p:ext uri="{BB962C8B-B14F-4D97-AF65-F5344CB8AC3E}">
        <p14:creationId xmlns:p14="http://schemas.microsoft.com/office/powerpoint/2010/main" val="42049576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0F3-F22A-CEBE-E4F0-B152E2AED0C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FB83737-7DB5-C6ED-8B0D-CBD4C08786CA}"/>
              </a:ext>
            </a:extLst>
          </p:cNvPr>
          <p:cNvSpPr>
            <a:spLocks noGrp="1"/>
          </p:cNvSpPr>
          <p:nvPr>
            <p:ph idx="1"/>
          </p:nvPr>
        </p:nvSpPr>
        <p:spPr/>
        <p:txBody>
          <a:bodyPr>
            <a:normAutofit fontScale="92500" lnSpcReduction="10000"/>
          </a:bodyPr>
          <a:lstStyle/>
          <a:p>
            <a:r>
              <a:rPr lang="en-US" b="1" dirty="0"/>
              <a:t>How Venture Capital Works</a:t>
            </a:r>
          </a:p>
          <a:p>
            <a:r>
              <a:rPr lang="en-US" b="1" dirty="0"/>
              <a:t>Startup needs funding</a:t>
            </a:r>
            <a:br>
              <a:rPr lang="en-US" dirty="0"/>
            </a:br>
            <a:r>
              <a:rPr lang="en-US" dirty="0"/>
              <a:t>→ For example, to build a product, hire a team, or scale operations.</a:t>
            </a:r>
          </a:p>
          <a:p>
            <a:r>
              <a:rPr lang="en-US" b="1" dirty="0"/>
              <a:t>VC firm invests money</a:t>
            </a:r>
            <a:br>
              <a:rPr lang="en-US" dirty="0"/>
            </a:br>
            <a:r>
              <a:rPr lang="en-US" dirty="0"/>
              <a:t>→ In exchange for a percentage of ownership in the startup.</a:t>
            </a:r>
          </a:p>
          <a:p>
            <a:r>
              <a:rPr lang="en-US" b="1" dirty="0"/>
              <a:t>VC provides support</a:t>
            </a:r>
            <a:br>
              <a:rPr lang="en-US" dirty="0"/>
            </a:br>
            <a:r>
              <a:rPr lang="en-US" dirty="0"/>
              <a:t>→ Besides money, they often give mentorship, industry connections, and business strategy guidance.</a:t>
            </a:r>
          </a:p>
          <a:p>
            <a:r>
              <a:rPr lang="en-US" b="1" dirty="0"/>
              <a:t>VC aims for high returns</a:t>
            </a:r>
            <a:br>
              <a:rPr lang="en-US" dirty="0"/>
            </a:br>
            <a:r>
              <a:rPr lang="en-US" dirty="0"/>
              <a:t>→ When the startup grows or is sold/goes public (IPO), the VC sells their shares for profit.</a:t>
            </a:r>
          </a:p>
          <a:p>
            <a:endParaRPr lang="en-CA" dirty="0"/>
          </a:p>
        </p:txBody>
      </p:sp>
    </p:spTree>
    <p:extLst>
      <p:ext uri="{BB962C8B-B14F-4D97-AF65-F5344CB8AC3E}">
        <p14:creationId xmlns:p14="http://schemas.microsoft.com/office/powerpoint/2010/main" val="167640395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F6658-8BEB-F542-3A85-960661E85375}"/>
              </a:ext>
            </a:extLst>
          </p:cNvPr>
          <p:cNvSpPr>
            <a:spLocks noGrp="1"/>
          </p:cNvSpPr>
          <p:nvPr>
            <p:ph type="title"/>
          </p:nvPr>
        </p:nvSpPr>
        <p:spPr/>
        <p:txBody>
          <a:bodyPr/>
          <a:lstStyle/>
          <a:p>
            <a:r>
              <a:rPr lang="en-US" dirty="0"/>
              <a:t>Some examples in Nepal </a:t>
            </a:r>
            <a:endParaRPr lang="en-CA" dirty="0"/>
          </a:p>
        </p:txBody>
      </p:sp>
      <p:sp>
        <p:nvSpPr>
          <p:cNvPr id="3" name="Content Placeholder 2">
            <a:extLst>
              <a:ext uri="{FF2B5EF4-FFF2-40B4-BE49-F238E27FC236}">
                <a16:creationId xmlns:a16="http://schemas.microsoft.com/office/drawing/2014/main" id="{82B07F04-BD65-74FE-A768-8B4C80E7ABCB}"/>
              </a:ext>
            </a:extLst>
          </p:cNvPr>
          <p:cNvSpPr>
            <a:spLocks noGrp="1"/>
          </p:cNvSpPr>
          <p:nvPr>
            <p:ph idx="1"/>
          </p:nvPr>
        </p:nvSpPr>
        <p:spPr/>
        <p:txBody>
          <a:bodyPr/>
          <a:lstStyle/>
          <a:p>
            <a:r>
              <a:rPr lang="en-US" dirty="0"/>
              <a:t>Global equity fund</a:t>
            </a:r>
          </a:p>
          <a:p>
            <a:pPr marL="0" indent="0">
              <a:buNone/>
            </a:pPr>
            <a:r>
              <a:rPr lang="en-US" dirty="0"/>
              <a:t>This is one of Nepal’s earliest licensed fund‐managers under the Securities Board of Nepal (SEBON) regulation. It has won the “Best SME Investment Firm” award in 2023.</a:t>
            </a:r>
          </a:p>
          <a:p>
            <a:r>
              <a:rPr lang="en-CA" dirty="0" err="1"/>
              <a:t>Avasar</a:t>
            </a:r>
            <a:r>
              <a:rPr lang="en-CA" dirty="0"/>
              <a:t> Equity Limited</a:t>
            </a:r>
          </a:p>
          <a:p>
            <a:pPr marL="0" indent="0">
              <a:buNone/>
            </a:pPr>
            <a:endParaRPr lang="en-CA" dirty="0"/>
          </a:p>
          <a:p>
            <a:pPr marL="0" indent="0">
              <a:buNone/>
            </a:pPr>
            <a:endParaRPr lang="en-CA" dirty="0"/>
          </a:p>
        </p:txBody>
      </p:sp>
    </p:spTree>
    <p:extLst>
      <p:ext uri="{BB962C8B-B14F-4D97-AF65-F5344CB8AC3E}">
        <p14:creationId xmlns:p14="http://schemas.microsoft.com/office/powerpoint/2010/main" val="170951634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br>
              <a:rPr lang="en-US" dirty="0"/>
            </a:br>
            <a:r>
              <a:rPr lang="en-US" dirty="0"/>
              <a:t>Meaning of financial statement </a:t>
            </a:r>
            <a:br>
              <a:rPr lang="en-US" dirty="0"/>
            </a:br>
            <a:endParaRPr lang="en-US" dirty="0"/>
          </a:p>
        </p:txBody>
      </p:sp>
      <p:sp>
        <p:nvSpPr>
          <p:cNvPr id="3" name="Content Placeholder 2"/>
          <p:cNvSpPr>
            <a:spLocks noGrp="1"/>
          </p:cNvSpPr>
          <p:nvPr>
            <p:ph idx="1"/>
          </p:nvPr>
        </p:nvSpPr>
        <p:spPr>
          <a:xfrm>
            <a:off x="1524000" y="838200"/>
            <a:ext cx="9144000" cy="6324600"/>
          </a:xfrm>
        </p:spPr>
        <p:txBody>
          <a:bodyPr/>
          <a:lstStyle/>
          <a:p>
            <a:r>
              <a:rPr lang="en-US" dirty="0"/>
              <a:t>Financial statement is the organized summary of detailed information about financial position and performances of a firm. It is prepared at the end of accounting period. In other words, financial statement is historical document and the final outcome of accounting works performed during a certain period of time </a:t>
            </a:r>
            <a:r>
              <a:rPr lang="en-US" dirty="0" err="1"/>
              <a:t>ie</a:t>
            </a:r>
            <a:r>
              <a:rPr lang="en-US" dirty="0"/>
              <a:t>. a year or a part of the year. </a:t>
            </a:r>
          </a:p>
          <a:p>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Financial statement is written report of financial affairs of business. It reports and communicates the results of its business operations for a particular period of time and its financial positions at the end of that period. The financial position of the firm is determined by presenting the picture of its assts, liabilities and shareholders' equity at the end of the period</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84632" y="1600200"/>
            <a:ext cx="10936224" cy="4876800"/>
          </a:xfrm>
        </p:spPr>
        <p:txBody>
          <a:bodyPr>
            <a:normAutofit/>
          </a:bodyPr>
          <a:lstStyle/>
          <a:p>
            <a:r>
              <a:rPr lang="en-US" dirty="0"/>
              <a:t>The purpose for preparing financial statement is for the periodical review of the activities of the firm and results achieved by the firm. A firm communicates financial information to the users through financial statements and reports. The financial statement contains summarized information of the firm's financial affairs. They present the firm's financial situation to owners, creditors, investors, workers, government and general public. These statements are used by investors and financial analysts to examine the firm's performance in order to make investment decision</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financial statements </a:t>
            </a:r>
            <a:br>
              <a:rPr lang="en-US" dirty="0"/>
            </a:br>
            <a:endParaRPr lang="en-US" dirty="0"/>
          </a:p>
        </p:txBody>
      </p:sp>
      <p:sp>
        <p:nvSpPr>
          <p:cNvPr id="3" name="Content Placeholder 2"/>
          <p:cNvSpPr>
            <a:spLocks noGrp="1"/>
          </p:cNvSpPr>
          <p:nvPr>
            <p:ph idx="1"/>
          </p:nvPr>
        </p:nvSpPr>
        <p:spPr>
          <a:xfrm>
            <a:off x="1124712" y="1600200"/>
            <a:ext cx="9086088" cy="5486400"/>
          </a:xfrm>
        </p:spPr>
        <p:txBody>
          <a:bodyPr>
            <a:normAutofit/>
          </a:bodyPr>
          <a:lstStyle/>
          <a:p>
            <a:pPr marL="0" lvl="0" indent="0">
              <a:buNone/>
            </a:pPr>
            <a:r>
              <a:rPr lang="en-US" dirty="0"/>
              <a:t>1. The balance sheet: balance sheet is a statement of assets and liabilities of a business enterprise at a given date. It is a statement summarizing the financial position of the firm. The financial position of the firm can be reveled thorough the picture of its assets, liabilities and share holders' equity. The balance sheet is prepared at the end of accounting period. More specifically, the balance sheet contains information about the resource and obligation of a business entity and about its owner's interests in the business at a particular point of time.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2. Income statement </a:t>
            </a:r>
            <a:br>
              <a:rPr lang="en-US" dirty="0"/>
            </a:br>
            <a:endParaRPr lang="en-US" dirty="0"/>
          </a:p>
        </p:txBody>
      </p:sp>
      <p:sp>
        <p:nvSpPr>
          <p:cNvPr id="3" name="Content Placeholder 2"/>
          <p:cNvSpPr>
            <a:spLocks noGrp="1"/>
          </p:cNvSpPr>
          <p:nvPr>
            <p:ph idx="1"/>
          </p:nvPr>
        </p:nvSpPr>
        <p:spPr>
          <a:xfrm>
            <a:off x="152400" y="1591056"/>
            <a:ext cx="10515600" cy="5266944"/>
          </a:xfrm>
        </p:spPr>
        <p:txBody>
          <a:bodyPr>
            <a:normAutofit/>
          </a:bodyPr>
          <a:lstStyle/>
          <a:p>
            <a:r>
              <a:rPr lang="en-US" dirty="0"/>
              <a:t>Income statement is that statement which presents the net results of the business operation during an accounting period. It shows all the money a company earned (revenues) and all the money a company spends (expenses) during this specified period. The income statement serves as a measure of the firm's profitability. It presents the summary of revenues, expenses and net income or loss of a firm for a period of time. It is the scoreboard of the firm's performance during a particular period of time. </a:t>
            </a:r>
          </a:p>
          <a:p>
            <a:pPr>
              <a:buNone/>
            </a:pPr>
            <a:endParaRPr lang="en-US" dirty="0"/>
          </a:p>
          <a:p>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Cash flow statement</a:t>
            </a:r>
            <a:br>
              <a:rPr lang="en-US" dirty="0"/>
            </a:br>
            <a:endParaRPr lang="en-US" dirty="0"/>
          </a:p>
        </p:txBody>
      </p:sp>
      <p:sp>
        <p:nvSpPr>
          <p:cNvPr id="3" name="Content Placeholder 2"/>
          <p:cNvSpPr>
            <a:spLocks noGrp="1"/>
          </p:cNvSpPr>
          <p:nvPr>
            <p:ph idx="1"/>
          </p:nvPr>
        </p:nvSpPr>
        <p:spPr>
          <a:xfrm>
            <a:off x="1981200" y="990600"/>
            <a:ext cx="8229600" cy="5867400"/>
          </a:xfrm>
        </p:spPr>
        <p:txBody>
          <a:bodyPr>
            <a:normAutofit/>
          </a:bodyPr>
          <a:lstStyle/>
          <a:p>
            <a:r>
              <a:rPr lang="en-US" dirty="0"/>
              <a:t>A cash flow statement concentrates on transactions that have a direct impact on cash. It deals with the inflows and out flows of cash indication exact amount and timing of flows between two balance sheet dates. It explains the changes in cash position between the two periods. Cash flow means inflow and outflow of cash during the accounting period.  </a:t>
            </a:r>
          </a:p>
          <a:p>
            <a:r>
              <a:rPr lang="en-US" dirty="0"/>
              <a:t>Cash flow statement is a statement of recording systematically all inflows and outflows of cash during the accounting periods. Thus, it shows the sources of cash inflows and cash outflows of a firm for particular time period. </a:t>
            </a:r>
          </a:p>
          <a:p>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Preparation of cash flow statement</a:t>
            </a:r>
            <a:br>
              <a:rPr lang="en-US" dirty="0"/>
            </a:br>
            <a:endParaRPr lang="en-US" dirty="0"/>
          </a:p>
        </p:txBody>
      </p:sp>
      <p:sp>
        <p:nvSpPr>
          <p:cNvPr id="3" name="Content Placeholder 2"/>
          <p:cNvSpPr>
            <a:spLocks noGrp="1"/>
          </p:cNvSpPr>
          <p:nvPr>
            <p:ph idx="1"/>
          </p:nvPr>
        </p:nvSpPr>
        <p:spPr>
          <a:xfrm>
            <a:off x="1752600" y="1066801"/>
            <a:ext cx="8458200" cy="5059363"/>
          </a:xfrm>
        </p:spPr>
        <p:txBody>
          <a:bodyPr/>
          <a:lstStyle/>
          <a:p>
            <a:pPr>
              <a:buNone/>
            </a:pPr>
            <a:r>
              <a:rPr lang="en-US" dirty="0"/>
              <a:t>Cash flow statement is a summary of cash flows for a given time period. It is divided into three categories</a:t>
            </a:r>
          </a:p>
          <a:p>
            <a:pPr lvl="0"/>
            <a:r>
              <a:rPr lang="en-US" b="1" dirty="0"/>
              <a:t>Operating activities </a:t>
            </a:r>
          </a:p>
          <a:p>
            <a:pPr lvl="0"/>
            <a:r>
              <a:rPr lang="en-US" b="1" dirty="0"/>
              <a:t>Investing activities </a:t>
            </a:r>
          </a:p>
          <a:p>
            <a:pPr lvl="0"/>
            <a:r>
              <a:rPr lang="en-US" b="1" dirty="0"/>
              <a:t>Financing activities </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TotalTime>
  <Words>10858</Words>
  <Application>Microsoft Office PowerPoint</Application>
  <PresentationFormat>Widescreen</PresentationFormat>
  <Paragraphs>739</Paragraphs>
  <Slides>124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124</vt:i4>
      </vt:variant>
    </vt:vector>
  </HeadingPairs>
  <TitlesOfParts>
    <vt:vector size="130" baseType="lpstr">
      <vt:lpstr>Arial</vt:lpstr>
      <vt:lpstr>Calibri</vt:lpstr>
      <vt:lpstr>Calibri Light</vt:lpstr>
      <vt:lpstr>quote-cjk-patch</vt:lpstr>
      <vt:lpstr>Times New Roman</vt:lpstr>
      <vt:lpstr>Office Theme</vt:lpstr>
      <vt:lpstr>Unit III:  Startup Foundational Analysis                (8 Hrs.) </vt:lpstr>
      <vt:lpstr>PowerPoint Presentation</vt:lpstr>
      <vt:lpstr>Concept of startup foundation analysis </vt:lpstr>
      <vt:lpstr>Environmental analysis</vt:lpstr>
      <vt:lpstr>The most common and effective framework used for this purpose is PESTEL Analysis.</vt:lpstr>
      <vt:lpstr>Entrepreneurship Ecosystem</vt:lpstr>
      <vt:lpstr>Core Components of an Entrepreneurship Ecosystem </vt:lpstr>
      <vt:lpstr>PowerPoint Presentation</vt:lpstr>
      <vt:lpstr>PowerPoint Presentation</vt:lpstr>
      <vt:lpstr>PowerPoint Presentation</vt:lpstr>
      <vt:lpstr>PowerPoint Presentation</vt:lpstr>
      <vt:lpstr>Core Components of an Entrepreneurship Ecosystem  </vt:lpstr>
      <vt:lpstr>PowerPoint Presentation</vt:lpstr>
      <vt:lpstr>PowerPoint Presentation</vt:lpstr>
      <vt:lpstr>PowerPoint Presentation</vt:lpstr>
      <vt:lpstr>PowerPoint Presentation</vt:lpstr>
      <vt:lpstr>PowerPoint Presentation</vt:lpstr>
      <vt:lpstr>Supports for Entrepreneurship (The Ecosystem Drivers)</vt:lpstr>
      <vt:lpstr>PowerPoint Presentation</vt:lpstr>
      <vt:lpstr>PowerPoint Presentation</vt:lpstr>
      <vt:lpstr>PowerPoint Presentation</vt:lpstr>
      <vt:lpstr>PowerPoint Presentation</vt:lpstr>
      <vt:lpstr>Barriers to Entrepreneurship (The Challenges) </vt:lpstr>
      <vt:lpstr>PowerPoint Presentation</vt:lpstr>
      <vt:lpstr>PowerPoint Presentation</vt:lpstr>
      <vt:lpstr>PowerPoint Presentation</vt:lpstr>
      <vt:lpstr>PowerPoint Presentation</vt:lpstr>
      <vt:lpstr>PowerPoint Presentation</vt:lpstr>
      <vt:lpstr>Competitor Analysis </vt:lpstr>
      <vt:lpstr> Why Competitor Analysis is Important </vt:lpstr>
      <vt:lpstr>Identifying competitors</vt:lpstr>
      <vt:lpstr>Types of Competitors </vt:lpstr>
      <vt:lpstr>Methods to Identify Competitors </vt:lpstr>
      <vt:lpstr>PowerPoint Presentation</vt:lpstr>
      <vt:lpstr>Competitive advantage</vt:lpstr>
      <vt:lpstr>Sources of Competitive Advantage </vt:lpstr>
      <vt:lpstr>Following are the sources of competitive advantage </vt:lpstr>
      <vt:lpstr>PowerPoint Presentation</vt:lpstr>
      <vt:lpstr>PowerPoint Presentation</vt:lpstr>
      <vt:lpstr>PowerPoint Presentation</vt:lpstr>
      <vt:lpstr>PowerPoint Presentation</vt:lpstr>
      <vt:lpstr>PowerPoint Presentation</vt:lpstr>
      <vt:lpstr>PowerPoint Presentation</vt:lpstr>
      <vt:lpstr>Market analysis and plan  </vt:lpstr>
      <vt:lpstr>PowerPoint Presentation</vt:lpstr>
      <vt:lpstr>Market Plan The market plan (often called a marketing plan) is a detailed, written document that outlines the specific marketing goals a company aims to achieve, and the strategies and tactics it will use to achieve them. It is directly based on the findings of the market analysis. </vt:lpstr>
      <vt:lpstr>PowerPoint Presentation</vt:lpstr>
      <vt:lpstr>Market Research </vt:lpstr>
      <vt:lpstr>Key Methods of Market Research </vt:lpstr>
      <vt:lpstr>PowerPoint Presentation</vt:lpstr>
      <vt:lpstr>Target Customer Profile (or Buyer Identity) </vt:lpstr>
      <vt:lpstr> How to Build a Target Customer Profile </vt:lpstr>
      <vt:lpstr>PowerPoint Presentation</vt:lpstr>
      <vt:lpstr>Serviceable Available Market (SAM) </vt:lpstr>
      <vt:lpstr>Why is SAM Important? </vt:lpstr>
      <vt:lpstr>What is Total Addressable Market (TAM)? </vt:lpstr>
      <vt:lpstr>PowerPoint Presentation</vt:lpstr>
      <vt:lpstr>PowerPoint Presentation</vt:lpstr>
      <vt:lpstr>Serviceable Obtainable Market (SOM)</vt:lpstr>
      <vt:lpstr>PowerPoint Presentation</vt:lpstr>
      <vt:lpstr>PowerPoint Presentation</vt:lpstr>
      <vt:lpstr>Go-To-Market (GTM) Strategy</vt:lpstr>
      <vt:lpstr>PowerPoint Presentation</vt:lpstr>
      <vt:lpstr>PowerPoint Presentation</vt:lpstr>
      <vt:lpstr>PowerPoint Presentation</vt:lpstr>
      <vt:lpstr>Branding and Promotional Strategies</vt:lpstr>
      <vt:lpstr>Branding Strategy </vt:lpstr>
      <vt:lpstr>Why is a Branding Strategy Important? </vt:lpstr>
      <vt:lpstr>Key Components of a Branding Strategy/ Key pillars  </vt:lpstr>
      <vt:lpstr>PowerPoint Presentation</vt:lpstr>
      <vt:lpstr>PowerPoint Presentation</vt:lpstr>
      <vt:lpstr>PowerPoint Presentation</vt:lpstr>
      <vt:lpstr>PowerPoint Presentation</vt:lpstr>
      <vt:lpstr>How to Develop a Branding Strategy: A Simple Framework </vt:lpstr>
      <vt:lpstr>Promotional Strategy </vt:lpstr>
      <vt:lpstr>Why is a Promotional Strategy Important? </vt:lpstr>
      <vt:lpstr>PowerPoint Presentation</vt:lpstr>
      <vt:lpstr>PowerPoint Presentation</vt:lpstr>
      <vt:lpstr>PowerPoint Presentation</vt:lpstr>
      <vt:lpstr>PowerPoint Presentation</vt:lpstr>
      <vt:lpstr>PowerPoint Presentation</vt:lpstr>
      <vt:lpstr>PowerPoint Presentation</vt:lpstr>
      <vt:lpstr>Key Differences and Their Partnership </vt:lpstr>
      <vt:lpstr>Business strategy development</vt:lpstr>
      <vt:lpstr>Vision and Mission statements </vt:lpstr>
      <vt:lpstr>Vision Statement: The Dream </vt:lpstr>
      <vt:lpstr>Mission statements</vt:lpstr>
      <vt:lpstr>Key Characteristics of a Strong Mission Statement </vt:lpstr>
      <vt:lpstr>Vision statement vs mission statement </vt:lpstr>
      <vt:lpstr>SMART goal</vt:lpstr>
      <vt:lpstr>PowerPoint Presentation</vt:lpstr>
      <vt:lpstr>Building team for startup</vt:lpstr>
      <vt:lpstr>Recruiting founders and early employees for a startup</vt:lpstr>
      <vt:lpstr>PowerPoint Presentation</vt:lpstr>
      <vt:lpstr>PowerPoint Presentation</vt:lpstr>
      <vt:lpstr>Key Strategies for Recruiting Founders &amp; Early Employees </vt:lpstr>
      <vt:lpstr>PowerPoint Presentation</vt:lpstr>
      <vt:lpstr>PowerPoint Presentation</vt:lpstr>
      <vt:lpstr>Financial Analysis </vt:lpstr>
      <vt:lpstr>Revenue Streams and Cost Structures </vt:lpstr>
      <vt:lpstr>Revenue Streams </vt:lpstr>
      <vt:lpstr>PowerPoint Presentation</vt:lpstr>
      <vt:lpstr>PowerPoint Presentation</vt:lpstr>
      <vt:lpstr>Cost Structure </vt:lpstr>
      <vt:lpstr>Types of Costs: </vt:lpstr>
      <vt:lpstr>PowerPoint Presentation</vt:lpstr>
      <vt:lpstr>Financial Statements </vt:lpstr>
      <vt:lpstr>PowerPoint Presentation</vt:lpstr>
      <vt:lpstr>Income Statement Projection (The Profit &amp; Loss Forecast) </vt:lpstr>
      <vt:lpstr>Balance Sheet Projection </vt:lpstr>
      <vt:lpstr> Cash Flow Statement Projection </vt:lpstr>
      <vt:lpstr>PowerPoint Presentation</vt:lpstr>
      <vt:lpstr>Raising capital for startup: seed capital, angel investment, venture capital  </vt:lpstr>
      <vt:lpstr>Angel Investment </vt:lpstr>
      <vt:lpstr>Venture Capital (VC) </vt:lpstr>
      <vt:lpstr>PowerPoint Presentation</vt:lpstr>
      <vt:lpstr>Some examples in Nepal </vt:lpstr>
      <vt:lpstr> Meaning of financial statement  </vt:lpstr>
      <vt:lpstr>PowerPoint Presentation</vt:lpstr>
      <vt:lpstr>PowerPoint Presentation</vt:lpstr>
      <vt:lpstr>Types of financial statements  </vt:lpstr>
      <vt:lpstr>2. Income statement  </vt:lpstr>
      <vt:lpstr>Cash flow statement </vt:lpstr>
      <vt:lpstr>Preparation of cash flow statement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127</cp:revision>
  <dcterms:created xsi:type="dcterms:W3CDTF">2025-10-19T15:05:09Z</dcterms:created>
  <dcterms:modified xsi:type="dcterms:W3CDTF">2026-01-12T12:19:29Z</dcterms:modified>
</cp:coreProperties>
</file>