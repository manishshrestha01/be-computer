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82" r:id="rId3"/>
    <p:sldId id="283" r:id="rId4"/>
    <p:sldId id="257" r:id="rId5"/>
    <p:sldId id="287" r:id="rId6"/>
    <p:sldId id="284" r:id="rId7"/>
    <p:sldId id="285" r:id="rId8"/>
    <p:sldId id="286" r:id="rId9"/>
    <p:sldId id="288" r:id="rId10"/>
    <p:sldId id="289" r:id="rId11"/>
    <p:sldId id="290" r:id="rId12"/>
    <p:sldId id="291" r:id="rId13"/>
    <p:sldId id="292" r:id="rId14"/>
    <p:sldId id="293" r:id="rId15"/>
    <p:sldId id="294" r:id="rId16"/>
    <p:sldId id="295" r:id="rId17"/>
    <p:sldId id="296" r:id="rId18"/>
    <p:sldId id="298" r:id="rId19"/>
    <p:sldId id="299"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301" r:id="rId44"/>
    <p:sldId id="302" r:id="rId45"/>
    <p:sldId id="303" r:id="rId46"/>
    <p:sldId id="300" r:id="rId47"/>
    <p:sldId id="304" r:id="rId48"/>
    <p:sldId id="305" r:id="rId49"/>
    <p:sldId id="306" r:id="rId50"/>
    <p:sldId id="307" r:id="rId51"/>
    <p:sldId id="308" r:id="rId52"/>
    <p:sldId id="30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C1DA5D-5BDC-45FE-8D1B-0156B05E1991}" type="datetimeFigureOut">
              <a:rPr lang="en-CA" smtClean="0"/>
              <a:t>2026-02-02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84CD19-EF19-4C24-A19C-9454057E8318}" type="slidenum">
              <a:rPr lang="en-CA" smtClean="0"/>
              <a:t>‹#›</a:t>
            </a:fld>
            <a:endParaRPr lang="en-CA"/>
          </a:p>
        </p:txBody>
      </p:sp>
    </p:spTree>
    <p:extLst>
      <p:ext uri="{BB962C8B-B14F-4D97-AF65-F5344CB8AC3E}">
        <p14:creationId xmlns:p14="http://schemas.microsoft.com/office/powerpoint/2010/main" val="4051084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D841D52-4790-493A-81C5-2CF61BF2E4C8}"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7C079-95B0-F964-40FF-EBE13D512B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9F019769-AFD6-9756-1B0A-EAAD592477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CCC92B1-7AF7-3B6F-36C9-0449416C0CC2}"/>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5" name="Footer Placeholder 4">
            <a:extLst>
              <a:ext uri="{FF2B5EF4-FFF2-40B4-BE49-F238E27FC236}">
                <a16:creationId xmlns:a16="http://schemas.microsoft.com/office/drawing/2014/main" id="{4F6ACC85-6C31-1314-1813-7DC40FBD31C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B6B8032-DCC2-0A3A-FE29-F56FF7886AE1}"/>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2796690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ED7B7-40A0-7B20-AF6E-B3E1E83728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179137E-8F75-31F7-6BAA-F906BD1E08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5C9F12C-299C-7BE3-5150-F5BB6329AA37}"/>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5" name="Footer Placeholder 4">
            <a:extLst>
              <a:ext uri="{FF2B5EF4-FFF2-40B4-BE49-F238E27FC236}">
                <a16:creationId xmlns:a16="http://schemas.microsoft.com/office/drawing/2014/main" id="{9D6755BF-6725-20DA-915C-AE3011C4179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08A97D1-FC04-839C-64CA-D2C51E1C6BBA}"/>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700690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2A5D7-A747-EEAB-D8A4-2B15046848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A7C870A-C012-B584-15ED-2942FF3D84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909E98-7AF7-4EB5-78D6-82B579762BA5}"/>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5" name="Footer Placeholder 4">
            <a:extLst>
              <a:ext uri="{FF2B5EF4-FFF2-40B4-BE49-F238E27FC236}">
                <a16:creationId xmlns:a16="http://schemas.microsoft.com/office/drawing/2014/main" id="{D6CD6873-E606-BB7B-0DCD-9CA00E72CD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6E4AB19-0393-77B3-BD6F-9EC0DF979723}"/>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257067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AEFDF-5D33-D985-6EE5-1A2D5310C54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082F275-BD78-DD26-327A-D589A86F27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18693FD-8E73-50BA-6D92-9B653D3BFA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4755FF8-F390-C687-7003-F2863DCE7C87}"/>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6" name="Footer Placeholder 5">
            <a:extLst>
              <a:ext uri="{FF2B5EF4-FFF2-40B4-BE49-F238E27FC236}">
                <a16:creationId xmlns:a16="http://schemas.microsoft.com/office/drawing/2014/main" id="{6D0CDCBB-C90D-66A0-9ADF-7F699F1CD77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22E7DAC-5DF2-5896-0248-9462433D91B6}"/>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305876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2C8E2-BD07-A6EE-20A4-7A71715417E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0B4FE50-37DD-FE80-669B-A99C930710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3CC8D7-E048-038D-1C4F-729BEA0B96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8A4C597-BA28-6A30-FE8E-6224A0BD6B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F4AD8D-8998-F02D-1FDD-564891E90F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8558E2B-BD6E-20AE-E232-27D782F44ACA}"/>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8" name="Footer Placeholder 7">
            <a:extLst>
              <a:ext uri="{FF2B5EF4-FFF2-40B4-BE49-F238E27FC236}">
                <a16:creationId xmlns:a16="http://schemas.microsoft.com/office/drawing/2014/main" id="{4BE089C7-AABC-3C31-1BFA-7DADF61B565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F1329AE-B7D1-6036-2A84-6F94C5CEA031}"/>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2125838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3F5D4-021B-C5B1-297C-229FAD4107E8}"/>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B7EE818F-6A60-A26A-CE15-D2A935EE4286}"/>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4" name="Footer Placeholder 3">
            <a:extLst>
              <a:ext uri="{FF2B5EF4-FFF2-40B4-BE49-F238E27FC236}">
                <a16:creationId xmlns:a16="http://schemas.microsoft.com/office/drawing/2014/main" id="{B52D1408-1652-07B7-044E-4EB47A82838D}"/>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6F71761-031F-AEF6-2127-AD1290DA8F33}"/>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241824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0B7B84-F97E-FC88-FBCF-5B3ACFF87DCF}"/>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3" name="Footer Placeholder 2">
            <a:extLst>
              <a:ext uri="{FF2B5EF4-FFF2-40B4-BE49-F238E27FC236}">
                <a16:creationId xmlns:a16="http://schemas.microsoft.com/office/drawing/2014/main" id="{7B22260F-A4FE-F8BA-A893-7E8713D474F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8BDDFC4-F306-23B4-E44F-625AF0AC9C97}"/>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3003878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575EA-3C19-197B-CE93-0A557A5225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2F24CD6-862E-335E-74DE-1342C6292D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68BF90C-8B21-D15A-221F-C31160A6D5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2F5B1D-C426-3A49-C6FE-C5B90E6066F8}"/>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6" name="Footer Placeholder 5">
            <a:extLst>
              <a:ext uri="{FF2B5EF4-FFF2-40B4-BE49-F238E27FC236}">
                <a16:creationId xmlns:a16="http://schemas.microsoft.com/office/drawing/2014/main" id="{9EEC6941-2263-CB56-4C01-E87DEDACB77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7C890E1-D5C8-D7D1-EBBA-D296721B2503}"/>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4291840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53936-F17C-3D3B-91D4-324951718C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FBE8AE6-EE19-9557-F577-6A0B2CC35E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443B7F9-2DFF-FDF1-1E0F-539CD1E0B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87C345-0FFF-C3A0-8DB2-D9720E9F8B8A}"/>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6" name="Footer Placeholder 5">
            <a:extLst>
              <a:ext uri="{FF2B5EF4-FFF2-40B4-BE49-F238E27FC236}">
                <a16:creationId xmlns:a16="http://schemas.microsoft.com/office/drawing/2014/main" id="{F4D524A5-4B17-7C19-E27A-576D9E68D6B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42F423F-3921-A6D6-55ED-3A5B5227127A}"/>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770537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E7D48-F6AA-27B2-0449-AC3500CFB01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256A95A-9E69-5D5E-A39B-CA619D1D3F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FF1FB8A-E70E-1EB3-7091-82B35C180AE1}"/>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5" name="Footer Placeholder 4">
            <a:extLst>
              <a:ext uri="{FF2B5EF4-FFF2-40B4-BE49-F238E27FC236}">
                <a16:creationId xmlns:a16="http://schemas.microsoft.com/office/drawing/2014/main" id="{FFAE23AA-8EC7-6218-4F90-DB363C16C88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46B505D-A8F7-519C-8E2B-DD24A1767006}"/>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922454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F967B6-8E45-68E2-CFE6-7BAE94A3E9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3DFD43A-F2E5-CFD0-DACD-1D96A79D4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5E6B559-DFC5-9EA0-285F-090A21A3841E}"/>
              </a:ext>
            </a:extLst>
          </p:cNvPr>
          <p:cNvSpPr>
            <a:spLocks noGrp="1"/>
          </p:cNvSpPr>
          <p:nvPr>
            <p:ph type="dt" sz="half" idx="10"/>
          </p:nvPr>
        </p:nvSpPr>
        <p:spPr/>
        <p:txBody>
          <a:bodyPr/>
          <a:lstStyle/>
          <a:p>
            <a:fld id="{A8D379A3-1FBB-4332-A32B-2EB79F62E865}" type="datetimeFigureOut">
              <a:rPr lang="en-CA" smtClean="0"/>
              <a:t>2026-02-02</a:t>
            </a:fld>
            <a:endParaRPr lang="en-CA"/>
          </a:p>
        </p:txBody>
      </p:sp>
      <p:sp>
        <p:nvSpPr>
          <p:cNvPr id="5" name="Footer Placeholder 4">
            <a:extLst>
              <a:ext uri="{FF2B5EF4-FFF2-40B4-BE49-F238E27FC236}">
                <a16:creationId xmlns:a16="http://schemas.microsoft.com/office/drawing/2014/main" id="{94B88F49-EF3F-44C5-8F35-F8899906477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AB0B0D5-A037-363A-2BA1-E5102A754E62}"/>
              </a:ext>
            </a:extLst>
          </p:cNvPr>
          <p:cNvSpPr>
            <a:spLocks noGrp="1"/>
          </p:cNvSpPr>
          <p:nvPr>
            <p:ph type="sldNum" sz="quarter" idx="12"/>
          </p:nvPr>
        </p:nvSpPr>
        <p:spPr/>
        <p:txBody>
          <a:bodyPr/>
          <a:lstStyle/>
          <a:p>
            <a:fld id="{69815AC1-9C1A-47C3-98D6-1156C4273A47}" type="slidenum">
              <a:rPr lang="en-CA" smtClean="0"/>
              <a:t>‹#›</a:t>
            </a:fld>
            <a:endParaRPr lang="en-CA"/>
          </a:p>
        </p:txBody>
      </p:sp>
    </p:spTree>
    <p:extLst>
      <p:ext uri="{BB962C8B-B14F-4D97-AF65-F5344CB8AC3E}">
        <p14:creationId xmlns:p14="http://schemas.microsoft.com/office/powerpoint/2010/main" val="4049315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10D114-22FE-A001-E4B3-7C55292065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AE9CB76-E8B4-A8CE-F2E1-826846C5FA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FF5AB81-D414-0C8A-26E0-EC31EEAA60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379A3-1FBB-4332-A32B-2EB79F62E865}" type="datetimeFigureOut">
              <a:rPr lang="en-CA" smtClean="0"/>
              <a:t>2026-02-02</a:t>
            </a:fld>
            <a:endParaRPr lang="en-CA"/>
          </a:p>
        </p:txBody>
      </p:sp>
      <p:sp>
        <p:nvSpPr>
          <p:cNvPr id="5" name="Footer Placeholder 4">
            <a:extLst>
              <a:ext uri="{FF2B5EF4-FFF2-40B4-BE49-F238E27FC236}">
                <a16:creationId xmlns:a16="http://schemas.microsoft.com/office/drawing/2014/main" id="{24AA566C-484A-262C-B239-C0934E4BCF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F4253F1F-DC1E-2D11-48BC-04A16D4205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815AC1-9C1A-47C3-98D6-1156C4273A47}" type="slidenum">
              <a:rPr lang="en-CA" smtClean="0"/>
              <a:t>‹#›</a:t>
            </a:fld>
            <a:endParaRPr lang="en-CA"/>
          </a:p>
        </p:txBody>
      </p:sp>
    </p:spTree>
    <p:extLst>
      <p:ext uri="{BB962C8B-B14F-4D97-AF65-F5344CB8AC3E}">
        <p14:creationId xmlns:p14="http://schemas.microsoft.com/office/powerpoint/2010/main" val="2879366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8C40-BFC6-1D2E-1352-5B23FF016CB0}"/>
              </a:ext>
            </a:extLst>
          </p:cNvPr>
          <p:cNvSpPr>
            <a:spLocks noGrp="1"/>
          </p:cNvSpPr>
          <p:nvPr>
            <p:ph type="ctrTitle"/>
          </p:nvPr>
        </p:nvSpPr>
        <p:spPr>
          <a:xfrm>
            <a:off x="749808" y="841249"/>
            <a:ext cx="10296144" cy="283464"/>
          </a:xfrm>
        </p:spPr>
        <p:txBody>
          <a:bodyPr>
            <a:noAutofit/>
          </a:bodyPr>
          <a:lstStyle/>
          <a:p>
            <a:pPr algn="l"/>
            <a:br>
              <a:rPr lang="en-US" sz="2800" dirty="0"/>
            </a:br>
            <a:endParaRPr lang="en-CA" sz="2800" dirty="0"/>
          </a:p>
        </p:txBody>
      </p:sp>
      <p:sp>
        <p:nvSpPr>
          <p:cNvPr id="3" name="Subtitle 2">
            <a:extLst>
              <a:ext uri="{FF2B5EF4-FFF2-40B4-BE49-F238E27FC236}">
                <a16:creationId xmlns:a16="http://schemas.microsoft.com/office/drawing/2014/main" id="{C2134163-CE3B-AED0-D75B-15A4AB438400}"/>
              </a:ext>
            </a:extLst>
          </p:cNvPr>
          <p:cNvSpPr>
            <a:spLocks noGrp="1"/>
          </p:cNvSpPr>
          <p:nvPr>
            <p:ph type="subTitle" idx="1"/>
          </p:nvPr>
        </p:nvSpPr>
        <p:spPr>
          <a:xfrm>
            <a:off x="429768" y="612648"/>
            <a:ext cx="11430000" cy="5724143"/>
          </a:xfrm>
        </p:spPr>
        <p:txBody>
          <a:bodyPr>
            <a:normAutofit/>
          </a:bodyPr>
          <a:lstStyle/>
          <a:p>
            <a:pPr algn="l"/>
            <a:r>
              <a:rPr lang="en-US" sz="3600" dirty="0"/>
              <a:t>Unit V:  Ethics and Responsibilities for Professional Practice (4 Hrs.) </a:t>
            </a:r>
            <a:br>
              <a:rPr lang="en-US" sz="3600" dirty="0"/>
            </a:br>
            <a:r>
              <a:rPr lang="en-US" sz="3600" dirty="0"/>
              <a:t>5.1 Professional ethics and responsibilities</a:t>
            </a:r>
            <a:br>
              <a:rPr lang="en-US" sz="3600" dirty="0"/>
            </a:br>
            <a:r>
              <a:rPr lang="en-US" sz="3600" dirty="0"/>
              <a:t>5.1.1 Professional roles and responsibility</a:t>
            </a:r>
            <a:br>
              <a:rPr lang="en-US" sz="3600" dirty="0"/>
            </a:br>
            <a:r>
              <a:rPr lang="en-US" sz="3600" dirty="0"/>
              <a:t>5.1.2 Conflict of interest</a:t>
            </a:r>
            <a:br>
              <a:rPr lang="en-US" sz="3600" dirty="0"/>
            </a:br>
            <a:r>
              <a:rPr lang="en-US" sz="3600" dirty="0"/>
              <a:t>5.1.3 Whistleblowing</a:t>
            </a:r>
            <a:br>
              <a:rPr lang="en-US" sz="3600" dirty="0"/>
            </a:br>
            <a:r>
              <a:rPr lang="en-US" sz="3600" dirty="0"/>
              <a:t>5.1.4 Corporate social responsibility </a:t>
            </a:r>
            <a:br>
              <a:rPr lang="en-US" sz="3600" dirty="0"/>
            </a:br>
            <a:r>
              <a:rPr lang="en-US" sz="3600" dirty="0"/>
              <a:t>5.2 Code of conduct-Nepal Engineering Council, IEEE and ACM</a:t>
            </a:r>
            <a:endParaRPr lang="en-CA" sz="3600" dirty="0"/>
          </a:p>
        </p:txBody>
      </p:sp>
    </p:spTree>
    <p:extLst>
      <p:ext uri="{BB962C8B-B14F-4D97-AF65-F5344CB8AC3E}">
        <p14:creationId xmlns:p14="http://schemas.microsoft.com/office/powerpoint/2010/main" val="606920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0617"/>
          </a:xfrm>
        </p:spPr>
        <p:txBody>
          <a:bodyPr>
            <a:normAutofit fontScale="90000"/>
          </a:bodyPr>
          <a:lstStyle/>
          <a:p>
            <a:endParaRPr lang="en-US" dirty="0"/>
          </a:p>
        </p:txBody>
      </p:sp>
      <p:sp>
        <p:nvSpPr>
          <p:cNvPr id="3" name="Content Placeholder 2"/>
          <p:cNvSpPr>
            <a:spLocks noGrp="1"/>
          </p:cNvSpPr>
          <p:nvPr>
            <p:ph idx="1"/>
          </p:nvPr>
        </p:nvSpPr>
        <p:spPr>
          <a:xfrm>
            <a:off x="838200" y="1209368"/>
            <a:ext cx="10515600" cy="4967595"/>
          </a:xfrm>
        </p:spPr>
        <p:txBody>
          <a:bodyPr>
            <a:normAutofit/>
          </a:bodyPr>
          <a:lstStyle/>
          <a:p>
            <a:r>
              <a:rPr lang="en-US" dirty="0"/>
              <a:t>Profession: according to Wikipedia, the free encyclopedia, a profession is an occupation, vocation or career where specialized knowledge of a subject, field or service is applied. A profession means practice or application of such knowledge and skill that are acquired through a systematic study or training for the betterment of the society or people in the form of services. </a:t>
            </a:r>
          </a:p>
          <a:p>
            <a:r>
              <a:rPr lang="en-US" dirty="0"/>
              <a:t>Here, it is clear that profession is a field of skill and knowledge which is practiced by a person who has acquired such skill and knowledge through systematic education or training and in modern days, professions are regulated through professional societies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A profession is based on the systematic study or training. Based on such acquired knowledge and skill a professional renders services to the society and people at the time of need. For example, four years of study is essential to become an Engineer. </a:t>
            </a:r>
          </a:p>
          <a:p>
            <a:r>
              <a:rPr lang="en-US" dirty="0"/>
              <a:t>Because of the special knowledge and skill, the professionals possess, they are provided with special rights and authority. For example, a surgeon is given to power to operate a patient. An engineer certifies the structure as safe for human habitation. </a:t>
            </a:r>
          </a:p>
          <a:p>
            <a:r>
              <a:rPr lang="en-US" dirty="0"/>
              <a:t>Professions are regulated by professional bodies through licensing, code of ethics and disciplinary actions. </a:t>
            </a:r>
          </a:p>
          <a:p>
            <a:r>
              <a:rPr lang="en-US" dirty="0"/>
              <a:t>Because of the different socialization process during their study period, the nature of the profession itself and the code of ethics developed by the concerned professional society, professionals do have their own professional culture.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7C553-9148-8CF1-8A89-C0B897D414DF}"/>
              </a:ext>
            </a:extLst>
          </p:cNvPr>
          <p:cNvSpPr>
            <a:spLocks noGrp="1"/>
          </p:cNvSpPr>
          <p:nvPr>
            <p:ph type="title"/>
          </p:nvPr>
        </p:nvSpPr>
        <p:spPr/>
        <p:txBody>
          <a:bodyPr/>
          <a:lstStyle/>
          <a:p>
            <a:r>
              <a:rPr lang="en-US" b="1" dirty="0"/>
              <a:t>Professional Ethics and Responsibilities</a:t>
            </a:r>
            <a:endParaRPr lang="en-CA" dirty="0"/>
          </a:p>
        </p:txBody>
      </p:sp>
      <p:sp>
        <p:nvSpPr>
          <p:cNvPr id="3" name="Content Placeholder 2">
            <a:extLst>
              <a:ext uri="{FF2B5EF4-FFF2-40B4-BE49-F238E27FC236}">
                <a16:creationId xmlns:a16="http://schemas.microsoft.com/office/drawing/2014/main" id="{C5446DF5-57FE-D81A-7344-6F7DC5CB7A52}"/>
              </a:ext>
            </a:extLst>
          </p:cNvPr>
          <p:cNvSpPr>
            <a:spLocks noGrp="1"/>
          </p:cNvSpPr>
          <p:nvPr>
            <p:ph idx="1"/>
          </p:nvPr>
        </p:nvSpPr>
        <p:spPr>
          <a:xfrm>
            <a:off x="442452" y="1825625"/>
            <a:ext cx="10911348" cy="4667250"/>
          </a:xfrm>
        </p:spPr>
        <p:txBody>
          <a:bodyPr>
            <a:normAutofit/>
          </a:bodyPr>
          <a:lstStyle/>
          <a:p>
            <a:r>
              <a:rPr lang="en-US" b="1" dirty="0"/>
              <a:t>Professional Ethics and Responsibilities</a:t>
            </a:r>
            <a:r>
              <a:rPr lang="en-US" dirty="0"/>
              <a:t> refer to the moral principles, values, and standards that guide individuals’ behavior and decision-making in their professional life. They ensure that professionals act with integrity, fairness, and respect for others while fulfilling their duties and maintaining public trust.</a:t>
            </a:r>
          </a:p>
          <a:p>
            <a:r>
              <a:rPr lang="en-US" b="1" dirty="0"/>
              <a:t>Professional Ethics</a:t>
            </a:r>
            <a:r>
              <a:rPr lang="en-US" dirty="0"/>
              <a:t>: A set of moral standards and codes of conduct that govern how professionals should behave in their work environment. Ethics in the Workplace is professional ethics. </a:t>
            </a:r>
            <a:br>
              <a:rPr lang="en-US" dirty="0"/>
            </a:br>
            <a:r>
              <a:rPr lang="en-US" b="1" dirty="0"/>
              <a:t>Professional Responsibilities</a:t>
            </a:r>
            <a:r>
              <a:rPr lang="en-US" dirty="0"/>
              <a:t>: The duties and obligations that a professional must uphold in the practice of their profession.</a:t>
            </a:r>
            <a:endParaRPr lang="en-CA" dirty="0"/>
          </a:p>
        </p:txBody>
      </p:sp>
    </p:spTree>
    <p:extLst>
      <p:ext uri="{BB962C8B-B14F-4D97-AF65-F5344CB8AC3E}">
        <p14:creationId xmlns:p14="http://schemas.microsoft.com/office/powerpoint/2010/main" val="379716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52630"/>
          </a:xfrm>
        </p:spPr>
        <p:txBody>
          <a:bodyPr>
            <a:normAutofit fontScale="90000"/>
          </a:bodyPr>
          <a:lstStyle/>
          <a:p>
            <a:endParaRPr lang="en-US" dirty="0"/>
          </a:p>
        </p:txBody>
      </p:sp>
      <p:sp>
        <p:nvSpPr>
          <p:cNvPr id="3" name="Content Placeholder 2"/>
          <p:cNvSpPr>
            <a:spLocks noGrp="1"/>
          </p:cNvSpPr>
          <p:nvPr>
            <p:ph idx="1"/>
          </p:nvPr>
        </p:nvSpPr>
        <p:spPr>
          <a:xfrm>
            <a:off x="914399" y="894735"/>
            <a:ext cx="10638503" cy="5658465"/>
          </a:xfrm>
        </p:spPr>
        <p:txBody>
          <a:bodyPr>
            <a:normAutofit/>
          </a:bodyPr>
          <a:lstStyle/>
          <a:p>
            <a:pPr>
              <a:buNone/>
            </a:pPr>
            <a:r>
              <a:rPr lang="en-US" dirty="0"/>
              <a:t> </a:t>
            </a:r>
          </a:p>
          <a:p>
            <a:r>
              <a:rPr lang="en-US" dirty="0"/>
              <a:t>Professional ethics are standards set by professional organizations for the behavior and values of people working within a specific field. Codes of professional ethics are established in order to provide guidance to professionals, usually to not abuse client relationships and preserve the integrity and reputation of the applicable profession. When a person violates one or more of these ethics, he or she is subject to disciplinary action by the governing body of the profession. A high level of loyalty to a code of professional ethics is needed so that the public will be confident in the moral standards of those working in the field. Codes of professional ethics are commonly applied to professionals in the fields of engineering, accounting, law, and medicine.</a:t>
            </a:r>
          </a:p>
          <a:p>
            <a:endParaRPr lang="en-US" dirty="0"/>
          </a:p>
        </p:txBody>
      </p:sp>
    </p:spTree>
    <p:extLst>
      <p:ext uri="{BB962C8B-B14F-4D97-AF65-F5344CB8AC3E}">
        <p14:creationId xmlns:p14="http://schemas.microsoft.com/office/powerpoint/2010/main" val="3475210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Ethics is the world derived from the Greek word ethos. It refers to a location or a space where people lived together. Ethics is the study of standards of right and wrong.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Ethics has relationships with the principles of the individual and the society and the actions or behavior of a person in the society. Therefore, it tries to address the problems related with the moral behavior of an individual as a member of a particular society. Ethics is concerned with the good or bad right or wrong, just or unjust and desirable or undesirable action or behavior of an individual in a particular society.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professional ethics</a:t>
            </a:r>
          </a:p>
        </p:txBody>
      </p:sp>
      <p:sp>
        <p:nvSpPr>
          <p:cNvPr id="3" name="Content Placeholder 2"/>
          <p:cNvSpPr>
            <a:spLocks noGrp="1"/>
          </p:cNvSpPr>
          <p:nvPr>
            <p:ph idx="1"/>
          </p:nvPr>
        </p:nvSpPr>
        <p:spPr>
          <a:xfrm>
            <a:off x="838200" y="1484671"/>
            <a:ext cx="10515600" cy="5008204"/>
          </a:xfrm>
        </p:spPr>
        <p:txBody>
          <a:bodyPr>
            <a:normAutofit/>
          </a:bodyPr>
          <a:lstStyle/>
          <a:p>
            <a:pPr lvl="0"/>
            <a:r>
              <a:rPr lang="en-US" dirty="0"/>
              <a:t>It helps in differentiating between right and wrong, good and bad and just and unjust ideas or actions. </a:t>
            </a:r>
          </a:p>
          <a:p>
            <a:pPr lvl="0"/>
            <a:r>
              <a:rPr lang="en-US" dirty="0"/>
              <a:t>It helps an individual in correcting the self behavior and hence help reducing or removing the wrong ideas and incorrect behaviors. </a:t>
            </a:r>
          </a:p>
          <a:p>
            <a:pPr lvl="0"/>
            <a:r>
              <a:rPr lang="en-US" dirty="0"/>
              <a:t>It helps member of the society in achieving higher moral standard and in maintaining high morale and integrity in day-to-day life. </a:t>
            </a:r>
          </a:p>
          <a:p>
            <a:r>
              <a:rPr lang="en-US" dirty="0"/>
              <a:t>Professional ethics are principles that govern the behavior of a person or group in a business environment. Like values, professional ethics provide rules on how a person should act towards other people and institutions in such an environment.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Importance of Ethics in the Workplace</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Why are ethics important in the workplace? There are two ways to answer this question. Good ethical practices are important because of the positive impact they have on employees. Good ethical practices are also important because of the risks and other negative effects that companies are able to avoid.</a:t>
            </a:r>
          </a:p>
          <a:p>
            <a:r>
              <a:rPr lang="en-US" dirty="0"/>
              <a:t>How do ethics positively affect employees? First and foremost, people are more likely to want to work at ethical companies. If companies have good reputations for acting ethically, people expect they will be treated with fairness, honesty, and overall integrity as employees. Furthermore, with a sense of mutual trust in place, employees are more likely to buy into company goals and to be more dependable and productive in achieving them.</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br>
              <a:rPr lang="en-US" b="1" dirty="0"/>
            </a:br>
            <a:r>
              <a:rPr lang="en-US" b="1" dirty="0"/>
              <a:t>Principles of Professional Ethics</a:t>
            </a:r>
            <a:br>
              <a:rPr lang="en-US" dirty="0"/>
            </a:br>
            <a:endParaRPr lang="en-US" dirty="0"/>
          </a:p>
        </p:txBody>
      </p:sp>
      <p:sp>
        <p:nvSpPr>
          <p:cNvPr id="3" name="Content Placeholder 2"/>
          <p:cNvSpPr>
            <a:spLocks noGrp="1"/>
          </p:cNvSpPr>
          <p:nvPr>
            <p:ph idx="1"/>
          </p:nvPr>
        </p:nvSpPr>
        <p:spPr>
          <a:xfrm>
            <a:off x="963561" y="1143001"/>
            <a:ext cx="10687665" cy="4983163"/>
          </a:xfrm>
        </p:spPr>
        <p:txBody>
          <a:bodyPr>
            <a:normAutofit/>
          </a:bodyPr>
          <a:lstStyle/>
          <a:p>
            <a:r>
              <a:rPr lang="en-US" dirty="0"/>
              <a:t>Policies around ethical behavior in the workplace often rotate around several key principles. Ethical companies are often described in the following ways.</a:t>
            </a:r>
          </a:p>
          <a:p>
            <a:r>
              <a:rPr lang="en-US" dirty="0"/>
              <a:t>Honest: Good work ethics are characterized by honesty in how companies communicate with employees and other stakeholders, and how they handle standard business practices.</a:t>
            </a:r>
          </a:p>
          <a:p>
            <a:r>
              <a:rPr lang="en-US" dirty="0"/>
              <a:t>Trustworthy: Honesty results in trust. Furthermore, if companies are consistent in doing what they say they are going to do, trust grows.</a:t>
            </a:r>
          </a:p>
          <a:p>
            <a:r>
              <a:rPr lang="en-US" dirty="0"/>
              <a:t>Loyal: Ethical companies defend ethical employees and vice versa. They do not participate in harm, and other disloyal and destructive behaviors.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0449"/>
          </a:xfrm>
        </p:spPr>
        <p:txBody>
          <a:bodyPr>
            <a:normAutofit fontScale="90000"/>
          </a:bodyPr>
          <a:lstStyle/>
          <a:p>
            <a:endParaRPr lang="en-US" dirty="0"/>
          </a:p>
        </p:txBody>
      </p:sp>
      <p:sp>
        <p:nvSpPr>
          <p:cNvPr id="3" name="Content Placeholder 2"/>
          <p:cNvSpPr>
            <a:spLocks noGrp="1"/>
          </p:cNvSpPr>
          <p:nvPr>
            <p:ph idx="1"/>
          </p:nvPr>
        </p:nvSpPr>
        <p:spPr>
          <a:xfrm>
            <a:off x="838200" y="993058"/>
            <a:ext cx="10515600" cy="5499817"/>
          </a:xfrm>
        </p:spPr>
        <p:txBody>
          <a:bodyPr>
            <a:normAutofit/>
          </a:bodyPr>
          <a:lstStyle/>
          <a:p>
            <a:endParaRPr lang="en-US" dirty="0"/>
          </a:p>
          <a:p>
            <a:r>
              <a:rPr lang="en-US" dirty="0"/>
              <a:t>Fair: Hiring practices and compensation systems treat people fairly based on their qualifications and performance. Discrimination due to race, gender, religion, and other demographics is strictly prohibited, as is nepotism, which is the favoring of friends and relatives over other candidates or co-workers.</a:t>
            </a:r>
          </a:p>
          <a:p>
            <a:r>
              <a:rPr lang="en-US" dirty="0"/>
              <a:t>Respectful: Basic courtesy and kindness are expected among ethical companies. They set protocols and an overall tone for communication and business dealings.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Code of ethics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Code of ethics is the moral guidelines and the standard developed by the professional society and is obeyed by the members of the society. Violation of such code of ethics is subjected to disciplinary action. </a:t>
            </a:r>
          </a:p>
          <a:p>
            <a:r>
              <a:rPr lang="en-US" dirty="0"/>
              <a:t>The code applicable in engineering is not a new one. Its history can be traced out form the Code of Conduct of </a:t>
            </a:r>
            <a:r>
              <a:rPr lang="en-US" dirty="0" err="1"/>
              <a:t>Hamurabi</a:t>
            </a:r>
            <a:r>
              <a:rPr lang="en-US" dirty="0"/>
              <a:t>, the King of Babylon 2200 BC. The code says : </a:t>
            </a:r>
          </a:p>
          <a:p>
            <a:pPr lvl="0"/>
            <a:r>
              <a:rPr lang="en-US" dirty="0"/>
              <a:t>The builder shall be put to death, if the house he builds collapses and cause death of the house owner.</a:t>
            </a:r>
          </a:p>
          <a:p>
            <a:pPr lvl="0"/>
            <a:r>
              <a:rPr lang="en-US" dirty="0"/>
              <a:t>The builder's son shall be put to death, if the house the builder built causes the death of the son of the house owner</a:t>
            </a:r>
          </a:p>
          <a:p>
            <a:pPr lvl="0"/>
            <a:r>
              <a:rPr lang="en-US" dirty="0"/>
              <a:t>The builder shall compensate the house owner with the slave of equal value, if the house the builder has built causes the death of a slave of the house owner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endParaRPr lang="en-US" dirty="0"/>
          </a:p>
        </p:txBody>
      </p:sp>
      <p:sp>
        <p:nvSpPr>
          <p:cNvPr id="3" name="Content Placeholder 2"/>
          <p:cNvSpPr>
            <a:spLocks noGrp="1"/>
          </p:cNvSpPr>
          <p:nvPr>
            <p:ph idx="1"/>
          </p:nvPr>
        </p:nvSpPr>
        <p:spPr>
          <a:xfrm>
            <a:off x="934065" y="990600"/>
            <a:ext cx="10923638" cy="5562600"/>
          </a:xfrm>
        </p:spPr>
        <p:txBody>
          <a:bodyPr>
            <a:normAutofit fontScale="92500" lnSpcReduction="20000"/>
          </a:bodyPr>
          <a:lstStyle/>
          <a:p>
            <a:pPr lvl="0"/>
            <a:r>
              <a:rPr lang="en-US" dirty="0"/>
              <a:t>The builder shall restore at his own expense, if the house the builder has built destroys the property of the house owner. </a:t>
            </a:r>
          </a:p>
          <a:p>
            <a:r>
              <a:rPr lang="en-US" dirty="0"/>
              <a:t>This code we confused on the builder because during that time the engineering was practiced by the builder itself. This code shows the importance given towards the building profession by the society of that time and reflects that undertaking builder's assignment was a very responsible task. </a:t>
            </a:r>
          </a:p>
          <a:p>
            <a:r>
              <a:rPr lang="en-US" dirty="0"/>
              <a:t>The 11</a:t>
            </a:r>
            <a:r>
              <a:rPr lang="en-US" baseline="30000" dirty="0"/>
              <a:t>th</a:t>
            </a:r>
            <a:r>
              <a:rPr lang="en-US" dirty="0"/>
              <a:t> meeting of Nepal Engineers Association, through it is not a professional society that regulates the engineering profession but the association of engineers in Nepal, has approved and adopted code of ethics for engineers that was prepared by the Ethics Committee under the chairmanship of </a:t>
            </a:r>
            <a:r>
              <a:rPr lang="en-US" dirty="0" err="1"/>
              <a:t>Mr</a:t>
            </a:r>
            <a:r>
              <a:rPr lang="en-US" dirty="0"/>
              <a:t> </a:t>
            </a:r>
            <a:r>
              <a:rPr lang="en-US" dirty="0" err="1"/>
              <a:t>Padam</a:t>
            </a:r>
            <a:r>
              <a:rPr lang="en-US" dirty="0"/>
              <a:t> </a:t>
            </a:r>
            <a:r>
              <a:rPr lang="en-US" dirty="0" err="1"/>
              <a:t>Lal</a:t>
            </a:r>
            <a:r>
              <a:rPr lang="en-US" dirty="0"/>
              <a:t> </a:t>
            </a:r>
            <a:r>
              <a:rPr lang="en-US" dirty="0" err="1"/>
              <a:t>Shrestha</a:t>
            </a:r>
            <a:r>
              <a:rPr lang="en-US" dirty="0"/>
              <a:t>. This code was the first code of ethics prepared for engineering discipline in Nepal, which covered the following aspects </a:t>
            </a:r>
          </a:p>
          <a:p>
            <a:pPr lvl="0"/>
            <a:r>
              <a:rPr lang="en-US" dirty="0"/>
              <a:t>Fundamental principles of professional engineering ethics </a:t>
            </a:r>
          </a:p>
          <a:p>
            <a:pPr lvl="0"/>
            <a:r>
              <a:rPr lang="en-US" dirty="0"/>
              <a:t>Relations with the public </a:t>
            </a:r>
          </a:p>
          <a:p>
            <a:pPr lvl="0"/>
            <a:r>
              <a:rPr lang="en-US" dirty="0"/>
              <a:t>Relations with employers and clients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dirty="0"/>
            </a:br>
            <a:r>
              <a:rPr lang="en-US" dirty="0"/>
              <a:t>Relations with engineers </a:t>
            </a:r>
            <a:br>
              <a:rPr lang="en-US" dirty="0"/>
            </a:br>
            <a:endParaRPr lang="en-US" dirty="0"/>
          </a:p>
        </p:txBody>
      </p:sp>
      <p:sp>
        <p:nvSpPr>
          <p:cNvPr id="3" name="Content Placeholder 2"/>
          <p:cNvSpPr>
            <a:spLocks noGrp="1"/>
          </p:cNvSpPr>
          <p:nvPr>
            <p:ph idx="1"/>
          </p:nvPr>
        </p:nvSpPr>
        <p:spPr/>
        <p:txBody>
          <a:bodyPr>
            <a:normAutofit/>
          </a:bodyPr>
          <a:lstStyle/>
          <a:p>
            <a:r>
              <a:rPr lang="en-US" dirty="0"/>
              <a:t>Code of ethics of Nepal Engineering Council</a:t>
            </a:r>
          </a:p>
          <a:p>
            <a:r>
              <a:rPr lang="en-US" dirty="0"/>
              <a:t>The NEC, which was established in 1999 as regulating body for engineering profession has developed the following code of ethics. </a:t>
            </a:r>
          </a:p>
          <a:p>
            <a:pPr lvl="0"/>
            <a:r>
              <a:rPr lang="en-US" dirty="0"/>
              <a:t>Discipline and honesty: engineering service or profession shall have to be conducted in disciplined manner with honesty, subject to not contrary to the professional dignity and well being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endParaRPr lang="en-US" dirty="0"/>
          </a:p>
        </p:txBody>
      </p:sp>
      <p:sp>
        <p:nvSpPr>
          <p:cNvPr id="3" name="Content Placeholder 2"/>
          <p:cNvSpPr>
            <a:spLocks noGrp="1"/>
          </p:cNvSpPr>
          <p:nvPr>
            <p:ph idx="1"/>
          </p:nvPr>
        </p:nvSpPr>
        <p:spPr>
          <a:xfrm>
            <a:off x="540774" y="685800"/>
            <a:ext cx="11493910" cy="6172200"/>
          </a:xfrm>
        </p:spPr>
        <p:txBody>
          <a:bodyPr>
            <a:normAutofit/>
          </a:bodyPr>
          <a:lstStyle/>
          <a:p>
            <a:pPr lvl="0"/>
            <a:r>
              <a:rPr lang="en-US" dirty="0"/>
              <a:t>Politeness and secrecy: in connection with the profession, polite dealing shall be made with the customers concerned with the engineering services, and professional information relating to the customers shall not be given to others except with the consent of the customers.</a:t>
            </a:r>
          </a:p>
          <a:p>
            <a:pPr lvl="0"/>
            <a:r>
              <a:rPr lang="en-US" dirty="0"/>
              <a:t>Non discrimination: no discrimination shall be made among customers on the ground of religion, race, sex, caste or any other things in the course of applying professional knowledge and skills. </a:t>
            </a:r>
          </a:p>
          <a:p>
            <a:endParaRPr lang="en-US" dirty="0"/>
          </a:p>
          <a:p>
            <a:endParaRPr lang="en-US" dirty="0"/>
          </a:p>
          <a:p>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a:t>Not to do such works, which may cause harm to engineering profession:  except the salary, allowance and facilities to be received for the services provided, one shall not be obtained improper financial benefit of any kind of conduct, improper activities of any kind, which would cause harm to engineering profession.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r>
              <a:rPr lang="en-US" dirty="0"/>
              <a:t>Personal responsibility: one shall be personally responsible for all works performed by him in connection with the engineering profession. </a:t>
            </a:r>
          </a:p>
          <a:p>
            <a:pPr lvl="0"/>
            <a:r>
              <a:rPr lang="en-US" dirty="0"/>
              <a:t>State name, designation and registration no: while doing signature on the documents or descriptions like design map, specification and estimate, etc, relating to engineering profession to be done, the name, designation and registration no should be stated clearly in understandable manner. </a:t>
            </a:r>
          </a:p>
          <a:p>
            <a:pPr lvl="0"/>
            <a:r>
              <a:rPr lang="en-US" dirty="0"/>
              <a:t>No publicity or advertisement shall be made which may cause unnecessary effect: in connection with the professional activities to be done, no publicity or advertisement shall be made so as to cause unnecessary effect upon the customers. </a:t>
            </a:r>
          </a:p>
          <a:p>
            <a:endParaRPr lang="en-US" dirty="0"/>
          </a:p>
          <a:p>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800" dirty="0"/>
            </a:br>
            <a:r>
              <a:rPr lang="en-US" sz="2800" dirty="0"/>
              <a:t>Examples of unprofessional behavior of an engineer</a:t>
            </a:r>
            <a:br>
              <a:rPr lang="en-US" sz="2800" dirty="0"/>
            </a:br>
            <a:endParaRPr lang="en-US" sz="2800" dirty="0"/>
          </a:p>
        </p:txBody>
      </p:sp>
      <p:sp>
        <p:nvSpPr>
          <p:cNvPr id="3" name="Content Placeholder 2"/>
          <p:cNvSpPr>
            <a:spLocks noGrp="1"/>
          </p:cNvSpPr>
          <p:nvPr>
            <p:ph idx="1"/>
          </p:nvPr>
        </p:nvSpPr>
        <p:spPr/>
        <p:txBody>
          <a:bodyPr>
            <a:normAutofit/>
          </a:bodyPr>
          <a:lstStyle/>
          <a:p>
            <a:pPr lvl="0"/>
            <a:r>
              <a:rPr lang="en-US" dirty="0"/>
              <a:t>Time related: late arrival in meetings, office, duty, sites, station. Late submission of reports, missing deadlines etc </a:t>
            </a:r>
          </a:p>
          <a:p>
            <a:pPr lvl="0"/>
            <a:r>
              <a:rPr lang="en-US" dirty="0"/>
              <a:t>Quality related: failing to monitor quality of works performed. Failing to detect errors in drawings and designs. </a:t>
            </a:r>
          </a:p>
          <a:p>
            <a:pPr lvl="0"/>
            <a:r>
              <a:rPr lang="en-US" dirty="0"/>
              <a:t>Meeting: talking on phone during meeting, loud ring tones of mobile phones, talking with others during meeting, late arrival. Taking frequent breaks. </a:t>
            </a:r>
          </a:p>
          <a:p>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a:t>Personal integrity: Accepting extra offer form client and contractors. Disclosing client's confidential information. Inconsistency in saying and doing. Making judgment based on partial knowledge. </a:t>
            </a:r>
          </a:p>
          <a:p>
            <a:pPr lvl="0"/>
            <a:r>
              <a:rPr lang="en-US" dirty="0"/>
              <a:t>Personal manner: shouting at subordinates or workers. Inappropriate dress up, attention grabbing hair style or jewelry. Disrespect to others. </a:t>
            </a:r>
          </a:p>
          <a:p>
            <a:pPr lvl="0"/>
            <a:r>
              <a:rPr lang="en-US" dirty="0"/>
              <a:t>Criminal offense: fraud documents, false data, misuse of authority, use of official property for personal purpose etc. </a:t>
            </a:r>
          </a:p>
          <a:p>
            <a:pPr lvl="0"/>
            <a:r>
              <a:rPr lang="en-US" dirty="0"/>
              <a:t>Code of conduct: forgetting to sign on documents etc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358DE-7CB9-7617-2BC1-BF96A3EBFA5A}"/>
              </a:ext>
            </a:extLst>
          </p:cNvPr>
          <p:cNvSpPr>
            <a:spLocks noGrp="1"/>
          </p:cNvSpPr>
          <p:nvPr>
            <p:ph type="title"/>
          </p:nvPr>
        </p:nvSpPr>
        <p:spPr/>
        <p:txBody>
          <a:bodyPr/>
          <a:lstStyle/>
          <a:p>
            <a:r>
              <a:rPr lang="en-US" b="1" dirty="0"/>
              <a:t>Core Principles of Professional Ethics</a:t>
            </a:r>
            <a:br>
              <a:rPr lang="en-US" b="1" dirty="0"/>
            </a:br>
            <a:endParaRPr lang="en-CA" dirty="0"/>
          </a:p>
        </p:txBody>
      </p:sp>
      <p:sp>
        <p:nvSpPr>
          <p:cNvPr id="3" name="Content Placeholder 2">
            <a:extLst>
              <a:ext uri="{FF2B5EF4-FFF2-40B4-BE49-F238E27FC236}">
                <a16:creationId xmlns:a16="http://schemas.microsoft.com/office/drawing/2014/main" id="{48F3BF59-BBF2-0F66-FB23-4EBBAFFE5F94}"/>
              </a:ext>
            </a:extLst>
          </p:cNvPr>
          <p:cNvSpPr>
            <a:spLocks noGrp="1"/>
          </p:cNvSpPr>
          <p:nvPr>
            <p:ph idx="1"/>
          </p:nvPr>
        </p:nvSpPr>
        <p:spPr>
          <a:xfrm>
            <a:off x="648929" y="1130710"/>
            <a:ext cx="10704871" cy="5362165"/>
          </a:xfrm>
        </p:spPr>
        <p:txBody>
          <a:bodyPr>
            <a:normAutofit fontScale="92500"/>
          </a:bodyPr>
          <a:lstStyle/>
          <a:p>
            <a:r>
              <a:rPr lang="en-US" b="1" dirty="0"/>
              <a:t>Integrity</a:t>
            </a:r>
            <a:r>
              <a:rPr lang="en-US" dirty="0"/>
              <a:t> – Acting honestly and upholding moral values.</a:t>
            </a:r>
          </a:p>
          <a:p>
            <a:r>
              <a:rPr lang="en-US" b="1" dirty="0"/>
              <a:t>Objectivity</a:t>
            </a:r>
            <a:r>
              <a:rPr lang="en-US" dirty="0"/>
              <a:t> – Making decisions based on facts, not bias or personal interest.</a:t>
            </a:r>
          </a:p>
          <a:p>
            <a:r>
              <a:rPr lang="en-US" b="1" dirty="0"/>
              <a:t>Confidentiality</a:t>
            </a:r>
            <a:r>
              <a:rPr lang="en-US" dirty="0"/>
              <a:t> – Protecting private or sensitive information.</a:t>
            </a:r>
          </a:p>
          <a:p>
            <a:r>
              <a:rPr lang="en-US" b="1" dirty="0"/>
              <a:t>Competence</a:t>
            </a:r>
            <a:r>
              <a:rPr lang="en-US" dirty="0"/>
              <a:t> – Maintaining and improving one’s professional knowledge and skills.</a:t>
            </a:r>
          </a:p>
          <a:p>
            <a:r>
              <a:rPr lang="en-US" b="1" dirty="0"/>
              <a:t>Accountability</a:t>
            </a:r>
            <a:r>
              <a:rPr lang="en-US" dirty="0"/>
              <a:t> – Taking responsibility for one’s actions and their outcomes.</a:t>
            </a:r>
          </a:p>
          <a:p>
            <a:r>
              <a:rPr lang="en-US" b="1" dirty="0"/>
              <a:t>Respect</a:t>
            </a:r>
            <a:r>
              <a:rPr lang="en-US" dirty="0"/>
              <a:t> – Treating colleagues, clients, and the public with dignity and fairness.</a:t>
            </a:r>
          </a:p>
          <a:p>
            <a:r>
              <a:rPr lang="en-US" b="1" dirty="0"/>
              <a:t>Loyalty</a:t>
            </a:r>
            <a:r>
              <a:rPr lang="en-US" dirty="0"/>
              <a:t> – Being faithful to professional duties and avoiding conflicts of interest.</a:t>
            </a:r>
          </a:p>
          <a:p>
            <a:r>
              <a:rPr lang="en-US" b="1" dirty="0"/>
              <a:t>Public Interest</a:t>
            </a:r>
            <a:r>
              <a:rPr lang="en-US" dirty="0"/>
              <a:t> – Acting in ways that benefit society and not just oneself.</a:t>
            </a:r>
          </a:p>
          <a:p>
            <a:endParaRPr lang="en-CA" dirty="0"/>
          </a:p>
        </p:txBody>
      </p:sp>
    </p:spTree>
    <p:extLst>
      <p:ext uri="{BB962C8B-B14F-4D97-AF65-F5344CB8AC3E}">
        <p14:creationId xmlns:p14="http://schemas.microsoft.com/office/powerpoint/2010/main" val="3386870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9722B-E1D5-A1A3-7479-A29345CF276E}"/>
              </a:ext>
            </a:extLst>
          </p:cNvPr>
          <p:cNvSpPr>
            <a:spLocks noGrp="1"/>
          </p:cNvSpPr>
          <p:nvPr>
            <p:ph type="title"/>
          </p:nvPr>
        </p:nvSpPr>
        <p:spPr/>
        <p:txBody>
          <a:bodyPr/>
          <a:lstStyle/>
          <a:p>
            <a:r>
              <a:rPr lang="en-US" b="1" dirty="0"/>
              <a:t>Examples of Professional Responsibilities</a:t>
            </a:r>
            <a:br>
              <a:rPr lang="en-US" b="1" dirty="0"/>
            </a:br>
            <a:endParaRPr lang="en-CA" dirty="0"/>
          </a:p>
        </p:txBody>
      </p:sp>
      <p:sp>
        <p:nvSpPr>
          <p:cNvPr id="3" name="Content Placeholder 2">
            <a:extLst>
              <a:ext uri="{FF2B5EF4-FFF2-40B4-BE49-F238E27FC236}">
                <a16:creationId xmlns:a16="http://schemas.microsoft.com/office/drawing/2014/main" id="{399467D0-C9B4-C627-6C30-5E50B0B5FDD5}"/>
              </a:ext>
            </a:extLst>
          </p:cNvPr>
          <p:cNvSpPr>
            <a:spLocks noGrp="1"/>
          </p:cNvSpPr>
          <p:nvPr>
            <p:ph idx="1"/>
          </p:nvPr>
        </p:nvSpPr>
        <p:spPr/>
        <p:txBody>
          <a:bodyPr>
            <a:normAutofit/>
          </a:bodyPr>
          <a:lstStyle/>
          <a:p>
            <a:r>
              <a:rPr lang="en-US" b="1" dirty="0"/>
              <a:t>For Engineers:</a:t>
            </a:r>
            <a:r>
              <a:rPr lang="en-US" dirty="0"/>
              <a:t> Ensuring safety, sustainability, and ethical design practices.</a:t>
            </a:r>
          </a:p>
          <a:p>
            <a:r>
              <a:rPr lang="en-US" b="1" dirty="0"/>
              <a:t>For Doctors:</a:t>
            </a:r>
            <a:r>
              <a:rPr lang="en-US" dirty="0"/>
              <a:t> Upholding patient confidentiality and providing care without discrimination.</a:t>
            </a:r>
          </a:p>
          <a:p>
            <a:r>
              <a:rPr lang="en-US" b="1" dirty="0"/>
              <a:t>For Teachers:</a:t>
            </a:r>
            <a:r>
              <a:rPr lang="en-US" dirty="0"/>
              <a:t> Promoting fairness, integrity, and respect in education.</a:t>
            </a:r>
          </a:p>
          <a:p>
            <a:r>
              <a:rPr lang="en-US" b="1" dirty="0"/>
              <a:t>For Accountants:</a:t>
            </a:r>
            <a:r>
              <a:rPr lang="en-US" dirty="0"/>
              <a:t> Reporting financial information accurately and transparently.</a:t>
            </a:r>
          </a:p>
          <a:p>
            <a:r>
              <a:rPr lang="en-US" b="1" dirty="0"/>
              <a:t>For Lawyers:</a:t>
            </a:r>
            <a:r>
              <a:rPr lang="en-US" dirty="0"/>
              <a:t> Acting in the best interest of clients while respecting the law.</a:t>
            </a:r>
          </a:p>
          <a:p>
            <a:endParaRPr lang="en-CA" dirty="0"/>
          </a:p>
        </p:txBody>
      </p:sp>
    </p:spTree>
    <p:extLst>
      <p:ext uri="{BB962C8B-B14F-4D97-AF65-F5344CB8AC3E}">
        <p14:creationId xmlns:p14="http://schemas.microsoft.com/office/powerpoint/2010/main" val="3986932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EEF6F-0A80-B540-8F8F-FFE98B47D112}"/>
              </a:ext>
            </a:extLst>
          </p:cNvPr>
          <p:cNvSpPr>
            <a:spLocks noGrp="1"/>
          </p:cNvSpPr>
          <p:nvPr>
            <p:ph type="title"/>
          </p:nvPr>
        </p:nvSpPr>
        <p:spPr>
          <a:xfrm>
            <a:off x="838200" y="365126"/>
            <a:ext cx="10515600" cy="45095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DF6B39A-1A91-421E-7CBE-66B3B108E9AA}"/>
              </a:ext>
            </a:extLst>
          </p:cNvPr>
          <p:cNvSpPr>
            <a:spLocks noGrp="1"/>
          </p:cNvSpPr>
          <p:nvPr>
            <p:ph idx="1"/>
          </p:nvPr>
        </p:nvSpPr>
        <p:spPr>
          <a:xfrm>
            <a:off x="838200" y="1278194"/>
            <a:ext cx="10515600" cy="4898769"/>
          </a:xfrm>
        </p:spPr>
        <p:txBody>
          <a:bodyPr/>
          <a:lstStyle/>
          <a:p>
            <a:r>
              <a:rPr lang="en-US" b="1" dirty="0"/>
              <a:t>Consequences of Unethical Behavior</a:t>
            </a:r>
          </a:p>
          <a:p>
            <a:r>
              <a:rPr lang="en-US" dirty="0"/>
              <a:t>Loss of professional license or job.</a:t>
            </a:r>
          </a:p>
          <a:p>
            <a:r>
              <a:rPr lang="en-US" dirty="0"/>
              <a:t>Legal penalties or fines.</a:t>
            </a:r>
          </a:p>
          <a:p>
            <a:r>
              <a:rPr lang="en-US" dirty="0"/>
              <a:t>Damage to personal and organizational reputation.</a:t>
            </a:r>
          </a:p>
          <a:p>
            <a:r>
              <a:rPr lang="en-US" dirty="0"/>
              <a:t>Loss of public trust and credibility.</a:t>
            </a:r>
          </a:p>
          <a:p>
            <a:endParaRPr lang="en-CA" dirty="0"/>
          </a:p>
        </p:txBody>
      </p:sp>
    </p:spTree>
    <p:extLst>
      <p:ext uri="{BB962C8B-B14F-4D97-AF65-F5344CB8AC3E}">
        <p14:creationId xmlns:p14="http://schemas.microsoft.com/office/powerpoint/2010/main" val="267718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36E13-6882-3439-DDD7-4BBC13FE8E6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8AAF4DF-4C08-0B3D-6742-FA41C4BC6519}"/>
              </a:ext>
            </a:extLst>
          </p:cNvPr>
          <p:cNvSpPr>
            <a:spLocks noGrp="1"/>
          </p:cNvSpPr>
          <p:nvPr>
            <p:ph idx="1"/>
          </p:nvPr>
        </p:nvSpPr>
        <p:spPr/>
        <p:txBody>
          <a:bodyPr/>
          <a:lstStyle/>
          <a:p>
            <a:r>
              <a:rPr lang="en-US" b="1" dirty="0"/>
              <a:t>Example of Professional Codes of Ethics</a:t>
            </a:r>
          </a:p>
          <a:p>
            <a:r>
              <a:rPr lang="en-US" b="1" dirty="0"/>
              <a:t>IEEE Code of Ethics</a:t>
            </a:r>
            <a:r>
              <a:rPr lang="en-US" dirty="0"/>
              <a:t> (for engineers)</a:t>
            </a:r>
          </a:p>
          <a:p>
            <a:r>
              <a:rPr lang="en-US" b="1" dirty="0"/>
              <a:t>AMA Code of Medical Ethics</a:t>
            </a:r>
            <a:r>
              <a:rPr lang="en-US" dirty="0"/>
              <a:t> (for doctors)</a:t>
            </a:r>
          </a:p>
          <a:p>
            <a:r>
              <a:rPr lang="en-US" b="1" dirty="0"/>
              <a:t>ICAI Code of Conduct</a:t>
            </a:r>
            <a:r>
              <a:rPr lang="en-US" dirty="0"/>
              <a:t> (for accountants)</a:t>
            </a:r>
          </a:p>
          <a:p>
            <a:r>
              <a:rPr lang="en-US" b="1" dirty="0"/>
              <a:t>UNESCO Teacher’s Code of Ethics</a:t>
            </a:r>
            <a:r>
              <a:rPr lang="en-US" dirty="0"/>
              <a:t> (for educators)</a:t>
            </a:r>
          </a:p>
          <a:p>
            <a:endParaRPr lang="en-CA" dirty="0"/>
          </a:p>
        </p:txBody>
      </p:sp>
    </p:spTree>
    <p:extLst>
      <p:ext uri="{BB962C8B-B14F-4D97-AF65-F5344CB8AC3E}">
        <p14:creationId xmlns:p14="http://schemas.microsoft.com/office/powerpoint/2010/main" val="410248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78A0-0AFF-787E-DB6D-725DE6E7F8DA}"/>
              </a:ext>
            </a:extLst>
          </p:cNvPr>
          <p:cNvSpPr>
            <a:spLocks noGrp="1"/>
          </p:cNvSpPr>
          <p:nvPr>
            <p:ph type="title"/>
          </p:nvPr>
        </p:nvSpPr>
        <p:spPr/>
        <p:txBody>
          <a:bodyPr/>
          <a:lstStyle/>
          <a:p>
            <a:r>
              <a:rPr lang="en-US" b="1" dirty="0"/>
              <a:t>Professional Roles and Responsibilities</a:t>
            </a:r>
            <a:endParaRPr lang="en-CA" dirty="0"/>
          </a:p>
        </p:txBody>
      </p:sp>
      <p:sp>
        <p:nvSpPr>
          <p:cNvPr id="3" name="Content Placeholder 2">
            <a:extLst>
              <a:ext uri="{FF2B5EF4-FFF2-40B4-BE49-F238E27FC236}">
                <a16:creationId xmlns:a16="http://schemas.microsoft.com/office/drawing/2014/main" id="{49C4718A-E3CF-76F2-3534-8CAC8BB44194}"/>
              </a:ext>
            </a:extLst>
          </p:cNvPr>
          <p:cNvSpPr>
            <a:spLocks noGrp="1"/>
          </p:cNvSpPr>
          <p:nvPr>
            <p:ph idx="1"/>
          </p:nvPr>
        </p:nvSpPr>
        <p:spPr/>
        <p:txBody>
          <a:bodyPr/>
          <a:lstStyle/>
          <a:p>
            <a:r>
              <a:rPr lang="en-US" b="1" dirty="0"/>
              <a:t>Professional Roles and Responsibilities</a:t>
            </a:r>
            <a:r>
              <a:rPr lang="en-US" dirty="0"/>
              <a:t> refer to the specific duties, functions, and ethical obligations that individuals are expected to perform in their professional positions. They define </a:t>
            </a:r>
            <a:r>
              <a:rPr lang="en-US" i="1" dirty="0"/>
              <a:t>what</a:t>
            </a:r>
            <a:r>
              <a:rPr lang="en-US" dirty="0"/>
              <a:t> a professional does and </a:t>
            </a:r>
            <a:r>
              <a:rPr lang="en-US" i="1" dirty="0"/>
              <a:t>how</a:t>
            </a:r>
            <a:r>
              <a:rPr lang="en-US" dirty="0"/>
              <a:t> they are expected to conduct themselves while fulfilling their duties.</a:t>
            </a:r>
            <a:endParaRPr lang="en-CA" dirty="0"/>
          </a:p>
        </p:txBody>
      </p:sp>
    </p:spTree>
    <p:extLst>
      <p:ext uri="{BB962C8B-B14F-4D97-AF65-F5344CB8AC3E}">
        <p14:creationId xmlns:p14="http://schemas.microsoft.com/office/powerpoint/2010/main" val="2853634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41A92-9E97-E23B-467B-2FCEA56BD36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B627595-2B7F-40F9-0575-66CB364B2E1F}"/>
              </a:ext>
            </a:extLst>
          </p:cNvPr>
          <p:cNvSpPr>
            <a:spLocks noGrp="1"/>
          </p:cNvSpPr>
          <p:nvPr>
            <p:ph idx="1"/>
          </p:nvPr>
        </p:nvSpPr>
        <p:spPr/>
        <p:txBody>
          <a:bodyPr/>
          <a:lstStyle/>
          <a:p>
            <a:r>
              <a:rPr lang="en-US" dirty="0"/>
              <a:t>Professional Roles: The specific positions or functions that a person performs within their field, based on their qualifications, expertise, and job description.</a:t>
            </a:r>
          </a:p>
          <a:p>
            <a:r>
              <a:rPr lang="en-US" dirty="0"/>
              <a:t> Example: A teacher’s role is to educate and mentor students; an engineer’s role is to design safe and effective systems.</a:t>
            </a:r>
          </a:p>
          <a:p>
            <a:r>
              <a:rPr lang="en-US" dirty="0"/>
              <a:t>Professional Responsibilities: The duties and obligations that a professional must uphold in the practice of their profession.</a:t>
            </a:r>
            <a:endParaRPr lang="en-CA" dirty="0"/>
          </a:p>
        </p:txBody>
      </p:sp>
    </p:spTree>
    <p:extLst>
      <p:ext uri="{BB962C8B-B14F-4D97-AF65-F5344CB8AC3E}">
        <p14:creationId xmlns:p14="http://schemas.microsoft.com/office/powerpoint/2010/main" val="2257796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A1E0-0D5F-265F-FC4B-1A0B8D89B579}"/>
              </a:ext>
            </a:extLst>
          </p:cNvPr>
          <p:cNvSpPr>
            <a:spLocks noGrp="1"/>
          </p:cNvSpPr>
          <p:nvPr>
            <p:ph type="title"/>
          </p:nvPr>
        </p:nvSpPr>
        <p:spPr/>
        <p:txBody>
          <a:bodyPr>
            <a:normAutofit fontScale="90000"/>
          </a:bodyPr>
          <a:lstStyle/>
          <a:p>
            <a:r>
              <a:rPr lang="en-US" b="1" dirty="0"/>
              <a:t>Importance of Defining Roles and Responsibilities</a:t>
            </a:r>
            <a:br>
              <a:rPr lang="en-US" b="1" dirty="0"/>
            </a:br>
            <a:endParaRPr lang="en-CA" dirty="0"/>
          </a:p>
        </p:txBody>
      </p:sp>
      <p:sp>
        <p:nvSpPr>
          <p:cNvPr id="3" name="Content Placeholder 2">
            <a:extLst>
              <a:ext uri="{FF2B5EF4-FFF2-40B4-BE49-F238E27FC236}">
                <a16:creationId xmlns:a16="http://schemas.microsoft.com/office/drawing/2014/main" id="{93C74B1D-C1F0-F8CB-65D3-476029F76C70}"/>
              </a:ext>
            </a:extLst>
          </p:cNvPr>
          <p:cNvSpPr>
            <a:spLocks noGrp="1"/>
          </p:cNvSpPr>
          <p:nvPr>
            <p:ph idx="1"/>
          </p:nvPr>
        </p:nvSpPr>
        <p:spPr>
          <a:xfrm>
            <a:off x="838200" y="1386348"/>
            <a:ext cx="10515600" cy="4790615"/>
          </a:xfrm>
        </p:spPr>
        <p:txBody>
          <a:bodyPr/>
          <a:lstStyle/>
          <a:p>
            <a:r>
              <a:rPr lang="en-US" dirty="0"/>
              <a:t>Promotes </a:t>
            </a:r>
            <a:r>
              <a:rPr lang="en-US" b="1" dirty="0"/>
              <a:t>clarity</a:t>
            </a:r>
            <a:r>
              <a:rPr lang="en-US" dirty="0"/>
              <a:t> and </a:t>
            </a:r>
            <a:r>
              <a:rPr lang="en-US" b="1" dirty="0"/>
              <a:t>efficiency</a:t>
            </a:r>
            <a:r>
              <a:rPr lang="en-US" dirty="0"/>
              <a:t> in work.</a:t>
            </a:r>
          </a:p>
          <a:p>
            <a:r>
              <a:rPr lang="en-US" dirty="0"/>
              <a:t>Ensures </a:t>
            </a:r>
            <a:r>
              <a:rPr lang="en-US" b="1" dirty="0"/>
              <a:t>accountability</a:t>
            </a:r>
            <a:r>
              <a:rPr lang="en-US" dirty="0"/>
              <a:t> and </a:t>
            </a:r>
            <a:r>
              <a:rPr lang="en-US" b="1" dirty="0"/>
              <a:t>transparency</a:t>
            </a:r>
            <a:r>
              <a:rPr lang="en-US" dirty="0"/>
              <a:t>.</a:t>
            </a:r>
          </a:p>
          <a:p>
            <a:r>
              <a:rPr lang="en-US" dirty="0"/>
              <a:t>Helps maintain </a:t>
            </a:r>
            <a:r>
              <a:rPr lang="en-US" b="1" dirty="0"/>
              <a:t>ethical standards</a:t>
            </a:r>
            <a:r>
              <a:rPr lang="en-US" dirty="0"/>
              <a:t> and </a:t>
            </a:r>
            <a:r>
              <a:rPr lang="en-US" b="1" dirty="0"/>
              <a:t>public trust</a:t>
            </a:r>
            <a:r>
              <a:rPr lang="en-US" dirty="0"/>
              <a:t>.</a:t>
            </a:r>
          </a:p>
          <a:p>
            <a:r>
              <a:rPr lang="en-US" dirty="0"/>
              <a:t>Reduces </a:t>
            </a:r>
            <a:r>
              <a:rPr lang="en-US" b="1" dirty="0"/>
              <a:t>conflict</a:t>
            </a:r>
            <a:r>
              <a:rPr lang="en-US" dirty="0"/>
              <a:t> and </a:t>
            </a:r>
            <a:r>
              <a:rPr lang="en-US" b="1" dirty="0"/>
              <a:t>role confusion</a:t>
            </a:r>
            <a:r>
              <a:rPr lang="en-US" dirty="0"/>
              <a:t> in the workplace.</a:t>
            </a:r>
          </a:p>
          <a:p>
            <a:r>
              <a:rPr lang="en-US" dirty="0"/>
              <a:t>Encourages </a:t>
            </a:r>
            <a:r>
              <a:rPr lang="en-US" b="1" dirty="0"/>
              <a:t>professional growth</a:t>
            </a:r>
            <a:r>
              <a:rPr lang="en-US" dirty="0"/>
              <a:t> and </a:t>
            </a:r>
            <a:r>
              <a:rPr lang="en-US" b="1" dirty="0"/>
              <a:t>discipline</a:t>
            </a:r>
            <a:r>
              <a:rPr lang="en-US" dirty="0"/>
              <a:t>.</a:t>
            </a:r>
          </a:p>
          <a:p>
            <a:endParaRPr lang="en-CA" dirty="0"/>
          </a:p>
        </p:txBody>
      </p:sp>
    </p:spTree>
    <p:extLst>
      <p:ext uri="{BB962C8B-B14F-4D97-AF65-F5344CB8AC3E}">
        <p14:creationId xmlns:p14="http://schemas.microsoft.com/office/powerpoint/2010/main" val="3182039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54656-4D92-C7B2-AEDD-B18A9B6EFF85}"/>
              </a:ext>
            </a:extLst>
          </p:cNvPr>
          <p:cNvSpPr>
            <a:spLocks noGrp="1"/>
          </p:cNvSpPr>
          <p:nvPr>
            <p:ph type="title"/>
          </p:nvPr>
        </p:nvSpPr>
        <p:spPr/>
        <p:txBody>
          <a:bodyPr/>
          <a:lstStyle/>
          <a:p>
            <a:r>
              <a:rPr lang="en-US" altLang="en-US" b="1" dirty="0">
                <a:latin typeface="Arial" panose="020B0604020202020204" pitchFamily="34" charset="0"/>
              </a:rPr>
              <a:t>Examples by Profession</a:t>
            </a:r>
            <a:br>
              <a:rPr lang="en-US" altLang="en-US" b="1" dirty="0">
                <a:latin typeface="Arial" panose="020B0604020202020204" pitchFamily="34" charset="0"/>
              </a:rPr>
            </a:br>
            <a:endParaRPr lang="en-CA" dirty="0"/>
          </a:p>
        </p:txBody>
      </p:sp>
      <p:graphicFrame>
        <p:nvGraphicFramePr>
          <p:cNvPr id="4" name="Content Placeholder 3">
            <a:extLst>
              <a:ext uri="{FF2B5EF4-FFF2-40B4-BE49-F238E27FC236}">
                <a16:creationId xmlns:a16="http://schemas.microsoft.com/office/drawing/2014/main" id="{92683870-1C80-D86E-7A21-A91EEF342E6D}"/>
              </a:ext>
            </a:extLst>
          </p:cNvPr>
          <p:cNvGraphicFramePr>
            <a:graphicFrameLocks noGrp="1"/>
          </p:cNvGraphicFramePr>
          <p:nvPr>
            <p:ph idx="1"/>
            <p:extLst>
              <p:ext uri="{D42A27DB-BD31-4B8C-83A1-F6EECF244321}">
                <p14:modId xmlns:p14="http://schemas.microsoft.com/office/powerpoint/2010/main" val="2161730346"/>
              </p:ext>
            </p:extLst>
          </p:nvPr>
        </p:nvGraphicFramePr>
        <p:xfrm>
          <a:off x="619432" y="1199535"/>
          <a:ext cx="10734369" cy="4584840"/>
        </p:xfrm>
        <a:graphic>
          <a:graphicData uri="http://schemas.openxmlformats.org/drawingml/2006/table">
            <a:tbl>
              <a:tblPr/>
              <a:tblGrid>
                <a:gridCol w="3578123">
                  <a:extLst>
                    <a:ext uri="{9D8B030D-6E8A-4147-A177-3AD203B41FA5}">
                      <a16:colId xmlns:a16="http://schemas.microsoft.com/office/drawing/2014/main" val="2354574785"/>
                    </a:ext>
                  </a:extLst>
                </a:gridCol>
                <a:gridCol w="3578123">
                  <a:extLst>
                    <a:ext uri="{9D8B030D-6E8A-4147-A177-3AD203B41FA5}">
                      <a16:colId xmlns:a16="http://schemas.microsoft.com/office/drawing/2014/main" val="1972682821"/>
                    </a:ext>
                  </a:extLst>
                </a:gridCol>
                <a:gridCol w="3578123">
                  <a:extLst>
                    <a:ext uri="{9D8B030D-6E8A-4147-A177-3AD203B41FA5}">
                      <a16:colId xmlns:a16="http://schemas.microsoft.com/office/drawing/2014/main" val="2818827163"/>
                    </a:ext>
                  </a:extLst>
                </a:gridCol>
              </a:tblGrid>
              <a:tr h="470240">
                <a:tc>
                  <a:txBody>
                    <a:bodyPr/>
                    <a:lstStyle/>
                    <a:p>
                      <a:pPr>
                        <a:buNone/>
                      </a:pPr>
                      <a:r>
                        <a:rPr lang="en-CA" b="1"/>
                        <a:t>Profession</a:t>
                      </a:r>
                      <a:endParaRPr lang="en-CA"/>
                    </a:p>
                  </a:txBody>
                  <a:tcPr anchor="ctr">
                    <a:lnL>
                      <a:noFill/>
                    </a:lnL>
                    <a:lnR>
                      <a:noFill/>
                    </a:lnR>
                    <a:lnT>
                      <a:noFill/>
                    </a:lnT>
                    <a:lnB>
                      <a:noFill/>
                    </a:lnB>
                    <a:noFill/>
                  </a:tcPr>
                </a:tc>
                <a:tc>
                  <a:txBody>
                    <a:bodyPr/>
                    <a:lstStyle/>
                    <a:p>
                      <a:pPr>
                        <a:buNone/>
                      </a:pPr>
                      <a:r>
                        <a:rPr lang="en-CA" b="1"/>
                        <a:t>Key Roles</a:t>
                      </a:r>
                      <a:endParaRPr lang="en-CA"/>
                    </a:p>
                  </a:txBody>
                  <a:tcPr anchor="ctr">
                    <a:lnL>
                      <a:noFill/>
                    </a:lnL>
                    <a:lnR>
                      <a:noFill/>
                    </a:lnR>
                    <a:lnT>
                      <a:noFill/>
                    </a:lnT>
                    <a:lnB>
                      <a:noFill/>
                    </a:lnB>
                    <a:noFill/>
                  </a:tcPr>
                </a:tc>
                <a:tc>
                  <a:txBody>
                    <a:bodyPr/>
                    <a:lstStyle/>
                    <a:p>
                      <a:pPr>
                        <a:buNone/>
                      </a:pPr>
                      <a:r>
                        <a:rPr lang="en-CA" b="1"/>
                        <a:t>Core Responsibilities</a:t>
                      </a:r>
                      <a:endParaRPr lang="en-CA"/>
                    </a:p>
                  </a:txBody>
                  <a:tcPr anchor="ctr">
                    <a:lnL>
                      <a:noFill/>
                    </a:lnL>
                    <a:lnR>
                      <a:noFill/>
                    </a:lnR>
                    <a:lnT>
                      <a:noFill/>
                    </a:lnT>
                    <a:lnB>
                      <a:noFill/>
                    </a:lnB>
                    <a:noFill/>
                  </a:tcPr>
                </a:tc>
                <a:extLst>
                  <a:ext uri="{0D108BD9-81ED-4DB2-BD59-A6C34878D82A}">
                    <a16:rowId xmlns:a16="http://schemas.microsoft.com/office/drawing/2014/main" val="1487892139"/>
                  </a:ext>
                </a:extLst>
              </a:tr>
              <a:tr h="822920">
                <a:tc>
                  <a:txBody>
                    <a:bodyPr/>
                    <a:lstStyle/>
                    <a:p>
                      <a:pPr>
                        <a:buNone/>
                      </a:pPr>
                      <a:r>
                        <a:rPr lang="en-CA" b="1"/>
                        <a:t>Teacher</a:t>
                      </a:r>
                      <a:endParaRPr lang="en-CA"/>
                    </a:p>
                  </a:txBody>
                  <a:tcPr anchor="ctr">
                    <a:lnL>
                      <a:noFill/>
                    </a:lnL>
                    <a:lnR>
                      <a:noFill/>
                    </a:lnR>
                    <a:lnT>
                      <a:noFill/>
                    </a:lnT>
                    <a:lnB>
                      <a:noFill/>
                    </a:lnB>
                    <a:noFill/>
                  </a:tcPr>
                </a:tc>
                <a:tc>
                  <a:txBody>
                    <a:bodyPr/>
                    <a:lstStyle/>
                    <a:p>
                      <a:pPr>
                        <a:buNone/>
                      </a:pPr>
                      <a:r>
                        <a:rPr lang="en-CA"/>
                        <a:t>Educator, mentor, curriculum designer</a:t>
                      </a:r>
                    </a:p>
                  </a:txBody>
                  <a:tcPr anchor="ctr">
                    <a:lnL>
                      <a:noFill/>
                    </a:lnL>
                    <a:lnR>
                      <a:noFill/>
                    </a:lnR>
                    <a:lnT>
                      <a:noFill/>
                    </a:lnT>
                    <a:lnB>
                      <a:noFill/>
                    </a:lnB>
                    <a:noFill/>
                  </a:tcPr>
                </a:tc>
                <a:tc>
                  <a:txBody>
                    <a:bodyPr/>
                    <a:lstStyle/>
                    <a:p>
                      <a:pPr>
                        <a:buNone/>
                      </a:pPr>
                      <a:r>
                        <a:rPr lang="en-US"/>
                        <a:t>Impart knowledge fairly, guide students, maintain professionalism</a:t>
                      </a:r>
                    </a:p>
                  </a:txBody>
                  <a:tcPr anchor="ctr">
                    <a:lnL>
                      <a:noFill/>
                    </a:lnL>
                    <a:lnR>
                      <a:noFill/>
                    </a:lnR>
                    <a:lnT>
                      <a:noFill/>
                    </a:lnT>
                    <a:lnB>
                      <a:noFill/>
                    </a:lnB>
                    <a:noFill/>
                  </a:tcPr>
                </a:tc>
                <a:extLst>
                  <a:ext uri="{0D108BD9-81ED-4DB2-BD59-A6C34878D82A}">
                    <a16:rowId xmlns:a16="http://schemas.microsoft.com/office/drawing/2014/main" val="1421316772"/>
                  </a:ext>
                </a:extLst>
              </a:tr>
              <a:tr h="822920">
                <a:tc>
                  <a:txBody>
                    <a:bodyPr/>
                    <a:lstStyle/>
                    <a:p>
                      <a:pPr>
                        <a:buNone/>
                      </a:pPr>
                      <a:r>
                        <a:rPr lang="en-CA" b="1"/>
                        <a:t>Engineer</a:t>
                      </a:r>
                      <a:endParaRPr lang="en-CA"/>
                    </a:p>
                  </a:txBody>
                  <a:tcPr anchor="ctr">
                    <a:lnL>
                      <a:noFill/>
                    </a:lnL>
                    <a:lnR>
                      <a:noFill/>
                    </a:lnR>
                    <a:lnT>
                      <a:noFill/>
                    </a:lnT>
                    <a:lnB>
                      <a:noFill/>
                    </a:lnB>
                    <a:noFill/>
                  </a:tcPr>
                </a:tc>
                <a:tc>
                  <a:txBody>
                    <a:bodyPr/>
                    <a:lstStyle/>
                    <a:p>
                      <a:pPr>
                        <a:buNone/>
                      </a:pPr>
                      <a:r>
                        <a:rPr lang="en-CA"/>
                        <a:t>Designer, problem solver, innovator</a:t>
                      </a:r>
                    </a:p>
                  </a:txBody>
                  <a:tcPr anchor="ctr">
                    <a:lnL>
                      <a:noFill/>
                    </a:lnL>
                    <a:lnR>
                      <a:noFill/>
                    </a:lnR>
                    <a:lnT>
                      <a:noFill/>
                    </a:lnT>
                    <a:lnB>
                      <a:noFill/>
                    </a:lnB>
                    <a:noFill/>
                  </a:tcPr>
                </a:tc>
                <a:tc>
                  <a:txBody>
                    <a:bodyPr/>
                    <a:lstStyle/>
                    <a:p>
                      <a:pPr>
                        <a:buNone/>
                      </a:pPr>
                      <a:r>
                        <a:rPr lang="en-US"/>
                        <a:t>Ensure safety, sustainability, and ethical design</a:t>
                      </a:r>
                    </a:p>
                  </a:txBody>
                  <a:tcPr anchor="ctr">
                    <a:lnL>
                      <a:noFill/>
                    </a:lnL>
                    <a:lnR>
                      <a:noFill/>
                    </a:lnR>
                    <a:lnT>
                      <a:noFill/>
                    </a:lnT>
                    <a:lnB>
                      <a:noFill/>
                    </a:lnB>
                    <a:noFill/>
                  </a:tcPr>
                </a:tc>
                <a:extLst>
                  <a:ext uri="{0D108BD9-81ED-4DB2-BD59-A6C34878D82A}">
                    <a16:rowId xmlns:a16="http://schemas.microsoft.com/office/drawing/2014/main" val="2792400681"/>
                  </a:ext>
                </a:extLst>
              </a:tr>
              <a:tr h="822920">
                <a:tc>
                  <a:txBody>
                    <a:bodyPr/>
                    <a:lstStyle/>
                    <a:p>
                      <a:pPr>
                        <a:buNone/>
                      </a:pPr>
                      <a:r>
                        <a:rPr lang="en-CA" b="1" dirty="0"/>
                        <a:t>Doctor/Nurse</a:t>
                      </a:r>
                      <a:endParaRPr lang="en-CA" dirty="0"/>
                    </a:p>
                  </a:txBody>
                  <a:tcPr anchor="ctr">
                    <a:lnL>
                      <a:noFill/>
                    </a:lnL>
                    <a:lnR>
                      <a:noFill/>
                    </a:lnR>
                    <a:lnT>
                      <a:noFill/>
                    </a:lnT>
                    <a:lnB>
                      <a:noFill/>
                    </a:lnB>
                    <a:noFill/>
                  </a:tcPr>
                </a:tc>
                <a:tc>
                  <a:txBody>
                    <a:bodyPr/>
                    <a:lstStyle/>
                    <a:p>
                      <a:pPr>
                        <a:buNone/>
                      </a:pPr>
                      <a:r>
                        <a:rPr lang="en-CA" dirty="0"/>
                        <a:t>Caregiver, health advocate</a:t>
                      </a:r>
                    </a:p>
                  </a:txBody>
                  <a:tcPr anchor="ctr">
                    <a:lnL>
                      <a:noFill/>
                    </a:lnL>
                    <a:lnR>
                      <a:noFill/>
                    </a:lnR>
                    <a:lnT>
                      <a:noFill/>
                    </a:lnT>
                    <a:lnB>
                      <a:noFill/>
                    </a:lnB>
                    <a:noFill/>
                  </a:tcPr>
                </a:tc>
                <a:tc>
                  <a:txBody>
                    <a:bodyPr/>
                    <a:lstStyle/>
                    <a:p>
                      <a:pPr>
                        <a:buNone/>
                      </a:pPr>
                      <a:r>
                        <a:rPr lang="en-US"/>
                        <a:t>Maintain confidentiality, provide competent and compassionate care</a:t>
                      </a:r>
                    </a:p>
                  </a:txBody>
                  <a:tcPr anchor="ctr">
                    <a:lnL>
                      <a:noFill/>
                    </a:lnL>
                    <a:lnR>
                      <a:noFill/>
                    </a:lnR>
                    <a:lnT>
                      <a:noFill/>
                    </a:lnT>
                    <a:lnB>
                      <a:noFill/>
                    </a:lnB>
                    <a:noFill/>
                  </a:tcPr>
                </a:tc>
                <a:extLst>
                  <a:ext uri="{0D108BD9-81ED-4DB2-BD59-A6C34878D82A}">
                    <a16:rowId xmlns:a16="http://schemas.microsoft.com/office/drawing/2014/main" val="2932438675"/>
                  </a:ext>
                </a:extLst>
              </a:tr>
              <a:tr h="822920">
                <a:tc>
                  <a:txBody>
                    <a:bodyPr/>
                    <a:lstStyle/>
                    <a:p>
                      <a:pPr>
                        <a:buNone/>
                      </a:pPr>
                      <a:r>
                        <a:rPr lang="en-CA" b="1"/>
                        <a:t>Lawyer</a:t>
                      </a:r>
                      <a:endParaRPr lang="en-CA"/>
                    </a:p>
                  </a:txBody>
                  <a:tcPr anchor="ctr">
                    <a:lnL>
                      <a:noFill/>
                    </a:lnL>
                    <a:lnR>
                      <a:noFill/>
                    </a:lnR>
                    <a:lnT>
                      <a:noFill/>
                    </a:lnT>
                    <a:lnB>
                      <a:noFill/>
                    </a:lnB>
                    <a:noFill/>
                  </a:tcPr>
                </a:tc>
                <a:tc>
                  <a:txBody>
                    <a:bodyPr/>
                    <a:lstStyle/>
                    <a:p>
                      <a:pPr>
                        <a:buNone/>
                      </a:pPr>
                      <a:r>
                        <a:rPr lang="en-CA"/>
                        <a:t>Advocate, advisor</a:t>
                      </a:r>
                    </a:p>
                  </a:txBody>
                  <a:tcPr anchor="ctr">
                    <a:lnL>
                      <a:noFill/>
                    </a:lnL>
                    <a:lnR>
                      <a:noFill/>
                    </a:lnR>
                    <a:lnT>
                      <a:noFill/>
                    </a:lnT>
                    <a:lnB>
                      <a:noFill/>
                    </a:lnB>
                    <a:noFill/>
                  </a:tcPr>
                </a:tc>
                <a:tc>
                  <a:txBody>
                    <a:bodyPr/>
                    <a:lstStyle/>
                    <a:p>
                      <a:pPr>
                        <a:buNone/>
                      </a:pPr>
                      <a:r>
                        <a:rPr lang="en-US" dirty="0"/>
                        <a:t>Uphold justice, protect client rights, respect the law</a:t>
                      </a:r>
                    </a:p>
                  </a:txBody>
                  <a:tcPr anchor="ctr">
                    <a:lnL>
                      <a:noFill/>
                    </a:lnL>
                    <a:lnR>
                      <a:noFill/>
                    </a:lnR>
                    <a:lnT>
                      <a:noFill/>
                    </a:lnT>
                    <a:lnB>
                      <a:noFill/>
                    </a:lnB>
                    <a:noFill/>
                  </a:tcPr>
                </a:tc>
                <a:extLst>
                  <a:ext uri="{0D108BD9-81ED-4DB2-BD59-A6C34878D82A}">
                    <a16:rowId xmlns:a16="http://schemas.microsoft.com/office/drawing/2014/main" val="20896116"/>
                  </a:ext>
                </a:extLst>
              </a:tr>
              <a:tr h="822920">
                <a:tc>
                  <a:txBody>
                    <a:bodyPr/>
                    <a:lstStyle/>
                    <a:p>
                      <a:pPr>
                        <a:buNone/>
                      </a:pPr>
                      <a:r>
                        <a:rPr lang="en-CA" b="1"/>
                        <a:t>Accountant</a:t>
                      </a:r>
                      <a:endParaRPr lang="en-CA"/>
                    </a:p>
                  </a:txBody>
                  <a:tcPr anchor="ctr">
                    <a:lnL>
                      <a:noFill/>
                    </a:lnL>
                    <a:lnR>
                      <a:noFill/>
                    </a:lnR>
                    <a:lnT>
                      <a:noFill/>
                    </a:lnT>
                    <a:lnB>
                      <a:noFill/>
                    </a:lnB>
                    <a:noFill/>
                  </a:tcPr>
                </a:tc>
                <a:tc>
                  <a:txBody>
                    <a:bodyPr/>
                    <a:lstStyle/>
                    <a:p>
                      <a:pPr>
                        <a:buNone/>
                      </a:pPr>
                      <a:r>
                        <a:rPr lang="en-CA"/>
                        <a:t>Financial advisor, auditor</a:t>
                      </a:r>
                    </a:p>
                  </a:txBody>
                  <a:tcPr anchor="ctr">
                    <a:lnL>
                      <a:noFill/>
                    </a:lnL>
                    <a:lnR>
                      <a:noFill/>
                    </a:lnR>
                    <a:lnT>
                      <a:noFill/>
                    </a:lnT>
                    <a:lnB>
                      <a:noFill/>
                    </a:lnB>
                    <a:noFill/>
                  </a:tcPr>
                </a:tc>
                <a:tc>
                  <a:txBody>
                    <a:bodyPr/>
                    <a:lstStyle/>
                    <a:p>
                      <a:pPr>
                        <a:buNone/>
                      </a:pPr>
                      <a:r>
                        <a:rPr lang="en-US" dirty="0"/>
                        <a:t>Ensure transparency, accuracy, and honesty in financial reporting</a:t>
                      </a:r>
                    </a:p>
                  </a:txBody>
                  <a:tcPr anchor="ctr">
                    <a:lnL>
                      <a:noFill/>
                    </a:lnL>
                    <a:lnR>
                      <a:noFill/>
                    </a:lnR>
                    <a:lnT>
                      <a:noFill/>
                    </a:lnT>
                    <a:lnB>
                      <a:noFill/>
                    </a:lnB>
                    <a:noFill/>
                  </a:tcPr>
                </a:tc>
                <a:extLst>
                  <a:ext uri="{0D108BD9-81ED-4DB2-BD59-A6C34878D82A}">
                    <a16:rowId xmlns:a16="http://schemas.microsoft.com/office/drawing/2014/main" val="492398154"/>
                  </a:ext>
                </a:extLst>
              </a:tr>
            </a:tbl>
          </a:graphicData>
        </a:graphic>
      </p:graphicFrame>
    </p:spTree>
    <p:extLst>
      <p:ext uri="{BB962C8B-B14F-4D97-AF65-F5344CB8AC3E}">
        <p14:creationId xmlns:p14="http://schemas.microsoft.com/office/powerpoint/2010/main" val="1072115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ADBD-2389-9C38-F9B8-C00A5FBB9CDB}"/>
              </a:ext>
            </a:extLst>
          </p:cNvPr>
          <p:cNvSpPr>
            <a:spLocks noGrp="1"/>
          </p:cNvSpPr>
          <p:nvPr>
            <p:ph type="title"/>
          </p:nvPr>
        </p:nvSpPr>
        <p:spPr/>
        <p:txBody>
          <a:bodyPr/>
          <a:lstStyle/>
          <a:p>
            <a:r>
              <a:rPr lang="en-US" b="1" dirty="0"/>
              <a:t>Conflict of Interest</a:t>
            </a:r>
            <a:endParaRPr lang="en-CA" dirty="0"/>
          </a:p>
        </p:txBody>
      </p:sp>
      <p:sp>
        <p:nvSpPr>
          <p:cNvPr id="3" name="Content Placeholder 2">
            <a:extLst>
              <a:ext uri="{FF2B5EF4-FFF2-40B4-BE49-F238E27FC236}">
                <a16:creationId xmlns:a16="http://schemas.microsoft.com/office/drawing/2014/main" id="{BC10AABD-23F9-06F2-BE93-21A636C3D9FF}"/>
              </a:ext>
            </a:extLst>
          </p:cNvPr>
          <p:cNvSpPr>
            <a:spLocks noGrp="1"/>
          </p:cNvSpPr>
          <p:nvPr>
            <p:ph idx="1"/>
          </p:nvPr>
        </p:nvSpPr>
        <p:spPr>
          <a:xfrm>
            <a:off x="452283" y="1288026"/>
            <a:ext cx="11257935" cy="4888937"/>
          </a:xfrm>
        </p:spPr>
        <p:txBody>
          <a:bodyPr>
            <a:normAutofit/>
          </a:bodyPr>
          <a:lstStyle/>
          <a:p>
            <a:r>
              <a:rPr lang="en-US" dirty="0"/>
              <a:t>A </a:t>
            </a:r>
            <a:r>
              <a:rPr lang="en-US" b="1" dirty="0"/>
              <a:t>Conflict of Interest (COI)</a:t>
            </a:r>
            <a:r>
              <a:rPr lang="en-US" dirty="0"/>
              <a:t> occurs when a person’s </a:t>
            </a:r>
            <a:r>
              <a:rPr lang="en-US" b="1" dirty="0"/>
              <a:t>personal interests</a:t>
            </a:r>
            <a:r>
              <a:rPr lang="en-US" dirty="0"/>
              <a:t> (financial, emotional, or relational) </a:t>
            </a:r>
            <a:r>
              <a:rPr lang="en-US" b="1" dirty="0"/>
              <a:t>interfere with their professional duties</a:t>
            </a:r>
            <a:r>
              <a:rPr lang="en-US" dirty="0"/>
              <a:t> or decision-making responsibilities. It happens when someone’s </a:t>
            </a:r>
            <a:r>
              <a:rPr lang="en-US" b="1" dirty="0"/>
              <a:t>loyalties are divided</a:t>
            </a:r>
            <a:r>
              <a:rPr lang="en-US" dirty="0"/>
              <a:t> between personal gain and professional obligations.</a:t>
            </a:r>
          </a:p>
          <a:p>
            <a:r>
              <a:rPr lang="en-US" dirty="0"/>
              <a:t>A </a:t>
            </a:r>
            <a:r>
              <a:rPr lang="en-US" b="1" dirty="0"/>
              <a:t>conflict of interest</a:t>
            </a:r>
            <a:r>
              <a:rPr lang="en-US" dirty="0"/>
              <a:t> is a situation in which a professional’s </a:t>
            </a:r>
            <a:r>
              <a:rPr lang="en-US" b="1" dirty="0"/>
              <a:t>judgment or actions</a:t>
            </a:r>
            <a:r>
              <a:rPr lang="en-US" dirty="0"/>
              <a:t> regarding their official duties are </a:t>
            </a:r>
            <a:r>
              <a:rPr lang="en-US" b="1" dirty="0"/>
              <a:t>unduly influenced</a:t>
            </a:r>
            <a:r>
              <a:rPr lang="en-US" dirty="0"/>
              <a:t> (or appear to be influenced) by a </a:t>
            </a:r>
            <a:r>
              <a:rPr lang="en-US" b="1" dirty="0"/>
              <a:t>secondary interest</a:t>
            </a:r>
            <a:r>
              <a:rPr lang="en-US" dirty="0"/>
              <a:t> such as personal benefit, relationships, or financial gain.</a:t>
            </a:r>
          </a:p>
          <a:p>
            <a:r>
              <a:rPr lang="en-US" b="1" dirty="0"/>
              <a:t>In simple terms:</a:t>
            </a:r>
            <a:endParaRPr lang="en-US" dirty="0"/>
          </a:p>
          <a:p>
            <a:r>
              <a:rPr lang="en-US" dirty="0"/>
              <a:t>A conflict of interest arises when personal interests clash with professional responsibilities.</a:t>
            </a:r>
          </a:p>
          <a:p>
            <a:endParaRPr lang="en-US" dirty="0"/>
          </a:p>
          <a:p>
            <a:endParaRPr lang="en-CA" dirty="0"/>
          </a:p>
        </p:txBody>
      </p:sp>
    </p:spTree>
    <p:extLst>
      <p:ext uri="{BB962C8B-B14F-4D97-AF65-F5344CB8AC3E}">
        <p14:creationId xmlns:p14="http://schemas.microsoft.com/office/powerpoint/2010/main" val="568557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37EE-9AFD-3EB8-80D5-ADE2FE16B30C}"/>
              </a:ext>
            </a:extLst>
          </p:cNvPr>
          <p:cNvSpPr>
            <a:spLocks noGrp="1"/>
          </p:cNvSpPr>
          <p:nvPr>
            <p:ph type="title"/>
          </p:nvPr>
        </p:nvSpPr>
        <p:spPr/>
        <p:txBody>
          <a:bodyPr/>
          <a:lstStyle/>
          <a:p>
            <a:r>
              <a:rPr lang="en-US" b="1" dirty="0"/>
              <a:t>Types of Conflict of Interest</a:t>
            </a:r>
            <a:br>
              <a:rPr lang="en-US" b="1" dirty="0"/>
            </a:br>
            <a:endParaRPr lang="en-CA" dirty="0"/>
          </a:p>
        </p:txBody>
      </p:sp>
      <p:sp>
        <p:nvSpPr>
          <p:cNvPr id="3" name="Content Placeholder 2">
            <a:extLst>
              <a:ext uri="{FF2B5EF4-FFF2-40B4-BE49-F238E27FC236}">
                <a16:creationId xmlns:a16="http://schemas.microsoft.com/office/drawing/2014/main" id="{A13DD4B4-D819-DC7D-AFCF-454FF60AB40C}"/>
              </a:ext>
            </a:extLst>
          </p:cNvPr>
          <p:cNvSpPr>
            <a:spLocks noGrp="1"/>
          </p:cNvSpPr>
          <p:nvPr>
            <p:ph idx="1"/>
          </p:nvPr>
        </p:nvSpPr>
        <p:spPr>
          <a:xfrm>
            <a:off x="838200" y="1347019"/>
            <a:ext cx="10515600" cy="4829944"/>
          </a:xfrm>
        </p:spPr>
        <p:txBody>
          <a:bodyPr>
            <a:normAutofit/>
          </a:bodyPr>
          <a:lstStyle/>
          <a:p>
            <a:r>
              <a:rPr lang="en-US" b="1" dirty="0"/>
              <a:t>Actual Conflict of Interest</a:t>
            </a:r>
            <a:endParaRPr lang="en-US" dirty="0"/>
          </a:p>
          <a:p>
            <a:pPr lvl="1"/>
            <a:r>
              <a:rPr lang="en-US" dirty="0"/>
              <a:t>When a professional’s personal interest </a:t>
            </a:r>
            <a:r>
              <a:rPr lang="en-US" b="1" dirty="0"/>
              <a:t>directly affects</a:t>
            </a:r>
            <a:r>
              <a:rPr lang="en-US" dirty="0"/>
              <a:t> their official duties.</a:t>
            </a:r>
            <a:br>
              <a:rPr lang="en-US" dirty="0"/>
            </a:br>
            <a:r>
              <a:rPr lang="en-US" i="1" dirty="0"/>
              <a:t>Example:</a:t>
            </a:r>
            <a:r>
              <a:rPr lang="en-US" dirty="0"/>
              <a:t> An auditor auditing a company where they own shares.</a:t>
            </a:r>
          </a:p>
          <a:p>
            <a:r>
              <a:rPr lang="en-US" b="1" dirty="0"/>
              <a:t>Perceived (or Apparent) Conflict of Interest</a:t>
            </a:r>
            <a:endParaRPr lang="en-US" dirty="0"/>
          </a:p>
          <a:p>
            <a:pPr lvl="1"/>
            <a:r>
              <a:rPr lang="en-US" dirty="0"/>
              <a:t>When it </a:t>
            </a:r>
            <a:r>
              <a:rPr lang="en-US" b="1" dirty="0"/>
              <a:t>appears</a:t>
            </a:r>
            <a:r>
              <a:rPr lang="en-US" dirty="0"/>
              <a:t> that a person’s judgment could be influenced by personal interests—even if it isn’t.</a:t>
            </a:r>
            <a:br>
              <a:rPr lang="en-US" dirty="0"/>
            </a:br>
            <a:r>
              <a:rPr lang="en-US" dirty="0"/>
              <a:t> </a:t>
            </a:r>
            <a:r>
              <a:rPr lang="en-US" i="1" dirty="0"/>
              <a:t>Example:</a:t>
            </a:r>
            <a:r>
              <a:rPr lang="en-US" dirty="0"/>
              <a:t> A manager promoting a close friend, even if the friend is qualified.</a:t>
            </a:r>
          </a:p>
          <a:p>
            <a:r>
              <a:rPr lang="en-US" b="1" dirty="0"/>
              <a:t>Potential Conflict of Interest</a:t>
            </a:r>
            <a:endParaRPr lang="en-US" dirty="0"/>
          </a:p>
          <a:p>
            <a:pPr lvl="1"/>
            <a:r>
              <a:rPr lang="en-US" dirty="0"/>
              <a:t>When a situation </a:t>
            </a:r>
            <a:r>
              <a:rPr lang="en-US" b="1" dirty="0"/>
              <a:t>could develop</a:t>
            </a:r>
            <a:r>
              <a:rPr lang="en-US" dirty="0"/>
              <a:t> into a conflict in the future.</a:t>
            </a:r>
            <a:br>
              <a:rPr lang="en-US" dirty="0"/>
            </a:br>
            <a:r>
              <a:rPr lang="en-US" i="1" dirty="0"/>
              <a:t>Example:</a:t>
            </a:r>
            <a:r>
              <a:rPr lang="en-US" dirty="0"/>
              <a:t> A government employee negotiating with a private firm he may later join.</a:t>
            </a:r>
          </a:p>
          <a:p>
            <a:endParaRPr lang="en-CA" dirty="0"/>
          </a:p>
        </p:txBody>
      </p:sp>
    </p:spTree>
    <p:extLst>
      <p:ext uri="{BB962C8B-B14F-4D97-AF65-F5344CB8AC3E}">
        <p14:creationId xmlns:p14="http://schemas.microsoft.com/office/powerpoint/2010/main" val="149883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18248-9D62-0459-79BB-8FF60AC72EF4}"/>
              </a:ext>
            </a:extLst>
          </p:cNvPr>
          <p:cNvSpPr>
            <a:spLocks noGrp="1"/>
          </p:cNvSpPr>
          <p:nvPr>
            <p:ph type="title"/>
          </p:nvPr>
        </p:nvSpPr>
        <p:spPr/>
        <p:txBody>
          <a:bodyPr/>
          <a:lstStyle/>
          <a:p>
            <a:r>
              <a:rPr lang="en-US" b="1" dirty="0"/>
              <a:t>Common Examples</a:t>
            </a:r>
            <a:br>
              <a:rPr lang="en-US" b="1" dirty="0"/>
            </a:br>
            <a:endParaRPr lang="en-CA" dirty="0"/>
          </a:p>
        </p:txBody>
      </p:sp>
      <p:sp>
        <p:nvSpPr>
          <p:cNvPr id="3" name="Content Placeholder 2">
            <a:extLst>
              <a:ext uri="{FF2B5EF4-FFF2-40B4-BE49-F238E27FC236}">
                <a16:creationId xmlns:a16="http://schemas.microsoft.com/office/drawing/2014/main" id="{609E74D5-D1FF-6974-2EB8-0FBB1ED91F53}"/>
              </a:ext>
            </a:extLst>
          </p:cNvPr>
          <p:cNvSpPr>
            <a:spLocks noGrp="1"/>
          </p:cNvSpPr>
          <p:nvPr>
            <p:ph idx="1"/>
          </p:nvPr>
        </p:nvSpPr>
        <p:spPr/>
        <p:txBody>
          <a:bodyPr/>
          <a:lstStyle/>
          <a:p>
            <a:r>
              <a:rPr lang="en-US" dirty="0"/>
              <a:t>A </a:t>
            </a:r>
            <a:r>
              <a:rPr lang="en-US" b="1" dirty="0"/>
              <a:t>doctor</a:t>
            </a:r>
            <a:r>
              <a:rPr lang="en-US" dirty="0"/>
              <a:t> receiving gifts from drugs companies and prescribing their drugs preferentially.</a:t>
            </a:r>
          </a:p>
          <a:p>
            <a:r>
              <a:rPr lang="en-US" dirty="0"/>
              <a:t>An </a:t>
            </a:r>
            <a:r>
              <a:rPr lang="en-US" b="1" dirty="0"/>
              <a:t>engineer</a:t>
            </a:r>
            <a:r>
              <a:rPr lang="en-US" dirty="0"/>
              <a:t> approving materials from a supplier owned by a family member.</a:t>
            </a:r>
          </a:p>
          <a:p>
            <a:r>
              <a:rPr lang="en-US" dirty="0"/>
              <a:t>A </a:t>
            </a:r>
            <a:r>
              <a:rPr lang="en-US" b="1" dirty="0"/>
              <a:t>teacher</a:t>
            </a:r>
            <a:r>
              <a:rPr lang="en-US" dirty="0"/>
              <a:t> grading the work of a relative’s child.</a:t>
            </a:r>
          </a:p>
          <a:p>
            <a:r>
              <a:rPr lang="en-US" dirty="0"/>
              <a:t>A </a:t>
            </a:r>
            <a:r>
              <a:rPr lang="en-US" b="1" dirty="0"/>
              <a:t>public official</a:t>
            </a:r>
            <a:r>
              <a:rPr lang="en-US" dirty="0"/>
              <a:t> awarding a contract to a company they have investments in.</a:t>
            </a:r>
          </a:p>
          <a:p>
            <a:r>
              <a:rPr lang="en-US" dirty="0"/>
              <a:t>An </a:t>
            </a:r>
            <a:r>
              <a:rPr lang="en-US" b="1" dirty="0"/>
              <a:t>employee</a:t>
            </a:r>
            <a:r>
              <a:rPr lang="en-US" dirty="0"/>
              <a:t> using company resources for personal gain.</a:t>
            </a:r>
          </a:p>
          <a:p>
            <a:endParaRPr lang="en-CA" dirty="0"/>
          </a:p>
        </p:txBody>
      </p:sp>
    </p:spTree>
    <p:extLst>
      <p:ext uri="{BB962C8B-B14F-4D97-AF65-F5344CB8AC3E}">
        <p14:creationId xmlns:p14="http://schemas.microsoft.com/office/powerpoint/2010/main" val="1939366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E3EDC-5EB0-BE8C-4D00-FF0619BBFF8A}"/>
              </a:ext>
            </a:extLst>
          </p:cNvPr>
          <p:cNvSpPr>
            <a:spLocks noGrp="1"/>
          </p:cNvSpPr>
          <p:nvPr>
            <p:ph type="title"/>
          </p:nvPr>
        </p:nvSpPr>
        <p:spPr/>
        <p:txBody>
          <a:bodyPr/>
          <a:lstStyle/>
          <a:p>
            <a:r>
              <a:rPr lang="en-US" b="1" dirty="0"/>
              <a:t>Consequences of Conflicts of Interest</a:t>
            </a:r>
            <a:br>
              <a:rPr lang="en-US" b="1" dirty="0"/>
            </a:br>
            <a:endParaRPr lang="en-CA" dirty="0"/>
          </a:p>
        </p:txBody>
      </p:sp>
      <p:sp>
        <p:nvSpPr>
          <p:cNvPr id="3" name="Content Placeholder 2">
            <a:extLst>
              <a:ext uri="{FF2B5EF4-FFF2-40B4-BE49-F238E27FC236}">
                <a16:creationId xmlns:a16="http://schemas.microsoft.com/office/drawing/2014/main" id="{E48F9022-15C9-1F04-C74C-ED6B3E830911}"/>
              </a:ext>
            </a:extLst>
          </p:cNvPr>
          <p:cNvSpPr>
            <a:spLocks noGrp="1"/>
          </p:cNvSpPr>
          <p:nvPr>
            <p:ph idx="1"/>
          </p:nvPr>
        </p:nvSpPr>
        <p:spPr/>
        <p:txBody>
          <a:bodyPr/>
          <a:lstStyle/>
          <a:p>
            <a:r>
              <a:rPr lang="en-US" b="1" dirty="0"/>
              <a:t>Loss of trust</a:t>
            </a:r>
            <a:r>
              <a:rPr lang="en-US" dirty="0"/>
              <a:t> and credibility.</a:t>
            </a:r>
          </a:p>
          <a:p>
            <a:r>
              <a:rPr lang="en-US" b="1" dirty="0"/>
              <a:t>Damage</a:t>
            </a:r>
            <a:r>
              <a:rPr lang="en-US" dirty="0"/>
              <a:t> to professional reputation.</a:t>
            </a:r>
          </a:p>
          <a:p>
            <a:r>
              <a:rPr lang="en-US" b="1" dirty="0"/>
              <a:t>Legal or disciplinary</a:t>
            </a:r>
            <a:r>
              <a:rPr lang="en-US" dirty="0"/>
              <a:t> actions.</a:t>
            </a:r>
          </a:p>
          <a:p>
            <a:r>
              <a:rPr lang="en-US" b="1" dirty="0"/>
              <a:t>Unethical decisions</a:t>
            </a:r>
            <a:r>
              <a:rPr lang="en-US" dirty="0"/>
              <a:t> leading to harm or bias.</a:t>
            </a:r>
          </a:p>
          <a:p>
            <a:r>
              <a:rPr lang="en-US" b="1" dirty="0"/>
              <a:t>Reduced organizational integrity</a:t>
            </a:r>
            <a:r>
              <a:rPr lang="en-US" dirty="0"/>
              <a:t> and morale.</a:t>
            </a:r>
          </a:p>
          <a:p>
            <a:endParaRPr lang="en-CA" dirty="0"/>
          </a:p>
        </p:txBody>
      </p:sp>
    </p:spTree>
    <p:extLst>
      <p:ext uri="{BB962C8B-B14F-4D97-AF65-F5344CB8AC3E}">
        <p14:creationId xmlns:p14="http://schemas.microsoft.com/office/powerpoint/2010/main" val="3118440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5250E-51EA-C237-0656-0B24B4FEF463}"/>
              </a:ext>
            </a:extLst>
          </p:cNvPr>
          <p:cNvSpPr>
            <a:spLocks noGrp="1"/>
          </p:cNvSpPr>
          <p:nvPr>
            <p:ph type="title"/>
          </p:nvPr>
        </p:nvSpPr>
        <p:spPr/>
        <p:txBody>
          <a:bodyPr/>
          <a:lstStyle/>
          <a:p>
            <a:r>
              <a:rPr lang="en-US" b="1" dirty="0"/>
              <a:t>How to Manage or Prevent Conflicts of Interest</a:t>
            </a:r>
            <a:br>
              <a:rPr lang="en-US" b="1" dirty="0"/>
            </a:br>
            <a:endParaRPr lang="en-CA" dirty="0"/>
          </a:p>
        </p:txBody>
      </p:sp>
      <p:sp>
        <p:nvSpPr>
          <p:cNvPr id="3" name="Content Placeholder 2">
            <a:extLst>
              <a:ext uri="{FF2B5EF4-FFF2-40B4-BE49-F238E27FC236}">
                <a16:creationId xmlns:a16="http://schemas.microsoft.com/office/drawing/2014/main" id="{4CE6AB74-88F7-5641-B4DF-102700DDE13E}"/>
              </a:ext>
            </a:extLst>
          </p:cNvPr>
          <p:cNvSpPr>
            <a:spLocks noGrp="1"/>
          </p:cNvSpPr>
          <p:nvPr>
            <p:ph idx="1"/>
          </p:nvPr>
        </p:nvSpPr>
        <p:spPr>
          <a:xfrm>
            <a:off x="838200" y="1307690"/>
            <a:ext cx="10515600" cy="4869273"/>
          </a:xfrm>
        </p:spPr>
        <p:txBody>
          <a:bodyPr>
            <a:normAutofit fontScale="92500" lnSpcReduction="10000"/>
          </a:bodyPr>
          <a:lstStyle/>
          <a:p>
            <a:r>
              <a:rPr lang="en-US" b="1" dirty="0"/>
              <a:t>Disclosure:</a:t>
            </a:r>
            <a:endParaRPr lang="en-US" dirty="0"/>
          </a:p>
          <a:p>
            <a:pPr lvl="1"/>
            <a:r>
              <a:rPr lang="en-US" dirty="0"/>
              <a:t>Always declare any personal interest that could influence professional decisions.</a:t>
            </a:r>
          </a:p>
          <a:p>
            <a:r>
              <a:rPr lang="en-US" b="1" dirty="0"/>
              <a:t>Recusal:</a:t>
            </a:r>
            <a:endParaRPr lang="en-US" dirty="0"/>
          </a:p>
          <a:p>
            <a:pPr lvl="1"/>
            <a:r>
              <a:rPr lang="en-US" dirty="0"/>
              <a:t>Step aside from decision-making where impartiality may be compromised.</a:t>
            </a:r>
          </a:p>
          <a:p>
            <a:r>
              <a:rPr lang="en-US" b="1" dirty="0"/>
              <a:t>Transparency:</a:t>
            </a:r>
            <a:endParaRPr lang="en-US" dirty="0"/>
          </a:p>
          <a:p>
            <a:pPr lvl="1"/>
            <a:r>
              <a:rPr lang="en-US" dirty="0"/>
              <a:t>Be open about relationships, financial interests, or affiliations.</a:t>
            </a:r>
          </a:p>
          <a:p>
            <a:r>
              <a:rPr lang="en-US" b="1" dirty="0"/>
              <a:t>Adherence to Codes of Ethics:</a:t>
            </a:r>
            <a:endParaRPr lang="en-US" dirty="0"/>
          </a:p>
          <a:p>
            <a:pPr lvl="1"/>
            <a:r>
              <a:rPr lang="en-US" dirty="0"/>
              <a:t>Follow professional or organizational policies on ethical conduct.</a:t>
            </a:r>
          </a:p>
          <a:p>
            <a:r>
              <a:rPr lang="en-US" b="1" dirty="0"/>
              <a:t>Independent Review:</a:t>
            </a:r>
            <a:endParaRPr lang="en-US" dirty="0"/>
          </a:p>
          <a:p>
            <a:pPr lvl="1"/>
            <a:r>
              <a:rPr lang="en-US" dirty="0"/>
              <a:t>Allow another qualified person to evaluate decisions where conflicts might exist.</a:t>
            </a:r>
          </a:p>
          <a:p>
            <a:r>
              <a:rPr lang="en-US" b="1" dirty="0"/>
              <a:t>Avoid Acceptance of Gifts or Favors:</a:t>
            </a:r>
            <a:endParaRPr lang="en-US" dirty="0"/>
          </a:p>
          <a:p>
            <a:pPr lvl="1"/>
            <a:r>
              <a:rPr lang="en-US" dirty="0"/>
              <a:t>Decline anything that could create a sense of obligation.</a:t>
            </a:r>
          </a:p>
          <a:p>
            <a:endParaRPr lang="en-CA" dirty="0"/>
          </a:p>
        </p:txBody>
      </p:sp>
    </p:spTree>
    <p:extLst>
      <p:ext uri="{BB962C8B-B14F-4D97-AF65-F5344CB8AC3E}">
        <p14:creationId xmlns:p14="http://schemas.microsoft.com/office/powerpoint/2010/main" val="41649757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DEED3-6237-706D-4C0B-E860AA1FFBB5}"/>
              </a:ext>
            </a:extLst>
          </p:cNvPr>
          <p:cNvSpPr>
            <a:spLocks noGrp="1"/>
          </p:cNvSpPr>
          <p:nvPr>
            <p:ph type="title"/>
          </p:nvPr>
        </p:nvSpPr>
        <p:spPr/>
        <p:txBody>
          <a:bodyPr/>
          <a:lstStyle/>
          <a:p>
            <a:r>
              <a:rPr lang="en-US" b="1" dirty="0"/>
              <a:t>Whistleblowing</a:t>
            </a:r>
            <a:endParaRPr lang="en-CA" dirty="0"/>
          </a:p>
        </p:txBody>
      </p:sp>
      <p:sp>
        <p:nvSpPr>
          <p:cNvPr id="3" name="Content Placeholder 2">
            <a:extLst>
              <a:ext uri="{FF2B5EF4-FFF2-40B4-BE49-F238E27FC236}">
                <a16:creationId xmlns:a16="http://schemas.microsoft.com/office/drawing/2014/main" id="{6E4D03D2-452F-80EB-B9A1-5BAB63C4A2EC}"/>
              </a:ext>
            </a:extLst>
          </p:cNvPr>
          <p:cNvSpPr>
            <a:spLocks noGrp="1"/>
          </p:cNvSpPr>
          <p:nvPr>
            <p:ph idx="1"/>
          </p:nvPr>
        </p:nvSpPr>
        <p:spPr>
          <a:xfrm>
            <a:off x="540773" y="1825625"/>
            <a:ext cx="11454581" cy="4351338"/>
          </a:xfrm>
        </p:spPr>
        <p:txBody>
          <a:bodyPr>
            <a:normAutofit/>
          </a:bodyPr>
          <a:lstStyle/>
          <a:p>
            <a:r>
              <a:rPr lang="en-US" b="1" dirty="0"/>
              <a:t>Whistleblowing</a:t>
            </a:r>
            <a:r>
              <a:rPr lang="en-US" dirty="0"/>
              <a:t> refers to the act of </a:t>
            </a:r>
            <a:r>
              <a:rPr lang="en-US" b="1" dirty="0"/>
              <a:t>reporting unethical, illegal, or unsafe practices</a:t>
            </a:r>
            <a:r>
              <a:rPr lang="en-US" dirty="0"/>
              <a:t> within an organization by an employee or member of that organization. It is an important mechanism to </a:t>
            </a:r>
            <a:r>
              <a:rPr lang="en-US" b="1" dirty="0"/>
              <a:t>promote accountability, transparency, and integrity</a:t>
            </a:r>
            <a:r>
              <a:rPr lang="en-US" dirty="0"/>
              <a:t> in professional and public life.</a:t>
            </a:r>
          </a:p>
          <a:p>
            <a:r>
              <a:rPr lang="en-US" b="1" dirty="0"/>
              <a:t>Whistleblowing</a:t>
            </a:r>
            <a:r>
              <a:rPr lang="en-US" dirty="0"/>
              <a:t> is the disclosure by an employee (or insider) of </a:t>
            </a:r>
            <a:r>
              <a:rPr lang="en-US" b="1" dirty="0"/>
              <a:t>wrongdoing, misconduct, or corruption</a:t>
            </a:r>
            <a:r>
              <a:rPr lang="en-US" dirty="0"/>
              <a:t> within an organization to </a:t>
            </a:r>
            <a:r>
              <a:rPr lang="en-US" b="1" dirty="0"/>
              <a:t>internal or external authorities</a:t>
            </a:r>
            <a:r>
              <a:rPr lang="en-US" dirty="0"/>
              <a:t> who can take corrective action.</a:t>
            </a:r>
          </a:p>
          <a:p>
            <a:r>
              <a:rPr lang="en-US" b="1" dirty="0"/>
              <a:t>In simple terms:</a:t>
            </a:r>
            <a:endParaRPr lang="en-US" dirty="0"/>
          </a:p>
          <a:p>
            <a:r>
              <a:rPr lang="en-US" dirty="0"/>
              <a:t>Whistleblowing is when someone exposes wrongdoing to protect the public interest.</a:t>
            </a:r>
          </a:p>
          <a:p>
            <a:endParaRPr lang="en-CA" dirty="0"/>
          </a:p>
        </p:txBody>
      </p:sp>
    </p:spTree>
    <p:extLst>
      <p:ext uri="{BB962C8B-B14F-4D97-AF65-F5344CB8AC3E}">
        <p14:creationId xmlns:p14="http://schemas.microsoft.com/office/powerpoint/2010/main" val="930344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C53C-CF53-8016-B4A4-164A65D20050}"/>
              </a:ext>
            </a:extLst>
          </p:cNvPr>
          <p:cNvSpPr>
            <a:spLocks noGrp="1"/>
          </p:cNvSpPr>
          <p:nvPr>
            <p:ph type="title"/>
          </p:nvPr>
        </p:nvSpPr>
        <p:spPr>
          <a:xfrm>
            <a:off x="838200" y="365125"/>
            <a:ext cx="10515600" cy="39195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646761E-34AF-A1DC-EAC1-A1F37319BFBF}"/>
              </a:ext>
            </a:extLst>
          </p:cNvPr>
          <p:cNvSpPr>
            <a:spLocks noGrp="1"/>
          </p:cNvSpPr>
          <p:nvPr>
            <p:ph idx="1"/>
          </p:nvPr>
        </p:nvSpPr>
        <p:spPr>
          <a:xfrm>
            <a:off x="580103" y="963561"/>
            <a:ext cx="10773697" cy="5213402"/>
          </a:xfrm>
        </p:spPr>
        <p:txBody>
          <a:bodyPr/>
          <a:lstStyle/>
          <a:p>
            <a:pPr marL="0" indent="0">
              <a:buNone/>
            </a:pPr>
            <a:r>
              <a:rPr lang="en-US" b="1" dirty="0"/>
              <a:t>Who is a Whistleblower?</a:t>
            </a:r>
          </a:p>
          <a:p>
            <a:pPr marL="0" indent="0">
              <a:buNone/>
            </a:pPr>
            <a:r>
              <a:rPr lang="en-US" dirty="0"/>
              <a:t>A </a:t>
            </a:r>
            <a:r>
              <a:rPr lang="en-US" b="1" dirty="0"/>
              <a:t>whistleblower</a:t>
            </a:r>
            <a:r>
              <a:rPr lang="en-US" dirty="0"/>
              <a:t> is a person who reports:</a:t>
            </a:r>
          </a:p>
          <a:p>
            <a:r>
              <a:rPr lang="en-US" dirty="0"/>
              <a:t>Fraud or corruption,</a:t>
            </a:r>
          </a:p>
          <a:p>
            <a:r>
              <a:rPr lang="en-US" dirty="0"/>
              <a:t>Violations of law or regulations,</a:t>
            </a:r>
          </a:p>
          <a:p>
            <a:r>
              <a:rPr lang="en-US" dirty="0"/>
              <a:t>Unsafe practices,</a:t>
            </a:r>
          </a:p>
          <a:p>
            <a:r>
              <a:rPr lang="en-US" dirty="0"/>
              <a:t>Discrimination or harassment,</a:t>
            </a:r>
          </a:p>
          <a:p>
            <a:r>
              <a:rPr lang="en-US" dirty="0"/>
              <a:t>Misuse of public funds or resources,</a:t>
            </a:r>
          </a:p>
          <a:p>
            <a:r>
              <a:rPr lang="en-US" dirty="0"/>
              <a:t>Environmental or health hazards.</a:t>
            </a:r>
          </a:p>
          <a:p>
            <a:endParaRPr lang="en-CA" dirty="0"/>
          </a:p>
        </p:txBody>
      </p:sp>
    </p:spTree>
    <p:extLst>
      <p:ext uri="{BB962C8B-B14F-4D97-AF65-F5344CB8AC3E}">
        <p14:creationId xmlns:p14="http://schemas.microsoft.com/office/powerpoint/2010/main" val="489362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FD7CB-B0CB-F043-067C-5BE18F6F4297}"/>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65358EF-3EAE-98BA-9589-4E656AB30619}"/>
              </a:ext>
            </a:extLst>
          </p:cNvPr>
          <p:cNvSpPr>
            <a:spLocks noGrp="1"/>
          </p:cNvSpPr>
          <p:nvPr>
            <p:ph idx="1"/>
          </p:nvPr>
        </p:nvSpPr>
        <p:spPr>
          <a:xfrm>
            <a:off x="838200" y="894735"/>
            <a:ext cx="10515600" cy="5282228"/>
          </a:xfrm>
        </p:spPr>
        <p:txBody>
          <a:bodyPr>
            <a:normAutofit fontScale="92500" lnSpcReduction="20000"/>
          </a:bodyPr>
          <a:lstStyle/>
          <a:p>
            <a:r>
              <a:rPr lang="en-US" b="1" dirty="0"/>
              <a:t>Types of Whistleblowing</a:t>
            </a:r>
          </a:p>
          <a:p>
            <a:r>
              <a:rPr lang="en-US" b="1" dirty="0"/>
              <a:t>Internal Whistleblowing</a:t>
            </a:r>
            <a:endParaRPr lang="en-US" dirty="0"/>
          </a:p>
          <a:p>
            <a:pPr lvl="1"/>
            <a:r>
              <a:rPr lang="en-US" dirty="0"/>
              <a:t>Reporting wrongdoing </a:t>
            </a:r>
            <a:r>
              <a:rPr lang="en-US" b="1" dirty="0"/>
              <a:t>within the organization</a:t>
            </a:r>
            <a:r>
              <a:rPr lang="en-US" dirty="0"/>
              <a:t> (e.g., to a manager, HR, or ethics committee).</a:t>
            </a:r>
            <a:br>
              <a:rPr lang="en-US" dirty="0"/>
            </a:br>
            <a:r>
              <a:rPr lang="en-US" dirty="0"/>
              <a:t> </a:t>
            </a:r>
            <a:r>
              <a:rPr lang="en-US" i="1" dirty="0"/>
              <a:t>Example:</a:t>
            </a:r>
            <a:r>
              <a:rPr lang="en-US" dirty="0"/>
              <a:t> An employee reports financial irregularities to the company’s audit department.</a:t>
            </a:r>
          </a:p>
          <a:p>
            <a:r>
              <a:rPr lang="en-US" b="1" dirty="0"/>
              <a:t>External Whistleblowing</a:t>
            </a:r>
            <a:endParaRPr lang="en-US" dirty="0"/>
          </a:p>
          <a:p>
            <a:pPr lvl="1"/>
            <a:r>
              <a:rPr lang="en-US" dirty="0"/>
              <a:t>Reporting wrongdoing to </a:t>
            </a:r>
            <a:r>
              <a:rPr lang="en-US" b="1" dirty="0"/>
              <a:t>outside authorities or the public</a:t>
            </a:r>
            <a:r>
              <a:rPr lang="en-US" dirty="0"/>
              <a:t> (e.g., media, government agencies, NGOs).</a:t>
            </a:r>
            <a:br>
              <a:rPr lang="en-US" dirty="0"/>
            </a:br>
            <a:r>
              <a:rPr lang="en-US" dirty="0"/>
              <a:t> </a:t>
            </a:r>
            <a:r>
              <a:rPr lang="en-US" i="1" dirty="0"/>
              <a:t>Example:</a:t>
            </a:r>
            <a:r>
              <a:rPr lang="en-US" dirty="0"/>
              <a:t> A government worker reporting corruption to an anti-corruption commission.</a:t>
            </a:r>
          </a:p>
          <a:p>
            <a:r>
              <a:rPr lang="en-US" b="1" dirty="0"/>
              <a:t>Personal Whistleblowing</a:t>
            </a:r>
            <a:endParaRPr lang="en-US" dirty="0"/>
          </a:p>
          <a:p>
            <a:pPr lvl="1"/>
            <a:r>
              <a:rPr lang="en-US" dirty="0"/>
              <a:t>Reporting wrongdoing that </a:t>
            </a:r>
            <a:r>
              <a:rPr lang="en-US" b="1" dirty="0"/>
              <a:t>affects the individual personally</a:t>
            </a:r>
            <a:r>
              <a:rPr lang="en-US" dirty="0"/>
              <a:t>, such as harassment or discrimination.</a:t>
            </a:r>
          </a:p>
          <a:p>
            <a:r>
              <a:rPr lang="en-US" b="1" dirty="0"/>
              <a:t>Impersonal Whistleblowing</a:t>
            </a:r>
            <a:endParaRPr lang="en-US" dirty="0"/>
          </a:p>
          <a:p>
            <a:pPr lvl="1"/>
            <a:r>
              <a:rPr lang="en-US" dirty="0"/>
              <a:t>Reporting issues that </a:t>
            </a:r>
            <a:r>
              <a:rPr lang="en-US" b="1" dirty="0"/>
              <a:t>affect others or the public</a:t>
            </a:r>
            <a:r>
              <a:rPr lang="en-US" dirty="0"/>
              <a:t>, such as environmental violations or fraud.</a:t>
            </a:r>
          </a:p>
          <a:p>
            <a:endParaRPr lang="en-CA" dirty="0"/>
          </a:p>
        </p:txBody>
      </p:sp>
    </p:spTree>
    <p:extLst>
      <p:ext uri="{BB962C8B-B14F-4D97-AF65-F5344CB8AC3E}">
        <p14:creationId xmlns:p14="http://schemas.microsoft.com/office/powerpoint/2010/main" val="2753312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CBDFB-BCB4-FA7D-FE0F-7CAACB19CDA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D7D275F-E935-9962-1DC1-F9259BA281A0}"/>
              </a:ext>
            </a:extLst>
          </p:cNvPr>
          <p:cNvSpPr>
            <a:spLocks noGrp="1"/>
          </p:cNvSpPr>
          <p:nvPr>
            <p:ph idx="1"/>
          </p:nvPr>
        </p:nvSpPr>
        <p:spPr/>
        <p:txBody>
          <a:bodyPr/>
          <a:lstStyle/>
          <a:p>
            <a:r>
              <a:rPr lang="en-US" b="1" dirty="0"/>
              <a:t>Importance of Whistleblowing</a:t>
            </a:r>
          </a:p>
          <a:p>
            <a:r>
              <a:rPr lang="en-US" dirty="0"/>
              <a:t>Promotes </a:t>
            </a:r>
            <a:r>
              <a:rPr lang="en-US" b="1" dirty="0"/>
              <a:t>ethical behavior</a:t>
            </a:r>
            <a:r>
              <a:rPr lang="en-US" dirty="0"/>
              <a:t> and </a:t>
            </a:r>
            <a:r>
              <a:rPr lang="en-US" b="1" dirty="0"/>
              <a:t>accountability</a:t>
            </a:r>
            <a:r>
              <a:rPr lang="en-US" dirty="0"/>
              <a:t>.</a:t>
            </a:r>
          </a:p>
          <a:p>
            <a:r>
              <a:rPr lang="en-US" dirty="0"/>
              <a:t>Protects the </a:t>
            </a:r>
            <a:r>
              <a:rPr lang="en-US" b="1" dirty="0"/>
              <a:t>public interest</a:t>
            </a:r>
            <a:r>
              <a:rPr lang="en-US" dirty="0"/>
              <a:t> and prevents harm.</a:t>
            </a:r>
          </a:p>
          <a:p>
            <a:r>
              <a:rPr lang="en-US" dirty="0"/>
              <a:t>Helps detect </a:t>
            </a:r>
            <a:r>
              <a:rPr lang="en-US" b="1" dirty="0"/>
              <a:t>fraud, corruption, and misconduct</a:t>
            </a:r>
            <a:r>
              <a:rPr lang="en-US" dirty="0"/>
              <a:t>.</a:t>
            </a:r>
          </a:p>
          <a:p>
            <a:r>
              <a:rPr lang="en-US" dirty="0"/>
              <a:t>Builds </a:t>
            </a:r>
            <a:r>
              <a:rPr lang="en-US" b="1" dirty="0"/>
              <a:t>trust and transparency</a:t>
            </a:r>
            <a:r>
              <a:rPr lang="en-US" dirty="0"/>
              <a:t> within organizations.</a:t>
            </a:r>
          </a:p>
          <a:p>
            <a:r>
              <a:rPr lang="en-US" dirty="0"/>
              <a:t>Encourages a </a:t>
            </a:r>
            <a:r>
              <a:rPr lang="en-US" b="1" dirty="0"/>
              <a:t>culture of responsibility</a:t>
            </a:r>
            <a:r>
              <a:rPr lang="en-US" dirty="0"/>
              <a:t>.</a:t>
            </a:r>
          </a:p>
          <a:p>
            <a:endParaRPr lang="en-CA" dirty="0"/>
          </a:p>
        </p:txBody>
      </p:sp>
    </p:spTree>
    <p:extLst>
      <p:ext uri="{BB962C8B-B14F-4D97-AF65-F5344CB8AC3E}">
        <p14:creationId xmlns:p14="http://schemas.microsoft.com/office/powerpoint/2010/main" val="899109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6FDD3-3F87-08A2-92DE-74C08837B37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63F890C-F307-FBAF-B548-6D0A6A8EE6AC}"/>
              </a:ext>
            </a:extLst>
          </p:cNvPr>
          <p:cNvSpPr>
            <a:spLocks noGrp="1"/>
          </p:cNvSpPr>
          <p:nvPr>
            <p:ph idx="1"/>
          </p:nvPr>
        </p:nvSpPr>
        <p:spPr/>
        <p:txBody>
          <a:bodyPr/>
          <a:lstStyle/>
          <a:p>
            <a:r>
              <a:rPr lang="en-US" b="1" dirty="0"/>
              <a:t>Risks and Challenges of Whistleblowing</a:t>
            </a:r>
          </a:p>
          <a:p>
            <a:r>
              <a:rPr lang="en-US" dirty="0"/>
              <a:t>Fear of </a:t>
            </a:r>
            <a:r>
              <a:rPr lang="en-US" b="1" dirty="0"/>
              <a:t>revenge</a:t>
            </a:r>
            <a:r>
              <a:rPr lang="en-US" dirty="0"/>
              <a:t> (e.g., job loss, demotion, harassment).</a:t>
            </a:r>
          </a:p>
          <a:p>
            <a:r>
              <a:rPr lang="en-US" b="1" dirty="0"/>
              <a:t>Isolation</a:t>
            </a:r>
            <a:r>
              <a:rPr lang="en-US" dirty="0"/>
              <a:t> or negative treatment by colleagues.</a:t>
            </a:r>
          </a:p>
          <a:p>
            <a:r>
              <a:rPr lang="en-US" b="1" dirty="0"/>
              <a:t>Legal and emotional stress</a:t>
            </a:r>
            <a:r>
              <a:rPr lang="en-US" dirty="0"/>
              <a:t> for the whistleblower.</a:t>
            </a:r>
          </a:p>
          <a:p>
            <a:r>
              <a:rPr lang="en-US" dirty="0"/>
              <a:t>Misuse of whistleblowing for </a:t>
            </a:r>
            <a:r>
              <a:rPr lang="en-US" b="1" dirty="0"/>
              <a:t>personal revenge</a:t>
            </a:r>
            <a:r>
              <a:rPr lang="en-US" dirty="0"/>
              <a:t> or false claims.</a:t>
            </a:r>
          </a:p>
          <a:p>
            <a:endParaRPr lang="en-CA" dirty="0"/>
          </a:p>
        </p:txBody>
      </p:sp>
    </p:spTree>
    <p:extLst>
      <p:ext uri="{BB962C8B-B14F-4D97-AF65-F5344CB8AC3E}">
        <p14:creationId xmlns:p14="http://schemas.microsoft.com/office/powerpoint/2010/main" val="2011808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A7D99-EBE4-039D-9F06-FD476D6A775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AC37D24-59C6-D7B6-AFE2-1F18235BF7EA}"/>
              </a:ext>
            </a:extLst>
          </p:cNvPr>
          <p:cNvSpPr>
            <a:spLocks noGrp="1"/>
          </p:cNvSpPr>
          <p:nvPr>
            <p:ph idx="1"/>
          </p:nvPr>
        </p:nvSpPr>
        <p:spPr/>
        <p:txBody>
          <a:bodyPr/>
          <a:lstStyle/>
          <a:p>
            <a:r>
              <a:rPr lang="en-US" dirty="0"/>
              <a:t>Whistleblowing is an </a:t>
            </a:r>
            <a:r>
              <a:rPr lang="en-US" b="1" dirty="0"/>
              <a:t>ethical duty</a:t>
            </a:r>
            <a:r>
              <a:rPr lang="en-US" dirty="0"/>
              <a:t> when it aims to expose wrongdoing that harms people, organizations, or society. Though it can be risky, it is vital for </a:t>
            </a:r>
            <a:r>
              <a:rPr lang="en-US" b="1" dirty="0"/>
              <a:t>upholding integrity, justice, and ethical governance</a:t>
            </a:r>
            <a:r>
              <a:rPr lang="en-US" dirty="0"/>
              <a:t>.</a:t>
            </a:r>
            <a:endParaRPr lang="en-CA" dirty="0"/>
          </a:p>
        </p:txBody>
      </p:sp>
    </p:spTree>
    <p:extLst>
      <p:ext uri="{BB962C8B-B14F-4D97-AF65-F5344CB8AC3E}">
        <p14:creationId xmlns:p14="http://schemas.microsoft.com/office/powerpoint/2010/main" val="9314019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2D1A4-0182-DF83-4230-8885B7FBAD30}"/>
              </a:ext>
            </a:extLst>
          </p:cNvPr>
          <p:cNvSpPr>
            <a:spLocks noGrp="1"/>
          </p:cNvSpPr>
          <p:nvPr>
            <p:ph type="title"/>
          </p:nvPr>
        </p:nvSpPr>
        <p:spPr/>
        <p:txBody>
          <a:bodyPr/>
          <a:lstStyle/>
          <a:p>
            <a:r>
              <a:rPr lang="en-US" b="1" dirty="0"/>
              <a:t>Corporate Social Responsibility</a:t>
            </a:r>
            <a:endParaRPr lang="en-CA" dirty="0"/>
          </a:p>
        </p:txBody>
      </p:sp>
      <p:sp>
        <p:nvSpPr>
          <p:cNvPr id="3" name="Content Placeholder 2">
            <a:extLst>
              <a:ext uri="{FF2B5EF4-FFF2-40B4-BE49-F238E27FC236}">
                <a16:creationId xmlns:a16="http://schemas.microsoft.com/office/drawing/2014/main" id="{0E1EC59D-9F25-A56C-30F8-B67B02B1F70D}"/>
              </a:ext>
            </a:extLst>
          </p:cNvPr>
          <p:cNvSpPr>
            <a:spLocks noGrp="1"/>
          </p:cNvSpPr>
          <p:nvPr>
            <p:ph idx="1"/>
          </p:nvPr>
        </p:nvSpPr>
        <p:spPr/>
        <p:txBody>
          <a:bodyPr/>
          <a:lstStyle/>
          <a:p>
            <a:r>
              <a:rPr lang="en-US" b="1" dirty="0"/>
              <a:t>Corporate Social Responsibility (CSR)</a:t>
            </a:r>
            <a:r>
              <a:rPr lang="en-US" dirty="0"/>
              <a:t> refers to a company’s commitment to operate in an ethical, sustainable, and socially responsible manner. It involves going beyond profit-making to positively impact society, the environment, and all stakeholder including employees, customers, communities, and shareholders.</a:t>
            </a:r>
          </a:p>
          <a:p>
            <a:r>
              <a:rPr lang="en-US" dirty="0"/>
              <a:t>CSR is the concept that businesses should integrate </a:t>
            </a:r>
            <a:r>
              <a:rPr lang="en-US" b="1" dirty="0"/>
              <a:t>social and environmental concerns</a:t>
            </a:r>
            <a:r>
              <a:rPr lang="en-US" dirty="0"/>
              <a:t> into their operations and interactions with stakeholders. It’s often summarized as operating in ways that </a:t>
            </a:r>
            <a:r>
              <a:rPr lang="en-US" b="1" dirty="0"/>
              <a:t>enhance society and the environment</a:t>
            </a:r>
            <a:r>
              <a:rPr lang="en-US" dirty="0"/>
              <a:t>, instead of contributing negatively to them.</a:t>
            </a:r>
            <a:endParaRPr lang="en-CA" dirty="0"/>
          </a:p>
        </p:txBody>
      </p:sp>
    </p:spTree>
    <p:extLst>
      <p:ext uri="{BB962C8B-B14F-4D97-AF65-F5344CB8AC3E}">
        <p14:creationId xmlns:p14="http://schemas.microsoft.com/office/powerpoint/2010/main" val="21735529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149DD-5715-9F77-FC93-4CD9A4A03E05}"/>
              </a:ext>
            </a:extLst>
          </p:cNvPr>
          <p:cNvSpPr>
            <a:spLocks noGrp="1"/>
          </p:cNvSpPr>
          <p:nvPr>
            <p:ph type="title"/>
          </p:nvPr>
        </p:nvSpPr>
        <p:spPr>
          <a:xfrm>
            <a:off x="838200" y="758952"/>
            <a:ext cx="10515600" cy="931736"/>
          </a:xfrm>
        </p:spPr>
        <p:txBody>
          <a:bodyPr>
            <a:normAutofit fontScale="90000"/>
          </a:bodyPr>
          <a:lstStyle/>
          <a:p>
            <a:r>
              <a:rPr lang="en-US" b="1" dirty="0"/>
              <a:t>Key Areas of CSR</a:t>
            </a:r>
            <a:br>
              <a:rPr lang="en-US" b="1" dirty="0"/>
            </a:br>
            <a:endParaRPr lang="en-CA" dirty="0"/>
          </a:p>
        </p:txBody>
      </p:sp>
      <p:sp>
        <p:nvSpPr>
          <p:cNvPr id="3" name="Content Placeholder 2">
            <a:extLst>
              <a:ext uri="{FF2B5EF4-FFF2-40B4-BE49-F238E27FC236}">
                <a16:creationId xmlns:a16="http://schemas.microsoft.com/office/drawing/2014/main" id="{24D350BE-C7EE-A913-6F12-5CD81E360E54}"/>
              </a:ext>
            </a:extLst>
          </p:cNvPr>
          <p:cNvSpPr>
            <a:spLocks noGrp="1"/>
          </p:cNvSpPr>
          <p:nvPr>
            <p:ph idx="1"/>
          </p:nvPr>
        </p:nvSpPr>
        <p:spPr>
          <a:xfrm>
            <a:off x="838200" y="1356852"/>
            <a:ext cx="10515600" cy="5358580"/>
          </a:xfrm>
        </p:spPr>
        <p:txBody>
          <a:bodyPr>
            <a:normAutofit fontScale="92500" lnSpcReduction="20000"/>
          </a:bodyPr>
          <a:lstStyle/>
          <a:p>
            <a:r>
              <a:rPr lang="en-US" b="1" dirty="0"/>
              <a:t>Environmental Responsibility</a:t>
            </a:r>
            <a:endParaRPr lang="en-US" dirty="0"/>
          </a:p>
          <a:p>
            <a:pPr lvl="1"/>
            <a:r>
              <a:rPr lang="en-US" dirty="0"/>
              <a:t>Reducing carbon emissions and waste</a:t>
            </a:r>
          </a:p>
          <a:p>
            <a:pPr lvl="1"/>
            <a:r>
              <a:rPr lang="en-US" dirty="0"/>
              <a:t>Promoting renewable energy and sustainable sourcing</a:t>
            </a:r>
          </a:p>
          <a:p>
            <a:pPr lvl="1"/>
            <a:r>
              <a:rPr lang="en-US" dirty="0"/>
              <a:t>Minimizing pollution and resource depletion</a:t>
            </a:r>
          </a:p>
          <a:p>
            <a:r>
              <a:rPr lang="en-US" b="1" dirty="0"/>
              <a:t>Ethical Responsibility</a:t>
            </a:r>
            <a:endParaRPr lang="en-US" dirty="0"/>
          </a:p>
          <a:p>
            <a:pPr lvl="1"/>
            <a:r>
              <a:rPr lang="en-US" dirty="0"/>
              <a:t>Fair labor practices</a:t>
            </a:r>
          </a:p>
          <a:p>
            <a:pPr lvl="1"/>
            <a:r>
              <a:rPr lang="en-US" dirty="0"/>
              <a:t>Ethical sourcing of materials</a:t>
            </a:r>
          </a:p>
          <a:p>
            <a:pPr lvl="1"/>
            <a:r>
              <a:rPr lang="en-US" dirty="0"/>
              <a:t>Anti-corruption and transparency</a:t>
            </a:r>
          </a:p>
          <a:p>
            <a:r>
              <a:rPr lang="en-US" b="1" dirty="0"/>
              <a:t>Philanthropic Responsibility</a:t>
            </a:r>
            <a:endParaRPr lang="en-US" dirty="0"/>
          </a:p>
          <a:p>
            <a:pPr lvl="1"/>
            <a:r>
              <a:rPr lang="en-US" dirty="0"/>
              <a:t>Donations to charities or community projects</a:t>
            </a:r>
          </a:p>
          <a:p>
            <a:pPr lvl="1"/>
            <a:r>
              <a:rPr lang="en-US" dirty="0"/>
              <a:t>Supporting education, health, and poverty reduction programs</a:t>
            </a:r>
          </a:p>
          <a:p>
            <a:r>
              <a:rPr lang="en-US" b="1" dirty="0"/>
              <a:t>Economic Responsibility</a:t>
            </a:r>
            <a:endParaRPr lang="en-US" dirty="0"/>
          </a:p>
          <a:p>
            <a:pPr lvl="1"/>
            <a:r>
              <a:rPr lang="en-US" dirty="0"/>
              <a:t>Ensuring fair wages and economic sustainability</a:t>
            </a:r>
          </a:p>
          <a:p>
            <a:pPr lvl="1"/>
            <a:r>
              <a:rPr lang="en-US" dirty="0"/>
              <a:t>Creating value for shareholders and society</a:t>
            </a:r>
          </a:p>
          <a:p>
            <a:pPr lvl="1"/>
            <a:r>
              <a:rPr lang="en-US" dirty="0"/>
              <a:t>Supporting local economies</a:t>
            </a:r>
          </a:p>
          <a:p>
            <a:endParaRPr lang="en-CA" dirty="0"/>
          </a:p>
        </p:txBody>
      </p:sp>
    </p:spTree>
    <p:extLst>
      <p:ext uri="{BB962C8B-B14F-4D97-AF65-F5344CB8AC3E}">
        <p14:creationId xmlns:p14="http://schemas.microsoft.com/office/powerpoint/2010/main" val="698545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E2080-0473-E9CC-E8BD-F84B33D5182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D10D66F-68E1-3F99-B391-4EE6687ADF21}"/>
              </a:ext>
            </a:extLst>
          </p:cNvPr>
          <p:cNvSpPr>
            <a:spLocks noGrp="1"/>
          </p:cNvSpPr>
          <p:nvPr>
            <p:ph idx="1"/>
          </p:nvPr>
        </p:nvSpPr>
        <p:spPr/>
        <p:txBody>
          <a:bodyPr/>
          <a:lstStyle/>
          <a:p>
            <a:r>
              <a:rPr lang="en-US" b="1" dirty="0"/>
              <a:t>Benefits of CSR</a:t>
            </a:r>
          </a:p>
          <a:p>
            <a:r>
              <a:rPr lang="en-US" b="1" dirty="0"/>
              <a:t>Improves brand image and reputation</a:t>
            </a:r>
            <a:endParaRPr lang="en-US" dirty="0"/>
          </a:p>
          <a:p>
            <a:r>
              <a:rPr lang="en-US" b="1" dirty="0"/>
              <a:t>Builds customer trust and loyalty</a:t>
            </a:r>
            <a:endParaRPr lang="en-US" dirty="0"/>
          </a:p>
          <a:p>
            <a:r>
              <a:rPr lang="en-US" b="1" dirty="0"/>
              <a:t>Attracts and retains talented employees</a:t>
            </a:r>
            <a:endParaRPr lang="en-US" dirty="0"/>
          </a:p>
          <a:p>
            <a:r>
              <a:rPr lang="en-US" b="1" dirty="0"/>
              <a:t>Reduces operational costs through sustainability</a:t>
            </a:r>
            <a:endParaRPr lang="en-US" dirty="0"/>
          </a:p>
          <a:p>
            <a:r>
              <a:rPr lang="en-US" b="1" dirty="0"/>
              <a:t>Enhances investor confidence</a:t>
            </a:r>
            <a:endParaRPr lang="en-US" dirty="0"/>
          </a:p>
          <a:p>
            <a:endParaRPr lang="en-CA" dirty="0"/>
          </a:p>
        </p:txBody>
      </p:sp>
    </p:spTree>
    <p:extLst>
      <p:ext uri="{BB962C8B-B14F-4D97-AF65-F5344CB8AC3E}">
        <p14:creationId xmlns:p14="http://schemas.microsoft.com/office/powerpoint/2010/main" val="891191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D734-D2F1-2133-1451-00489911D9C3}"/>
              </a:ext>
            </a:extLst>
          </p:cNvPr>
          <p:cNvSpPr>
            <a:spLocks noGrp="1"/>
          </p:cNvSpPr>
          <p:nvPr>
            <p:ph type="title"/>
          </p:nvPr>
        </p:nvSpPr>
        <p:spPr/>
        <p:txBody>
          <a:bodyPr/>
          <a:lstStyle/>
          <a:p>
            <a:r>
              <a:rPr lang="en-US" b="1" dirty="0"/>
              <a:t>Nepal Engineering Council (NEC)’s Professional Code of Conduct</a:t>
            </a:r>
            <a:r>
              <a:rPr lang="en-US" dirty="0"/>
              <a:t>,</a:t>
            </a:r>
            <a:endParaRPr lang="en-CA" dirty="0"/>
          </a:p>
        </p:txBody>
      </p:sp>
      <p:sp>
        <p:nvSpPr>
          <p:cNvPr id="3" name="Content Placeholder 2">
            <a:extLst>
              <a:ext uri="{FF2B5EF4-FFF2-40B4-BE49-F238E27FC236}">
                <a16:creationId xmlns:a16="http://schemas.microsoft.com/office/drawing/2014/main" id="{8617E672-D175-0F42-332C-DFC1F8E08594}"/>
              </a:ext>
            </a:extLst>
          </p:cNvPr>
          <p:cNvSpPr>
            <a:spLocks noGrp="1"/>
          </p:cNvSpPr>
          <p:nvPr>
            <p:ph idx="1"/>
          </p:nvPr>
        </p:nvSpPr>
        <p:spPr/>
        <p:txBody>
          <a:bodyPr/>
          <a:lstStyle/>
          <a:p>
            <a:r>
              <a:rPr lang="en-US" dirty="0"/>
              <a:t>Here is a summary of the </a:t>
            </a:r>
            <a:r>
              <a:rPr lang="en-US" b="1" dirty="0"/>
              <a:t>Nepal Engineering Council (NEC)’s Professional Code of Conduct</a:t>
            </a:r>
            <a:r>
              <a:rPr lang="en-US" dirty="0"/>
              <a:t>, as published under the Nepal Engineering Council Act, 2055 (1998) and the Nepal Engineering Council Regulation, 2057 (2000)</a:t>
            </a:r>
            <a:endParaRPr lang="en-CA" dirty="0"/>
          </a:p>
        </p:txBody>
      </p:sp>
    </p:spTree>
    <p:extLst>
      <p:ext uri="{BB962C8B-B14F-4D97-AF65-F5344CB8AC3E}">
        <p14:creationId xmlns:p14="http://schemas.microsoft.com/office/powerpoint/2010/main" val="29368124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B1B87-4D7A-41C3-0514-BDD4678CFA8C}"/>
              </a:ext>
            </a:extLst>
          </p:cNvPr>
          <p:cNvSpPr>
            <a:spLocks noGrp="1"/>
          </p:cNvSpPr>
          <p:nvPr>
            <p:ph type="title"/>
          </p:nvPr>
        </p:nvSpPr>
        <p:spPr/>
        <p:txBody>
          <a:bodyPr/>
          <a:lstStyle/>
          <a:p>
            <a:r>
              <a:rPr lang="en-US" b="1" dirty="0"/>
              <a:t>Key Articles of the Code of Conduct</a:t>
            </a:r>
            <a:br>
              <a:rPr lang="en-US" b="1" dirty="0"/>
            </a:br>
            <a:endParaRPr lang="en-CA" dirty="0"/>
          </a:p>
        </p:txBody>
      </p:sp>
      <p:sp>
        <p:nvSpPr>
          <p:cNvPr id="3" name="Content Placeholder 2">
            <a:extLst>
              <a:ext uri="{FF2B5EF4-FFF2-40B4-BE49-F238E27FC236}">
                <a16:creationId xmlns:a16="http://schemas.microsoft.com/office/drawing/2014/main" id="{5C23188F-2C63-9EAB-0D24-AE221E3E4E19}"/>
              </a:ext>
            </a:extLst>
          </p:cNvPr>
          <p:cNvSpPr>
            <a:spLocks noGrp="1"/>
          </p:cNvSpPr>
          <p:nvPr>
            <p:ph idx="1"/>
          </p:nvPr>
        </p:nvSpPr>
        <p:spPr>
          <a:xfrm>
            <a:off x="838200" y="1207008"/>
            <a:ext cx="10515600" cy="4969955"/>
          </a:xfrm>
        </p:spPr>
        <p:txBody>
          <a:bodyPr>
            <a:normAutofit/>
          </a:bodyPr>
          <a:lstStyle/>
          <a:p>
            <a:r>
              <a:rPr lang="en-US" b="1" dirty="0"/>
              <a:t>Discipline and Honesty</a:t>
            </a:r>
            <a:br>
              <a:rPr lang="en-US" dirty="0"/>
            </a:br>
            <a:r>
              <a:rPr lang="en-US" dirty="0"/>
              <a:t>Engineers must conduct their professional services in a disciplined manner, with honesty, and in a way that does not undermine the dignity or well-being of the profession. </a:t>
            </a:r>
          </a:p>
          <a:p>
            <a:r>
              <a:rPr lang="en-US" b="1" dirty="0"/>
              <a:t>Politeness and Confidentiality</a:t>
            </a:r>
            <a:br>
              <a:rPr lang="en-US" dirty="0"/>
            </a:br>
            <a:r>
              <a:rPr lang="en-US" dirty="0"/>
              <a:t>Engineers should interact politely with clients/customers, and keep professional information confidential unless consent is given — though disclosure to authorities as required by law is allowed. </a:t>
            </a:r>
          </a:p>
          <a:p>
            <a:r>
              <a:rPr lang="en-US" b="1" dirty="0"/>
              <a:t>Non-Discrimination</a:t>
            </a:r>
            <a:br>
              <a:rPr lang="en-US" dirty="0"/>
            </a:br>
            <a:r>
              <a:rPr lang="en-US" dirty="0"/>
              <a:t>No discrimination should be practiced in delivering engineering services on grounds of religion, race, sex, caste or other such bases. </a:t>
            </a:r>
          </a:p>
          <a:p>
            <a:endParaRPr lang="en-CA" dirty="0"/>
          </a:p>
        </p:txBody>
      </p:sp>
    </p:spTree>
    <p:extLst>
      <p:ext uri="{BB962C8B-B14F-4D97-AF65-F5344CB8AC3E}">
        <p14:creationId xmlns:p14="http://schemas.microsoft.com/office/powerpoint/2010/main" val="21902901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574E-384E-3D30-3E8D-8042CA28B3E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01A7B93-5D8F-1212-60E5-778FBB5858AB}"/>
              </a:ext>
            </a:extLst>
          </p:cNvPr>
          <p:cNvSpPr>
            <a:spLocks noGrp="1"/>
          </p:cNvSpPr>
          <p:nvPr>
            <p:ph idx="1"/>
          </p:nvPr>
        </p:nvSpPr>
        <p:spPr/>
        <p:txBody>
          <a:bodyPr>
            <a:normAutofit/>
          </a:bodyPr>
          <a:lstStyle/>
          <a:p>
            <a:r>
              <a:rPr lang="en-US" b="1" dirty="0"/>
              <a:t>Work Within Competence</a:t>
            </a:r>
            <a:br>
              <a:rPr lang="en-US" dirty="0"/>
            </a:br>
            <a:r>
              <a:rPr lang="en-US" dirty="0"/>
              <a:t>Engineers should only undertake work, or give recommendations, within their field of study or skill set. If a task falls outside one’s expertise, it should be referred to someone qualified in that area. </a:t>
            </a:r>
          </a:p>
          <a:p>
            <a:r>
              <a:rPr lang="en-US" b="1" dirty="0"/>
              <a:t>Avoid Conduct that Harm the Profession</a:t>
            </a:r>
            <a:br>
              <a:rPr lang="en-US" dirty="0"/>
            </a:br>
            <a:r>
              <a:rPr lang="en-US" dirty="0"/>
              <a:t>Other than salary, allowances, or benefits legitimately earned from services rendered, engineers must not seek improper financial gains or engage in activities that could damage the reputation of the engineering profession. </a:t>
            </a:r>
          </a:p>
          <a:p>
            <a:endParaRPr lang="en-CA" dirty="0"/>
          </a:p>
        </p:txBody>
      </p:sp>
    </p:spTree>
    <p:extLst>
      <p:ext uri="{BB962C8B-B14F-4D97-AF65-F5344CB8AC3E}">
        <p14:creationId xmlns:p14="http://schemas.microsoft.com/office/powerpoint/2010/main" val="3711889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D2BA7-3378-C8A5-4D4F-673492387C8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4C74873-3585-E937-07E4-C8AC61766EC1}"/>
              </a:ext>
            </a:extLst>
          </p:cNvPr>
          <p:cNvSpPr>
            <a:spLocks noGrp="1"/>
          </p:cNvSpPr>
          <p:nvPr>
            <p:ph idx="1"/>
          </p:nvPr>
        </p:nvSpPr>
        <p:spPr/>
        <p:txBody>
          <a:bodyPr>
            <a:normAutofit lnSpcReduction="10000"/>
          </a:bodyPr>
          <a:lstStyle/>
          <a:p>
            <a:r>
              <a:rPr lang="en-US" b="1" dirty="0"/>
              <a:t>Personal Responsibility</a:t>
            </a:r>
            <a:br>
              <a:rPr lang="en-US" dirty="0"/>
            </a:br>
            <a:r>
              <a:rPr lang="en-US" dirty="0"/>
              <a:t>Each engineer is personally responsible for all work performed under their professional capacity. </a:t>
            </a:r>
          </a:p>
          <a:p>
            <a:r>
              <a:rPr lang="en-US" b="1" dirty="0"/>
              <a:t>Proper Identification on Documents</a:t>
            </a:r>
            <a:br>
              <a:rPr lang="en-US" dirty="0"/>
            </a:br>
            <a:r>
              <a:rPr lang="en-US" dirty="0"/>
              <a:t>When signing documents (designs, maps, specifications, estimates, etc.), engineers must clearly state their name, designation, and NEC registration number. </a:t>
            </a:r>
          </a:p>
          <a:p>
            <a:r>
              <a:rPr lang="en-US" b="1" dirty="0"/>
              <a:t>No Misleading Publicity/Advertising</a:t>
            </a:r>
            <a:br>
              <a:rPr lang="en-US" dirty="0"/>
            </a:br>
            <a:r>
              <a:rPr lang="en-US" dirty="0"/>
              <a:t>Engineers must avoid publicity or advertising in their professional activities that might create undue or misleading influence on clients/customers. </a:t>
            </a:r>
          </a:p>
          <a:p>
            <a:endParaRPr lang="en-CA" dirty="0"/>
          </a:p>
        </p:txBody>
      </p:sp>
    </p:spTree>
    <p:extLst>
      <p:ext uri="{BB962C8B-B14F-4D97-AF65-F5344CB8AC3E}">
        <p14:creationId xmlns:p14="http://schemas.microsoft.com/office/powerpoint/2010/main" val="1061560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13C54-7D01-FB0B-26C9-1C53E9F29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FE646-8CAE-8F61-CEF7-B79B31DBFCD8}"/>
              </a:ext>
            </a:extLst>
          </p:cNvPr>
          <p:cNvSpPr>
            <a:spLocks noGrp="1"/>
          </p:cNvSpPr>
          <p:nvPr>
            <p:ph type="ctrTitle"/>
          </p:nvPr>
        </p:nvSpPr>
        <p:spPr>
          <a:xfrm>
            <a:off x="749808" y="841249"/>
            <a:ext cx="10296144" cy="283464"/>
          </a:xfrm>
        </p:spPr>
        <p:txBody>
          <a:bodyPr>
            <a:noAutofit/>
          </a:bodyPr>
          <a:lstStyle/>
          <a:p>
            <a:pPr algn="l"/>
            <a:br>
              <a:rPr lang="en-US" sz="2800" dirty="0"/>
            </a:br>
            <a:endParaRPr lang="en-CA" sz="2800" dirty="0"/>
          </a:p>
        </p:txBody>
      </p:sp>
      <p:sp>
        <p:nvSpPr>
          <p:cNvPr id="3" name="Subtitle 2">
            <a:extLst>
              <a:ext uri="{FF2B5EF4-FFF2-40B4-BE49-F238E27FC236}">
                <a16:creationId xmlns:a16="http://schemas.microsoft.com/office/drawing/2014/main" id="{99A224AF-BA53-C4B0-772E-4C6E9CC19574}"/>
              </a:ext>
            </a:extLst>
          </p:cNvPr>
          <p:cNvSpPr>
            <a:spLocks noGrp="1"/>
          </p:cNvSpPr>
          <p:nvPr>
            <p:ph type="subTitle" idx="1"/>
          </p:nvPr>
        </p:nvSpPr>
        <p:spPr>
          <a:xfrm>
            <a:off x="429768" y="612648"/>
            <a:ext cx="11430000" cy="5724143"/>
          </a:xfrm>
        </p:spPr>
        <p:txBody>
          <a:bodyPr>
            <a:normAutofit/>
          </a:bodyPr>
          <a:lstStyle/>
          <a:p>
            <a:pPr algn="l"/>
            <a:r>
              <a:rPr lang="en-US" sz="3600" dirty="0"/>
              <a:t>Unit V:  Ethics and Responsibilities for Professional Practice (4 Hrs.) </a:t>
            </a:r>
            <a:br>
              <a:rPr lang="en-US" sz="3600" dirty="0"/>
            </a:br>
            <a:r>
              <a:rPr lang="en-US" sz="3600" dirty="0"/>
              <a:t>5.1 Professional ethics and responsibilities</a:t>
            </a:r>
            <a:br>
              <a:rPr lang="en-US" sz="3600" dirty="0"/>
            </a:br>
            <a:r>
              <a:rPr lang="en-US" sz="3600" dirty="0"/>
              <a:t>5.1.1 Professional roles and responsibility</a:t>
            </a:r>
            <a:br>
              <a:rPr lang="en-US" sz="3600" dirty="0"/>
            </a:br>
            <a:r>
              <a:rPr lang="en-US" sz="3600" dirty="0"/>
              <a:t>5.1.2 Conflict of interest</a:t>
            </a:r>
            <a:br>
              <a:rPr lang="en-US" sz="3600" dirty="0"/>
            </a:br>
            <a:r>
              <a:rPr lang="en-US" sz="3600" dirty="0"/>
              <a:t>5.1.3 Whistleblowing</a:t>
            </a:r>
            <a:br>
              <a:rPr lang="en-US" sz="3600" dirty="0"/>
            </a:br>
            <a:r>
              <a:rPr lang="en-US" sz="3600" dirty="0"/>
              <a:t>5.1.4 Corporate social responsibility </a:t>
            </a:r>
            <a:br>
              <a:rPr lang="en-US" sz="3600" dirty="0"/>
            </a:br>
            <a:r>
              <a:rPr lang="en-US" sz="3600" dirty="0"/>
              <a:t>5.2 Code of conduct-Nepal Engineering Council, IEEE and ACM</a:t>
            </a:r>
            <a:endParaRPr lang="en-CA" sz="3600" dirty="0"/>
          </a:p>
        </p:txBody>
      </p:sp>
    </p:spTree>
    <p:extLst>
      <p:ext uri="{BB962C8B-B14F-4D97-AF65-F5344CB8AC3E}">
        <p14:creationId xmlns:p14="http://schemas.microsoft.com/office/powerpoint/2010/main" val="3084821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B937B-62E2-2CEE-20BC-41FA66EA6EF6}"/>
              </a:ext>
            </a:extLst>
          </p:cNvPr>
          <p:cNvSpPr>
            <a:spLocks noGrp="1"/>
          </p:cNvSpPr>
          <p:nvPr>
            <p:ph type="title"/>
          </p:nvPr>
        </p:nvSpPr>
        <p:spPr/>
        <p:txBody>
          <a:bodyPr/>
          <a:lstStyle/>
          <a:p>
            <a:r>
              <a:rPr lang="en-US" b="1" dirty="0"/>
              <a:t>Institute of Electrical and Electronics Engineers (IEEE)’s Code of Conduct</a:t>
            </a:r>
            <a:endParaRPr lang="en-CA" dirty="0"/>
          </a:p>
        </p:txBody>
      </p:sp>
      <p:sp>
        <p:nvSpPr>
          <p:cNvPr id="4" name="Rectangle 1">
            <a:extLst>
              <a:ext uri="{FF2B5EF4-FFF2-40B4-BE49-F238E27FC236}">
                <a16:creationId xmlns:a16="http://schemas.microsoft.com/office/drawing/2014/main" id="{97C1B72B-2D0B-77F4-F9D6-DF3319920166}"/>
              </a:ext>
            </a:extLst>
          </p:cNvPr>
          <p:cNvSpPr>
            <a:spLocks noGrp="1" noChangeArrowheads="1"/>
          </p:cNvSpPr>
          <p:nvPr>
            <p:ph idx="1"/>
          </p:nvPr>
        </p:nvSpPr>
        <p:spPr bwMode="auto">
          <a:xfrm>
            <a:off x="838200" y="2708633"/>
            <a:ext cx="1019067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1.Be respectful of others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Act professionally when participating in IEEE activities.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Respect privacy and personal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2. Treat people fairly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harassment (including sexual harassment) or bullying, whether in person or via technology.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discrimination based on legally-protected characteristics (age, race, gender, orientation, etc.).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3.Avoid injuring others, their property, reputation or employment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Avoid false or malicious actions, rumors, defamation.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5018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DDE50-8D2D-BBD5-4B58-CD71BE76FBE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B48E20E-4274-017A-7FD1-50D9DAF1AF3A}"/>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4.Refrain from retaliation</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Do not retaliate against anyone who reports misconduct or a violation of IEEE’s ethics or policies. </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5.Comply with applicable laws and IEEE policies</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Reject bribery in all forms. </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Avoid conflicts of interest; disclose them when they exist.</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Protect confidential and personal information. </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Do not fix prices, restrain trade, manipulate bids, or misuse intellectual property</a:t>
            </a:r>
          </a:p>
          <a:p>
            <a:endParaRPr lang="en-CA" dirty="0"/>
          </a:p>
        </p:txBody>
      </p:sp>
    </p:spTree>
    <p:extLst>
      <p:ext uri="{BB962C8B-B14F-4D97-AF65-F5344CB8AC3E}">
        <p14:creationId xmlns:p14="http://schemas.microsoft.com/office/powerpoint/2010/main" val="2472737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F6C32-B490-17FE-68CE-F93AE978EC8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1E06553-1D80-F6A8-E183-8172539E4CA0}"/>
              </a:ext>
            </a:extLst>
          </p:cNvPr>
          <p:cNvSpPr>
            <a:spLocks noGrp="1"/>
          </p:cNvSpPr>
          <p:nvPr>
            <p:ph idx="1"/>
          </p:nvPr>
        </p:nvSpPr>
        <p:spPr/>
        <p:txBody>
          <a:bodyPr/>
          <a:lstStyle/>
          <a:p>
            <a:r>
              <a:rPr lang="en-US" b="1" dirty="0"/>
              <a:t>What ACM Is</a:t>
            </a:r>
          </a:p>
          <a:p>
            <a:r>
              <a:rPr lang="en-US" dirty="0"/>
              <a:t>The </a:t>
            </a:r>
            <a:r>
              <a:rPr lang="en-US" b="1" dirty="0"/>
              <a:t>Association for Computing Machinery (ACM)</a:t>
            </a:r>
            <a:r>
              <a:rPr lang="en-US" dirty="0"/>
              <a:t> is the </a:t>
            </a:r>
            <a:r>
              <a:rPr lang="en-US" b="1" dirty="0"/>
              <a:t>world’s largest international scientific and educational computing society</a:t>
            </a:r>
            <a:r>
              <a:rPr lang="en-US" dirty="0"/>
              <a:t>.</a:t>
            </a:r>
            <a:br>
              <a:rPr lang="en-US" dirty="0"/>
            </a:br>
            <a:r>
              <a:rPr lang="en-US" dirty="0"/>
              <a:t>It was founded in </a:t>
            </a:r>
            <a:r>
              <a:rPr lang="en-US" b="1" dirty="0"/>
              <a:t>1947</a:t>
            </a:r>
            <a:r>
              <a:rPr lang="en-US" dirty="0"/>
              <a:t> and is headquartered in </a:t>
            </a:r>
            <a:r>
              <a:rPr lang="en-US" b="1" dirty="0"/>
              <a:t>New York, USA</a:t>
            </a:r>
            <a:r>
              <a:rPr lang="en-US" dirty="0"/>
              <a:t>.</a:t>
            </a:r>
          </a:p>
          <a:p>
            <a:r>
              <a:rPr lang="en-US" dirty="0"/>
              <a:t>ACM’s mission is to:</a:t>
            </a:r>
          </a:p>
          <a:p>
            <a:r>
              <a:rPr lang="en-US" b="1" dirty="0"/>
              <a:t>Advance computing as a science and a profession.</a:t>
            </a:r>
            <a:endParaRPr lang="en-US" dirty="0"/>
          </a:p>
          <a:p>
            <a:r>
              <a:rPr lang="en-US" b="1" dirty="0"/>
              <a:t>Promote ethical and responsible use of technology.</a:t>
            </a:r>
            <a:endParaRPr lang="en-US" dirty="0"/>
          </a:p>
          <a:p>
            <a:r>
              <a:rPr lang="en-US" b="1" dirty="0"/>
              <a:t>Support education, research, and collaboration</a:t>
            </a:r>
            <a:r>
              <a:rPr lang="en-US" dirty="0"/>
              <a:t> among computing professionals worldwide.</a:t>
            </a:r>
          </a:p>
          <a:p>
            <a:endParaRPr lang="en-CA" dirty="0"/>
          </a:p>
        </p:txBody>
      </p:sp>
    </p:spTree>
    <p:extLst>
      <p:ext uri="{BB962C8B-B14F-4D97-AF65-F5344CB8AC3E}">
        <p14:creationId xmlns:p14="http://schemas.microsoft.com/office/powerpoint/2010/main" val="3254292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08203-32C1-13AB-B8BA-52201E42B067}"/>
              </a:ext>
            </a:extLst>
          </p:cNvPr>
          <p:cNvSpPr>
            <a:spLocks noGrp="1"/>
          </p:cNvSpPr>
          <p:nvPr>
            <p:ph type="title"/>
          </p:nvPr>
        </p:nvSpPr>
        <p:spPr/>
        <p:txBody>
          <a:bodyPr>
            <a:normAutofit fontScale="90000"/>
          </a:bodyPr>
          <a:lstStyle/>
          <a:p>
            <a:r>
              <a:rPr lang="en-US" dirty="0"/>
              <a:t>ACM Code of Ethics and Professional Conduct (2018)</a:t>
            </a:r>
            <a:br>
              <a:rPr lang="en-CA" dirty="0"/>
            </a:br>
            <a:endParaRPr lang="en-CA" dirty="0"/>
          </a:p>
        </p:txBody>
      </p:sp>
      <p:sp>
        <p:nvSpPr>
          <p:cNvPr id="3" name="Content Placeholder 2">
            <a:extLst>
              <a:ext uri="{FF2B5EF4-FFF2-40B4-BE49-F238E27FC236}">
                <a16:creationId xmlns:a16="http://schemas.microsoft.com/office/drawing/2014/main" id="{1DC376D1-0BF9-38FC-FFE5-0CDA3078B90D}"/>
              </a:ext>
            </a:extLst>
          </p:cNvPr>
          <p:cNvSpPr>
            <a:spLocks noGrp="1"/>
          </p:cNvSpPr>
          <p:nvPr>
            <p:ph idx="1"/>
          </p:nvPr>
        </p:nvSpPr>
        <p:spPr/>
        <p:txBody>
          <a:bodyPr>
            <a:normAutofit fontScale="85000" lnSpcReduction="20000"/>
          </a:bodyPr>
          <a:lstStyle/>
          <a:p>
            <a:r>
              <a:rPr lang="en-US" b="1" dirty="0"/>
              <a:t>1.Do good and help society</a:t>
            </a:r>
          </a:p>
          <a:p>
            <a:r>
              <a:rPr lang="en-US" dirty="0"/>
              <a:t>Use your computing skills to </a:t>
            </a:r>
            <a:r>
              <a:rPr lang="en-US" b="1" dirty="0"/>
              <a:t>benefit people</a:t>
            </a:r>
            <a:r>
              <a:rPr lang="en-US" dirty="0"/>
              <a:t> and make the world better.</a:t>
            </a:r>
          </a:p>
          <a:p>
            <a:r>
              <a:rPr lang="en-US" dirty="0"/>
              <a:t>Think about how your work affects others — people, communities, and the environment.</a:t>
            </a:r>
          </a:p>
          <a:p>
            <a:r>
              <a:rPr lang="en-US" b="1" dirty="0"/>
              <a:t>2. Avoid harm</a:t>
            </a:r>
          </a:p>
          <a:p>
            <a:r>
              <a:rPr lang="en-US" dirty="0"/>
              <a:t>Don’t create or support systems that could hurt others.</a:t>
            </a:r>
          </a:p>
          <a:p>
            <a:r>
              <a:rPr lang="en-US" dirty="0"/>
              <a:t>Protect people’s safety, privacy, and well-being.</a:t>
            </a:r>
          </a:p>
          <a:p>
            <a:r>
              <a:rPr lang="en-US" dirty="0"/>
              <a:t>If harm happens, do your best to fix it.</a:t>
            </a:r>
          </a:p>
          <a:p>
            <a:r>
              <a:rPr lang="en-US" b="1" dirty="0"/>
              <a:t>3. Be honest and trustworthy</a:t>
            </a:r>
          </a:p>
          <a:p>
            <a:r>
              <a:rPr lang="en-US" dirty="0"/>
              <a:t>Always tell the truth about what your technology can and can’t do.</a:t>
            </a:r>
          </a:p>
          <a:p>
            <a:r>
              <a:rPr lang="en-US" dirty="0"/>
              <a:t>Don’t make false claims or take credit for others’ work.</a:t>
            </a:r>
          </a:p>
          <a:p>
            <a:endParaRPr lang="en-CA" dirty="0"/>
          </a:p>
        </p:txBody>
      </p:sp>
    </p:spTree>
    <p:extLst>
      <p:ext uri="{BB962C8B-B14F-4D97-AF65-F5344CB8AC3E}">
        <p14:creationId xmlns:p14="http://schemas.microsoft.com/office/powerpoint/2010/main" val="20697715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6108-A359-1FF9-BBF9-3B4139F1DE62}"/>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206CC46F-D6BF-59F3-C313-2646DA6E9403}"/>
              </a:ext>
            </a:extLst>
          </p:cNvPr>
          <p:cNvSpPr>
            <a:spLocks noGrp="1"/>
          </p:cNvSpPr>
          <p:nvPr>
            <p:ph idx="1"/>
          </p:nvPr>
        </p:nvSpPr>
        <p:spPr/>
        <p:txBody>
          <a:bodyPr>
            <a:normAutofit fontScale="77500" lnSpcReduction="20000"/>
          </a:bodyPr>
          <a:lstStyle/>
          <a:p>
            <a:r>
              <a:rPr lang="en-US" b="1" dirty="0"/>
              <a:t>4. Be fair and don’t discriminate</a:t>
            </a:r>
          </a:p>
          <a:p>
            <a:r>
              <a:rPr lang="en-US" dirty="0"/>
              <a:t>Treat everyone equally — no matter their race, gender, religion, or background.</a:t>
            </a:r>
          </a:p>
          <a:p>
            <a:r>
              <a:rPr lang="en-US" dirty="0"/>
              <a:t>Make computing accessible and fair for all.</a:t>
            </a:r>
          </a:p>
          <a:p>
            <a:r>
              <a:rPr lang="en-US" b="1" dirty="0"/>
              <a:t>5. Respect privacy</a:t>
            </a:r>
          </a:p>
          <a:p>
            <a:r>
              <a:rPr lang="en-US" dirty="0"/>
              <a:t>Keep personal information safe and use it responsibly.</a:t>
            </a:r>
          </a:p>
          <a:p>
            <a:r>
              <a:rPr lang="en-US" dirty="0"/>
              <a:t>Collect data only when necessary, and with consent</a:t>
            </a:r>
          </a:p>
          <a:p>
            <a:pPr marL="0" indent="0">
              <a:buNone/>
            </a:pPr>
            <a:r>
              <a:rPr lang="en-US" b="1" dirty="0"/>
              <a:t>6. Respect property and rights</a:t>
            </a:r>
          </a:p>
          <a:p>
            <a:r>
              <a:rPr lang="en-US" dirty="0"/>
              <a:t>Don’t steal or copy others’ software, data, or ideas.</a:t>
            </a:r>
          </a:p>
          <a:p>
            <a:r>
              <a:rPr lang="en-US" dirty="0"/>
              <a:t>Follow copyright and licensing rules.</a:t>
            </a:r>
          </a:p>
          <a:p>
            <a:r>
              <a:rPr lang="en-US" b="1" dirty="0"/>
              <a:t>7. Keep learning and stay competent</a:t>
            </a:r>
          </a:p>
          <a:p>
            <a:r>
              <a:rPr lang="en-US" dirty="0"/>
              <a:t>Always update your technical and ethical knowledge.</a:t>
            </a:r>
          </a:p>
          <a:p>
            <a:r>
              <a:rPr lang="en-US" dirty="0"/>
              <a:t>Do work only when you have the right skills or experience.</a:t>
            </a:r>
          </a:p>
          <a:p>
            <a:endParaRPr lang="en-CA" dirty="0"/>
          </a:p>
        </p:txBody>
      </p:sp>
    </p:spTree>
    <p:extLst>
      <p:ext uri="{BB962C8B-B14F-4D97-AF65-F5344CB8AC3E}">
        <p14:creationId xmlns:p14="http://schemas.microsoft.com/office/powerpoint/2010/main" val="2912206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BA4E3-E18D-BADD-BDEA-DFCE8C6E57A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AFA8B10-13BD-1D9B-D52A-7E91C9CA70E5}"/>
              </a:ext>
            </a:extLst>
          </p:cNvPr>
          <p:cNvSpPr>
            <a:spLocks noGrp="1"/>
          </p:cNvSpPr>
          <p:nvPr>
            <p:ph idx="1"/>
          </p:nvPr>
        </p:nvSpPr>
        <p:spPr/>
        <p:txBody>
          <a:bodyPr>
            <a:normAutofit lnSpcReduction="10000"/>
          </a:bodyPr>
          <a:lstStyle/>
          <a:p>
            <a:r>
              <a:rPr lang="en-US" b="1" dirty="0"/>
              <a:t>8. Support others and your profession</a:t>
            </a:r>
          </a:p>
          <a:p>
            <a:r>
              <a:rPr lang="en-US" dirty="0"/>
              <a:t>Help colleagues grow and learn.</a:t>
            </a:r>
          </a:p>
          <a:p>
            <a:r>
              <a:rPr lang="en-US" dirty="0"/>
              <a:t>Encourage ethical behavior in your workplace or school.</a:t>
            </a:r>
          </a:p>
          <a:p>
            <a:r>
              <a:rPr lang="en-US" b="1" dirty="0"/>
              <a:t>9. Be a responsible leader (if you are one)</a:t>
            </a:r>
          </a:p>
          <a:p>
            <a:r>
              <a:rPr lang="en-US" dirty="0"/>
              <a:t>Create an environment where people can work honestly and ethically.</a:t>
            </a:r>
          </a:p>
          <a:p>
            <a:r>
              <a:rPr lang="en-US" dirty="0"/>
              <a:t>Make decisions that respect people’s rights and dignity.</a:t>
            </a:r>
          </a:p>
          <a:p>
            <a:r>
              <a:rPr lang="en-US" b="1" dirty="0"/>
              <a:t>10. Follow and promote the Code</a:t>
            </a:r>
          </a:p>
          <a:p>
            <a:r>
              <a:rPr lang="en-US" dirty="0"/>
              <a:t>Follow these rules yourself.</a:t>
            </a:r>
          </a:p>
          <a:p>
            <a:r>
              <a:rPr lang="en-US" dirty="0"/>
              <a:t>Encourage others in computing to follow them too.</a:t>
            </a:r>
          </a:p>
          <a:p>
            <a:endParaRPr lang="en-CA" dirty="0"/>
          </a:p>
        </p:txBody>
      </p:sp>
    </p:spTree>
    <p:extLst>
      <p:ext uri="{BB962C8B-B14F-4D97-AF65-F5344CB8AC3E}">
        <p14:creationId xmlns:p14="http://schemas.microsoft.com/office/powerpoint/2010/main" val="207849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4230</Words>
  <Application>Microsoft Office PowerPoint</Application>
  <PresentationFormat>Widescreen</PresentationFormat>
  <Paragraphs>283</Paragraphs>
  <Slides>52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Calibri Light</vt:lpstr>
      <vt:lpstr>Office Theme</vt:lpstr>
      <vt:lpstr> </vt:lpstr>
      <vt:lpstr>PowerPoint Presentation</vt:lpstr>
      <vt:lpstr>PowerPoint Presentation</vt:lpstr>
      <vt:lpstr>Professional Ethics and Responsibilities</vt:lpstr>
      <vt:lpstr>PowerPoint Presentation</vt:lpstr>
      <vt:lpstr>PowerPoint Presentation</vt:lpstr>
      <vt:lpstr>PowerPoint Presentation</vt:lpstr>
      <vt:lpstr>Importance of professional ethics</vt:lpstr>
      <vt:lpstr> Importance of Ethics in the Workplace </vt:lpstr>
      <vt:lpstr> Principles of Professional Ethics </vt:lpstr>
      <vt:lpstr>PowerPoint Presentation</vt:lpstr>
      <vt:lpstr> Code of ethics  </vt:lpstr>
      <vt:lpstr>PowerPoint Presentation</vt:lpstr>
      <vt:lpstr> Relations with engineers  </vt:lpstr>
      <vt:lpstr>PowerPoint Presentation</vt:lpstr>
      <vt:lpstr>PowerPoint Presentation</vt:lpstr>
      <vt:lpstr>PowerPoint Presentation</vt:lpstr>
      <vt:lpstr> Examples of unprofessional behavior of an engineer </vt:lpstr>
      <vt:lpstr>PowerPoint Presentation</vt:lpstr>
      <vt:lpstr>Core Principles of Professional Ethics </vt:lpstr>
      <vt:lpstr>Examples of Professional Responsibilities </vt:lpstr>
      <vt:lpstr>PowerPoint Presentation</vt:lpstr>
      <vt:lpstr>PowerPoint Presentation</vt:lpstr>
      <vt:lpstr>Professional Roles and Responsibilities</vt:lpstr>
      <vt:lpstr>PowerPoint Presentation</vt:lpstr>
      <vt:lpstr>Importance of Defining Roles and Responsibilities </vt:lpstr>
      <vt:lpstr>Examples by Profession </vt:lpstr>
      <vt:lpstr>Conflict of Interest</vt:lpstr>
      <vt:lpstr>Types of Conflict of Interest </vt:lpstr>
      <vt:lpstr>Common Examples </vt:lpstr>
      <vt:lpstr>Consequences of Conflicts of Interest </vt:lpstr>
      <vt:lpstr>How to Manage or Prevent Conflicts of Interest </vt:lpstr>
      <vt:lpstr>Whistleblowing</vt:lpstr>
      <vt:lpstr>PowerPoint Presentation</vt:lpstr>
      <vt:lpstr>PowerPoint Presentation</vt:lpstr>
      <vt:lpstr>PowerPoint Presentation</vt:lpstr>
      <vt:lpstr>PowerPoint Presentation</vt:lpstr>
      <vt:lpstr>PowerPoint Presentation</vt:lpstr>
      <vt:lpstr>Corporate Social Responsibility</vt:lpstr>
      <vt:lpstr>Key Areas of CSR </vt:lpstr>
      <vt:lpstr>PowerPoint Presentation</vt:lpstr>
      <vt:lpstr>Nepal Engineering Council (NEC)’s Professional Code of Conduct,</vt:lpstr>
      <vt:lpstr>Key Articles of the Code of Conduct </vt:lpstr>
      <vt:lpstr>PowerPoint Presentation</vt:lpstr>
      <vt:lpstr>PowerPoint Presentation</vt:lpstr>
      <vt:lpstr> </vt:lpstr>
      <vt:lpstr>Institute of Electrical and Electronics Engineers (IEEE)’s Code of Conduct</vt:lpstr>
      <vt:lpstr>PowerPoint Presentation</vt:lpstr>
      <vt:lpstr>PowerPoint Presentation</vt:lpstr>
      <vt:lpstr>ACM Code of Ethics and Professional Conduct (2018)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36</cp:revision>
  <dcterms:created xsi:type="dcterms:W3CDTF">2025-10-27T15:14:21Z</dcterms:created>
  <dcterms:modified xsi:type="dcterms:W3CDTF">2026-02-02T03:31:21Z</dcterms:modified>
</cp:coreProperties>
</file>