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257" r:id="rId3"/>
    <p:sldId id="333" r:id="rId4"/>
    <p:sldId id="258" r:id="rId5"/>
    <p:sldId id="259" r:id="rId6"/>
    <p:sldId id="260" r:id="rId7"/>
    <p:sldId id="334" r:id="rId8"/>
    <p:sldId id="335" r:id="rId9"/>
    <p:sldId id="336" r:id="rId10"/>
    <p:sldId id="337" r:id="rId11"/>
    <p:sldId id="338" r:id="rId12"/>
    <p:sldId id="339" r:id="rId13"/>
    <p:sldId id="340" r:id="rId14"/>
    <p:sldId id="342" r:id="rId15"/>
    <p:sldId id="343" r:id="rId16"/>
    <p:sldId id="261" r:id="rId17"/>
    <p:sldId id="262" r:id="rId18"/>
    <p:sldId id="263"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6" r:id="rId40"/>
    <p:sldId id="287" r:id="rId41"/>
    <p:sldId id="288" r:id="rId42"/>
    <p:sldId id="289" r:id="rId43"/>
    <p:sldId id="290" r:id="rId44"/>
    <p:sldId id="291" r:id="rId45"/>
    <p:sldId id="292"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44" r:id="rId64"/>
    <p:sldId id="321" r:id="rId65"/>
    <p:sldId id="322" r:id="rId66"/>
    <p:sldId id="293" r:id="rId67"/>
    <p:sldId id="324" r:id="rId68"/>
    <p:sldId id="325" r:id="rId69"/>
    <p:sldId id="326" r:id="rId70"/>
    <p:sldId id="327" r:id="rId71"/>
    <p:sldId id="328" r:id="rId72"/>
    <p:sldId id="329" r:id="rId73"/>
    <p:sldId id="330"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CC79A-1B64-4A16-B49B-FFE7D34AED2E}" type="datetimeFigureOut">
              <a:rPr lang="en-CA" smtClean="0"/>
              <a:t>2026-01-13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7ECDD-CF2D-4F31-ACCE-037CA92B5033}" type="slidenum">
              <a:rPr lang="en-CA" smtClean="0"/>
              <a:t>‹#›</a:t>
            </a:fld>
            <a:endParaRPr lang="en-CA"/>
          </a:p>
        </p:txBody>
      </p:sp>
    </p:spTree>
    <p:extLst>
      <p:ext uri="{BB962C8B-B14F-4D97-AF65-F5344CB8AC3E}">
        <p14:creationId xmlns:p14="http://schemas.microsoft.com/office/powerpoint/2010/main" val="830765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Lean Canvas</a:t>
            </a:r>
            <a:r>
              <a:rPr lang="en-CA" dirty="0"/>
              <a:t> </a:t>
            </a:r>
            <a:r>
              <a:rPr lang="hi-IN" dirty="0"/>
              <a:t>को एक महत्वपूर्ण कम्पोनेन्ट </a:t>
            </a:r>
            <a:r>
              <a:rPr lang="hi-IN" b="1" dirty="0"/>
              <a:t>“</a:t>
            </a:r>
            <a:r>
              <a:rPr lang="en-CA" b="1" dirty="0"/>
              <a:t>Unfair Advantage (</a:t>
            </a:r>
            <a:r>
              <a:rPr lang="hi-IN" b="1" dirty="0"/>
              <a:t>अनुचित लाभ)”</a:t>
            </a:r>
            <a:r>
              <a:rPr lang="hi-IN" dirty="0"/>
              <a:t> हो। यसले प्रतिस्पर्धीहरूले सजिलै नक्कल गर्न नसक्ने र व्यवसायलाई अरूभन्दा फरक बनाउने विशिष्ट फाइदालाई जनाउँछ। यो स्वामित्व प्रविधि (</a:t>
            </a:r>
            <a:r>
              <a:rPr lang="en-CA" dirty="0"/>
              <a:t>Proprietary Technology), </a:t>
            </a:r>
            <a:r>
              <a:rPr lang="hi-IN" dirty="0"/>
              <a:t>विशेष साझेदारी (</a:t>
            </a:r>
            <a:r>
              <a:rPr lang="en-CA" dirty="0"/>
              <a:t>Exclusive Partnerships), </a:t>
            </a:r>
            <a:r>
              <a:rPr lang="hi-IN" dirty="0"/>
              <a:t>मूल्यवान डाटा, वा टिमको विशेष विशेषज्ञता हुन सक्छ।</a:t>
            </a:r>
          </a:p>
          <a:p>
            <a:r>
              <a:rPr lang="hi-IN" dirty="0"/>
              <a:t>यस प्रकारको अनुचित लाभ पहिचान गर्नु र त्यसको प्रभावकारी उपयोग गर्नु बजारमा दीर्घकालीन सफलता र बलियो प्रतिस्पर्धात्मक स्थान कायम राख्न अत्यन्तै महत्वपूर्ण हुन्छ।</a:t>
            </a:r>
          </a:p>
          <a:p>
            <a:endParaRPr lang="en-CA" dirty="0"/>
          </a:p>
        </p:txBody>
      </p:sp>
      <p:sp>
        <p:nvSpPr>
          <p:cNvPr id="4" name="Slide Number Placeholder 3"/>
          <p:cNvSpPr>
            <a:spLocks noGrp="1"/>
          </p:cNvSpPr>
          <p:nvPr>
            <p:ph type="sldNum" sz="quarter" idx="5"/>
          </p:nvPr>
        </p:nvSpPr>
        <p:spPr/>
        <p:txBody>
          <a:bodyPr/>
          <a:lstStyle/>
          <a:p>
            <a:fld id="{C277ECDD-CF2D-4F31-ACCE-037CA92B5033}" type="slidenum">
              <a:rPr lang="en-CA" smtClean="0"/>
              <a:t>38</a:t>
            </a:fld>
            <a:endParaRPr lang="en-CA"/>
          </a:p>
        </p:txBody>
      </p:sp>
    </p:spTree>
    <p:extLst>
      <p:ext uri="{BB962C8B-B14F-4D97-AF65-F5344CB8AC3E}">
        <p14:creationId xmlns:p14="http://schemas.microsoft.com/office/powerpoint/2010/main" val="1405637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10677-7B64-2F62-155C-ED9985B2F3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05A5377-0B23-F542-5260-DA391B0478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141473E-22C7-A941-16B1-0FA3B580BBAF}"/>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5" name="Footer Placeholder 4">
            <a:extLst>
              <a:ext uri="{FF2B5EF4-FFF2-40B4-BE49-F238E27FC236}">
                <a16:creationId xmlns:a16="http://schemas.microsoft.com/office/drawing/2014/main" id="{9C59A118-982D-9DEE-96CC-FA7D08C5480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58A3A30-E3D4-1A54-750F-1DBCFAD26EAA}"/>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3891859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933F-D7E7-C98C-C5CA-6B2BD89EF0B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0411F1B-ED4A-0C5E-F61A-048C9EE3A9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EEDEC15-79E6-53C0-EFDD-E18A284B0E9D}"/>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5" name="Footer Placeholder 4">
            <a:extLst>
              <a:ext uri="{FF2B5EF4-FFF2-40B4-BE49-F238E27FC236}">
                <a16:creationId xmlns:a16="http://schemas.microsoft.com/office/drawing/2014/main" id="{F8790748-BBE1-3A00-2CF4-EA0855F40EC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0E20D34-8188-FAAE-E4A0-E78E4818B8F3}"/>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247325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DBC1B-C3FA-657A-2E42-A5E04CA7A0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1701240-63CA-85B8-CA03-83CCBC2FA0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7AE4D-3BA4-F5D3-EEF3-B217E3A8532F}"/>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5" name="Footer Placeholder 4">
            <a:extLst>
              <a:ext uri="{FF2B5EF4-FFF2-40B4-BE49-F238E27FC236}">
                <a16:creationId xmlns:a16="http://schemas.microsoft.com/office/drawing/2014/main" id="{FBC0255E-3582-9178-E932-CDBCB47CD9B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DBFD3C9-7634-90F5-9FEA-02E635F21C7A}"/>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4195743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1B1E-499A-F4D6-A588-F58CF2D49AE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0D5DDB9-8A24-0EE2-139C-D77641A45E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1DD4986-DF6C-DA9C-C3ED-E24EA29E39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13C1DAE9-E8AF-1FBF-0B99-DD45A78FA24B}"/>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6" name="Footer Placeholder 5">
            <a:extLst>
              <a:ext uri="{FF2B5EF4-FFF2-40B4-BE49-F238E27FC236}">
                <a16:creationId xmlns:a16="http://schemas.microsoft.com/office/drawing/2014/main" id="{920FDD88-A65C-B5C2-5002-2E5C389E7AC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1AC407A-C294-F486-C84B-7A27DE2A9A65}"/>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1231095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3A92E-74F6-4762-4E88-1355FB17F8F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49B0661-4A5A-337C-CC1B-8CDD6E4716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C3A32E-4AAF-6B19-9CC5-6CA33DA858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97491CA-A314-7585-7BA7-4FEEEF2E5D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27D572-C0F1-44B3-D291-D2CBC4AD52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511E1A6-6A93-3A9B-0C37-54788EF35CD0}"/>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8" name="Footer Placeholder 7">
            <a:extLst>
              <a:ext uri="{FF2B5EF4-FFF2-40B4-BE49-F238E27FC236}">
                <a16:creationId xmlns:a16="http://schemas.microsoft.com/office/drawing/2014/main" id="{EEE0A670-63E5-A887-BD39-D665D44565A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2D94ECCD-3DF2-002D-8A77-1E3A78A499D2}"/>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272871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EABFA-9C2D-4FA0-3398-D3809C7551C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4DCD3211-9891-3C20-D6BD-7D4E3F6282D9}"/>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4" name="Footer Placeholder 3">
            <a:extLst>
              <a:ext uri="{FF2B5EF4-FFF2-40B4-BE49-F238E27FC236}">
                <a16:creationId xmlns:a16="http://schemas.microsoft.com/office/drawing/2014/main" id="{187BEBBD-E944-963F-F49F-E2B529E6D70D}"/>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5E1DF43-0CA0-0D77-7E60-A41BED9A2009}"/>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727962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A21CF5-3337-FE0C-FE54-BD7CA9037892}"/>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3" name="Footer Placeholder 2">
            <a:extLst>
              <a:ext uri="{FF2B5EF4-FFF2-40B4-BE49-F238E27FC236}">
                <a16:creationId xmlns:a16="http://schemas.microsoft.com/office/drawing/2014/main" id="{E5696E30-0C42-DA76-2C09-4570FF56018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2AEA0DB-40F7-BB67-C98A-3E0DF2755555}"/>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3149550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BF76-EE60-9FF2-D614-0E9380657A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BBB2775-5896-2EA3-BF13-E327760763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1E75D599-62B0-8D6C-8D36-DCA16D97BB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B7456-374F-96F9-03F1-AE18E2DC2729}"/>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6" name="Footer Placeholder 5">
            <a:extLst>
              <a:ext uri="{FF2B5EF4-FFF2-40B4-BE49-F238E27FC236}">
                <a16:creationId xmlns:a16="http://schemas.microsoft.com/office/drawing/2014/main" id="{2B0ECB47-D75B-7F0B-FC80-EE8C68A1ADD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9C6C162-224A-AD27-35D7-DCD2020C542C}"/>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786805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1FAFD-7487-0099-697B-3A351DDA51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6021297-61EF-50EC-F68C-8E83DAF3BF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D20B62F-05AC-4A28-4190-27D7CFB9D6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D2C585-5C9A-ABA6-DDAB-4DEA1E9DFB9F}"/>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6" name="Footer Placeholder 5">
            <a:extLst>
              <a:ext uri="{FF2B5EF4-FFF2-40B4-BE49-F238E27FC236}">
                <a16:creationId xmlns:a16="http://schemas.microsoft.com/office/drawing/2014/main" id="{7F90087A-D802-93C4-8C27-D7F0D38F554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BD71814-6311-D133-B5E8-671D28F1EBAF}"/>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3623532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1160-CD27-1B63-43A6-9646C17944DB}"/>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20B142F-AE4F-D82B-9B7E-F534D23102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30ABAAD-5E1A-6121-2F66-E8EBE1774231}"/>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5" name="Footer Placeholder 4">
            <a:extLst>
              <a:ext uri="{FF2B5EF4-FFF2-40B4-BE49-F238E27FC236}">
                <a16:creationId xmlns:a16="http://schemas.microsoft.com/office/drawing/2014/main" id="{7E5FB702-F45C-EFBA-FC90-5302948DBD3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F75328-A9E4-1D46-FA50-CDCD75F8EE5F}"/>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753003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514178-8EAB-9620-BE1F-3BAB4A0187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CA3CB30-57C8-179D-8229-5FDD79CCF9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DC1C438-FDDD-481C-42BD-F8D2B7E18574}"/>
              </a:ext>
            </a:extLst>
          </p:cNvPr>
          <p:cNvSpPr>
            <a:spLocks noGrp="1"/>
          </p:cNvSpPr>
          <p:nvPr>
            <p:ph type="dt" sz="half" idx="10"/>
          </p:nvPr>
        </p:nvSpPr>
        <p:spPr/>
        <p:txBody>
          <a:bodyPr/>
          <a:lstStyle/>
          <a:p>
            <a:fld id="{EB49EAEC-C1A7-4F34-8D87-FA28DF964DB7}" type="datetimeFigureOut">
              <a:rPr lang="en-CA" smtClean="0"/>
              <a:t>2026-01-13</a:t>
            </a:fld>
            <a:endParaRPr lang="en-CA"/>
          </a:p>
        </p:txBody>
      </p:sp>
      <p:sp>
        <p:nvSpPr>
          <p:cNvPr id="5" name="Footer Placeholder 4">
            <a:extLst>
              <a:ext uri="{FF2B5EF4-FFF2-40B4-BE49-F238E27FC236}">
                <a16:creationId xmlns:a16="http://schemas.microsoft.com/office/drawing/2014/main" id="{2278261E-B308-44D8-65DD-6E1A7F30657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51E4C96-498F-41A4-8F7D-36CE2697AB7C}"/>
              </a:ext>
            </a:extLst>
          </p:cNvPr>
          <p:cNvSpPr>
            <a:spLocks noGrp="1"/>
          </p:cNvSpPr>
          <p:nvPr>
            <p:ph type="sldNum" sz="quarter" idx="12"/>
          </p:nvPr>
        </p:nvSpPr>
        <p:spPr/>
        <p:txBody>
          <a:bodyPr/>
          <a:lstStyle/>
          <a:p>
            <a:fld id="{B91C4C87-0906-4BEF-A2A9-22824D722E7C}" type="slidenum">
              <a:rPr lang="en-CA" smtClean="0"/>
              <a:t>‹#›</a:t>
            </a:fld>
            <a:endParaRPr lang="en-CA"/>
          </a:p>
        </p:txBody>
      </p:sp>
    </p:spTree>
    <p:extLst>
      <p:ext uri="{BB962C8B-B14F-4D97-AF65-F5344CB8AC3E}">
        <p14:creationId xmlns:p14="http://schemas.microsoft.com/office/powerpoint/2010/main" val="12125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BD95D-2226-B651-4866-BEBC96F5AF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C817D2F-F1A2-7A64-E266-025DC10450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F10235C-83E4-FDBC-B69C-5CCA0802A7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49EAEC-C1A7-4F34-8D87-FA28DF964DB7}" type="datetimeFigureOut">
              <a:rPr lang="en-CA" smtClean="0"/>
              <a:t>2026-01-13</a:t>
            </a:fld>
            <a:endParaRPr lang="en-CA"/>
          </a:p>
        </p:txBody>
      </p:sp>
      <p:sp>
        <p:nvSpPr>
          <p:cNvPr id="5" name="Footer Placeholder 4">
            <a:extLst>
              <a:ext uri="{FF2B5EF4-FFF2-40B4-BE49-F238E27FC236}">
                <a16:creationId xmlns:a16="http://schemas.microsoft.com/office/drawing/2014/main" id="{A2AEC906-B505-BB07-DE42-6F6E48F48B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57E990EE-D161-038E-8C98-712B9F23A0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1C4C87-0906-4BEF-A2A9-22824D722E7C}" type="slidenum">
              <a:rPr lang="en-CA" smtClean="0"/>
              <a:t>‹#›</a:t>
            </a:fld>
            <a:endParaRPr lang="en-CA"/>
          </a:p>
        </p:txBody>
      </p:sp>
    </p:spTree>
    <p:extLst>
      <p:ext uri="{BB962C8B-B14F-4D97-AF65-F5344CB8AC3E}">
        <p14:creationId xmlns:p14="http://schemas.microsoft.com/office/powerpoint/2010/main" val="975135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5596-1EA1-D18C-2F10-1C857F65F226}"/>
              </a:ext>
            </a:extLst>
          </p:cNvPr>
          <p:cNvSpPr>
            <a:spLocks noGrp="1"/>
          </p:cNvSpPr>
          <p:nvPr>
            <p:ph type="ctrTitle"/>
          </p:nvPr>
        </p:nvSpPr>
        <p:spPr>
          <a:xfrm>
            <a:off x="1524000" y="1122363"/>
            <a:ext cx="9144000" cy="130365"/>
          </a:xfrm>
        </p:spPr>
        <p:txBody>
          <a:bodyPr>
            <a:normAutofit fontScale="90000"/>
          </a:bodyPr>
          <a:lstStyle/>
          <a:p>
            <a:endParaRPr lang="en-CA" dirty="0"/>
          </a:p>
        </p:txBody>
      </p:sp>
      <p:sp>
        <p:nvSpPr>
          <p:cNvPr id="3" name="Subtitle 2">
            <a:extLst>
              <a:ext uri="{FF2B5EF4-FFF2-40B4-BE49-F238E27FC236}">
                <a16:creationId xmlns:a16="http://schemas.microsoft.com/office/drawing/2014/main" id="{29754F3D-DC24-25B0-6FBB-929CAE6DA9E5}"/>
              </a:ext>
            </a:extLst>
          </p:cNvPr>
          <p:cNvSpPr>
            <a:spLocks noGrp="1"/>
          </p:cNvSpPr>
          <p:nvPr>
            <p:ph type="subTitle" idx="1"/>
          </p:nvPr>
        </p:nvSpPr>
        <p:spPr>
          <a:xfrm>
            <a:off x="1078992" y="1252728"/>
            <a:ext cx="10543032" cy="4663440"/>
          </a:xfrm>
        </p:spPr>
        <p:txBody>
          <a:bodyPr>
            <a:normAutofit/>
          </a:bodyPr>
          <a:lstStyle/>
          <a:p>
            <a:pPr algn="l"/>
            <a:r>
              <a:rPr lang="en-US" b="1" dirty="0"/>
              <a:t>Unit IV:  Business Modeling, Planning and Pitching               (6 Hrs.) </a:t>
            </a:r>
            <a:endParaRPr lang="en-CA" dirty="0"/>
          </a:p>
          <a:p>
            <a:pPr algn="l"/>
            <a:r>
              <a:rPr lang="en-US" dirty="0"/>
              <a:t>4.1</a:t>
            </a:r>
            <a:r>
              <a:rPr lang="en-US" b="1" dirty="0"/>
              <a:t> </a:t>
            </a:r>
            <a:r>
              <a:rPr lang="en-US" dirty="0"/>
              <a:t>Business canvas</a:t>
            </a:r>
            <a:endParaRPr lang="en-CA" dirty="0"/>
          </a:p>
          <a:p>
            <a:pPr algn="l"/>
            <a:r>
              <a:rPr lang="en-US" dirty="0"/>
              <a:t>4.1.1 Types of business canvases: business model, value proposition and lean</a:t>
            </a:r>
            <a:endParaRPr lang="en-CA" dirty="0"/>
          </a:p>
          <a:p>
            <a:pPr algn="l"/>
            <a:r>
              <a:rPr lang="en-US" dirty="0"/>
              <a:t>4.2 Business plan</a:t>
            </a:r>
            <a:endParaRPr lang="en-CA" dirty="0"/>
          </a:p>
          <a:p>
            <a:pPr algn="l"/>
            <a:r>
              <a:rPr lang="en-US" dirty="0"/>
              <a:t>4.2.1 Importance of the business plan</a:t>
            </a:r>
            <a:endParaRPr lang="en-CA" dirty="0"/>
          </a:p>
          <a:p>
            <a:pPr algn="l"/>
            <a:r>
              <a:rPr lang="en-US" dirty="0"/>
              <a:t>4.2.2 Contents of a successful business plan</a:t>
            </a:r>
            <a:endParaRPr lang="en-CA" dirty="0"/>
          </a:p>
          <a:p>
            <a:pPr algn="l"/>
            <a:r>
              <a:rPr lang="en-US" dirty="0"/>
              <a:t>4.3 Business pitch</a:t>
            </a:r>
            <a:endParaRPr lang="en-CA" dirty="0"/>
          </a:p>
          <a:p>
            <a:pPr algn="l"/>
            <a:r>
              <a:rPr lang="en-US" dirty="0"/>
              <a:t>4.3.1 Contents of successful idea pitch for different stakeholder</a:t>
            </a:r>
            <a:endParaRPr lang="en-CA" dirty="0"/>
          </a:p>
          <a:p>
            <a:pPr algn="l"/>
            <a:r>
              <a:rPr lang="en-US" dirty="0"/>
              <a:t>4.3.2 Pitch delivery skills</a:t>
            </a:r>
            <a:endParaRPr lang="en-CA" dirty="0"/>
          </a:p>
        </p:txBody>
      </p:sp>
    </p:spTree>
    <p:extLst>
      <p:ext uri="{BB962C8B-B14F-4D97-AF65-F5344CB8AC3E}">
        <p14:creationId xmlns:p14="http://schemas.microsoft.com/office/powerpoint/2010/main" val="1351991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AFE67-C885-B4C5-B597-4F62982E6346}"/>
              </a:ext>
            </a:extLst>
          </p:cNvPr>
          <p:cNvSpPr>
            <a:spLocks noGrp="1"/>
          </p:cNvSpPr>
          <p:nvPr>
            <p:ph type="title"/>
          </p:nvPr>
        </p:nvSpPr>
        <p:spPr/>
        <p:txBody>
          <a:bodyPr/>
          <a:lstStyle/>
          <a:p>
            <a:r>
              <a:rPr lang="en-US" b="1" dirty="0"/>
              <a:t>Business canvas</a:t>
            </a:r>
            <a:endParaRPr lang="en-CA" dirty="0"/>
          </a:p>
        </p:txBody>
      </p:sp>
      <p:sp>
        <p:nvSpPr>
          <p:cNvPr id="3" name="Content Placeholder 2">
            <a:extLst>
              <a:ext uri="{FF2B5EF4-FFF2-40B4-BE49-F238E27FC236}">
                <a16:creationId xmlns:a16="http://schemas.microsoft.com/office/drawing/2014/main" id="{6D6CAE43-0D0D-44CB-DDE4-6098559A4468}"/>
              </a:ext>
            </a:extLst>
          </p:cNvPr>
          <p:cNvSpPr>
            <a:spLocks noGrp="1"/>
          </p:cNvSpPr>
          <p:nvPr>
            <p:ph idx="1"/>
          </p:nvPr>
        </p:nvSpPr>
        <p:spPr/>
        <p:txBody>
          <a:bodyPr/>
          <a:lstStyle/>
          <a:p>
            <a:pPr>
              <a:buNone/>
            </a:pPr>
            <a:r>
              <a:rPr lang="en-US" dirty="0"/>
              <a:t>The phrase </a:t>
            </a:r>
            <a:r>
              <a:rPr lang="en-US" b="1" dirty="0"/>
              <a:t>"Business canvas"</a:t>
            </a:r>
            <a:r>
              <a:rPr lang="en-US" dirty="0"/>
              <a:t> most commonly refers to the </a:t>
            </a:r>
            <a:r>
              <a:rPr lang="en-US" b="1" dirty="0"/>
              <a:t>Business Model Canvas (BMC)</a:t>
            </a:r>
            <a:r>
              <a:rPr lang="en-US" dirty="0"/>
              <a:t>.  It's a strategic management and entrepreneurial tool used to describe, design, and discover a business model.</a:t>
            </a:r>
          </a:p>
          <a:p>
            <a:pPr>
              <a:buNone/>
            </a:pPr>
            <a:r>
              <a:rPr lang="en-US" dirty="0"/>
              <a:t>Developed by Alexander Osterwalder, the BMC is a visual chart that summarizes a business on a single page by dividing it into </a:t>
            </a:r>
            <a:r>
              <a:rPr lang="en-US" b="1" dirty="0"/>
              <a:t>nine fundamental building blocks</a:t>
            </a:r>
            <a:r>
              <a:rPr lang="en-US" dirty="0"/>
              <a:t>. </a:t>
            </a:r>
            <a:endParaRPr lang="en-CA" dirty="0"/>
          </a:p>
        </p:txBody>
      </p:sp>
    </p:spTree>
    <p:extLst>
      <p:ext uri="{BB962C8B-B14F-4D97-AF65-F5344CB8AC3E}">
        <p14:creationId xmlns:p14="http://schemas.microsoft.com/office/powerpoint/2010/main" val="3580995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F23C0-E61F-FC8F-B090-06F55E755EDE}"/>
              </a:ext>
            </a:extLst>
          </p:cNvPr>
          <p:cNvSpPr>
            <a:spLocks noGrp="1"/>
          </p:cNvSpPr>
          <p:nvPr>
            <p:ph type="title"/>
          </p:nvPr>
        </p:nvSpPr>
        <p:spPr>
          <a:xfrm>
            <a:off x="838200" y="365126"/>
            <a:ext cx="10515600" cy="315912"/>
          </a:xfrm>
        </p:spPr>
        <p:txBody>
          <a:bodyPr>
            <a:normAutofit fontScale="90000"/>
          </a:bodyPr>
          <a:lstStyle/>
          <a:p>
            <a:endParaRPr lang="en-CA" dirty="0"/>
          </a:p>
        </p:txBody>
      </p:sp>
      <p:pic>
        <p:nvPicPr>
          <p:cNvPr id="5" name="Content Placeholder 4">
            <a:extLst>
              <a:ext uri="{FF2B5EF4-FFF2-40B4-BE49-F238E27FC236}">
                <a16:creationId xmlns:a16="http://schemas.microsoft.com/office/drawing/2014/main" id="{6B5EE0B5-EC87-AB33-4128-4EEA30B643D7}"/>
              </a:ext>
            </a:extLst>
          </p:cNvPr>
          <p:cNvPicPr>
            <a:picLocks noGrp="1" noChangeAspect="1"/>
          </p:cNvPicPr>
          <p:nvPr>
            <p:ph idx="1"/>
          </p:nvPr>
        </p:nvPicPr>
        <p:blipFill>
          <a:blip r:embed="rId2"/>
          <a:stretch>
            <a:fillRect/>
          </a:stretch>
        </p:blipFill>
        <p:spPr>
          <a:xfrm>
            <a:off x="521208" y="905256"/>
            <a:ext cx="10735056" cy="5271707"/>
          </a:xfrm>
          <a:prstGeom prst="rect">
            <a:avLst/>
          </a:prstGeom>
        </p:spPr>
      </p:pic>
    </p:spTree>
    <p:extLst>
      <p:ext uri="{BB962C8B-B14F-4D97-AF65-F5344CB8AC3E}">
        <p14:creationId xmlns:p14="http://schemas.microsoft.com/office/powerpoint/2010/main" val="1805908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7221E-29D6-52FA-2864-A022750A09CA}"/>
              </a:ext>
            </a:extLst>
          </p:cNvPr>
          <p:cNvSpPr>
            <a:spLocks noGrp="1"/>
          </p:cNvSpPr>
          <p:nvPr>
            <p:ph type="title"/>
          </p:nvPr>
        </p:nvSpPr>
        <p:spPr>
          <a:xfrm>
            <a:off x="838200" y="877824"/>
            <a:ext cx="10515600" cy="329184"/>
          </a:xfrm>
        </p:spPr>
        <p:txBody>
          <a:bodyPr>
            <a:normAutofit fontScale="90000"/>
          </a:bodyPr>
          <a:lstStyle/>
          <a:p>
            <a:r>
              <a:rPr lang="en-US" b="1" dirty="0"/>
              <a:t>9 Building Blocks of the Business Model Canvas</a:t>
            </a:r>
            <a:br>
              <a:rPr lang="en-US" b="1" dirty="0"/>
            </a:br>
            <a:endParaRPr lang="en-CA" dirty="0"/>
          </a:p>
        </p:txBody>
      </p:sp>
      <p:sp>
        <p:nvSpPr>
          <p:cNvPr id="3" name="Content Placeholder 2">
            <a:extLst>
              <a:ext uri="{FF2B5EF4-FFF2-40B4-BE49-F238E27FC236}">
                <a16:creationId xmlns:a16="http://schemas.microsoft.com/office/drawing/2014/main" id="{C3DE40C1-B51B-D176-9F52-FE8429A7742E}"/>
              </a:ext>
            </a:extLst>
          </p:cNvPr>
          <p:cNvSpPr>
            <a:spLocks noGrp="1"/>
          </p:cNvSpPr>
          <p:nvPr>
            <p:ph idx="1"/>
          </p:nvPr>
        </p:nvSpPr>
        <p:spPr>
          <a:xfrm>
            <a:off x="722376" y="1133856"/>
            <a:ext cx="10631424" cy="5043107"/>
          </a:xfrm>
        </p:spPr>
        <p:txBody>
          <a:bodyPr>
            <a:normAutofit fontScale="92500" lnSpcReduction="20000"/>
          </a:bodyPr>
          <a:lstStyle/>
          <a:p>
            <a:pPr marL="0" indent="0">
              <a:buNone/>
            </a:pPr>
            <a:endParaRPr lang="en-US" dirty="0"/>
          </a:p>
          <a:p>
            <a:r>
              <a:rPr lang="en-US" dirty="0"/>
              <a:t>The nine components are grouped into four main areas of a business: </a:t>
            </a:r>
            <a:r>
              <a:rPr lang="en-US" b="1" dirty="0"/>
              <a:t>Customers, Offering, Infrastructure,</a:t>
            </a:r>
            <a:r>
              <a:rPr lang="en-US" dirty="0"/>
              <a:t> and </a:t>
            </a:r>
            <a:r>
              <a:rPr lang="en-US" b="1" dirty="0"/>
              <a:t>Financial Viability</a:t>
            </a:r>
            <a:r>
              <a:rPr lang="en-US" dirty="0"/>
              <a:t>.</a:t>
            </a:r>
          </a:p>
          <a:p>
            <a:r>
              <a:rPr lang="en-US" b="1" dirty="0"/>
              <a:t>I. Customers (Right Side)</a:t>
            </a:r>
          </a:p>
          <a:p>
            <a:r>
              <a:rPr lang="en-US" dirty="0"/>
              <a:t>This section focuses on who the business serves and how it connects with them.</a:t>
            </a:r>
          </a:p>
          <a:p>
            <a:r>
              <a:rPr lang="en-US" b="1" dirty="0"/>
              <a:t>1.Customer Segments:</a:t>
            </a:r>
            <a:r>
              <a:rPr lang="en-US" dirty="0"/>
              <a:t> The different groups of people or organizations an enterprise aims to reach and serve.</a:t>
            </a:r>
          </a:p>
          <a:p>
            <a:r>
              <a:rPr lang="en-US" b="1" dirty="0"/>
              <a:t>2.Customer Relationships:</a:t>
            </a:r>
            <a:r>
              <a:rPr lang="en-US" dirty="0"/>
              <a:t> The types of relationships a company establishes with specific Customer Segments. Communication with customers via telephone, mails, online </a:t>
            </a:r>
            <a:r>
              <a:rPr lang="en-US" dirty="0" err="1"/>
              <a:t>etc</a:t>
            </a:r>
            <a:r>
              <a:rPr lang="en-US" dirty="0"/>
              <a:t>, </a:t>
            </a:r>
          </a:p>
          <a:p>
            <a:r>
              <a:rPr lang="en-US" b="1" dirty="0"/>
              <a:t>3.Channels:</a:t>
            </a:r>
            <a:r>
              <a:rPr lang="en-US" dirty="0"/>
              <a:t> How a company communicates with and reaches its Customer Segments to deliver its Value Proposition (e.g., direct sales, web sales, retail stores).</a:t>
            </a:r>
          </a:p>
          <a:p>
            <a:endParaRPr lang="en-CA" dirty="0"/>
          </a:p>
        </p:txBody>
      </p:sp>
    </p:spTree>
    <p:extLst>
      <p:ext uri="{BB962C8B-B14F-4D97-AF65-F5344CB8AC3E}">
        <p14:creationId xmlns:p14="http://schemas.microsoft.com/office/powerpoint/2010/main" val="196274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7EA7B-8E6F-95D2-CD8E-FFFEEB971790}"/>
              </a:ext>
            </a:extLst>
          </p:cNvPr>
          <p:cNvSpPr>
            <a:spLocks noGrp="1"/>
          </p:cNvSpPr>
          <p:nvPr>
            <p:ph type="title"/>
          </p:nvPr>
        </p:nvSpPr>
        <p:spPr>
          <a:xfrm>
            <a:off x="838200" y="365125"/>
            <a:ext cx="10515600" cy="50355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2AA939C4-D7E2-22ED-1266-772A8DA98DED}"/>
              </a:ext>
            </a:extLst>
          </p:cNvPr>
          <p:cNvSpPr>
            <a:spLocks noGrp="1"/>
          </p:cNvSpPr>
          <p:nvPr>
            <p:ph idx="1"/>
          </p:nvPr>
        </p:nvSpPr>
        <p:spPr>
          <a:xfrm>
            <a:off x="838200" y="1179576"/>
            <a:ext cx="10515600" cy="4997387"/>
          </a:xfrm>
        </p:spPr>
        <p:txBody>
          <a:bodyPr>
            <a:normAutofit fontScale="85000" lnSpcReduction="20000"/>
          </a:bodyPr>
          <a:lstStyle/>
          <a:p>
            <a:r>
              <a:rPr lang="en-US" b="1" dirty="0"/>
              <a:t>II. Offering (Center)</a:t>
            </a:r>
          </a:p>
          <a:p>
            <a:r>
              <a:rPr lang="en-US" dirty="0"/>
              <a:t>This block is the heart of the business model.</a:t>
            </a:r>
          </a:p>
          <a:p>
            <a:r>
              <a:rPr lang="en-US" b="1" dirty="0"/>
              <a:t>4.Value Propositions:</a:t>
            </a:r>
            <a:r>
              <a:rPr lang="en-US" dirty="0"/>
              <a:t> The collection of products and services that create value for a specific Customer Segment. It's what differentiates the company from its competitors.</a:t>
            </a:r>
          </a:p>
          <a:p>
            <a:r>
              <a:rPr lang="en-US" b="1" dirty="0"/>
              <a:t>III. Infrastructure (Left Side)</a:t>
            </a:r>
          </a:p>
          <a:p>
            <a:r>
              <a:rPr lang="en-US" dirty="0"/>
              <a:t>This area describes the resources and activities needed to create and deliver the value proposition.</a:t>
            </a:r>
          </a:p>
          <a:p>
            <a:r>
              <a:rPr lang="en-US" b="1" dirty="0"/>
              <a:t>5Key Activities:</a:t>
            </a:r>
            <a:r>
              <a:rPr lang="en-US" dirty="0"/>
              <a:t> The most important things a company must do to make its business model work (e.g., production, problem-solving, networking).</a:t>
            </a:r>
          </a:p>
          <a:p>
            <a:r>
              <a:rPr lang="en-US" b="1" dirty="0"/>
              <a:t>6Key Resources:</a:t>
            </a:r>
            <a:r>
              <a:rPr lang="en-US" dirty="0"/>
              <a:t> The most important assets required to make a business model work (e.g., physical, intellectual, human, financial).</a:t>
            </a:r>
          </a:p>
          <a:p>
            <a:r>
              <a:rPr lang="en-US" b="1" dirty="0"/>
              <a:t>7Key Partnerships:</a:t>
            </a:r>
            <a:r>
              <a:rPr lang="en-US" dirty="0"/>
              <a:t> The network of suppliers and partners that make the business model work.</a:t>
            </a:r>
          </a:p>
          <a:p>
            <a:endParaRPr lang="en-CA" dirty="0"/>
          </a:p>
        </p:txBody>
      </p:sp>
    </p:spTree>
    <p:extLst>
      <p:ext uri="{BB962C8B-B14F-4D97-AF65-F5344CB8AC3E}">
        <p14:creationId xmlns:p14="http://schemas.microsoft.com/office/powerpoint/2010/main" val="2092235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DA707-08C5-79FA-7E83-DD951174082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C9E180B-0609-86CF-4797-7F35955EEBE4}"/>
              </a:ext>
            </a:extLst>
          </p:cNvPr>
          <p:cNvSpPr>
            <a:spLocks noGrp="1"/>
          </p:cNvSpPr>
          <p:nvPr>
            <p:ph idx="1"/>
          </p:nvPr>
        </p:nvSpPr>
        <p:spPr/>
        <p:txBody>
          <a:bodyPr>
            <a:normAutofit fontScale="92500" lnSpcReduction="10000"/>
          </a:bodyPr>
          <a:lstStyle/>
          <a:p>
            <a:r>
              <a:rPr lang="en-US" b="1" dirty="0"/>
              <a:t>IV. Financial Viability </a:t>
            </a:r>
          </a:p>
          <a:p>
            <a:r>
              <a:rPr lang="en-US" dirty="0"/>
              <a:t>These blocks represent the costs and revenues of the business model.</a:t>
            </a:r>
          </a:p>
          <a:p>
            <a:r>
              <a:rPr lang="en-US" b="1" dirty="0"/>
              <a:t>8.Cost Structure:</a:t>
            </a:r>
            <a:r>
              <a:rPr lang="en-US" dirty="0"/>
              <a:t> All costs incurred to operate the business model (e.g., fixed costs, variable costs, economies of scale).</a:t>
            </a:r>
          </a:p>
          <a:p>
            <a:r>
              <a:rPr lang="en-US" b="1" dirty="0"/>
              <a:t>9.Revenue Streams:</a:t>
            </a:r>
            <a:r>
              <a:rPr lang="en-US" dirty="0"/>
              <a:t> The cash a company generates from each Customer Segment (e.g., sales, subscription fees, licensing fees).</a:t>
            </a:r>
            <a:br>
              <a:rPr lang="en-US" dirty="0"/>
            </a:br>
            <a:endParaRPr lang="en-US" dirty="0"/>
          </a:p>
          <a:p>
            <a:r>
              <a:rPr lang="en-US" dirty="0"/>
              <a:t>The Business Model Canvas is often used with sticky notes on a large printed template, making it a very hands-on and collaborative tool for </a:t>
            </a:r>
            <a:r>
              <a:rPr lang="en-US" b="1" dirty="0"/>
              <a:t>brainstorming and quickly prototyping</a:t>
            </a:r>
            <a:r>
              <a:rPr lang="en-US" dirty="0"/>
              <a:t> new business ideas or documenting and analyzing existing ones.</a:t>
            </a:r>
          </a:p>
          <a:p>
            <a:endParaRPr lang="en-CA" dirty="0"/>
          </a:p>
        </p:txBody>
      </p:sp>
    </p:spTree>
    <p:extLst>
      <p:ext uri="{BB962C8B-B14F-4D97-AF65-F5344CB8AC3E}">
        <p14:creationId xmlns:p14="http://schemas.microsoft.com/office/powerpoint/2010/main" val="395289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ECE9F-7171-5A9C-D818-3827E9505018}"/>
              </a:ext>
            </a:extLst>
          </p:cNvPr>
          <p:cNvSpPr>
            <a:spLocks noGrp="1"/>
          </p:cNvSpPr>
          <p:nvPr>
            <p:ph type="title"/>
          </p:nvPr>
        </p:nvSpPr>
        <p:spPr/>
        <p:txBody>
          <a:bodyPr/>
          <a:lstStyle/>
          <a:p>
            <a:r>
              <a:rPr lang="en-US" dirty="0"/>
              <a:t>Or, you can write this too  </a:t>
            </a:r>
            <a:endParaRPr lang="en-CA" dirty="0"/>
          </a:p>
        </p:txBody>
      </p:sp>
      <p:sp>
        <p:nvSpPr>
          <p:cNvPr id="3" name="Content Placeholder 2">
            <a:extLst>
              <a:ext uri="{FF2B5EF4-FFF2-40B4-BE49-F238E27FC236}">
                <a16:creationId xmlns:a16="http://schemas.microsoft.com/office/drawing/2014/main" id="{B1FFA1EE-B8EC-9656-5433-0C691C271106}"/>
              </a:ext>
            </a:extLst>
          </p:cNvPr>
          <p:cNvSpPr>
            <a:spLocks noGrp="1"/>
          </p:cNvSpPr>
          <p:nvPr>
            <p:ph idx="1"/>
          </p:nvPr>
        </p:nvSpPr>
        <p:spPr>
          <a:xfrm>
            <a:off x="838200" y="1344168"/>
            <a:ext cx="10515600" cy="4832795"/>
          </a:xfrm>
        </p:spPr>
        <p:txBody>
          <a:bodyPr>
            <a:normAutofit/>
          </a:bodyPr>
          <a:lstStyle/>
          <a:p>
            <a:r>
              <a:rPr lang="en-US" b="1" dirty="0"/>
              <a:t>1. Key Partners</a:t>
            </a:r>
          </a:p>
          <a:p>
            <a:r>
              <a:rPr lang="en-US" b="1" dirty="0"/>
              <a:t>Who are our Key Partners?</a:t>
            </a:r>
            <a:br>
              <a:rPr lang="en-US" dirty="0"/>
            </a:br>
            <a:r>
              <a:rPr lang="en-US" b="1" dirty="0"/>
              <a:t>Who are our key suppliers?</a:t>
            </a:r>
            <a:br>
              <a:rPr lang="en-US" dirty="0"/>
            </a:br>
            <a:r>
              <a:rPr lang="en-US" b="1" dirty="0"/>
              <a:t>Which key resources are we acquiring from partners?</a:t>
            </a:r>
            <a:br>
              <a:rPr lang="en-US" dirty="0"/>
            </a:br>
            <a:r>
              <a:rPr lang="en-US" b="1" dirty="0"/>
              <a:t>Which key activities do partners perform?</a:t>
            </a:r>
            <a:endParaRPr lang="en-US" dirty="0"/>
          </a:p>
          <a:p>
            <a:r>
              <a:rPr lang="en-US" b="1" dirty="0"/>
              <a:t>Motivations for Partnerships</a:t>
            </a:r>
            <a:endParaRPr lang="en-US" dirty="0"/>
          </a:p>
          <a:p>
            <a:r>
              <a:rPr lang="en-US" dirty="0"/>
              <a:t>Optimization and economy</a:t>
            </a:r>
          </a:p>
          <a:p>
            <a:r>
              <a:rPr lang="en-US" dirty="0"/>
              <a:t>Reduction of risk and uncertainty</a:t>
            </a:r>
          </a:p>
          <a:p>
            <a:r>
              <a:rPr lang="en-US" dirty="0"/>
              <a:t>Acquisition of particular resources and activities</a:t>
            </a:r>
            <a:br>
              <a:rPr lang="en-US" dirty="0"/>
            </a:br>
            <a:endParaRPr lang="en-US" dirty="0"/>
          </a:p>
          <a:p>
            <a:endParaRPr lang="en-CA" dirty="0"/>
          </a:p>
        </p:txBody>
      </p:sp>
    </p:spTree>
    <p:extLst>
      <p:ext uri="{BB962C8B-B14F-4D97-AF65-F5344CB8AC3E}">
        <p14:creationId xmlns:p14="http://schemas.microsoft.com/office/powerpoint/2010/main" val="652801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06AB9-B722-09D3-95D8-869F4C4BFA1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749CFAD-DD7E-CF8A-A474-BF6D84EA0916}"/>
              </a:ext>
            </a:extLst>
          </p:cNvPr>
          <p:cNvSpPr>
            <a:spLocks noGrp="1"/>
          </p:cNvSpPr>
          <p:nvPr>
            <p:ph idx="1"/>
          </p:nvPr>
        </p:nvSpPr>
        <p:spPr/>
        <p:txBody>
          <a:bodyPr>
            <a:normAutofit fontScale="92500" lnSpcReduction="10000"/>
          </a:bodyPr>
          <a:lstStyle/>
          <a:p>
            <a:r>
              <a:rPr lang="en-US" b="1" dirty="0"/>
              <a:t>2. Key Activities</a:t>
            </a:r>
          </a:p>
          <a:p>
            <a:r>
              <a:rPr lang="en-US" b="1" dirty="0"/>
              <a:t>What key activities do our value propositions require?</a:t>
            </a:r>
            <a:endParaRPr lang="en-US" dirty="0"/>
          </a:p>
          <a:p>
            <a:r>
              <a:rPr lang="en-US" dirty="0"/>
              <a:t>Production</a:t>
            </a:r>
          </a:p>
          <a:p>
            <a:r>
              <a:rPr lang="en-US" dirty="0"/>
              <a:t>Problem solving</a:t>
            </a:r>
          </a:p>
          <a:p>
            <a:r>
              <a:rPr lang="en-US" dirty="0"/>
              <a:t>Platform/network management</a:t>
            </a:r>
          </a:p>
          <a:p>
            <a:r>
              <a:rPr lang="en-US" b="1" dirty="0"/>
              <a:t>Our key activities relate to:</a:t>
            </a:r>
            <a:endParaRPr lang="en-US" dirty="0"/>
          </a:p>
          <a:p>
            <a:r>
              <a:rPr lang="en-US" dirty="0"/>
              <a:t>Distribution channels</a:t>
            </a:r>
          </a:p>
          <a:p>
            <a:r>
              <a:rPr lang="en-US" dirty="0"/>
              <a:t>Customer relationships</a:t>
            </a:r>
          </a:p>
          <a:p>
            <a:r>
              <a:rPr lang="en-US" dirty="0"/>
              <a:t>Revenue streams</a:t>
            </a:r>
            <a:br>
              <a:rPr lang="en-US" dirty="0"/>
            </a:br>
            <a:endParaRPr lang="en-US" dirty="0"/>
          </a:p>
          <a:p>
            <a:endParaRPr lang="en-CA" dirty="0"/>
          </a:p>
        </p:txBody>
      </p:sp>
    </p:spTree>
    <p:extLst>
      <p:ext uri="{BB962C8B-B14F-4D97-AF65-F5344CB8AC3E}">
        <p14:creationId xmlns:p14="http://schemas.microsoft.com/office/powerpoint/2010/main" val="1877355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DF8B-7949-733D-0165-A01C950F0D58}"/>
              </a:ext>
            </a:extLst>
          </p:cNvPr>
          <p:cNvSpPr>
            <a:spLocks noGrp="1"/>
          </p:cNvSpPr>
          <p:nvPr>
            <p:ph type="title"/>
          </p:nvPr>
        </p:nvSpPr>
        <p:spPr>
          <a:xfrm>
            <a:off x="838200" y="365125"/>
            <a:ext cx="10515600" cy="165227"/>
          </a:xfrm>
        </p:spPr>
        <p:txBody>
          <a:bodyPr>
            <a:normAutofit fontScale="90000"/>
          </a:bodyPr>
          <a:lstStyle/>
          <a:p>
            <a:endParaRPr lang="en-CA"/>
          </a:p>
        </p:txBody>
      </p:sp>
      <p:sp>
        <p:nvSpPr>
          <p:cNvPr id="3" name="Content Placeholder 2">
            <a:extLst>
              <a:ext uri="{FF2B5EF4-FFF2-40B4-BE49-F238E27FC236}">
                <a16:creationId xmlns:a16="http://schemas.microsoft.com/office/drawing/2014/main" id="{0FD18BDC-E75E-918F-5A4B-52FC361ED911}"/>
              </a:ext>
            </a:extLst>
          </p:cNvPr>
          <p:cNvSpPr>
            <a:spLocks noGrp="1"/>
          </p:cNvSpPr>
          <p:nvPr>
            <p:ph idx="1"/>
          </p:nvPr>
        </p:nvSpPr>
        <p:spPr>
          <a:xfrm>
            <a:off x="320040" y="795528"/>
            <a:ext cx="11311128" cy="5381435"/>
          </a:xfrm>
        </p:spPr>
        <p:txBody>
          <a:bodyPr>
            <a:normAutofit fontScale="62500" lnSpcReduction="20000"/>
          </a:bodyPr>
          <a:lstStyle/>
          <a:p>
            <a:r>
              <a:rPr lang="en-US" b="1" dirty="0"/>
              <a:t>3.Value Propositions</a:t>
            </a:r>
          </a:p>
          <a:p>
            <a:r>
              <a:rPr lang="en-US" b="1" dirty="0"/>
              <a:t>What value do we deliver to the customer?</a:t>
            </a:r>
            <a:br>
              <a:rPr lang="en-US" dirty="0"/>
            </a:br>
            <a:r>
              <a:rPr lang="en-US" b="1" dirty="0"/>
              <a:t>Which one of our customer’s problems are we helping to solve?</a:t>
            </a:r>
            <a:br>
              <a:rPr lang="en-US" dirty="0"/>
            </a:br>
            <a:r>
              <a:rPr lang="en-US" b="1" dirty="0"/>
              <a:t>What bundles of products and services are we offering to each customer segment?</a:t>
            </a:r>
            <a:br>
              <a:rPr lang="en-US" dirty="0"/>
            </a:br>
            <a:r>
              <a:rPr lang="en-US" b="1" dirty="0"/>
              <a:t>Which customer needs are we satisfying?</a:t>
            </a:r>
            <a:endParaRPr lang="en-US" dirty="0"/>
          </a:p>
          <a:p>
            <a:r>
              <a:rPr lang="en-US" b="1" dirty="0"/>
              <a:t>Characteristics</a:t>
            </a:r>
            <a:endParaRPr lang="en-US" dirty="0"/>
          </a:p>
          <a:p>
            <a:r>
              <a:rPr lang="en-US" dirty="0"/>
              <a:t>Newness</a:t>
            </a:r>
          </a:p>
          <a:p>
            <a:r>
              <a:rPr lang="en-US" dirty="0"/>
              <a:t>Performance</a:t>
            </a:r>
          </a:p>
          <a:p>
            <a:r>
              <a:rPr lang="en-US" dirty="0"/>
              <a:t>Customization</a:t>
            </a:r>
          </a:p>
          <a:p>
            <a:r>
              <a:rPr lang="en-US" dirty="0"/>
              <a:t>“Getting the job done”</a:t>
            </a:r>
          </a:p>
          <a:p>
            <a:r>
              <a:rPr lang="en-US" dirty="0"/>
              <a:t>Design</a:t>
            </a:r>
          </a:p>
          <a:p>
            <a:r>
              <a:rPr lang="en-US" dirty="0"/>
              <a:t>Brand/status</a:t>
            </a:r>
          </a:p>
          <a:p>
            <a:r>
              <a:rPr lang="en-US" dirty="0"/>
              <a:t>Price</a:t>
            </a:r>
          </a:p>
          <a:p>
            <a:r>
              <a:rPr lang="en-US" dirty="0"/>
              <a:t>Cost reduction</a:t>
            </a:r>
          </a:p>
          <a:p>
            <a:r>
              <a:rPr lang="en-US" dirty="0"/>
              <a:t>Risk reduction</a:t>
            </a:r>
          </a:p>
          <a:p>
            <a:r>
              <a:rPr lang="en-US" dirty="0"/>
              <a:t>Accessibility</a:t>
            </a:r>
          </a:p>
          <a:p>
            <a:r>
              <a:rPr lang="en-US" dirty="0"/>
              <a:t>Convenience/usability</a:t>
            </a:r>
            <a:br>
              <a:rPr lang="en-US" dirty="0"/>
            </a:br>
            <a:endParaRPr lang="en-US" dirty="0"/>
          </a:p>
          <a:p>
            <a:endParaRPr lang="en-CA" dirty="0"/>
          </a:p>
        </p:txBody>
      </p:sp>
    </p:spTree>
    <p:extLst>
      <p:ext uri="{BB962C8B-B14F-4D97-AF65-F5344CB8AC3E}">
        <p14:creationId xmlns:p14="http://schemas.microsoft.com/office/powerpoint/2010/main" val="371655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7E02-4C7E-B15F-AB95-72B5125E333A}"/>
              </a:ext>
            </a:extLst>
          </p:cNvPr>
          <p:cNvSpPr>
            <a:spLocks noGrp="1"/>
          </p:cNvSpPr>
          <p:nvPr>
            <p:ph type="title"/>
          </p:nvPr>
        </p:nvSpPr>
        <p:spPr>
          <a:xfrm>
            <a:off x="838200" y="365125"/>
            <a:ext cx="10515600" cy="43040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8F6731E-7CDC-146C-D29D-48FF195A8DC8}"/>
              </a:ext>
            </a:extLst>
          </p:cNvPr>
          <p:cNvSpPr>
            <a:spLocks noGrp="1"/>
          </p:cNvSpPr>
          <p:nvPr>
            <p:ph idx="1"/>
          </p:nvPr>
        </p:nvSpPr>
        <p:spPr>
          <a:xfrm>
            <a:off x="838200" y="1097280"/>
            <a:ext cx="10515600" cy="5541264"/>
          </a:xfrm>
        </p:spPr>
        <p:txBody>
          <a:bodyPr>
            <a:normAutofit fontScale="92500" lnSpcReduction="10000"/>
          </a:bodyPr>
          <a:lstStyle/>
          <a:p>
            <a:r>
              <a:rPr lang="en-US" b="1" dirty="0"/>
              <a:t>4.Customer Relationships</a:t>
            </a:r>
          </a:p>
          <a:p>
            <a:r>
              <a:rPr lang="en-US" b="1" dirty="0"/>
              <a:t>What type of relationship does each of our customer segments expect us to establish and maintain with them?</a:t>
            </a:r>
            <a:br>
              <a:rPr lang="en-US" dirty="0"/>
            </a:br>
            <a:r>
              <a:rPr lang="en-US" b="1" dirty="0"/>
              <a:t>Which ones have we established?</a:t>
            </a:r>
            <a:br>
              <a:rPr lang="en-US" dirty="0"/>
            </a:br>
            <a:r>
              <a:rPr lang="en-US" b="1" dirty="0"/>
              <a:t>How are they integrated with the rest of our business model?</a:t>
            </a:r>
            <a:br>
              <a:rPr lang="en-US" dirty="0"/>
            </a:br>
            <a:r>
              <a:rPr lang="en-US" b="1" dirty="0"/>
              <a:t>How costly are they?</a:t>
            </a:r>
            <a:endParaRPr lang="en-US" dirty="0"/>
          </a:p>
          <a:p>
            <a:r>
              <a:rPr lang="en-US" b="1" dirty="0"/>
              <a:t>Examples</a:t>
            </a:r>
            <a:endParaRPr lang="en-US" dirty="0"/>
          </a:p>
          <a:p>
            <a:r>
              <a:rPr lang="en-US" dirty="0"/>
              <a:t>Personal assistance</a:t>
            </a:r>
          </a:p>
          <a:p>
            <a:r>
              <a:rPr lang="en-US" dirty="0"/>
              <a:t>Dedicated personal assistance</a:t>
            </a:r>
          </a:p>
          <a:p>
            <a:r>
              <a:rPr lang="en-US" dirty="0"/>
              <a:t>Self-service</a:t>
            </a:r>
          </a:p>
          <a:p>
            <a:r>
              <a:rPr lang="en-US" dirty="0"/>
              <a:t>Automated services</a:t>
            </a:r>
          </a:p>
          <a:p>
            <a:r>
              <a:rPr lang="en-US" dirty="0"/>
              <a:t>Communities</a:t>
            </a:r>
          </a:p>
          <a:p>
            <a:r>
              <a:rPr lang="en-US" dirty="0"/>
              <a:t>Co-creation</a:t>
            </a:r>
          </a:p>
          <a:p>
            <a:endParaRPr lang="en-CA" dirty="0"/>
          </a:p>
        </p:txBody>
      </p:sp>
    </p:spTree>
    <p:extLst>
      <p:ext uri="{BB962C8B-B14F-4D97-AF65-F5344CB8AC3E}">
        <p14:creationId xmlns:p14="http://schemas.microsoft.com/office/powerpoint/2010/main" val="1364417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E14E3-7DB2-8741-F241-CF43D5DE50F1}"/>
              </a:ext>
            </a:extLst>
          </p:cNvPr>
          <p:cNvSpPr>
            <a:spLocks noGrp="1"/>
          </p:cNvSpPr>
          <p:nvPr>
            <p:ph type="title"/>
          </p:nvPr>
        </p:nvSpPr>
        <p:spPr>
          <a:xfrm>
            <a:off x="838200" y="365125"/>
            <a:ext cx="10515600" cy="62242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6E496E3-BF9F-E924-E38F-7B189EF25986}"/>
              </a:ext>
            </a:extLst>
          </p:cNvPr>
          <p:cNvSpPr>
            <a:spLocks noGrp="1"/>
          </p:cNvSpPr>
          <p:nvPr>
            <p:ph idx="1"/>
          </p:nvPr>
        </p:nvSpPr>
        <p:spPr>
          <a:xfrm>
            <a:off x="838200" y="1261872"/>
            <a:ext cx="10515600" cy="5231003"/>
          </a:xfrm>
        </p:spPr>
        <p:txBody>
          <a:bodyPr>
            <a:normAutofit/>
          </a:bodyPr>
          <a:lstStyle/>
          <a:p>
            <a:r>
              <a:rPr lang="en-US" b="1" dirty="0"/>
              <a:t>5.Customer Segments</a:t>
            </a:r>
          </a:p>
          <a:p>
            <a:r>
              <a:rPr lang="en-US" b="1" dirty="0"/>
              <a:t>For whom are we creating value?</a:t>
            </a:r>
            <a:br>
              <a:rPr lang="en-US" dirty="0"/>
            </a:br>
            <a:r>
              <a:rPr lang="en-US" b="1" dirty="0"/>
              <a:t>Who are our most important customers?</a:t>
            </a:r>
            <a:endParaRPr lang="en-US" dirty="0"/>
          </a:p>
          <a:p>
            <a:r>
              <a:rPr lang="en-US" b="1" dirty="0"/>
              <a:t>Customer Types</a:t>
            </a:r>
            <a:endParaRPr lang="en-US" dirty="0"/>
          </a:p>
          <a:p>
            <a:r>
              <a:rPr lang="en-US" dirty="0"/>
              <a:t>Mass market</a:t>
            </a:r>
          </a:p>
          <a:p>
            <a:r>
              <a:rPr lang="en-US" dirty="0"/>
              <a:t>Niche market</a:t>
            </a:r>
          </a:p>
          <a:p>
            <a:r>
              <a:rPr lang="en-US" dirty="0"/>
              <a:t>Segmented</a:t>
            </a:r>
          </a:p>
          <a:p>
            <a:r>
              <a:rPr lang="en-US" dirty="0"/>
              <a:t>Diversified</a:t>
            </a:r>
            <a:br>
              <a:rPr lang="en-US" dirty="0"/>
            </a:br>
            <a:endParaRPr lang="en-US" dirty="0"/>
          </a:p>
          <a:p>
            <a:endParaRPr lang="en-CA" dirty="0"/>
          </a:p>
        </p:txBody>
      </p:sp>
    </p:spTree>
    <p:extLst>
      <p:ext uri="{BB962C8B-B14F-4D97-AF65-F5344CB8AC3E}">
        <p14:creationId xmlns:p14="http://schemas.microsoft.com/office/powerpoint/2010/main" val="2026055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59D3A-4DD8-222D-9D9A-8032ACF4FEC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B1FE7F4-194A-F118-7F04-40AE806228E4}"/>
              </a:ext>
            </a:extLst>
          </p:cNvPr>
          <p:cNvSpPr>
            <a:spLocks noGrp="1"/>
          </p:cNvSpPr>
          <p:nvPr>
            <p:ph idx="1"/>
          </p:nvPr>
        </p:nvSpPr>
        <p:spPr/>
        <p:txBody>
          <a:bodyPr>
            <a:normAutofit fontScale="92500" lnSpcReduction="10000"/>
          </a:bodyPr>
          <a:lstStyle/>
          <a:p>
            <a:r>
              <a:rPr lang="en-US" b="1" dirty="0"/>
              <a:t>6.Key Resources</a:t>
            </a:r>
          </a:p>
          <a:p>
            <a:r>
              <a:rPr lang="en-US" b="1" dirty="0"/>
              <a:t>What key resources do our value propositions require?</a:t>
            </a:r>
            <a:br>
              <a:rPr lang="en-US" dirty="0"/>
            </a:br>
            <a:r>
              <a:rPr lang="en-US" b="1" dirty="0"/>
              <a:t>Our distribution channels?</a:t>
            </a:r>
            <a:br>
              <a:rPr lang="en-US" dirty="0"/>
            </a:br>
            <a:r>
              <a:rPr lang="en-US" b="1" dirty="0"/>
              <a:t>Customer relationships?</a:t>
            </a:r>
            <a:br>
              <a:rPr lang="en-US" dirty="0"/>
            </a:br>
            <a:r>
              <a:rPr lang="en-US" b="1" dirty="0"/>
              <a:t>Revenue streams?</a:t>
            </a:r>
            <a:endParaRPr lang="en-US" dirty="0"/>
          </a:p>
          <a:p>
            <a:r>
              <a:rPr lang="en-US" b="1" dirty="0"/>
              <a:t>Types of Resources</a:t>
            </a:r>
            <a:endParaRPr lang="en-US" dirty="0"/>
          </a:p>
          <a:p>
            <a:r>
              <a:rPr lang="en-US" dirty="0"/>
              <a:t>Physical</a:t>
            </a:r>
          </a:p>
          <a:p>
            <a:r>
              <a:rPr lang="en-US" dirty="0"/>
              <a:t>Intellectual (brands, patents, copyrights, data)</a:t>
            </a:r>
          </a:p>
          <a:p>
            <a:r>
              <a:rPr lang="en-US" dirty="0"/>
              <a:t>Human</a:t>
            </a:r>
          </a:p>
          <a:p>
            <a:r>
              <a:rPr lang="en-US" dirty="0"/>
              <a:t>Financial</a:t>
            </a:r>
          </a:p>
          <a:p>
            <a:endParaRPr lang="en-CA" dirty="0"/>
          </a:p>
        </p:txBody>
      </p:sp>
    </p:spTree>
    <p:extLst>
      <p:ext uri="{BB962C8B-B14F-4D97-AF65-F5344CB8AC3E}">
        <p14:creationId xmlns:p14="http://schemas.microsoft.com/office/powerpoint/2010/main" val="559659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CE291-A2B6-9011-96BB-4A6FCBE7AB3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CE2089D-3D5B-6337-8B38-8E74CA8ADD26}"/>
              </a:ext>
            </a:extLst>
          </p:cNvPr>
          <p:cNvSpPr>
            <a:spLocks noGrp="1"/>
          </p:cNvSpPr>
          <p:nvPr>
            <p:ph idx="1"/>
          </p:nvPr>
        </p:nvSpPr>
        <p:spPr/>
        <p:txBody>
          <a:bodyPr>
            <a:normAutofit/>
          </a:bodyPr>
          <a:lstStyle/>
          <a:p>
            <a:r>
              <a:rPr lang="en-US" b="1" dirty="0"/>
              <a:t>7.Channels</a:t>
            </a:r>
          </a:p>
          <a:p>
            <a:r>
              <a:rPr lang="en-US" b="1" dirty="0"/>
              <a:t>Through which channels do our customer segments want to be reached?</a:t>
            </a:r>
            <a:br>
              <a:rPr lang="en-US" dirty="0"/>
            </a:br>
            <a:r>
              <a:rPr lang="en-US" b="1" dirty="0"/>
              <a:t>How are we reaching them now?</a:t>
            </a:r>
            <a:br>
              <a:rPr lang="en-US" dirty="0"/>
            </a:br>
            <a:r>
              <a:rPr lang="en-US" b="1" dirty="0"/>
              <a:t>How are our channels integrated?</a:t>
            </a:r>
            <a:br>
              <a:rPr lang="en-US" dirty="0"/>
            </a:br>
            <a:r>
              <a:rPr lang="en-US" b="1" dirty="0"/>
              <a:t>Which ones work best?</a:t>
            </a:r>
            <a:br>
              <a:rPr lang="en-US" dirty="0"/>
            </a:br>
            <a:r>
              <a:rPr lang="en-US" b="1" dirty="0"/>
              <a:t>Which ones are most cost-efficient?</a:t>
            </a:r>
            <a:br>
              <a:rPr lang="en-US" dirty="0"/>
            </a:br>
            <a:r>
              <a:rPr lang="en-US" b="1" dirty="0"/>
              <a:t>How are we integrating them with customer routines?</a:t>
            </a:r>
            <a:endParaRPr lang="en-US" dirty="0"/>
          </a:p>
          <a:p>
            <a:endParaRPr lang="en-CA" dirty="0"/>
          </a:p>
        </p:txBody>
      </p:sp>
    </p:spTree>
    <p:extLst>
      <p:ext uri="{BB962C8B-B14F-4D97-AF65-F5344CB8AC3E}">
        <p14:creationId xmlns:p14="http://schemas.microsoft.com/office/powerpoint/2010/main" val="277561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AA299-9473-C4AD-8E08-1C5FDE33D0C7}"/>
              </a:ext>
            </a:extLst>
          </p:cNvPr>
          <p:cNvSpPr>
            <a:spLocks noGrp="1"/>
          </p:cNvSpPr>
          <p:nvPr>
            <p:ph type="title"/>
          </p:nvPr>
        </p:nvSpPr>
        <p:spPr>
          <a:xfrm>
            <a:off x="838200" y="365125"/>
            <a:ext cx="10515600" cy="40297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D241D3D-6A60-F6A0-A1F1-87F0A757C764}"/>
              </a:ext>
            </a:extLst>
          </p:cNvPr>
          <p:cNvSpPr>
            <a:spLocks noGrp="1"/>
          </p:cNvSpPr>
          <p:nvPr>
            <p:ph idx="1"/>
          </p:nvPr>
        </p:nvSpPr>
        <p:spPr>
          <a:xfrm>
            <a:off x="838200" y="1152144"/>
            <a:ext cx="10515600" cy="5024819"/>
          </a:xfrm>
        </p:spPr>
        <p:txBody>
          <a:bodyPr>
            <a:normAutofit fontScale="77500" lnSpcReduction="20000"/>
          </a:bodyPr>
          <a:lstStyle/>
          <a:p>
            <a:r>
              <a:rPr lang="en-US" b="1" dirty="0"/>
              <a:t>8Cost Structure</a:t>
            </a:r>
          </a:p>
          <a:p>
            <a:r>
              <a:rPr lang="en-US" b="1" dirty="0"/>
              <a:t>What are the most important costs inherent in our business model?</a:t>
            </a:r>
            <a:br>
              <a:rPr lang="en-US" dirty="0"/>
            </a:br>
            <a:r>
              <a:rPr lang="en-US" b="1" dirty="0"/>
              <a:t>Which key resources are most expensive?</a:t>
            </a:r>
            <a:br>
              <a:rPr lang="en-US" dirty="0"/>
            </a:br>
            <a:r>
              <a:rPr lang="en-US" b="1" dirty="0"/>
              <a:t>Which key activities are most expensive?</a:t>
            </a:r>
            <a:endParaRPr lang="en-US" dirty="0"/>
          </a:p>
          <a:p>
            <a:r>
              <a:rPr lang="en-US" b="1" dirty="0"/>
              <a:t>Cost-driven vs Value-driven</a:t>
            </a:r>
            <a:endParaRPr lang="en-US" dirty="0"/>
          </a:p>
          <a:p>
            <a:r>
              <a:rPr lang="en-US" dirty="0"/>
              <a:t>Cost-driven: lean cost structure, low price value proposition, maximum automation, extensive outsourcing</a:t>
            </a:r>
          </a:p>
          <a:p>
            <a:r>
              <a:rPr lang="en-US" dirty="0"/>
              <a:t>Value-driven: focused on value creation, premium value proposition</a:t>
            </a:r>
          </a:p>
          <a:p>
            <a:r>
              <a:rPr lang="en-US" b="1" dirty="0"/>
              <a:t>Cost Examples</a:t>
            </a:r>
            <a:endParaRPr lang="en-US" dirty="0"/>
          </a:p>
          <a:p>
            <a:r>
              <a:rPr lang="en-US" dirty="0"/>
              <a:t>Fixed costs (salaries, rents, utilities)</a:t>
            </a:r>
          </a:p>
          <a:p>
            <a:r>
              <a:rPr lang="en-US" dirty="0"/>
              <a:t>Variable costs</a:t>
            </a:r>
          </a:p>
          <a:p>
            <a:r>
              <a:rPr lang="en-US" dirty="0"/>
              <a:t>Economies of scale</a:t>
            </a:r>
          </a:p>
          <a:p>
            <a:r>
              <a:rPr lang="en-US" dirty="0"/>
              <a:t>Economies of scope</a:t>
            </a:r>
          </a:p>
          <a:p>
            <a:br>
              <a:rPr lang="en-US" dirty="0"/>
            </a:br>
            <a:endParaRPr lang="en-US" dirty="0"/>
          </a:p>
          <a:p>
            <a:endParaRPr lang="en-CA" dirty="0"/>
          </a:p>
        </p:txBody>
      </p:sp>
    </p:spTree>
    <p:extLst>
      <p:ext uri="{BB962C8B-B14F-4D97-AF65-F5344CB8AC3E}">
        <p14:creationId xmlns:p14="http://schemas.microsoft.com/office/powerpoint/2010/main" val="2768968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9047C-DBBB-FBB5-D246-18A2A28DC02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2565CAC-B1BC-2B53-DB14-67C98D61BE7F}"/>
              </a:ext>
            </a:extLst>
          </p:cNvPr>
          <p:cNvSpPr>
            <a:spLocks noGrp="1"/>
          </p:cNvSpPr>
          <p:nvPr>
            <p:ph idx="1"/>
          </p:nvPr>
        </p:nvSpPr>
        <p:spPr/>
        <p:txBody>
          <a:bodyPr>
            <a:normAutofit fontScale="62500" lnSpcReduction="20000"/>
          </a:bodyPr>
          <a:lstStyle/>
          <a:p>
            <a:r>
              <a:rPr lang="en-US" b="1" dirty="0"/>
              <a:t>9. Revenue Streams</a:t>
            </a:r>
          </a:p>
          <a:p>
            <a:r>
              <a:rPr lang="en-US" dirty="0"/>
              <a:t>For what value are our customers really willing to pay?</a:t>
            </a:r>
            <a:br>
              <a:rPr lang="en-US" dirty="0"/>
            </a:br>
            <a:r>
              <a:rPr lang="en-US" dirty="0"/>
              <a:t>For what do they currently pay?</a:t>
            </a:r>
            <a:br>
              <a:rPr lang="en-US" dirty="0"/>
            </a:br>
            <a:r>
              <a:rPr lang="en-US" dirty="0"/>
              <a:t>How are they currently paying?</a:t>
            </a:r>
            <a:br>
              <a:rPr lang="en-US" dirty="0"/>
            </a:br>
            <a:r>
              <a:rPr lang="en-US" dirty="0"/>
              <a:t>How would they prefer to pay?</a:t>
            </a:r>
            <a:br>
              <a:rPr lang="en-US" dirty="0"/>
            </a:br>
            <a:r>
              <a:rPr lang="en-US" dirty="0"/>
              <a:t>How much does each revenue stream contribute to overall revenues?</a:t>
            </a:r>
          </a:p>
          <a:p>
            <a:r>
              <a:rPr lang="en-US" dirty="0"/>
              <a:t>Types of Revenue Streams</a:t>
            </a:r>
          </a:p>
          <a:p>
            <a:r>
              <a:rPr lang="en-US" dirty="0"/>
              <a:t>Sales of goods and services </a:t>
            </a:r>
          </a:p>
          <a:p>
            <a:r>
              <a:rPr lang="en-US" dirty="0"/>
              <a:t>Asset sale</a:t>
            </a:r>
          </a:p>
          <a:p>
            <a:r>
              <a:rPr lang="en-US" dirty="0"/>
              <a:t>Usage fee</a:t>
            </a:r>
          </a:p>
          <a:p>
            <a:r>
              <a:rPr lang="en-US" dirty="0"/>
              <a:t>Subscription fees</a:t>
            </a:r>
          </a:p>
          <a:p>
            <a:r>
              <a:rPr lang="en-US" dirty="0"/>
              <a:t>Lending/renting/leasing</a:t>
            </a:r>
          </a:p>
          <a:p>
            <a:r>
              <a:rPr lang="en-US" dirty="0"/>
              <a:t>Licensing</a:t>
            </a:r>
          </a:p>
          <a:p>
            <a:r>
              <a:rPr lang="en-US" dirty="0"/>
              <a:t>Brokerage fees</a:t>
            </a:r>
          </a:p>
          <a:p>
            <a:r>
              <a:rPr lang="en-US" dirty="0"/>
              <a:t>Advertising</a:t>
            </a:r>
          </a:p>
          <a:p>
            <a:endParaRPr lang="en-CA" dirty="0"/>
          </a:p>
        </p:txBody>
      </p:sp>
    </p:spTree>
    <p:extLst>
      <p:ext uri="{BB962C8B-B14F-4D97-AF65-F5344CB8AC3E}">
        <p14:creationId xmlns:p14="http://schemas.microsoft.com/office/powerpoint/2010/main" val="447734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890C-9287-3E35-043B-3A367BF37F3A}"/>
              </a:ext>
            </a:extLst>
          </p:cNvPr>
          <p:cNvSpPr>
            <a:spLocks noGrp="1"/>
          </p:cNvSpPr>
          <p:nvPr>
            <p:ph type="title"/>
          </p:nvPr>
        </p:nvSpPr>
        <p:spPr/>
        <p:txBody>
          <a:bodyPr/>
          <a:lstStyle/>
          <a:p>
            <a:r>
              <a:rPr lang="en-US" dirty="0"/>
              <a:t>Value proposition canvas </a:t>
            </a:r>
            <a:endParaRPr lang="en-CA" dirty="0"/>
          </a:p>
        </p:txBody>
      </p:sp>
      <p:sp>
        <p:nvSpPr>
          <p:cNvPr id="3" name="Content Placeholder 2">
            <a:extLst>
              <a:ext uri="{FF2B5EF4-FFF2-40B4-BE49-F238E27FC236}">
                <a16:creationId xmlns:a16="http://schemas.microsoft.com/office/drawing/2014/main" id="{08392E88-1D08-A7BE-7E48-18B12E8B6858}"/>
              </a:ext>
            </a:extLst>
          </p:cNvPr>
          <p:cNvSpPr>
            <a:spLocks noGrp="1"/>
          </p:cNvSpPr>
          <p:nvPr>
            <p:ph idx="1"/>
          </p:nvPr>
        </p:nvSpPr>
        <p:spPr>
          <a:xfrm>
            <a:off x="838200" y="1825625"/>
            <a:ext cx="10957560" cy="4351338"/>
          </a:xfrm>
        </p:spPr>
        <p:txBody>
          <a:bodyPr/>
          <a:lstStyle/>
          <a:p>
            <a:r>
              <a:rPr lang="en-US" b="1" dirty="0"/>
              <a:t>What is a Value Proposition?</a:t>
            </a:r>
          </a:p>
          <a:p>
            <a:r>
              <a:rPr lang="en-US" dirty="0"/>
              <a:t>A value proposition is a promise of value stated by a company that summarizes how the benefit of the company’s product or service will be delivered, experienced, and acquired. Essentially, a value proposition specifies what makes the company’s product or service attractive, why a customer should purchase it, and how the value of the product or service is differentiated from similar offerings (competitors)</a:t>
            </a:r>
          </a:p>
          <a:p>
            <a:pPr marL="0" indent="0">
              <a:buNone/>
            </a:pPr>
            <a:endParaRPr lang="en-US" dirty="0"/>
          </a:p>
          <a:p>
            <a:endParaRPr lang="en-CA" dirty="0"/>
          </a:p>
        </p:txBody>
      </p:sp>
    </p:spTree>
    <p:extLst>
      <p:ext uri="{BB962C8B-B14F-4D97-AF65-F5344CB8AC3E}">
        <p14:creationId xmlns:p14="http://schemas.microsoft.com/office/powerpoint/2010/main" val="4199385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37D5-8493-1C0E-64EB-FB04903FE9E2}"/>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DA2F416-1F45-078E-006B-10E9C5A00148}"/>
              </a:ext>
            </a:extLst>
          </p:cNvPr>
          <p:cNvSpPr>
            <a:spLocks noGrp="1"/>
          </p:cNvSpPr>
          <p:nvPr>
            <p:ph idx="1"/>
          </p:nvPr>
        </p:nvSpPr>
        <p:spPr>
          <a:xfrm>
            <a:off x="838200" y="993520"/>
            <a:ext cx="10515600" cy="5315839"/>
          </a:xfrm>
        </p:spPr>
        <p:txBody>
          <a:bodyPr>
            <a:normAutofit/>
          </a:bodyPr>
          <a:lstStyle/>
          <a:p>
            <a:r>
              <a:rPr lang="en-US" dirty="0"/>
              <a:t> A company writes its value proposition to define why a customer should choose its product or service over a competitor's. This brief statement explains the benefits a company offers and how it solves customer problems, acting as a promise of value to the market. </a:t>
            </a:r>
          </a:p>
        </p:txBody>
      </p:sp>
    </p:spTree>
    <p:extLst>
      <p:ext uri="{BB962C8B-B14F-4D97-AF65-F5344CB8AC3E}">
        <p14:creationId xmlns:p14="http://schemas.microsoft.com/office/powerpoint/2010/main" val="1771200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8AE66-8EB7-C9D6-4A7D-9E4765346682}"/>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CB5349D-FD88-CC51-C2A0-268FFE21628B}"/>
              </a:ext>
            </a:extLst>
          </p:cNvPr>
          <p:cNvSpPr>
            <a:spLocks noGrp="1"/>
          </p:cNvSpPr>
          <p:nvPr>
            <p:ph idx="1"/>
          </p:nvPr>
        </p:nvSpPr>
        <p:spPr>
          <a:xfrm>
            <a:off x="838200" y="914400"/>
            <a:ext cx="10515600" cy="5262563"/>
          </a:xfrm>
        </p:spPr>
        <p:txBody>
          <a:bodyPr>
            <a:normAutofit/>
          </a:bodyPr>
          <a:lstStyle/>
          <a:p>
            <a:r>
              <a:rPr lang="en-US" dirty="0"/>
              <a:t>The Value Proposition Canvas is a framework which can help ensure that a product or service is positioned around what the customer values and needs.</a:t>
            </a:r>
          </a:p>
          <a:p>
            <a:r>
              <a:rPr lang="en-US" dirty="0"/>
              <a:t>The Value Proposition Canvas was initially developed by Dr Alexander Osterwalder as a framework to ensure that there is a fit between the product and market. </a:t>
            </a:r>
          </a:p>
          <a:p>
            <a:r>
              <a:rPr lang="en-US" dirty="0"/>
              <a:t>The </a:t>
            </a:r>
            <a:r>
              <a:rPr lang="en-US" b="1" dirty="0"/>
              <a:t>Value Proposition Canvas</a:t>
            </a:r>
            <a:r>
              <a:rPr lang="en-US" dirty="0"/>
              <a:t> is a strategic tool used to align a product or service with the customer’s needs and desires. It has two main sides:</a:t>
            </a:r>
          </a:p>
          <a:p>
            <a:pPr marL="0" indent="0">
              <a:buNone/>
            </a:pPr>
            <a:endParaRPr lang="en-CA" dirty="0"/>
          </a:p>
        </p:txBody>
      </p:sp>
    </p:spTree>
    <p:extLst>
      <p:ext uri="{BB962C8B-B14F-4D97-AF65-F5344CB8AC3E}">
        <p14:creationId xmlns:p14="http://schemas.microsoft.com/office/powerpoint/2010/main" val="3997430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3EB6C-2CBE-1F0F-0C44-2601A13268E7}"/>
              </a:ext>
            </a:extLst>
          </p:cNvPr>
          <p:cNvSpPr>
            <a:spLocks noGrp="1"/>
          </p:cNvSpPr>
          <p:nvPr>
            <p:ph type="title"/>
          </p:nvPr>
        </p:nvSpPr>
        <p:spPr>
          <a:xfrm>
            <a:off x="838200" y="365125"/>
            <a:ext cx="10515600" cy="649859"/>
          </a:xfrm>
        </p:spPr>
        <p:txBody>
          <a:bodyPr>
            <a:normAutofit fontScale="90000"/>
          </a:bodyPr>
          <a:lstStyle/>
          <a:p>
            <a:endParaRPr lang="en-CA" dirty="0"/>
          </a:p>
        </p:txBody>
      </p:sp>
      <p:pic>
        <p:nvPicPr>
          <p:cNvPr id="5" name="Content Placeholder 4">
            <a:extLst>
              <a:ext uri="{FF2B5EF4-FFF2-40B4-BE49-F238E27FC236}">
                <a16:creationId xmlns:a16="http://schemas.microsoft.com/office/drawing/2014/main" id="{BA91A28A-D5E5-A001-BA74-4E1581EC36AE}"/>
              </a:ext>
            </a:extLst>
          </p:cNvPr>
          <p:cNvPicPr>
            <a:picLocks noGrp="1" noChangeAspect="1"/>
          </p:cNvPicPr>
          <p:nvPr>
            <p:ph idx="1"/>
          </p:nvPr>
        </p:nvPicPr>
        <p:blipFill>
          <a:blip r:embed="rId2"/>
          <a:stretch>
            <a:fillRect/>
          </a:stretch>
        </p:blipFill>
        <p:spPr>
          <a:xfrm>
            <a:off x="838200" y="1161288"/>
            <a:ext cx="8982456" cy="5331587"/>
          </a:xfrm>
          <a:prstGeom prst="rect">
            <a:avLst/>
          </a:prstGeom>
        </p:spPr>
      </p:pic>
    </p:spTree>
    <p:extLst>
      <p:ext uri="{BB962C8B-B14F-4D97-AF65-F5344CB8AC3E}">
        <p14:creationId xmlns:p14="http://schemas.microsoft.com/office/powerpoint/2010/main" val="2052056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EED3A-AFB3-2C02-2DEE-F5F5B473C91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5B16A1D-F9D2-E105-B99B-633B23C9172A}"/>
              </a:ext>
            </a:extLst>
          </p:cNvPr>
          <p:cNvSpPr>
            <a:spLocks noGrp="1"/>
          </p:cNvSpPr>
          <p:nvPr>
            <p:ph idx="1"/>
          </p:nvPr>
        </p:nvSpPr>
        <p:spPr/>
        <p:txBody>
          <a:bodyPr/>
          <a:lstStyle/>
          <a:p>
            <a:r>
              <a:rPr lang="en-CA" dirty="0"/>
              <a:t>The </a:t>
            </a:r>
            <a:r>
              <a:rPr lang="en-CA" b="1" dirty="0"/>
              <a:t>Value Proposition Canvas (VPC)</a:t>
            </a:r>
            <a:r>
              <a:rPr lang="en-CA" dirty="0"/>
              <a:t> is a tool designed by </a:t>
            </a:r>
            <a:r>
              <a:rPr lang="en-CA" b="1" dirty="0"/>
              <a:t>Alex Osterwalder</a:t>
            </a:r>
            <a:r>
              <a:rPr lang="en-CA" dirty="0"/>
              <a:t> to help businesses </a:t>
            </a:r>
            <a:r>
              <a:rPr lang="en-CA" b="1" dirty="0"/>
              <a:t>create products or services that customers actually want</a:t>
            </a:r>
            <a:r>
              <a:rPr lang="en-CA" dirty="0"/>
              <a:t>.</a:t>
            </a:r>
          </a:p>
          <a:p>
            <a:r>
              <a:rPr lang="en-CA" dirty="0"/>
              <a:t>It’s a </a:t>
            </a:r>
            <a:r>
              <a:rPr lang="en-CA" b="1" dirty="0"/>
              <a:t>visual framework</a:t>
            </a:r>
            <a:r>
              <a:rPr lang="en-CA" dirty="0"/>
              <a:t> that connects:</a:t>
            </a:r>
          </a:p>
          <a:p>
            <a:pPr lvl="0"/>
            <a:r>
              <a:rPr lang="en-CA" dirty="0"/>
              <a:t>What </a:t>
            </a:r>
            <a:r>
              <a:rPr lang="en-CA" b="1" dirty="0"/>
              <a:t>you offer</a:t>
            </a:r>
            <a:r>
              <a:rPr lang="en-CA" dirty="0"/>
              <a:t>, and</a:t>
            </a:r>
          </a:p>
          <a:p>
            <a:pPr lvl="0"/>
            <a:r>
              <a:rPr lang="en-CA" dirty="0"/>
              <a:t>What your </a:t>
            </a:r>
            <a:r>
              <a:rPr lang="en-CA" b="1" dirty="0"/>
              <a:t>customers truly need, feel, and expect</a:t>
            </a:r>
            <a:r>
              <a:rPr lang="en-CA" dirty="0"/>
              <a:t>.</a:t>
            </a:r>
          </a:p>
          <a:p>
            <a:r>
              <a:rPr lang="en-CA" dirty="0"/>
              <a:t>By using it, you can ensure your product isn’t just “good,” but </a:t>
            </a:r>
            <a:r>
              <a:rPr lang="en-CA" b="1" dirty="0"/>
              <a:t>valuable and relevant</a:t>
            </a:r>
            <a:r>
              <a:rPr lang="en-CA" dirty="0"/>
              <a:t> to your target customers.</a:t>
            </a:r>
          </a:p>
          <a:p>
            <a:endParaRPr lang="en-CA" dirty="0"/>
          </a:p>
        </p:txBody>
      </p:sp>
    </p:spTree>
    <p:extLst>
      <p:ext uri="{BB962C8B-B14F-4D97-AF65-F5344CB8AC3E}">
        <p14:creationId xmlns:p14="http://schemas.microsoft.com/office/powerpoint/2010/main" val="4099223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AFAA-4686-822B-504D-1BD3E3948C0E}"/>
              </a:ext>
            </a:extLst>
          </p:cNvPr>
          <p:cNvSpPr>
            <a:spLocks noGrp="1"/>
          </p:cNvSpPr>
          <p:nvPr>
            <p:ph type="title"/>
          </p:nvPr>
        </p:nvSpPr>
        <p:spPr>
          <a:xfrm>
            <a:off x="838200" y="365125"/>
            <a:ext cx="10515600" cy="61328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2EFDACCC-B59F-0AC2-3FD9-E9C3E1895CA7}"/>
              </a:ext>
            </a:extLst>
          </p:cNvPr>
          <p:cNvSpPr>
            <a:spLocks noGrp="1"/>
          </p:cNvSpPr>
          <p:nvPr>
            <p:ph idx="1"/>
          </p:nvPr>
        </p:nvSpPr>
        <p:spPr>
          <a:xfrm>
            <a:off x="292608" y="1106424"/>
            <a:ext cx="11667744" cy="5070539"/>
          </a:xfrm>
        </p:spPr>
        <p:txBody>
          <a:bodyPr>
            <a:normAutofit fontScale="92500" lnSpcReduction="10000"/>
          </a:bodyPr>
          <a:lstStyle/>
          <a:p>
            <a:r>
              <a:rPr lang="en-CA" b="1" dirty="0"/>
              <a:t>The Two Main Parts</a:t>
            </a:r>
            <a:endParaRPr lang="en-CA" dirty="0"/>
          </a:p>
          <a:p>
            <a:r>
              <a:rPr lang="en-CA" dirty="0"/>
              <a:t>The canvas has two sides that must fit together:</a:t>
            </a:r>
          </a:p>
          <a:p>
            <a:pPr marL="0" indent="0">
              <a:buNone/>
            </a:pPr>
            <a:r>
              <a:rPr lang="en-CA" dirty="0"/>
              <a:t>1. </a:t>
            </a:r>
            <a:r>
              <a:rPr lang="en-CA" b="1" dirty="0"/>
              <a:t>Customer Profile (Right Side)</a:t>
            </a:r>
            <a:endParaRPr lang="en-CA" dirty="0"/>
          </a:p>
          <a:p>
            <a:r>
              <a:rPr lang="en-CA" dirty="0"/>
              <a:t>This side focuses on understanding your </a:t>
            </a:r>
            <a:r>
              <a:rPr lang="en-CA" b="1" dirty="0"/>
              <a:t>customer</a:t>
            </a:r>
            <a:r>
              <a:rPr lang="en-CA" dirty="0"/>
              <a:t> deeply.</a:t>
            </a:r>
          </a:p>
          <a:p>
            <a:r>
              <a:rPr lang="en-CA" dirty="0"/>
              <a:t>It has </a:t>
            </a:r>
            <a:r>
              <a:rPr lang="en-CA" b="1" dirty="0"/>
              <a:t>three parts</a:t>
            </a:r>
            <a:r>
              <a:rPr lang="en-CA" dirty="0"/>
              <a:t>:</a:t>
            </a:r>
          </a:p>
          <a:p>
            <a:r>
              <a:rPr lang="en-CA" b="1" dirty="0"/>
              <a:t> a) Customer Jobs</a:t>
            </a:r>
            <a:endParaRPr lang="en-CA" dirty="0"/>
          </a:p>
          <a:p>
            <a:r>
              <a:rPr lang="en-CA" dirty="0"/>
              <a:t>These are the things your customers are </a:t>
            </a:r>
            <a:r>
              <a:rPr lang="en-CA" b="1" dirty="0"/>
              <a:t>trying to get done</a:t>
            </a:r>
            <a:r>
              <a:rPr lang="en-CA" dirty="0"/>
              <a:t> in their work or life.</a:t>
            </a:r>
            <a:br>
              <a:rPr lang="en-CA" dirty="0"/>
            </a:br>
            <a:r>
              <a:rPr lang="en-CA" dirty="0"/>
              <a:t>They can be:</a:t>
            </a:r>
          </a:p>
          <a:p>
            <a:pPr lvl="0"/>
            <a:r>
              <a:rPr lang="en-CA" b="1" dirty="0"/>
              <a:t>Functional jobs</a:t>
            </a:r>
            <a:r>
              <a:rPr lang="en-CA" dirty="0"/>
              <a:t> (e.g., “book a flight,” “complete a report”)</a:t>
            </a:r>
          </a:p>
          <a:p>
            <a:pPr lvl="0"/>
            <a:r>
              <a:rPr lang="en-CA" b="1" dirty="0"/>
              <a:t>Social jobs</a:t>
            </a:r>
            <a:r>
              <a:rPr lang="en-CA" dirty="0"/>
              <a:t> (e.g., “look competent,” “gain respect from peers”)</a:t>
            </a:r>
          </a:p>
          <a:p>
            <a:pPr lvl="0"/>
            <a:r>
              <a:rPr lang="en-CA" b="1" dirty="0"/>
              <a:t>Emotional jobs</a:t>
            </a:r>
            <a:r>
              <a:rPr lang="en-CA" dirty="0"/>
              <a:t> (e.g., “feel secure,” “reduce stress”)</a:t>
            </a:r>
          </a:p>
          <a:p>
            <a:pPr marL="0" indent="0">
              <a:buNone/>
            </a:pPr>
            <a:endParaRPr lang="en-CA" dirty="0"/>
          </a:p>
          <a:p>
            <a:endParaRPr lang="en-CA" dirty="0"/>
          </a:p>
        </p:txBody>
      </p:sp>
    </p:spTree>
    <p:extLst>
      <p:ext uri="{BB962C8B-B14F-4D97-AF65-F5344CB8AC3E}">
        <p14:creationId xmlns:p14="http://schemas.microsoft.com/office/powerpoint/2010/main" val="736085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B3D7-06F9-F1F5-83AC-FE69EAB7EB0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7DFEEAC-0EC8-CABB-3711-BC7877A57137}"/>
              </a:ext>
            </a:extLst>
          </p:cNvPr>
          <p:cNvSpPr>
            <a:spLocks noGrp="1"/>
          </p:cNvSpPr>
          <p:nvPr>
            <p:ph idx="1"/>
          </p:nvPr>
        </p:nvSpPr>
        <p:spPr/>
        <p:txBody>
          <a:bodyPr/>
          <a:lstStyle/>
          <a:p>
            <a:r>
              <a:rPr lang="en-CA" b="1" dirty="0"/>
              <a:t> b) Pains</a:t>
            </a:r>
            <a:endParaRPr lang="en-CA" dirty="0"/>
          </a:p>
          <a:p>
            <a:r>
              <a:rPr lang="en-CA" dirty="0"/>
              <a:t>These are the </a:t>
            </a:r>
            <a:r>
              <a:rPr lang="en-CA" b="1" dirty="0"/>
              <a:t>negative experiences, obstacles, or risks</a:t>
            </a:r>
            <a:r>
              <a:rPr lang="en-CA" dirty="0"/>
              <a:t> your customers face while trying to do their jobs.</a:t>
            </a:r>
          </a:p>
          <a:p>
            <a:r>
              <a:rPr lang="en-CA" dirty="0"/>
              <a:t>Examples:</a:t>
            </a:r>
          </a:p>
          <a:p>
            <a:pPr lvl="0"/>
            <a:r>
              <a:rPr lang="en-CA" dirty="0"/>
              <a:t>Something is time-consuming or expensive.</a:t>
            </a:r>
          </a:p>
          <a:p>
            <a:pPr lvl="0"/>
            <a:r>
              <a:rPr lang="en-CA" dirty="0"/>
              <a:t>They feel frustrated, anxious, or uncertain.</a:t>
            </a:r>
          </a:p>
          <a:p>
            <a:pPr lvl="0"/>
            <a:r>
              <a:rPr lang="en-CA" dirty="0"/>
              <a:t>They risk losing money, time, or reputation.</a:t>
            </a:r>
          </a:p>
          <a:p>
            <a:endParaRPr lang="en-CA" dirty="0"/>
          </a:p>
        </p:txBody>
      </p:sp>
    </p:spTree>
    <p:extLst>
      <p:ext uri="{BB962C8B-B14F-4D97-AF65-F5344CB8AC3E}">
        <p14:creationId xmlns:p14="http://schemas.microsoft.com/office/powerpoint/2010/main" val="279885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8F00D-4FEB-B404-A31E-3BF1D7F444A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4CA0215-86F4-3B5F-C3E7-D54C852079B6}"/>
              </a:ext>
            </a:extLst>
          </p:cNvPr>
          <p:cNvSpPr>
            <a:spLocks noGrp="1"/>
          </p:cNvSpPr>
          <p:nvPr>
            <p:ph idx="1"/>
          </p:nvPr>
        </p:nvSpPr>
        <p:spPr/>
        <p:txBody>
          <a:bodyPr/>
          <a:lstStyle/>
          <a:p>
            <a:r>
              <a:rPr lang="en-CA" b="1" dirty="0"/>
              <a:t> c) Gains</a:t>
            </a:r>
            <a:endParaRPr lang="en-CA" dirty="0"/>
          </a:p>
          <a:p>
            <a:r>
              <a:rPr lang="en-CA" dirty="0"/>
              <a:t>These are the </a:t>
            </a:r>
            <a:r>
              <a:rPr lang="en-CA" b="1" dirty="0"/>
              <a:t>positive outcomes or benefits</a:t>
            </a:r>
            <a:r>
              <a:rPr lang="en-CA" dirty="0"/>
              <a:t> customers want or expect.</a:t>
            </a:r>
          </a:p>
          <a:p>
            <a:r>
              <a:rPr lang="en-CA" dirty="0"/>
              <a:t>They can be:</a:t>
            </a:r>
          </a:p>
          <a:p>
            <a:pPr lvl="0"/>
            <a:r>
              <a:rPr lang="en-CA" dirty="0"/>
              <a:t>Functional (e.g., “faster results”)</a:t>
            </a:r>
          </a:p>
          <a:p>
            <a:pPr lvl="0"/>
            <a:r>
              <a:rPr lang="en-CA" dirty="0"/>
              <a:t>Emotional (e.g., “feel confident”)</a:t>
            </a:r>
          </a:p>
          <a:p>
            <a:pPr lvl="0"/>
            <a:r>
              <a:rPr lang="en-CA" dirty="0"/>
              <a:t>Social (e.g., “look good in front of others”)</a:t>
            </a:r>
          </a:p>
          <a:p>
            <a:endParaRPr lang="en-CA" dirty="0"/>
          </a:p>
        </p:txBody>
      </p:sp>
    </p:spTree>
    <p:extLst>
      <p:ext uri="{BB962C8B-B14F-4D97-AF65-F5344CB8AC3E}">
        <p14:creationId xmlns:p14="http://schemas.microsoft.com/office/powerpoint/2010/main" val="1238843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D04C-56B2-6EED-23D5-A2917F3FBCD9}"/>
              </a:ext>
            </a:extLst>
          </p:cNvPr>
          <p:cNvSpPr>
            <a:spLocks noGrp="1"/>
          </p:cNvSpPr>
          <p:nvPr>
            <p:ph type="title"/>
          </p:nvPr>
        </p:nvSpPr>
        <p:spPr>
          <a:xfrm>
            <a:off x="838200" y="365125"/>
            <a:ext cx="10515600" cy="38468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9B766A3-109C-B0CC-F94D-2AC546243880}"/>
              </a:ext>
            </a:extLst>
          </p:cNvPr>
          <p:cNvSpPr>
            <a:spLocks noGrp="1"/>
          </p:cNvSpPr>
          <p:nvPr>
            <p:ph idx="1"/>
          </p:nvPr>
        </p:nvSpPr>
        <p:spPr>
          <a:xfrm>
            <a:off x="838200" y="1078992"/>
            <a:ext cx="10515600" cy="5097971"/>
          </a:xfrm>
        </p:spPr>
        <p:txBody>
          <a:bodyPr>
            <a:normAutofit/>
          </a:bodyPr>
          <a:lstStyle/>
          <a:p>
            <a:r>
              <a:rPr lang="en-CA" b="1" dirty="0"/>
              <a:t>2. Value Map (Left Side)</a:t>
            </a:r>
            <a:endParaRPr lang="en-CA" dirty="0"/>
          </a:p>
          <a:p>
            <a:r>
              <a:rPr lang="en-CA" dirty="0"/>
              <a:t>This part describes how your </a:t>
            </a:r>
            <a:r>
              <a:rPr lang="en-CA" b="1" dirty="0"/>
              <a:t>product or service</a:t>
            </a:r>
            <a:r>
              <a:rPr lang="en-CA" dirty="0"/>
              <a:t> creates value for your customer.</a:t>
            </a:r>
          </a:p>
          <a:p>
            <a:r>
              <a:rPr lang="en-CA" dirty="0"/>
              <a:t>It also has </a:t>
            </a:r>
            <a:r>
              <a:rPr lang="en-CA" b="1" dirty="0"/>
              <a:t>three parts</a:t>
            </a:r>
            <a:r>
              <a:rPr lang="en-CA" dirty="0"/>
              <a:t>:</a:t>
            </a:r>
          </a:p>
          <a:p>
            <a:r>
              <a:rPr lang="en-CA" b="1" dirty="0"/>
              <a:t> a) Products &amp; Services</a:t>
            </a:r>
            <a:endParaRPr lang="en-CA" dirty="0"/>
          </a:p>
          <a:p>
            <a:r>
              <a:rPr lang="en-CA" dirty="0"/>
              <a:t>List what you’re offering — the things your business sells or provides.</a:t>
            </a:r>
            <a:br>
              <a:rPr lang="en-CA" dirty="0"/>
            </a:br>
            <a:r>
              <a:rPr lang="en-CA" dirty="0"/>
              <a:t>It can be:</a:t>
            </a:r>
          </a:p>
          <a:p>
            <a:pPr lvl="0"/>
            <a:r>
              <a:rPr lang="en-CA" dirty="0"/>
              <a:t>Tangible products</a:t>
            </a:r>
          </a:p>
          <a:p>
            <a:pPr lvl="0"/>
            <a:r>
              <a:rPr lang="en-CA" dirty="0"/>
              <a:t>Digital services</a:t>
            </a:r>
          </a:p>
          <a:p>
            <a:pPr lvl="0"/>
            <a:r>
              <a:rPr lang="en-CA" dirty="0"/>
              <a:t>Features or experiences</a:t>
            </a:r>
          </a:p>
          <a:p>
            <a:endParaRPr lang="en-CA" dirty="0"/>
          </a:p>
        </p:txBody>
      </p:sp>
    </p:spTree>
    <p:extLst>
      <p:ext uri="{BB962C8B-B14F-4D97-AF65-F5344CB8AC3E}">
        <p14:creationId xmlns:p14="http://schemas.microsoft.com/office/powerpoint/2010/main" val="3585922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A94C-B0F1-687E-5F80-28ABF4FC266B}"/>
              </a:ext>
            </a:extLst>
          </p:cNvPr>
          <p:cNvSpPr>
            <a:spLocks noGrp="1"/>
          </p:cNvSpPr>
          <p:nvPr>
            <p:ph type="title"/>
          </p:nvPr>
        </p:nvSpPr>
        <p:spPr>
          <a:xfrm>
            <a:off x="838200" y="365125"/>
            <a:ext cx="10515600" cy="38468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D2429F50-C5B6-09DB-2E10-6F0983DB9CDF}"/>
              </a:ext>
            </a:extLst>
          </p:cNvPr>
          <p:cNvSpPr>
            <a:spLocks noGrp="1"/>
          </p:cNvSpPr>
          <p:nvPr>
            <p:ph idx="1"/>
          </p:nvPr>
        </p:nvSpPr>
        <p:spPr>
          <a:xfrm>
            <a:off x="838200" y="1033272"/>
            <a:ext cx="10515600" cy="5605272"/>
          </a:xfrm>
        </p:spPr>
        <p:txBody>
          <a:bodyPr/>
          <a:lstStyle/>
          <a:p>
            <a:r>
              <a:rPr lang="en-CA" b="1" dirty="0"/>
              <a:t> b) Pain Relievers</a:t>
            </a:r>
            <a:endParaRPr lang="en-CA" dirty="0"/>
          </a:p>
          <a:p>
            <a:r>
              <a:rPr lang="en-CA" dirty="0"/>
              <a:t>Describe </a:t>
            </a:r>
            <a:r>
              <a:rPr lang="en-CA" b="1" dirty="0"/>
              <a:t>how your product or service reduces the pains</a:t>
            </a:r>
            <a:r>
              <a:rPr lang="en-CA" dirty="0"/>
              <a:t> you identified.</a:t>
            </a:r>
          </a:p>
          <a:p>
            <a:r>
              <a:rPr lang="en-CA" dirty="0"/>
              <a:t>Examples:</a:t>
            </a:r>
          </a:p>
          <a:p>
            <a:pPr lvl="0"/>
            <a:r>
              <a:rPr lang="en-CA" dirty="0"/>
              <a:t>“Saves time with automation.”</a:t>
            </a:r>
          </a:p>
          <a:p>
            <a:pPr lvl="0"/>
            <a:r>
              <a:rPr lang="en-CA" dirty="0"/>
              <a:t>“Reduces cost through efficient processes.”</a:t>
            </a:r>
          </a:p>
          <a:p>
            <a:pPr lvl="0"/>
            <a:r>
              <a:rPr lang="en-CA" dirty="0"/>
              <a:t>“Eliminates frustration with simple design.”</a:t>
            </a:r>
          </a:p>
          <a:p>
            <a:endParaRPr lang="en-CA" dirty="0"/>
          </a:p>
        </p:txBody>
      </p:sp>
    </p:spTree>
    <p:extLst>
      <p:ext uri="{BB962C8B-B14F-4D97-AF65-F5344CB8AC3E}">
        <p14:creationId xmlns:p14="http://schemas.microsoft.com/office/powerpoint/2010/main" val="2977623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ABFEB-2F37-467D-9A37-E7E96A40F7D7}"/>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D805F3D5-F0B2-61EF-0A28-5B7107E98344}"/>
              </a:ext>
            </a:extLst>
          </p:cNvPr>
          <p:cNvSpPr>
            <a:spLocks noGrp="1"/>
          </p:cNvSpPr>
          <p:nvPr>
            <p:ph idx="1"/>
          </p:nvPr>
        </p:nvSpPr>
        <p:spPr/>
        <p:txBody>
          <a:bodyPr/>
          <a:lstStyle/>
          <a:p>
            <a:pPr marL="0" indent="0">
              <a:buNone/>
            </a:pPr>
            <a:r>
              <a:rPr lang="en-CA" b="1" dirty="0"/>
              <a:t> c) Gain Creators</a:t>
            </a:r>
            <a:endParaRPr lang="en-CA" dirty="0"/>
          </a:p>
          <a:p>
            <a:r>
              <a:rPr lang="en-CA" dirty="0"/>
              <a:t>Show </a:t>
            </a:r>
            <a:r>
              <a:rPr lang="en-CA" b="1" dirty="0"/>
              <a:t>how your product or service increases gains</a:t>
            </a:r>
            <a:r>
              <a:rPr lang="en-CA" dirty="0"/>
              <a:t> or adds extra value.</a:t>
            </a:r>
          </a:p>
          <a:p>
            <a:r>
              <a:rPr lang="en-CA" dirty="0"/>
              <a:t>Examples:</a:t>
            </a:r>
          </a:p>
          <a:p>
            <a:pPr lvl="0"/>
            <a:r>
              <a:rPr lang="en-CA" dirty="0"/>
              <a:t>“Makes customers feel in control.”</a:t>
            </a:r>
          </a:p>
          <a:p>
            <a:pPr lvl="0"/>
            <a:r>
              <a:rPr lang="en-CA" dirty="0"/>
              <a:t>“Offers rewards or recognition.”</a:t>
            </a:r>
          </a:p>
          <a:p>
            <a:pPr marL="0" indent="0">
              <a:buNone/>
            </a:pPr>
            <a:endParaRPr lang="en-CA" dirty="0"/>
          </a:p>
        </p:txBody>
      </p:sp>
    </p:spTree>
    <p:extLst>
      <p:ext uri="{BB962C8B-B14F-4D97-AF65-F5344CB8AC3E}">
        <p14:creationId xmlns:p14="http://schemas.microsoft.com/office/powerpoint/2010/main" val="3337006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F7B13-3E8D-6488-D2AD-0C59BE8E325D}"/>
              </a:ext>
            </a:extLst>
          </p:cNvPr>
          <p:cNvSpPr>
            <a:spLocks noGrp="1"/>
          </p:cNvSpPr>
          <p:nvPr>
            <p:ph type="title"/>
          </p:nvPr>
        </p:nvSpPr>
        <p:spPr/>
        <p:txBody>
          <a:bodyPr/>
          <a:lstStyle/>
          <a:p>
            <a:r>
              <a:rPr lang="en-US" b="1" dirty="0"/>
              <a:t>Lean Canvas</a:t>
            </a:r>
            <a:endParaRPr lang="en-CA" dirty="0"/>
          </a:p>
        </p:txBody>
      </p:sp>
      <p:sp>
        <p:nvSpPr>
          <p:cNvPr id="3" name="Content Placeholder 2">
            <a:extLst>
              <a:ext uri="{FF2B5EF4-FFF2-40B4-BE49-F238E27FC236}">
                <a16:creationId xmlns:a16="http://schemas.microsoft.com/office/drawing/2014/main" id="{13090282-5282-E0B2-21A1-C5227D1BE1BE}"/>
              </a:ext>
            </a:extLst>
          </p:cNvPr>
          <p:cNvSpPr>
            <a:spLocks noGrp="1"/>
          </p:cNvSpPr>
          <p:nvPr>
            <p:ph idx="1"/>
          </p:nvPr>
        </p:nvSpPr>
        <p:spPr/>
        <p:txBody>
          <a:bodyPr/>
          <a:lstStyle/>
          <a:p>
            <a:r>
              <a:rPr lang="en-US" dirty="0"/>
              <a:t>The </a:t>
            </a:r>
            <a:r>
              <a:rPr lang="en-US" b="1" dirty="0"/>
              <a:t>Lean Canvas</a:t>
            </a:r>
            <a:r>
              <a:rPr lang="en-US" dirty="0"/>
              <a:t> was created by </a:t>
            </a:r>
            <a:r>
              <a:rPr lang="en-US" b="1" dirty="0"/>
              <a:t>Ash Maurya</a:t>
            </a:r>
            <a:r>
              <a:rPr lang="en-US" dirty="0"/>
              <a:t> (based on Alex Osterwalder’s Business Model Canvas).</a:t>
            </a:r>
            <a:br>
              <a:rPr lang="en-US" dirty="0"/>
            </a:br>
            <a:r>
              <a:rPr lang="en-US" dirty="0"/>
              <a:t>It’s a </a:t>
            </a:r>
            <a:r>
              <a:rPr lang="en-US" b="1" dirty="0"/>
              <a:t>1-page business plan</a:t>
            </a:r>
            <a:r>
              <a:rPr lang="en-US" dirty="0"/>
              <a:t> designed for </a:t>
            </a:r>
            <a:r>
              <a:rPr lang="en-US" b="1" dirty="0"/>
              <a:t>startups and innovators</a:t>
            </a:r>
            <a:r>
              <a:rPr lang="en-US" dirty="0"/>
              <a:t> — fast, visual, and easy to update.</a:t>
            </a:r>
            <a:endParaRPr lang="en-CA" dirty="0"/>
          </a:p>
        </p:txBody>
      </p:sp>
    </p:spTree>
    <p:extLst>
      <p:ext uri="{BB962C8B-B14F-4D97-AF65-F5344CB8AC3E}">
        <p14:creationId xmlns:p14="http://schemas.microsoft.com/office/powerpoint/2010/main" val="84302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7D2BC-69FE-F470-99DD-E19E3C40BC8C}"/>
              </a:ext>
            </a:extLst>
          </p:cNvPr>
          <p:cNvSpPr>
            <a:spLocks noGrp="1"/>
          </p:cNvSpPr>
          <p:nvPr>
            <p:ph type="title"/>
          </p:nvPr>
        </p:nvSpPr>
        <p:spPr>
          <a:xfrm>
            <a:off x="838200" y="822960"/>
            <a:ext cx="10515600" cy="867728"/>
          </a:xfrm>
        </p:spPr>
        <p:txBody>
          <a:bodyPr>
            <a:normAutofit fontScale="90000"/>
          </a:bodyPr>
          <a:lstStyle/>
          <a:p>
            <a:r>
              <a:rPr lang="en-US" b="1" dirty="0"/>
              <a:t>The Lean Canvas Structure</a:t>
            </a:r>
            <a:br>
              <a:rPr lang="en-US" b="1" dirty="0"/>
            </a:br>
            <a:endParaRPr lang="en-CA" dirty="0"/>
          </a:p>
        </p:txBody>
      </p:sp>
      <p:sp>
        <p:nvSpPr>
          <p:cNvPr id="3" name="Content Placeholder 2">
            <a:extLst>
              <a:ext uri="{FF2B5EF4-FFF2-40B4-BE49-F238E27FC236}">
                <a16:creationId xmlns:a16="http://schemas.microsoft.com/office/drawing/2014/main" id="{1CE282E1-87D1-6C0C-6F16-64CB543A6241}"/>
              </a:ext>
            </a:extLst>
          </p:cNvPr>
          <p:cNvSpPr>
            <a:spLocks noGrp="1"/>
          </p:cNvSpPr>
          <p:nvPr>
            <p:ph idx="1"/>
          </p:nvPr>
        </p:nvSpPr>
        <p:spPr/>
        <p:txBody>
          <a:bodyPr/>
          <a:lstStyle/>
          <a:p>
            <a:r>
              <a:rPr lang="en-US" dirty="0"/>
              <a:t>The canvas has </a:t>
            </a:r>
            <a:r>
              <a:rPr lang="en-US" b="1" dirty="0"/>
              <a:t>nine building blocks</a:t>
            </a:r>
            <a:r>
              <a:rPr lang="en-US" dirty="0"/>
              <a:t>, organized into two sides:</a:t>
            </a:r>
          </a:p>
          <a:p>
            <a:r>
              <a:rPr lang="en-US" b="1" dirty="0"/>
              <a:t>Right side → Market / Customer</a:t>
            </a:r>
            <a:endParaRPr lang="en-US" dirty="0"/>
          </a:p>
          <a:p>
            <a:r>
              <a:rPr lang="en-US" b="1" dirty="0"/>
              <a:t>Left side → Product / Solution</a:t>
            </a:r>
            <a:endParaRPr lang="en-US" dirty="0"/>
          </a:p>
          <a:p>
            <a:endParaRPr lang="en-CA" dirty="0"/>
          </a:p>
        </p:txBody>
      </p:sp>
    </p:spTree>
    <p:extLst>
      <p:ext uri="{BB962C8B-B14F-4D97-AF65-F5344CB8AC3E}">
        <p14:creationId xmlns:p14="http://schemas.microsoft.com/office/powerpoint/2010/main" val="4049619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5F271-5953-05B8-3442-69D73EA1D9A2}"/>
              </a:ext>
            </a:extLst>
          </p:cNvPr>
          <p:cNvSpPr>
            <a:spLocks noGrp="1"/>
          </p:cNvSpPr>
          <p:nvPr>
            <p:ph type="title"/>
          </p:nvPr>
        </p:nvSpPr>
        <p:spPr>
          <a:xfrm>
            <a:off x="838200" y="365125"/>
            <a:ext cx="10515600" cy="62242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CF6C961-2546-A80F-A098-5DC90BB08241}"/>
              </a:ext>
            </a:extLst>
          </p:cNvPr>
          <p:cNvSpPr>
            <a:spLocks noGrp="1"/>
          </p:cNvSpPr>
          <p:nvPr>
            <p:ph idx="1"/>
          </p:nvPr>
        </p:nvSpPr>
        <p:spPr>
          <a:xfrm>
            <a:off x="838200" y="1170432"/>
            <a:ext cx="10515600" cy="5006531"/>
          </a:xfrm>
        </p:spPr>
        <p:txBody>
          <a:bodyPr>
            <a:normAutofit/>
          </a:bodyPr>
          <a:lstStyle/>
          <a:p>
            <a:endParaRPr lang="en-US" dirty="0"/>
          </a:p>
          <a:p>
            <a:r>
              <a:rPr lang="en-US" dirty="0"/>
              <a:t>Lean Canvas is a one-page business model developed by Ash Maurya. It is designed to replace the traditional and often complex business plan with a more brief and focused approach. The Lean Canvas templates reduce the essential elements of a business plan into nine key components, allowing entrepreneurs to quickly and effectively communicate their business idea and strategy.</a:t>
            </a:r>
            <a:endParaRPr lang="en-CA" dirty="0"/>
          </a:p>
        </p:txBody>
      </p:sp>
    </p:spTree>
    <p:extLst>
      <p:ext uri="{BB962C8B-B14F-4D97-AF65-F5344CB8AC3E}">
        <p14:creationId xmlns:p14="http://schemas.microsoft.com/office/powerpoint/2010/main" val="1190945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82C71-EBE4-B962-04EB-760432DA3C93}"/>
              </a:ext>
            </a:extLst>
          </p:cNvPr>
          <p:cNvSpPr>
            <a:spLocks noGrp="1"/>
          </p:cNvSpPr>
          <p:nvPr>
            <p:ph type="title"/>
          </p:nvPr>
        </p:nvSpPr>
        <p:spPr>
          <a:xfrm>
            <a:off x="838200" y="365125"/>
            <a:ext cx="10515600" cy="805307"/>
          </a:xfrm>
        </p:spPr>
        <p:txBody>
          <a:bodyPr>
            <a:normAutofit fontScale="90000"/>
          </a:bodyPr>
          <a:lstStyle/>
          <a:p>
            <a:br>
              <a:rPr lang="en-US" dirty="0"/>
            </a:br>
            <a:r>
              <a:rPr lang="en-US" dirty="0"/>
              <a:t>1. Problem</a:t>
            </a:r>
            <a:br>
              <a:rPr lang="en-US" dirty="0"/>
            </a:br>
            <a:endParaRPr lang="en-CA" dirty="0"/>
          </a:p>
        </p:txBody>
      </p:sp>
      <p:sp>
        <p:nvSpPr>
          <p:cNvPr id="3" name="Content Placeholder 2">
            <a:extLst>
              <a:ext uri="{FF2B5EF4-FFF2-40B4-BE49-F238E27FC236}">
                <a16:creationId xmlns:a16="http://schemas.microsoft.com/office/drawing/2014/main" id="{B752D16F-F2E0-4170-670D-79FD15E0900B}"/>
              </a:ext>
            </a:extLst>
          </p:cNvPr>
          <p:cNvSpPr>
            <a:spLocks noGrp="1"/>
          </p:cNvSpPr>
          <p:nvPr>
            <p:ph idx="1"/>
          </p:nvPr>
        </p:nvSpPr>
        <p:spPr>
          <a:xfrm>
            <a:off x="630936" y="1444752"/>
            <a:ext cx="10722864" cy="4732211"/>
          </a:xfrm>
        </p:spPr>
        <p:txBody>
          <a:bodyPr>
            <a:normAutofit fontScale="92500" lnSpcReduction="20000"/>
          </a:bodyPr>
          <a:lstStyle/>
          <a:p>
            <a:r>
              <a:rPr lang="en-US" dirty="0"/>
              <a:t>The problem component of Lean Canvas involves identifying the core challenges or pain points faced by customers. By clearly defining the problem, entrepreneurs can better understand the needs and motivations of their target customers.</a:t>
            </a:r>
          </a:p>
          <a:p>
            <a:r>
              <a:rPr lang="en-US" b="1" dirty="0"/>
              <a:t>Identifying the customer's pain points</a:t>
            </a:r>
            <a:endParaRPr lang="en-US" dirty="0"/>
          </a:p>
          <a:p>
            <a:r>
              <a:rPr lang="en-US" dirty="0"/>
              <a:t>To create an effective Lean Canvas, it is essential to identify the specific pain points experienced by the target customers. Understanding these pain points allows entrepreneurs to develop solutions that address their customers' needs more precisely.</a:t>
            </a:r>
          </a:p>
          <a:p>
            <a:r>
              <a:rPr lang="en-US" b="1" dirty="0"/>
              <a:t>Describing the problem briefly</a:t>
            </a:r>
            <a:endParaRPr lang="en-US" dirty="0"/>
          </a:p>
          <a:p>
            <a:r>
              <a:rPr lang="en-US" dirty="0"/>
              <a:t>The problem component of the Lean Canvas requires a brief description of the identified problem. By summarizing the problem statement, entrepreneurs can clear  and communicate it effectively to stakeholders and team members.</a:t>
            </a:r>
          </a:p>
          <a:p>
            <a:endParaRPr lang="en-CA" dirty="0"/>
          </a:p>
        </p:txBody>
      </p:sp>
    </p:spTree>
    <p:extLst>
      <p:ext uri="{BB962C8B-B14F-4D97-AF65-F5344CB8AC3E}">
        <p14:creationId xmlns:p14="http://schemas.microsoft.com/office/powerpoint/2010/main" val="28470273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D3C6F-7F72-A404-F3C1-7762D9243572}"/>
              </a:ext>
            </a:extLst>
          </p:cNvPr>
          <p:cNvSpPr>
            <a:spLocks noGrp="1"/>
          </p:cNvSpPr>
          <p:nvPr>
            <p:ph type="title"/>
          </p:nvPr>
        </p:nvSpPr>
        <p:spPr>
          <a:xfrm>
            <a:off x="838200" y="365125"/>
            <a:ext cx="10515600" cy="905891"/>
          </a:xfrm>
        </p:spPr>
        <p:txBody>
          <a:bodyPr>
            <a:normAutofit fontScale="90000"/>
          </a:bodyPr>
          <a:lstStyle/>
          <a:p>
            <a:r>
              <a:rPr lang="en-US" dirty="0"/>
              <a:t>2. Solution</a:t>
            </a:r>
            <a:br>
              <a:rPr lang="en-US" dirty="0"/>
            </a:br>
            <a:endParaRPr lang="en-CA" dirty="0"/>
          </a:p>
        </p:txBody>
      </p:sp>
      <p:sp>
        <p:nvSpPr>
          <p:cNvPr id="3" name="Content Placeholder 2">
            <a:extLst>
              <a:ext uri="{FF2B5EF4-FFF2-40B4-BE49-F238E27FC236}">
                <a16:creationId xmlns:a16="http://schemas.microsoft.com/office/drawing/2014/main" id="{93F2B1A4-729A-7150-0860-B5EAD0DA22CC}"/>
              </a:ext>
            </a:extLst>
          </p:cNvPr>
          <p:cNvSpPr>
            <a:spLocks noGrp="1"/>
          </p:cNvSpPr>
          <p:nvPr>
            <p:ph idx="1"/>
          </p:nvPr>
        </p:nvSpPr>
        <p:spPr>
          <a:xfrm>
            <a:off x="838200" y="1097280"/>
            <a:ext cx="10515600" cy="5395595"/>
          </a:xfrm>
        </p:spPr>
        <p:txBody>
          <a:bodyPr>
            <a:normAutofit lnSpcReduction="10000"/>
          </a:bodyPr>
          <a:lstStyle/>
          <a:p>
            <a:r>
              <a:rPr lang="en-US" dirty="0"/>
              <a:t>The solution component of Lean Canvas focuses on presenting a unique solution to the identified problem. It involves developing a product or service that effectively addresses the pain points of the target customers.</a:t>
            </a:r>
          </a:p>
          <a:p>
            <a:r>
              <a:rPr lang="en-US" b="1" dirty="0"/>
              <a:t>Presenting a unique solution to the problem</a:t>
            </a:r>
            <a:endParaRPr lang="en-US" dirty="0"/>
          </a:p>
          <a:p>
            <a:r>
              <a:rPr lang="en-US" dirty="0"/>
              <a:t>Entrepreneurs must present a unique and innovative solution to the problem they have identified. The solution should differentiate their product or service from competitors and provide a clear advantage to the customers.</a:t>
            </a:r>
          </a:p>
          <a:p>
            <a:r>
              <a:rPr lang="en-US" b="1" dirty="0"/>
              <a:t>Focusing on the value proposition for customers</a:t>
            </a:r>
            <a:endParaRPr lang="en-US" dirty="0"/>
          </a:p>
          <a:p>
            <a:r>
              <a:rPr lang="en-US" dirty="0"/>
              <a:t>The solution component of Lean Canvas requires entrepreneurs to clearly define the value proposition their product or service offers to customers. By highlighting the unique benefits and advantages, they can attract and retain their target audience effectively.</a:t>
            </a:r>
          </a:p>
          <a:p>
            <a:endParaRPr lang="en-CA" dirty="0"/>
          </a:p>
        </p:txBody>
      </p:sp>
    </p:spTree>
    <p:extLst>
      <p:ext uri="{BB962C8B-B14F-4D97-AF65-F5344CB8AC3E}">
        <p14:creationId xmlns:p14="http://schemas.microsoft.com/office/powerpoint/2010/main" val="3347130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6649E-73DA-5762-0746-FBAB45CA0751}"/>
              </a:ext>
            </a:extLst>
          </p:cNvPr>
          <p:cNvSpPr>
            <a:spLocks noGrp="1"/>
          </p:cNvSpPr>
          <p:nvPr>
            <p:ph type="title"/>
          </p:nvPr>
        </p:nvSpPr>
        <p:spPr>
          <a:xfrm>
            <a:off x="838200" y="736568"/>
            <a:ext cx="10515600" cy="940880"/>
          </a:xfrm>
        </p:spPr>
        <p:txBody>
          <a:bodyPr>
            <a:normAutofit fontScale="90000"/>
          </a:bodyPr>
          <a:lstStyle/>
          <a:p>
            <a:r>
              <a:rPr lang="en-US" dirty="0"/>
              <a:t>3. Key metrics</a:t>
            </a:r>
            <a:br>
              <a:rPr lang="en-US" dirty="0"/>
            </a:br>
            <a:endParaRPr lang="en-CA" dirty="0"/>
          </a:p>
        </p:txBody>
      </p:sp>
      <p:sp>
        <p:nvSpPr>
          <p:cNvPr id="3" name="Content Placeholder 2">
            <a:extLst>
              <a:ext uri="{FF2B5EF4-FFF2-40B4-BE49-F238E27FC236}">
                <a16:creationId xmlns:a16="http://schemas.microsoft.com/office/drawing/2014/main" id="{8E7B1E85-DACE-F4A1-EFFA-1EFA1C95CE77}"/>
              </a:ext>
            </a:extLst>
          </p:cNvPr>
          <p:cNvSpPr>
            <a:spLocks noGrp="1"/>
          </p:cNvSpPr>
          <p:nvPr>
            <p:ph idx="1"/>
          </p:nvPr>
        </p:nvSpPr>
        <p:spPr>
          <a:xfrm>
            <a:off x="438912" y="1207008"/>
            <a:ext cx="10914888" cy="5413248"/>
          </a:xfrm>
        </p:spPr>
        <p:txBody>
          <a:bodyPr>
            <a:normAutofit fontScale="92500"/>
          </a:bodyPr>
          <a:lstStyle/>
          <a:p>
            <a:r>
              <a:rPr lang="en-US" dirty="0"/>
              <a:t>In the key metrics component of Lean Canvas, entrepreneurs define the metrics they will track to measure the success of their business. These metrics help measure the progress and effectiveness of the implemented strategies.</a:t>
            </a:r>
          </a:p>
          <a:p>
            <a:r>
              <a:rPr lang="en-US" b="1" dirty="0"/>
              <a:t>Defining the metrics to track success</a:t>
            </a:r>
            <a:endParaRPr lang="en-US" dirty="0"/>
          </a:p>
          <a:p>
            <a:r>
              <a:rPr lang="en-US" dirty="0"/>
              <a:t>Entrepreneurs need to identify and define the key metrics that align with their business objectives. These metrics could include customer acquisition cost, customer lifetime value, conversion rates, or any other relevant data points that provide insight into the business's performance.</a:t>
            </a:r>
          </a:p>
          <a:p>
            <a:r>
              <a:rPr lang="en-US" b="1" dirty="0"/>
              <a:t>Identifying data points to measure progress</a:t>
            </a:r>
            <a:endParaRPr lang="en-US" dirty="0"/>
          </a:p>
          <a:p>
            <a:r>
              <a:rPr lang="en-US" dirty="0"/>
              <a:t>The key metrics component of Lean Canvas emphasizes the identification of crucial data points that are essential for measuring progress. By tracking and analyzing these data points, entrepreneurs can make informed decisions and adapt their strategies as needed.</a:t>
            </a:r>
          </a:p>
          <a:p>
            <a:endParaRPr lang="en-CA" dirty="0"/>
          </a:p>
        </p:txBody>
      </p:sp>
    </p:spTree>
    <p:extLst>
      <p:ext uri="{BB962C8B-B14F-4D97-AF65-F5344CB8AC3E}">
        <p14:creationId xmlns:p14="http://schemas.microsoft.com/office/powerpoint/2010/main" val="3066187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1E904-EE0A-8979-9A7B-ECCF6F587E59}"/>
              </a:ext>
            </a:extLst>
          </p:cNvPr>
          <p:cNvSpPr>
            <a:spLocks noGrp="1"/>
          </p:cNvSpPr>
          <p:nvPr>
            <p:ph type="title"/>
          </p:nvPr>
        </p:nvSpPr>
        <p:spPr/>
        <p:txBody>
          <a:bodyPr/>
          <a:lstStyle/>
          <a:p>
            <a:r>
              <a:rPr lang="en-US" dirty="0"/>
              <a:t>4.Unique value proposition</a:t>
            </a:r>
            <a:br>
              <a:rPr lang="en-US" dirty="0"/>
            </a:br>
            <a:endParaRPr lang="en-CA" dirty="0"/>
          </a:p>
        </p:txBody>
      </p:sp>
      <p:sp>
        <p:nvSpPr>
          <p:cNvPr id="3" name="Content Placeholder 2">
            <a:extLst>
              <a:ext uri="{FF2B5EF4-FFF2-40B4-BE49-F238E27FC236}">
                <a16:creationId xmlns:a16="http://schemas.microsoft.com/office/drawing/2014/main" id="{349822DF-F529-32A8-F074-4C3B2426F74C}"/>
              </a:ext>
            </a:extLst>
          </p:cNvPr>
          <p:cNvSpPr>
            <a:spLocks noGrp="1"/>
          </p:cNvSpPr>
          <p:nvPr>
            <p:ph idx="1"/>
          </p:nvPr>
        </p:nvSpPr>
        <p:spPr>
          <a:xfrm>
            <a:off x="838200" y="1069848"/>
            <a:ext cx="10515600" cy="5107115"/>
          </a:xfrm>
        </p:spPr>
        <p:txBody>
          <a:bodyPr>
            <a:normAutofit fontScale="92500" lnSpcReduction="10000"/>
          </a:bodyPr>
          <a:lstStyle/>
          <a:p>
            <a:r>
              <a:rPr lang="en-US" dirty="0"/>
              <a:t>The unique value proposition component of Lean Canvas highlights the differentiating factors of the product or service being offered. It focuses on the aspects that set the business apart from competitors and attract customers.</a:t>
            </a:r>
          </a:p>
          <a:p>
            <a:r>
              <a:rPr lang="en-US" b="1" dirty="0"/>
              <a:t>Highlighting differentiating factors</a:t>
            </a:r>
            <a:endParaRPr lang="en-US" dirty="0"/>
          </a:p>
          <a:p>
            <a:r>
              <a:rPr lang="en-US" dirty="0"/>
              <a:t>Entrepreneurs must clearly articulate the unique aspects of their product or service. By highlighting the factors that set them apart, they can communicate the added value their offering brings to customers.</a:t>
            </a:r>
          </a:p>
          <a:p>
            <a:r>
              <a:rPr lang="en-US" b="1" dirty="0"/>
              <a:t>Explaining how the offering provides superior value</a:t>
            </a:r>
            <a:endParaRPr lang="en-US" dirty="0"/>
          </a:p>
          <a:p>
            <a:r>
              <a:rPr lang="en-US" dirty="0"/>
              <a:t>The unique value proposition component of Lean Canvas requires entrepreneurs to explain how their offering provides better value compared to existing alternatives. By highlighting the benefits and advantages, they can convince customers to choose their product or service over competitors.</a:t>
            </a:r>
          </a:p>
          <a:p>
            <a:endParaRPr lang="en-CA" dirty="0"/>
          </a:p>
        </p:txBody>
      </p:sp>
    </p:spTree>
    <p:extLst>
      <p:ext uri="{BB962C8B-B14F-4D97-AF65-F5344CB8AC3E}">
        <p14:creationId xmlns:p14="http://schemas.microsoft.com/office/powerpoint/2010/main" val="171093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4CC25-9BF3-2393-0606-4CB0F7C26D7C}"/>
              </a:ext>
            </a:extLst>
          </p:cNvPr>
          <p:cNvSpPr>
            <a:spLocks noGrp="1"/>
          </p:cNvSpPr>
          <p:nvPr>
            <p:ph type="title"/>
          </p:nvPr>
        </p:nvSpPr>
        <p:spPr/>
        <p:txBody>
          <a:bodyPr/>
          <a:lstStyle/>
          <a:p>
            <a:r>
              <a:rPr lang="en-US" dirty="0"/>
              <a:t>5.Channels</a:t>
            </a:r>
            <a:br>
              <a:rPr lang="en-US" dirty="0"/>
            </a:br>
            <a:endParaRPr lang="en-CA" dirty="0"/>
          </a:p>
        </p:txBody>
      </p:sp>
      <p:sp>
        <p:nvSpPr>
          <p:cNvPr id="3" name="Content Placeholder 2">
            <a:extLst>
              <a:ext uri="{FF2B5EF4-FFF2-40B4-BE49-F238E27FC236}">
                <a16:creationId xmlns:a16="http://schemas.microsoft.com/office/drawing/2014/main" id="{372D8BCE-88F4-B452-0DAA-3D6BA186553A}"/>
              </a:ext>
            </a:extLst>
          </p:cNvPr>
          <p:cNvSpPr>
            <a:spLocks noGrp="1"/>
          </p:cNvSpPr>
          <p:nvPr>
            <p:ph idx="1"/>
          </p:nvPr>
        </p:nvSpPr>
        <p:spPr>
          <a:xfrm>
            <a:off x="838200" y="1243584"/>
            <a:ext cx="10515600" cy="4933379"/>
          </a:xfrm>
        </p:spPr>
        <p:txBody>
          <a:bodyPr>
            <a:normAutofit fontScale="92500" lnSpcReduction="20000"/>
          </a:bodyPr>
          <a:lstStyle/>
          <a:p>
            <a:r>
              <a:rPr lang="en-US" dirty="0"/>
              <a:t>The channels component of Lean Canvas focuses on identifying the most effective distribution and communication channels to reach the target customers. It involves selecting the strategies and platforms that enable effective engagement with the target audience.</a:t>
            </a:r>
          </a:p>
          <a:p>
            <a:r>
              <a:rPr lang="en-US" b="1" dirty="0"/>
              <a:t>Identifying the most effective channels</a:t>
            </a:r>
            <a:endParaRPr lang="en-US" dirty="0"/>
          </a:p>
          <a:p>
            <a:r>
              <a:rPr lang="en-US" dirty="0"/>
              <a:t>Entrepreneurs need to identify the channels that best align with their target audience's preferences and behaviors. These channels could include online platforms, social media, physical stores, or any other means of reaching and engaging with customers effectively.</a:t>
            </a:r>
          </a:p>
          <a:p>
            <a:r>
              <a:rPr lang="en-US" b="1" dirty="0"/>
              <a:t>Discussing strategies to reach target customers</a:t>
            </a:r>
            <a:endParaRPr lang="en-US" dirty="0"/>
          </a:p>
          <a:p>
            <a:r>
              <a:rPr lang="en-US" dirty="0"/>
              <a:t>The channels component of Lean Canvas involves discussing and developing strategies to effectively reach and communicate with the target audience. It requires entrepreneurs to consider the most appropriate channels and techniques to maximize their marketing and distribution efforts.</a:t>
            </a:r>
          </a:p>
          <a:p>
            <a:endParaRPr lang="en-CA" dirty="0"/>
          </a:p>
        </p:txBody>
      </p:sp>
    </p:spTree>
    <p:extLst>
      <p:ext uri="{BB962C8B-B14F-4D97-AF65-F5344CB8AC3E}">
        <p14:creationId xmlns:p14="http://schemas.microsoft.com/office/powerpoint/2010/main" val="524727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948BE-170D-05AA-BE89-7105C45C5850}"/>
              </a:ext>
            </a:extLst>
          </p:cNvPr>
          <p:cNvSpPr>
            <a:spLocks noGrp="1"/>
          </p:cNvSpPr>
          <p:nvPr>
            <p:ph type="title"/>
          </p:nvPr>
        </p:nvSpPr>
        <p:spPr/>
        <p:txBody>
          <a:bodyPr/>
          <a:lstStyle/>
          <a:p>
            <a:r>
              <a:rPr lang="en-US" dirty="0"/>
              <a:t>6.Customer segments</a:t>
            </a:r>
            <a:br>
              <a:rPr lang="en-US" dirty="0"/>
            </a:br>
            <a:endParaRPr lang="en-CA" dirty="0"/>
          </a:p>
        </p:txBody>
      </p:sp>
      <p:sp>
        <p:nvSpPr>
          <p:cNvPr id="3" name="Content Placeholder 2">
            <a:extLst>
              <a:ext uri="{FF2B5EF4-FFF2-40B4-BE49-F238E27FC236}">
                <a16:creationId xmlns:a16="http://schemas.microsoft.com/office/drawing/2014/main" id="{DB64AD09-6433-F819-06B0-4A8355BA727C}"/>
              </a:ext>
            </a:extLst>
          </p:cNvPr>
          <p:cNvSpPr>
            <a:spLocks noGrp="1"/>
          </p:cNvSpPr>
          <p:nvPr>
            <p:ph idx="1"/>
          </p:nvPr>
        </p:nvSpPr>
        <p:spPr>
          <a:xfrm>
            <a:off x="228600" y="1133856"/>
            <a:ext cx="11612880" cy="5266944"/>
          </a:xfrm>
        </p:spPr>
        <p:txBody>
          <a:bodyPr>
            <a:normAutofit fontScale="92500" lnSpcReduction="10000"/>
          </a:bodyPr>
          <a:lstStyle/>
          <a:p>
            <a:r>
              <a:rPr lang="en-US" dirty="0"/>
              <a:t>The customer segments component of Lean Canvas emphasizes the importance of defining the specific target audience for the business. By understanding the distinct customer segments, entrepreneurs can tailor their product or service to better meet their needs.</a:t>
            </a:r>
          </a:p>
          <a:p>
            <a:r>
              <a:rPr lang="en-US" b="1" dirty="0"/>
              <a:t>Defining the target audience</a:t>
            </a:r>
            <a:endParaRPr lang="en-US" dirty="0"/>
          </a:p>
          <a:p>
            <a:r>
              <a:rPr lang="en-US" dirty="0"/>
              <a:t>Entrepreneurs need to clearly define the specific customer segments they are targeting. This involves understanding the demographics, preferences, and behaviors of their ideal customers, which enables better product development and marketing strategies.</a:t>
            </a:r>
          </a:p>
          <a:p>
            <a:r>
              <a:rPr lang="en-US" b="1" dirty="0"/>
              <a:t>Segmenting customers and understanding their needs</a:t>
            </a:r>
            <a:endParaRPr lang="en-US" dirty="0"/>
          </a:p>
          <a:p>
            <a:r>
              <a:rPr lang="en-US" dirty="0"/>
              <a:t>The customer segments component of Lean Canvas encourages entrepreneurs to discuss the different customer segments and gain a deep understanding of their unique needs and preferences. By segmenting the target audience, entrepreneurs can develop tailored solutions and more effective marketing campaigns.</a:t>
            </a:r>
          </a:p>
          <a:p>
            <a:endParaRPr lang="en-CA" dirty="0"/>
          </a:p>
        </p:txBody>
      </p:sp>
    </p:spTree>
    <p:extLst>
      <p:ext uri="{BB962C8B-B14F-4D97-AF65-F5344CB8AC3E}">
        <p14:creationId xmlns:p14="http://schemas.microsoft.com/office/powerpoint/2010/main" val="41935072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5D064-6127-83EC-C2C1-0F9973583B7A}"/>
              </a:ext>
            </a:extLst>
          </p:cNvPr>
          <p:cNvSpPr>
            <a:spLocks noGrp="1"/>
          </p:cNvSpPr>
          <p:nvPr>
            <p:ph type="title"/>
          </p:nvPr>
        </p:nvSpPr>
        <p:spPr/>
        <p:txBody>
          <a:bodyPr/>
          <a:lstStyle/>
          <a:p>
            <a:r>
              <a:rPr lang="en-US" dirty="0"/>
              <a:t>7.Cost structure</a:t>
            </a:r>
            <a:br>
              <a:rPr lang="en-US" dirty="0"/>
            </a:br>
            <a:endParaRPr lang="en-CA" dirty="0"/>
          </a:p>
        </p:txBody>
      </p:sp>
      <p:sp>
        <p:nvSpPr>
          <p:cNvPr id="3" name="Content Placeholder 2">
            <a:extLst>
              <a:ext uri="{FF2B5EF4-FFF2-40B4-BE49-F238E27FC236}">
                <a16:creationId xmlns:a16="http://schemas.microsoft.com/office/drawing/2014/main" id="{E2571542-E099-F78F-F101-67E6BA2B2E40}"/>
              </a:ext>
            </a:extLst>
          </p:cNvPr>
          <p:cNvSpPr>
            <a:spLocks noGrp="1"/>
          </p:cNvSpPr>
          <p:nvPr>
            <p:ph idx="1"/>
          </p:nvPr>
        </p:nvSpPr>
        <p:spPr>
          <a:xfrm>
            <a:off x="838200" y="1188720"/>
            <a:ext cx="10515600" cy="4988243"/>
          </a:xfrm>
        </p:spPr>
        <p:txBody>
          <a:bodyPr>
            <a:normAutofit fontScale="92500" lnSpcReduction="20000"/>
          </a:bodyPr>
          <a:lstStyle/>
          <a:p>
            <a:r>
              <a:rPr lang="en-US" dirty="0"/>
              <a:t>The cost structure component of Lean Canvas focuses on analyzing the cost elements associated with the business model. It involves identifying the expenses required to operate the business and exploring potential cost-saving measures.</a:t>
            </a:r>
          </a:p>
          <a:p>
            <a:r>
              <a:rPr lang="en-US" b="1" dirty="0"/>
              <a:t>Understanding the cost elements</a:t>
            </a:r>
            <a:endParaRPr lang="en-US" dirty="0"/>
          </a:p>
          <a:p>
            <a:r>
              <a:rPr lang="en-US" dirty="0"/>
              <a:t>Entrepreneurs need to carefully analyze the various cost elements associated with their business model. This includes identifying expenses related to production, marketing, personnel, infrastructure, and any other significant cost factors.</a:t>
            </a:r>
          </a:p>
          <a:p>
            <a:r>
              <a:rPr lang="en-US" b="1" dirty="0"/>
              <a:t>Identifying potential cost-saving measures</a:t>
            </a:r>
            <a:endParaRPr lang="en-US" dirty="0"/>
          </a:p>
          <a:p>
            <a:r>
              <a:rPr lang="en-US" dirty="0"/>
              <a:t>The cost structure component of Lean Canvas encourages entrepreneurs to explore potential cost-saving measures without compromising the quality or value of their product or service. This could involve optimizing processes, leveraging technology, or finding creative solutions to reduce expenses.</a:t>
            </a:r>
          </a:p>
          <a:p>
            <a:endParaRPr lang="en-CA" dirty="0"/>
          </a:p>
        </p:txBody>
      </p:sp>
    </p:spTree>
    <p:extLst>
      <p:ext uri="{BB962C8B-B14F-4D97-AF65-F5344CB8AC3E}">
        <p14:creationId xmlns:p14="http://schemas.microsoft.com/office/powerpoint/2010/main" val="23319115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73956-7A96-B739-5FAD-EC209E1222F3}"/>
              </a:ext>
            </a:extLst>
          </p:cNvPr>
          <p:cNvSpPr>
            <a:spLocks noGrp="1"/>
          </p:cNvSpPr>
          <p:nvPr>
            <p:ph type="title"/>
          </p:nvPr>
        </p:nvSpPr>
        <p:spPr/>
        <p:txBody>
          <a:bodyPr/>
          <a:lstStyle/>
          <a:p>
            <a:r>
              <a:rPr lang="en-US" dirty="0"/>
              <a:t>8.Revenue streams</a:t>
            </a:r>
            <a:br>
              <a:rPr lang="en-US" dirty="0"/>
            </a:br>
            <a:endParaRPr lang="en-CA" dirty="0"/>
          </a:p>
        </p:txBody>
      </p:sp>
      <p:sp>
        <p:nvSpPr>
          <p:cNvPr id="3" name="Content Placeholder 2">
            <a:extLst>
              <a:ext uri="{FF2B5EF4-FFF2-40B4-BE49-F238E27FC236}">
                <a16:creationId xmlns:a16="http://schemas.microsoft.com/office/drawing/2014/main" id="{4CBA7A5A-F51A-9364-22CC-5135DA581E81}"/>
              </a:ext>
            </a:extLst>
          </p:cNvPr>
          <p:cNvSpPr>
            <a:spLocks noGrp="1"/>
          </p:cNvSpPr>
          <p:nvPr>
            <p:ph idx="1"/>
          </p:nvPr>
        </p:nvSpPr>
        <p:spPr>
          <a:xfrm>
            <a:off x="838200" y="1234440"/>
            <a:ext cx="10515600" cy="4942523"/>
          </a:xfrm>
        </p:spPr>
        <p:txBody>
          <a:bodyPr>
            <a:normAutofit fontScale="92500" lnSpcReduction="20000"/>
          </a:bodyPr>
          <a:lstStyle/>
          <a:p>
            <a:r>
              <a:rPr lang="en-US" dirty="0"/>
              <a:t>The revenue streams component of Lean Canvas focuses on exploring different ways to generate revenue for the business. It involves analyzing potential monetization strategies and identifying the most effective approaches.</a:t>
            </a:r>
          </a:p>
          <a:p>
            <a:r>
              <a:rPr lang="en-US" b="1" dirty="0"/>
              <a:t>Exploring different ways to generate revenue</a:t>
            </a:r>
            <a:endParaRPr lang="en-US" dirty="0"/>
          </a:p>
          <a:p>
            <a:r>
              <a:rPr lang="en-US" dirty="0"/>
              <a:t>Entrepreneurs need to explore various revenue streams that align with their business model and target customers. This could include product sales, subscription models, advertising, licensing, or any other viable revenue generation approaches.</a:t>
            </a:r>
          </a:p>
          <a:p>
            <a:r>
              <a:rPr lang="en-US" b="1" dirty="0"/>
              <a:t>Discussing monetization strategies</a:t>
            </a:r>
            <a:endParaRPr lang="en-US" dirty="0"/>
          </a:p>
          <a:p>
            <a:r>
              <a:rPr lang="en-US" dirty="0"/>
              <a:t>The revenue streams component of Lean Canvas encourages entrepreneurs to discuss and evaluate different monetization strategies. This involves identifying the most profitable and sustainable approaches to generate revenue and support the long-term growth of the business.</a:t>
            </a:r>
          </a:p>
          <a:p>
            <a:endParaRPr lang="en-CA" dirty="0"/>
          </a:p>
        </p:txBody>
      </p:sp>
    </p:spTree>
    <p:extLst>
      <p:ext uri="{BB962C8B-B14F-4D97-AF65-F5344CB8AC3E}">
        <p14:creationId xmlns:p14="http://schemas.microsoft.com/office/powerpoint/2010/main" val="2603530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EE44-7E40-1649-3AA3-FBB5BBEFD82F}"/>
              </a:ext>
            </a:extLst>
          </p:cNvPr>
          <p:cNvSpPr>
            <a:spLocks noGrp="1"/>
          </p:cNvSpPr>
          <p:nvPr>
            <p:ph type="title"/>
          </p:nvPr>
        </p:nvSpPr>
        <p:spPr/>
        <p:txBody>
          <a:bodyPr/>
          <a:lstStyle/>
          <a:p>
            <a:r>
              <a:rPr lang="en-US" dirty="0"/>
              <a:t>9. Unfair advantage </a:t>
            </a:r>
            <a:endParaRPr lang="en-CA" dirty="0"/>
          </a:p>
        </p:txBody>
      </p:sp>
      <p:sp>
        <p:nvSpPr>
          <p:cNvPr id="3" name="Content Placeholder 2">
            <a:extLst>
              <a:ext uri="{FF2B5EF4-FFF2-40B4-BE49-F238E27FC236}">
                <a16:creationId xmlns:a16="http://schemas.microsoft.com/office/drawing/2014/main" id="{4E453AA0-BDD0-B864-5C76-B5071DBF3136}"/>
              </a:ext>
            </a:extLst>
          </p:cNvPr>
          <p:cNvSpPr>
            <a:spLocks noGrp="1"/>
          </p:cNvSpPr>
          <p:nvPr>
            <p:ph idx="1"/>
          </p:nvPr>
        </p:nvSpPr>
        <p:spPr>
          <a:xfrm>
            <a:off x="838200" y="1508760"/>
            <a:ext cx="10515600" cy="4668203"/>
          </a:xfrm>
        </p:spPr>
        <p:txBody>
          <a:bodyPr/>
          <a:lstStyle/>
          <a:p>
            <a:r>
              <a:rPr lang="en-US" dirty="0"/>
              <a:t>One of the key components of the Lean Canvas is the “unfair advantage.” This refers to a unique and hard-to-replicate advantage that sets a business apart from its competitors. It could be a proprietary technology, exclusive partnerships, valuable data, or a team’s specialized expertise. Identifying and leveraging this unfair advantage is crucial for sustained success and competitive positioning in the market.</a:t>
            </a:r>
            <a:endParaRPr lang="en-CA" dirty="0"/>
          </a:p>
        </p:txBody>
      </p:sp>
    </p:spTree>
    <p:extLst>
      <p:ext uri="{BB962C8B-B14F-4D97-AF65-F5344CB8AC3E}">
        <p14:creationId xmlns:p14="http://schemas.microsoft.com/office/powerpoint/2010/main" val="40059339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88B55-A1A3-9253-CE69-64A614962AB7}"/>
              </a:ext>
            </a:extLst>
          </p:cNvPr>
          <p:cNvSpPr>
            <a:spLocks noGrp="1"/>
          </p:cNvSpPr>
          <p:nvPr>
            <p:ph type="title"/>
          </p:nvPr>
        </p:nvSpPr>
        <p:spPr/>
        <p:txBody>
          <a:bodyPr/>
          <a:lstStyle/>
          <a:p>
            <a:r>
              <a:rPr lang="en-US" dirty="0"/>
              <a:t>Business Plan </a:t>
            </a:r>
            <a:endParaRPr lang="en-CA" dirty="0"/>
          </a:p>
        </p:txBody>
      </p:sp>
      <p:sp>
        <p:nvSpPr>
          <p:cNvPr id="3" name="Content Placeholder 2">
            <a:extLst>
              <a:ext uri="{FF2B5EF4-FFF2-40B4-BE49-F238E27FC236}">
                <a16:creationId xmlns:a16="http://schemas.microsoft.com/office/drawing/2014/main" id="{D6837510-8AC9-69B3-4A03-0B93C0199A67}"/>
              </a:ext>
            </a:extLst>
          </p:cNvPr>
          <p:cNvSpPr>
            <a:spLocks noGrp="1"/>
          </p:cNvSpPr>
          <p:nvPr>
            <p:ph idx="1"/>
          </p:nvPr>
        </p:nvSpPr>
        <p:spPr>
          <a:xfrm>
            <a:off x="502920" y="1399032"/>
            <a:ext cx="11521440" cy="5458968"/>
          </a:xfrm>
        </p:spPr>
        <p:txBody>
          <a:bodyPr>
            <a:normAutofit fontScale="77500" lnSpcReduction="20000"/>
          </a:bodyPr>
          <a:lstStyle/>
          <a:p>
            <a:r>
              <a:rPr lang="en-US" dirty="0"/>
              <a:t>A business plan is an official written document which contains detail information of establishment of a business and its successful functioning for earning profit and wealth. It involves objectives of business, method and process of operation and time frame of achieving specified objectives. It also involves background information of business, its nature, financial projections, and strategies to achieve predetermined goals.</a:t>
            </a:r>
          </a:p>
          <a:p>
            <a:r>
              <a:rPr lang="en-US" dirty="0"/>
              <a:t> It is considered as the foundation of business and serves as the roadmap of commencement and operation of business for profit. A business plan is a formal written document containing business goals, the methods on how these goals can be attained, and the time frame within which these goals need to be achieved. The business plan is a document describing what a business does; who the key players are in the company, the market it serves and the financial model that leads to profits. A business plan is a document that summarizes the operational and financial objectives of a business and contains the detailed plans and budgets showing how the objectives are to be realized.</a:t>
            </a:r>
          </a:p>
          <a:p>
            <a:r>
              <a:rPr lang="en-US" dirty="0"/>
              <a:t>The business plan consists of many sections having specific information. The first section is the executive summary which is the overview of all the sections. The other sections involve description of company, management strategies, marketing strategies, product descriptions, and financial estimates. Information for all these activities is obtained through internal trend analysis of the company, demographic information and business leaders who are responsible to develop the plan. However, business plan is a flexible document needs to be adjusted for adaptation with change.</a:t>
            </a:r>
            <a:endParaRPr lang="en-CA" dirty="0"/>
          </a:p>
        </p:txBody>
      </p:sp>
    </p:spTree>
    <p:extLst>
      <p:ext uri="{BB962C8B-B14F-4D97-AF65-F5344CB8AC3E}">
        <p14:creationId xmlns:p14="http://schemas.microsoft.com/office/powerpoint/2010/main" val="26264605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FAE38-9665-3C5A-6A4B-79D911CBFBF3}"/>
              </a:ext>
            </a:extLst>
          </p:cNvPr>
          <p:cNvSpPr>
            <a:spLocks noGrp="1"/>
          </p:cNvSpPr>
          <p:nvPr>
            <p:ph type="title"/>
          </p:nvPr>
        </p:nvSpPr>
        <p:spPr/>
        <p:txBody>
          <a:bodyPr/>
          <a:lstStyle/>
          <a:p>
            <a:r>
              <a:rPr lang="en-US" dirty="0"/>
              <a:t>Benefits/significance of business plan </a:t>
            </a:r>
            <a:endParaRPr lang="en-CA" dirty="0"/>
          </a:p>
        </p:txBody>
      </p:sp>
      <p:sp>
        <p:nvSpPr>
          <p:cNvPr id="3" name="Content Placeholder 2">
            <a:extLst>
              <a:ext uri="{FF2B5EF4-FFF2-40B4-BE49-F238E27FC236}">
                <a16:creationId xmlns:a16="http://schemas.microsoft.com/office/drawing/2014/main" id="{59714DBC-BC72-A7FB-B7BA-2C3E3EB429FC}"/>
              </a:ext>
            </a:extLst>
          </p:cNvPr>
          <p:cNvSpPr>
            <a:spLocks noGrp="1"/>
          </p:cNvSpPr>
          <p:nvPr>
            <p:ph idx="1"/>
          </p:nvPr>
        </p:nvSpPr>
        <p:spPr/>
        <p:txBody>
          <a:bodyPr/>
          <a:lstStyle/>
          <a:p>
            <a:r>
              <a:rPr lang="en-US" dirty="0"/>
              <a:t>A business plan is an official written document which contains detail information of establishment of a business and its successful functioning. It is considered as the foundation of business and serves as the roadmap of commencement and operation of business for profit. The following are the common benefits of business plan. </a:t>
            </a:r>
            <a:endParaRPr lang="en-CA" dirty="0"/>
          </a:p>
        </p:txBody>
      </p:sp>
    </p:spTree>
    <p:extLst>
      <p:ext uri="{BB962C8B-B14F-4D97-AF65-F5344CB8AC3E}">
        <p14:creationId xmlns:p14="http://schemas.microsoft.com/office/powerpoint/2010/main" val="798628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A26E4-CE31-A15E-D552-6F805788E78C}"/>
              </a:ext>
            </a:extLst>
          </p:cNvPr>
          <p:cNvSpPr>
            <a:spLocks noGrp="1"/>
          </p:cNvSpPr>
          <p:nvPr>
            <p:ph type="title"/>
          </p:nvPr>
        </p:nvSpPr>
        <p:spPr>
          <a:xfrm>
            <a:off x="838200" y="365125"/>
            <a:ext cx="10515600" cy="41211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589F1B8-E9D1-C9EF-722E-8352A2ED06CE}"/>
              </a:ext>
            </a:extLst>
          </p:cNvPr>
          <p:cNvSpPr>
            <a:spLocks noGrp="1"/>
          </p:cNvSpPr>
          <p:nvPr>
            <p:ph idx="1"/>
          </p:nvPr>
        </p:nvSpPr>
        <p:spPr>
          <a:xfrm>
            <a:off x="292608" y="960120"/>
            <a:ext cx="11567160" cy="5216843"/>
          </a:xfrm>
        </p:spPr>
        <p:txBody>
          <a:bodyPr>
            <a:normAutofit lnSpcReduction="10000"/>
          </a:bodyPr>
          <a:lstStyle/>
          <a:p>
            <a:r>
              <a:rPr lang="en-US" dirty="0"/>
              <a:t>1.Startup business: Business plan is a foundation of business and serves as the roadmap of commencement and operation of business. It involves guidelines how the business should be established and requirement of resources for its establishment. It specifies objectives to be achieved in short term as well as in the long period. It judges the rationality of establishment and operation of business. It encourages the entrepreneurs to startup business for economic gain.</a:t>
            </a:r>
          </a:p>
          <a:p>
            <a:r>
              <a:rPr lang="en-US" dirty="0"/>
              <a:t>2.Business growth: Business plan is the means of guidelines for expansion and growth of business. It involves every step of activities to be performed from the very beginning of establishment of business to its day-to-day activities. It involves guidelines of management of resources and their proper utilization. It specifies target markets, potential customers, promotion of products and services and channel of distribution. The proper consideration of plan guidelines facilitates to get success.</a:t>
            </a:r>
            <a:endParaRPr lang="en-CA" dirty="0"/>
          </a:p>
        </p:txBody>
      </p:sp>
    </p:spTree>
    <p:extLst>
      <p:ext uri="{BB962C8B-B14F-4D97-AF65-F5344CB8AC3E}">
        <p14:creationId xmlns:p14="http://schemas.microsoft.com/office/powerpoint/2010/main" val="339069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6C414-699C-ECFE-5A19-48962A90E035}"/>
              </a:ext>
            </a:extLst>
          </p:cNvPr>
          <p:cNvSpPr>
            <a:spLocks noGrp="1"/>
          </p:cNvSpPr>
          <p:nvPr>
            <p:ph type="title"/>
          </p:nvPr>
        </p:nvSpPr>
        <p:spPr>
          <a:xfrm>
            <a:off x="838200" y="365126"/>
            <a:ext cx="10515600" cy="588604"/>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7DC20902-BA6F-0895-E1F1-5A426D7150F8}"/>
              </a:ext>
            </a:extLst>
          </p:cNvPr>
          <p:cNvSpPr>
            <a:spLocks noGrp="1"/>
          </p:cNvSpPr>
          <p:nvPr>
            <p:ph idx="1"/>
          </p:nvPr>
        </p:nvSpPr>
        <p:spPr>
          <a:xfrm>
            <a:off x="109728" y="1111045"/>
            <a:ext cx="11695176" cy="5065918"/>
          </a:xfrm>
        </p:spPr>
        <p:txBody>
          <a:bodyPr>
            <a:normAutofit fontScale="92500" lnSpcReduction="10000"/>
          </a:bodyPr>
          <a:lstStyle/>
          <a:p>
            <a:r>
              <a:rPr lang="en-US" dirty="0"/>
              <a:t>3.Attract investors: Business plan is the means of attracting entrepreneurs for investment. It involves summary of background of business, its nature, area and scope of operation. It specifies short term as well as long term objectives, management and marketing strategies and other needed information of business. Individuals decide whether or not to invest in business only after detailed study of business plan. If they think economically feasible then only decide to invest in business.</a:t>
            </a:r>
          </a:p>
          <a:p>
            <a:r>
              <a:rPr lang="en-US" dirty="0"/>
              <a:t>4.Risk management: It is said that if there is no risk there is no business. It means while doing any business it is essential to bear certain level of risk by the investors. Risk is created by changing environment of the society such as new strategy of competitors, change in technology, change in government rules, change in suppliers' policies etc. Business plan helps to assess the level of risk that is created by changing environment. It guides the management to take right decision at the right time based on requirement.</a:t>
            </a:r>
            <a:endParaRPr lang="en-CA" dirty="0"/>
          </a:p>
        </p:txBody>
      </p:sp>
    </p:spTree>
    <p:extLst>
      <p:ext uri="{BB962C8B-B14F-4D97-AF65-F5344CB8AC3E}">
        <p14:creationId xmlns:p14="http://schemas.microsoft.com/office/powerpoint/2010/main" val="22625206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C5BAB-B390-AC87-2920-E8AF01DD025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C6BD093-4846-14B4-1CCA-C76B1E476A11}"/>
              </a:ext>
            </a:extLst>
          </p:cNvPr>
          <p:cNvSpPr>
            <a:spLocks noGrp="1"/>
          </p:cNvSpPr>
          <p:nvPr>
            <p:ph idx="1"/>
          </p:nvPr>
        </p:nvSpPr>
        <p:spPr>
          <a:xfrm>
            <a:off x="265176" y="1825625"/>
            <a:ext cx="11576304" cy="4351338"/>
          </a:xfrm>
        </p:spPr>
        <p:txBody>
          <a:bodyPr/>
          <a:lstStyle/>
          <a:p>
            <a:r>
              <a:rPr lang="en-US" b="1" dirty="0"/>
              <a:t>5.Means of communication:</a:t>
            </a:r>
            <a:r>
              <a:rPr lang="en-US" dirty="0"/>
              <a:t> Business plan involves </a:t>
            </a:r>
            <a:r>
              <a:rPr lang="en-US" b="1" dirty="0"/>
              <a:t>programs, policies and strategies</a:t>
            </a:r>
            <a:r>
              <a:rPr lang="en-US" dirty="0"/>
              <a:t> for doing business activities in systematic and efficient way. For effective implementation of strategies there must be the provision of proper division of work among the employees. The activities of all the departments, units, and employees should be integrated to bring unity of action and team work. For this purpose, it is essential to maintain effective communication which is guided by business plan. </a:t>
            </a:r>
          </a:p>
          <a:p>
            <a:endParaRPr lang="en-CA" dirty="0"/>
          </a:p>
        </p:txBody>
      </p:sp>
    </p:spTree>
    <p:extLst>
      <p:ext uri="{BB962C8B-B14F-4D97-AF65-F5344CB8AC3E}">
        <p14:creationId xmlns:p14="http://schemas.microsoft.com/office/powerpoint/2010/main" val="6682940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A8B29-9CCE-5194-BC19-9C9C5865437C}"/>
              </a:ext>
            </a:extLst>
          </p:cNvPr>
          <p:cNvSpPr>
            <a:spLocks noGrp="1"/>
          </p:cNvSpPr>
          <p:nvPr>
            <p:ph type="title"/>
          </p:nvPr>
        </p:nvSpPr>
        <p:spPr>
          <a:xfrm>
            <a:off x="838200" y="365126"/>
            <a:ext cx="10515600" cy="42145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1EBFCAB-6F2E-5763-37A9-CE7C70CD9546}"/>
              </a:ext>
            </a:extLst>
          </p:cNvPr>
          <p:cNvSpPr>
            <a:spLocks noGrp="1"/>
          </p:cNvSpPr>
          <p:nvPr>
            <p:ph idx="1"/>
          </p:nvPr>
        </p:nvSpPr>
        <p:spPr>
          <a:xfrm>
            <a:off x="118872" y="1111045"/>
            <a:ext cx="11823192" cy="5065918"/>
          </a:xfrm>
        </p:spPr>
        <p:txBody>
          <a:bodyPr>
            <a:normAutofit lnSpcReduction="10000"/>
          </a:bodyPr>
          <a:lstStyle/>
          <a:p>
            <a:r>
              <a:rPr lang="en-US" b="1" dirty="0"/>
              <a:t>6. Basis of control:</a:t>
            </a:r>
            <a:r>
              <a:rPr lang="en-US" dirty="0"/>
              <a:t> Business plan is the </a:t>
            </a:r>
            <a:r>
              <a:rPr lang="en-US" b="1" dirty="0"/>
              <a:t>basis of control</a:t>
            </a:r>
            <a:r>
              <a:rPr lang="en-US" dirty="0"/>
              <a:t> as it has specified the level of standard need to maintain in actual performance. A plan is formulated by considering the best practice implemented by the leader company in same type of business. The execution of guidelines provided by the business plan helps to maintain certain level of standard in actual performance. Business plan, serves as a successful tool of </a:t>
            </a:r>
            <a:r>
              <a:rPr lang="en-US" b="1" dirty="0"/>
              <a:t>benchmarking</a:t>
            </a:r>
            <a:r>
              <a:rPr lang="en-US" dirty="0"/>
              <a:t> to maintain quality of products and services.</a:t>
            </a:r>
          </a:p>
          <a:p>
            <a:r>
              <a:rPr lang="en-US" b="1" dirty="0"/>
              <a:t>7. Manage change:</a:t>
            </a:r>
            <a:r>
              <a:rPr lang="en-US" dirty="0"/>
              <a:t> Planning involves some </a:t>
            </a:r>
            <a:r>
              <a:rPr lang="en-US" b="1" dirty="0"/>
              <a:t>assumptions and estimations</a:t>
            </a:r>
            <a:r>
              <a:rPr lang="en-US" dirty="0"/>
              <a:t> about future objectives, work process, and getting results. The regular review of such assumptions and estimation helps to know either actual process is in track or not. If actual achievement of performance is not in accordance it is essential to catch new development so that adjustment becomes possible. It supports to </a:t>
            </a:r>
            <a:r>
              <a:rPr lang="en-US" b="1" dirty="0"/>
              <a:t>adapt business activities</a:t>
            </a:r>
            <a:r>
              <a:rPr lang="en-US" dirty="0"/>
              <a:t> based on changing environment.</a:t>
            </a:r>
          </a:p>
          <a:p>
            <a:endParaRPr lang="en-CA" dirty="0"/>
          </a:p>
        </p:txBody>
      </p:sp>
    </p:spTree>
    <p:extLst>
      <p:ext uri="{BB962C8B-B14F-4D97-AF65-F5344CB8AC3E}">
        <p14:creationId xmlns:p14="http://schemas.microsoft.com/office/powerpoint/2010/main" val="1808634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BEDB2-C8C7-9141-093A-05CC43D24840}"/>
              </a:ext>
            </a:extLst>
          </p:cNvPr>
          <p:cNvSpPr>
            <a:spLocks noGrp="1"/>
          </p:cNvSpPr>
          <p:nvPr>
            <p:ph type="title"/>
          </p:nvPr>
        </p:nvSpPr>
        <p:spPr>
          <a:xfrm>
            <a:off x="838200" y="365126"/>
            <a:ext cx="10515600" cy="136320"/>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CE2A2E1-5979-C892-DC4D-B13B2D8303CE}"/>
              </a:ext>
            </a:extLst>
          </p:cNvPr>
          <p:cNvSpPr>
            <a:spLocks noGrp="1"/>
          </p:cNvSpPr>
          <p:nvPr>
            <p:ph idx="1"/>
          </p:nvPr>
        </p:nvSpPr>
        <p:spPr>
          <a:xfrm>
            <a:off x="155448" y="894735"/>
            <a:ext cx="11695176" cy="5282228"/>
          </a:xfrm>
        </p:spPr>
        <p:txBody>
          <a:bodyPr>
            <a:normAutofit fontScale="85000" lnSpcReduction="20000"/>
          </a:bodyPr>
          <a:lstStyle/>
          <a:p>
            <a:r>
              <a:rPr lang="en-US" b="1" dirty="0"/>
              <a:t>8. Set priorities:</a:t>
            </a:r>
            <a:r>
              <a:rPr lang="en-US" dirty="0"/>
              <a:t> In practice it is not possible to do all the business activities at a time. It is reason that works should be done on priority basis. There is inter-relation over all the activities of the organization. Business plan helps to </a:t>
            </a:r>
            <a:r>
              <a:rPr lang="en-US" b="1" dirty="0"/>
              <a:t>prepare schedule of work</a:t>
            </a:r>
            <a:r>
              <a:rPr lang="en-US" dirty="0"/>
              <a:t> to be performed based on preference. The most important work should be accomplished first, then second and so on. It supports for </a:t>
            </a:r>
            <a:r>
              <a:rPr lang="en-US" b="1" dirty="0"/>
              <a:t>strategic allocation of time, effort and resources.</a:t>
            </a:r>
            <a:endParaRPr lang="en-US" dirty="0"/>
          </a:p>
          <a:p>
            <a:r>
              <a:rPr lang="en-US" b="1" dirty="0"/>
              <a:t>9. Develop accountability:</a:t>
            </a:r>
            <a:r>
              <a:rPr lang="en-US" dirty="0"/>
              <a:t> A rational plan involves guidelines for </a:t>
            </a:r>
            <a:r>
              <a:rPr lang="en-US" b="1" dirty="0"/>
              <a:t>division work, delegation of authority and responsibility,</a:t>
            </a:r>
            <a:r>
              <a:rPr lang="en-US" dirty="0"/>
              <a:t> and process of getting feedback of accomplishment of assigned work. It is a tool of regular review of expected performance and actual performance of employees. It specifies the provision of </a:t>
            </a:r>
            <a:r>
              <a:rPr lang="en-US" b="1" dirty="0"/>
              <a:t>reward and punishment</a:t>
            </a:r>
            <a:r>
              <a:rPr lang="en-US" dirty="0"/>
              <a:t> based on performance outcome. It makes employees more </a:t>
            </a:r>
            <a:r>
              <a:rPr lang="en-US" b="1" dirty="0"/>
              <a:t>accountable</a:t>
            </a:r>
            <a:r>
              <a:rPr lang="en-US" dirty="0"/>
              <a:t> for completion of assigned jobs and reporting to the management on time.</a:t>
            </a:r>
          </a:p>
          <a:p>
            <a:r>
              <a:rPr lang="en-US" b="1" dirty="0"/>
              <a:t>10. Management of cash:</a:t>
            </a:r>
            <a:r>
              <a:rPr lang="en-US" dirty="0"/>
              <a:t> In practice no business entity can afford mismanagement of cash. A good plan involves guidelines for proper </a:t>
            </a:r>
            <a:r>
              <a:rPr lang="en-US" b="1" dirty="0"/>
              <a:t>management of cash</a:t>
            </a:r>
            <a:r>
              <a:rPr lang="en-US" dirty="0"/>
              <a:t>. A cash flow plan should tie with estimated sales, purchases, expenses, assets need to buy and debts have to pay. In some cases, earning more profit is not enough. It is essential to </a:t>
            </a:r>
            <a:r>
              <a:rPr lang="en-US" b="1" dirty="0"/>
              <a:t>plan and manage cash</a:t>
            </a:r>
            <a:r>
              <a:rPr lang="en-US" dirty="0"/>
              <a:t> if there are account sales, more inventories, assets purchase, and debts repayment is involved.</a:t>
            </a:r>
          </a:p>
          <a:p>
            <a:endParaRPr lang="en-CA" dirty="0"/>
          </a:p>
        </p:txBody>
      </p:sp>
    </p:spTree>
    <p:extLst>
      <p:ext uri="{BB962C8B-B14F-4D97-AF65-F5344CB8AC3E}">
        <p14:creationId xmlns:p14="http://schemas.microsoft.com/office/powerpoint/2010/main" val="1069006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46E53-AEDA-6A7D-DA3D-DB6AA0B2D809}"/>
              </a:ext>
            </a:extLst>
          </p:cNvPr>
          <p:cNvSpPr>
            <a:spLocks noGrp="1"/>
          </p:cNvSpPr>
          <p:nvPr>
            <p:ph type="title"/>
          </p:nvPr>
        </p:nvSpPr>
        <p:spPr/>
        <p:txBody>
          <a:bodyPr/>
          <a:lstStyle/>
          <a:p>
            <a:r>
              <a:rPr lang="en-US" dirty="0"/>
              <a:t>Contents of a successful business plan</a:t>
            </a:r>
            <a:endParaRPr lang="en-CA" dirty="0"/>
          </a:p>
        </p:txBody>
      </p:sp>
      <p:sp>
        <p:nvSpPr>
          <p:cNvPr id="3" name="Content Placeholder 2">
            <a:extLst>
              <a:ext uri="{FF2B5EF4-FFF2-40B4-BE49-F238E27FC236}">
                <a16:creationId xmlns:a16="http://schemas.microsoft.com/office/drawing/2014/main" id="{039F0541-5EDE-3399-21BB-E63AA612171E}"/>
              </a:ext>
            </a:extLst>
          </p:cNvPr>
          <p:cNvSpPr>
            <a:spLocks noGrp="1"/>
          </p:cNvSpPr>
          <p:nvPr>
            <p:ph idx="1"/>
          </p:nvPr>
        </p:nvSpPr>
        <p:spPr>
          <a:xfrm>
            <a:off x="838200" y="1386348"/>
            <a:ext cx="10515600" cy="4790615"/>
          </a:xfrm>
        </p:spPr>
        <p:txBody>
          <a:bodyPr/>
          <a:lstStyle/>
          <a:p>
            <a:r>
              <a:rPr lang="en-US" dirty="0"/>
              <a:t>A business plan is an official written document which contains detail information of establishment of a business and its successful functioning. It also involves background information of business, its nature, financial projections, and strategies to achieve predetermined goals. The business plan consists of many sections having specific information, the following are common elements/ sections/contents of a successful business plan. </a:t>
            </a:r>
            <a:endParaRPr lang="en-CA" dirty="0"/>
          </a:p>
        </p:txBody>
      </p:sp>
    </p:spTree>
    <p:extLst>
      <p:ext uri="{BB962C8B-B14F-4D97-AF65-F5344CB8AC3E}">
        <p14:creationId xmlns:p14="http://schemas.microsoft.com/office/powerpoint/2010/main" val="229992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264D0-A828-0E9E-7B24-CBC170DAB1B3}"/>
              </a:ext>
            </a:extLst>
          </p:cNvPr>
          <p:cNvSpPr>
            <a:spLocks noGrp="1"/>
          </p:cNvSpPr>
          <p:nvPr>
            <p:ph type="title"/>
          </p:nvPr>
        </p:nvSpPr>
        <p:spPr>
          <a:xfrm>
            <a:off x="838200" y="365125"/>
            <a:ext cx="10515600" cy="24752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C1A8F6EB-B5C5-E073-0239-2EC967371454}"/>
              </a:ext>
            </a:extLst>
          </p:cNvPr>
          <p:cNvSpPr>
            <a:spLocks noGrp="1"/>
          </p:cNvSpPr>
          <p:nvPr>
            <p:ph idx="1"/>
          </p:nvPr>
        </p:nvSpPr>
        <p:spPr>
          <a:xfrm>
            <a:off x="237744" y="950976"/>
            <a:ext cx="11622024" cy="5225987"/>
          </a:xfrm>
        </p:spPr>
        <p:txBody>
          <a:bodyPr>
            <a:normAutofit/>
          </a:bodyPr>
          <a:lstStyle/>
          <a:p>
            <a:pPr algn="just"/>
            <a:r>
              <a:rPr lang="en-US" b="1" dirty="0"/>
              <a:t>1. Title Page and Contents:</a:t>
            </a:r>
            <a:r>
              <a:rPr lang="en-US" dirty="0"/>
              <a:t> </a:t>
            </a:r>
            <a:r>
              <a:rPr lang="en-US" b="1" dirty="0"/>
              <a:t>Title page</a:t>
            </a:r>
            <a:r>
              <a:rPr lang="en-US" dirty="0"/>
              <a:t> is the front page of business plan which involves </a:t>
            </a:r>
            <a:r>
              <a:rPr lang="en-US" b="1" dirty="0"/>
              <a:t>heading of business plan and detail information of business.</a:t>
            </a:r>
            <a:r>
              <a:rPr lang="en-US" dirty="0"/>
              <a:t> The detail information involves </a:t>
            </a:r>
            <a:r>
              <a:rPr lang="en-US" b="1" dirty="0"/>
              <a:t>name of the organization, name of promoters and executive, address, phone number, e-mail and website addresses, and the date of preparation of plan.</a:t>
            </a:r>
            <a:r>
              <a:rPr lang="en-US" dirty="0"/>
              <a:t> </a:t>
            </a:r>
            <a:r>
              <a:rPr lang="en-US" b="1" dirty="0"/>
              <a:t>Contents</a:t>
            </a:r>
            <a:r>
              <a:rPr lang="en-US" dirty="0"/>
              <a:t> involve information of </a:t>
            </a:r>
            <a:r>
              <a:rPr lang="en-US" b="1" dirty="0"/>
              <a:t>headings and sub-headings of subject-matters</a:t>
            </a:r>
            <a:r>
              <a:rPr lang="en-US" dirty="0"/>
              <a:t> specified in plan. It is the systematic presentation of all the details mentioned on plan. It is the basis of drawing attention of readers, investors and other stakeholders towards the business.</a:t>
            </a:r>
          </a:p>
          <a:p>
            <a:endParaRPr lang="en-CA" dirty="0"/>
          </a:p>
        </p:txBody>
      </p:sp>
    </p:spTree>
    <p:extLst>
      <p:ext uri="{BB962C8B-B14F-4D97-AF65-F5344CB8AC3E}">
        <p14:creationId xmlns:p14="http://schemas.microsoft.com/office/powerpoint/2010/main" val="567429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6E17F-2CFF-6027-9353-647CC564F261}"/>
              </a:ext>
            </a:extLst>
          </p:cNvPr>
          <p:cNvSpPr>
            <a:spLocks noGrp="1"/>
          </p:cNvSpPr>
          <p:nvPr>
            <p:ph type="title"/>
          </p:nvPr>
        </p:nvSpPr>
        <p:spPr>
          <a:xfrm>
            <a:off x="838200" y="365125"/>
            <a:ext cx="10515600" cy="47612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EC694DBC-BF79-1867-77CD-BD060A36703E}"/>
              </a:ext>
            </a:extLst>
          </p:cNvPr>
          <p:cNvSpPr>
            <a:spLocks noGrp="1"/>
          </p:cNvSpPr>
          <p:nvPr>
            <p:ph idx="1"/>
          </p:nvPr>
        </p:nvSpPr>
        <p:spPr>
          <a:xfrm>
            <a:off x="838200" y="1069848"/>
            <a:ext cx="10515600" cy="5107115"/>
          </a:xfrm>
        </p:spPr>
        <p:txBody>
          <a:bodyPr>
            <a:normAutofit fontScale="92500" lnSpcReduction="20000"/>
          </a:bodyPr>
          <a:lstStyle/>
          <a:p>
            <a:r>
              <a:rPr lang="en-US" b="1" dirty="0"/>
              <a:t>2. Executive Summary:</a:t>
            </a:r>
            <a:r>
              <a:rPr lang="en-US" dirty="0"/>
              <a:t> The executive summary is a statement that shows the </a:t>
            </a:r>
            <a:r>
              <a:rPr lang="en-US" b="1" dirty="0"/>
              <a:t>picture of company profile and goals.</a:t>
            </a:r>
            <a:r>
              <a:rPr lang="en-US" dirty="0"/>
              <a:t> It involves key information of the business plan in brief such as </a:t>
            </a:r>
            <a:r>
              <a:rPr lang="en-US" b="1" dirty="0"/>
              <a:t>mission statement, brief history of business, company’s growth, products or service and summary of future plan.</a:t>
            </a:r>
            <a:r>
              <a:rPr lang="en-US" dirty="0"/>
              <a:t> It involves summary of all the information mentioned in detail plan so that it is able to draw the attention of readers to go through detail plan. </a:t>
            </a:r>
            <a:r>
              <a:rPr lang="en-US" b="1" dirty="0"/>
              <a:t>The summary should be no more than half a page</a:t>
            </a:r>
            <a:r>
              <a:rPr lang="en-US" dirty="0"/>
              <a:t> and should involve the following key elements:</a:t>
            </a:r>
          </a:p>
          <a:p>
            <a:r>
              <a:rPr lang="en-US" b="1" dirty="0"/>
              <a:t>Products/service,</a:t>
            </a:r>
            <a:r>
              <a:rPr lang="en-US" dirty="0"/>
              <a:t> the market venture serve</a:t>
            </a:r>
          </a:p>
          <a:p>
            <a:r>
              <a:rPr lang="en-US" b="1" dirty="0"/>
              <a:t>Competitive advantage</a:t>
            </a:r>
            <a:r>
              <a:rPr lang="en-US" dirty="0"/>
              <a:t> of business</a:t>
            </a:r>
          </a:p>
          <a:p>
            <a:r>
              <a:rPr lang="en-US" b="1" dirty="0"/>
              <a:t>Estimated sales and profit</a:t>
            </a:r>
            <a:endParaRPr lang="en-US" dirty="0"/>
          </a:p>
          <a:p>
            <a:r>
              <a:rPr lang="en-US" b="1" dirty="0"/>
              <a:t>Capital required</a:t>
            </a:r>
            <a:r>
              <a:rPr lang="en-US" dirty="0"/>
              <a:t> for establishment and expansion of business</a:t>
            </a:r>
          </a:p>
          <a:p>
            <a:r>
              <a:rPr lang="en-US" b="1" dirty="0"/>
              <a:t>Current business position,</a:t>
            </a:r>
            <a:r>
              <a:rPr lang="en-US" dirty="0"/>
              <a:t> if any, its legal form of operation, when it was established etc.</a:t>
            </a:r>
          </a:p>
          <a:p>
            <a:endParaRPr lang="en-CA" dirty="0"/>
          </a:p>
        </p:txBody>
      </p:sp>
    </p:spTree>
    <p:extLst>
      <p:ext uri="{BB962C8B-B14F-4D97-AF65-F5344CB8AC3E}">
        <p14:creationId xmlns:p14="http://schemas.microsoft.com/office/powerpoint/2010/main" val="34865497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CF69A-4BBC-9004-F21A-FC64E3B606C2}"/>
              </a:ext>
            </a:extLst>
          </p:cNvPr>
          <p:cNvSpPr>
            <a:spLocks noGrp="1"/>
          </p:cNvSpPr>
          <p:nvPr>
            <p:ph type="title"/>
          </p:nvPr>
        </p:nvSpPr>
        <p:spPr>
          <a:xfrm>
            <a:off x="838200" y="-77326"/>
            <a:ext cx="10515600" cy="758364"/>
          </a:xfrm>
        </p:spPr>
        <p:txBody>
          <a:bodyPr/>
          <a:lstStyle/>
          <a:p>
            <a:endParaRPr lang="en-CA" dirty="0"/>
          </a:p>
        </p:txBody>
      </p:sp>
      <p:sp>
        <p:nvSpPr>
          <p:cNvPr id="3" name="Content Placeholder 2">
            <a:extLst>
              <a:ext uri="{FF2B5EF4-FFF2-40B4-BE49-F238E27FC236}">
                <a16:creationId xmlns:a16="http://schemas.microsoft.com/office/drawing/2014/main" id="{0FBA1C83-D2E7-20E6-88F9-76AA5B0E1978}"/>
              </a:ext>
            </a:extLst>
          </p:cNvPr>
          <p:cNvSpPr>
            <a:spLocks noGrp="1"/>
          </p:cNvSpPr>
          <p:nvPr>
            <p:ph idx="1"/>
          </p:nvPr>
        </p:nvSpPr>
        <p:spPr>
          <a:xfrm>
            <a:off x="838200" y="1150374"/>
            <a:ext cx="10515600" cy="5026589"/>
          </a:xfrm>
        </p:spPr>
        <p:txBody>
          <a:bodyPr>
            <a:normAutofit fontScale="77500" lnSpcReduction="20000"/>
          </a:bodyPr>
          <a:lstStyle/>
          <a:p>
            <a:r>
              <a:rPr lang="en-US" b="1" dirty="0"/>
              <a:t>3. Description of Business:</a:t>
            </a:r>
            <a:r>
              <a:rPr lang="en-US" dirty="0"/>
              <a:t> </a:t>
            </a:r>
            <a:r>
              <a:rPr lang="en-US" b="1" dirty="0"/>
              <a:t>Business description</a:t>
            </a:r>
            <a:r>
              <a:rPr lang="en-US" dirty="0"/>
              <a:t> involves detail information of the business. It provides an overview of key aspects about the business such as </a:t>
            </a:r>
            <a:r>
              <a:rPr lang="en-US" b="1" dirty="0"/>
              <a:t>background of business, its nature and scope, area of operation, target customers, products and services, competitive advantages and so on.</a:t>
            </a:r>
            <a:r>
              <a:rPr lang="en-US" dirty="0"/>
              <a:t> Any stakeholders reading business description should easily understand the scope of new business idea. Especially, investors and lenders should see what and how business has a place in the present market and its benefits to future customers. It is also essential to specify whether the business is new or already established. Usually, the following components involve in </a:t>
            </a:r>
            <a:r>
              <a:rPr lang="en-US" b="1" dirty="0"/>
              <a:t>business description:</a:t>
            </a:r>
            <a:endParaRPr lang="en-US" dirty="0"/>
          </a:p>
          <a:p>
            <a:r>
              <a:rPr lang="en-US" b="1" dirty="0"/>
              <a:t>Background of business</a:t>
            </a:r>
            <a:endParaRPr lang="en-US" dirty="0"/>
          </a:p>
          <a:p>
            <a:r>
              <a:rPr lang="en-US" b="1" dirty="0"/>
              <a:t>Products and services</a:t>
            </a:r>
            <a:endParaRPr lang="en-US" dirty="0"/>
          </a:p>
          <a:p>
            <a:r>
              <a:rPr lang="en-US" b="1" dirty="0"/>
              <a:t>Location of business</a:t>
            </a:r>
            <a:endParaRPr lang="en-US" dirty="0"/>
          </a:p>
          <a:p>
            <a:r>
              <a:rPr lang="en-US" b="1" dirty="0"/>
              <a:t>Competitive strength</a:t>
            </a:r>
            <a:endParaRPr lang="en-US" dirty="0"/>
          </a:p>
          <a:p>
            <a:r>
              <a:rPr lang="en-US" b="1" dirty="0"/>
              <a:t>Target customers</a:t>
            </a:r>
            <a:endParaRPr lang="en-US" dirty="0"/>
          </a:p>
          <a:p>
            <a:r>
              <a:rPr lang="en-US" b="1" dirty="0"/>
              <a:t>Business structure</a:t>
            </a:r>
            <a:endParaRPr lang="en-US" dirty="0"/>
          </a:p>
          <a:p>
            <a:r>
              <a:rPr lang="en-US" b="1" dirty="0"/>
              <a:t>Implementation of plan</a:t>
            </a:r>
            <a:endParaRPr lang="en-US" dirty="0"/>
          </a:p>
          <a:p>
            <a:r>
              <a:rPr lang="en-US" b="1" dirty="0"/>
              <a:t>Special feature of business</a:t>
            </a:r>
            <a:r>
              <a:rPr lang="en-US" dirty="0"/>
              <a:t> etc.</a:t>
            </a:r>
          </a:p>
          <a:p>
            <a:endParaRPr lang="en-US" dirty="0"/>
          </a:p>
          <a:p>
            <a:endParaRPr lang="en-CA" dirty="0"/>
          </a:p>
        </p:txBody>
      </p:sp>
    </p:spTree>
    <p:extLst>
      <p:ext uri="{BB962C8B-B14F-4D97-AF65-F5344CB8AC3E}">
        <p14:creationId xmlns:p14="http://schemas.microsoft.com/office/powerpoint/2010/main" val="33271008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F0B8C-B0EC-7CB7-6A3A-0BBF497B3055}"/>
              </a:ext>
            </a:extLst>
          </p:cNvPr>
          <p:cNvSpPr>
            <a:spLocks noGrp="1"/>
          </p:cNvSpPr>
          <p:nvPr>
            <p:ph type="title"/>
          </p:nvPr>
        </p:nvSpPr>
        <p:spPr>
          <a:xfrm>
            <a:off x="838200" y="365125"/>
            <a:ext cx="10515600" cy="48044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6240194F-2505-2480-5C1E-7039DB460F01}"/>
              </a:ext>
            </a:extLst>
          </p:cNvPr>
          <p:cNvSpPr>
            <a:spLocks noGrp="1"/>
          </p:cNvSpPr>
          <p:nvPr>
            <p:ph idx="1"/>
          </p:nvPr>
        </p:nvSpPr>
        <p:spPr>
          <a:xfrm>
            <a:off x="838200" y="1258529"/>
            <a:ext cx="10515600" cy="4918434"/>
          </a:xfrm>
        </p:spPr>
        <p:txBody>
          <a:bodyPr>
            <a:normAutofit/>
          </a:bodyPr>
          <a:lstStyle/>
          <a:p>
            <a:r>
              <a:rPr lang="en-US" b="1" dirty="0"/>
              <a:t>4.Description of Product or Service:</a:t>
            </a:r>
            <a:r>
              <a:rPr lang="en-US" dirty="0"/>
              <a:t> This segment of business plan involves </a:t>
            </a:r>
            <a:r>
              <a:rPr lang="en-US" b="1" dirty="0"/>
              <a:t>detail description of existing and planned products and services</a:t>
            </a:r>
            <a:r>
              <a:rPr lang="en-US" dirty="0"/>
              <a:t> of the company. It describes how the products or service will fulfill the expectations of the customers. It involves details concerning the </a:t>
            </a:r>
            <a:r>
              <a:rPr lang="en-US" b="1" dirty="0"/>
              <a:t>product life cycle, intellectual property right issues, and any research development</a:t>
            </a:r>
            <a:r>
              <a:rPr lang="en-US" dirty="0"/>
              <a:t> planned in future. It describes about what makes product or service different from others available in the market (value proposition). </a:t>
            </a:r>
            <a:r>
              <a:rPr lang="en-US" b="1" dirty="0"/>
              <a:t>All the information is given in specific so that product and service should look distinct from competitors.</a:t>
            </a:r>
            <a:endParaRPr lang="en-US" dirty="0"/>
          </a:p>
          <a:p>
            <a:endParaRPr lang="en-CA" dirty="0"/>
          </a:p>
        </p:txBody>
      </p:sp>
    </p:spTree>
    <p:extLst>
      <p:ext uri="{BB962C8B-B14F-4D97-AF65-F5344CB8AC3E}">
        <p14:creationId xmlns:p14="http://schemas.microsoft.com/office/powerpoint/2010/main" val="1886925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25EF3-F21D-E10A-8BB0-08C77FC6F863}"/>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367024FC-DA03-09EA-6764-6264B49EB0A2}"/>
              </a:ext>
            </a:extLst>
          </p:cNvPr>
          <p:cNvSpPr>
            <a:spLocks noGrp="1"/>
          </p:cNvSpPr>
          <p:nvPr>
            <p:ph idx="1"/>
          </p:nvPr>
        </p:nvSpPr>
        <p:spPr>
          <a:xfrm>
            <a:off x="838200" y="1061884"/>
            <a:ext cx="10515600" cy="5115079"/>
          </a:xfrm>
        </p:spPr>
        <p:txBody>
          <a:bodyPr>
            <a:normAutofit fontScale="92500" lnSpcReduction="20000"/>
          </a:bodyPr>
          <a:lstStyle/>
          <a:p>
            <a:r>
              <a:rPr lang="en-US" b="1" dirty="0"/>
              <a:t>5. Market Analysis:</a:t>
            </a:r>
            <a:r>
              <a:rPr lang="en-US" dirty="0"/>
              <a:t> A systematic market analysis can help to know future prospects of business. It helps to establish </a:t>
            </a:r>
            <a:r>
              <a:rPr lang="en-US" b="1" dirty="0"/>
              <a:t>pricing, distribution, and promotional strategies</a:t>
            </a:r>
            <a:r>
              <a:rPr lang="en-US" dirty="0"/>
              <a:t> that can support the company to be successful even in competition, both in the short and long term. </a:t>
            </a:r>
            <a:r>
              <a:rPr lang="en-US" b="1" dirty="0"/>
              <a:t>Market analysis can define the market in terms of size, demographics, structure, growth prospects, trends, and sales potential.</a:t>
            </a:r>
            <a:r>
              <a:rPr lang="en-US" dirty="0"/>
              <a:t> It evaluates the various customer segments and buying pattern, level of competition, and the economic environment affecting market. It also involves how product or service would be purchased by target market. Usually, the following components involve in </a:t>
            </a:r>
            <a:r>
              <a:rPr lang="en-US" b="1" dirty="0"/>
              <a:t>marketing analysis:</a:t>
            </a:r>
            <a:endParaRPr lang="en-US" dirty="0"/>
          </a:p>
          <a:p>
            <a:pPr lvl="1"/>
            <a:r>
              <a:rPr lang="en-US" b="1" dirty="0"/>
              <a:t>Size of market</a:t>
            </a:r>
            <a:endParaRPr lang="en-US" dirty="0"/>
          </a:p>
          <a:p>
            <a:pPr lvl="1"/>
            <a:r>
              <a:rPr lang="en-US" b="1" dirty="0"/>
              <a:t>Growth rate of market</a:t>
            </a:r>
            <a:endParaRPr lang="en-US" dirty="0"/>
          </a:p>
          <a:p>
            <a:pPr lvl="1"/>
            <a:r>
              <a:rPr lang="en-US" b="1" dirty="0"/>
              <a:t>Market trends</a:t>
            </a:r>
            <a:endParaRPr lang="en-US" dirty="0"/>
          </a:p>
          <a:p>
            <a:pPr lvl="1"/>
            <a:r>
              <a:rPr lang="en-US" b="1" dirty="0"/>
              <a:t>Market profitability</a:t>
            </a:r>
            <a:endParaRPr lang="en-US" dirty="0"/>
          </a:p>
          <a:p>
            <a:pPr lvl="1"/>
            <a:r>
              <a:rPr lang="en-US" b="1" dirty="0"/>
              <a:t>Industry cost structure</a:t>
            </a:r>
            <a:endParaRPr lang="en-US" dirty="0"/>
          </a:p>
          <a:p>
            <a:pPr lvl="1"/>
            <a:r>
              <a:rPr lang="en-US" b="1" dirty="0"/>
              <a:t>Distribution channels</a:t>
            </a:r>
            <a:endParaRPr lang="en-US" dirty="0"/>
          </a:p>
          <a:p>
            <a:pPr lvl="1"/>
            <a:r>
              <a:rPr lang="en-US" b="1" dirty="0"/>
              <a:t>Promotions methods </a:t>
            </a:r>
            <a:endParaRPr lang="en-US" dirty="0"/>
          </a:p>
          <a:p>
            <a:endParaRPr lang="en-CA" dirty="0"/>
          </a:p>
        </p:txBody>
      </p:sp>
    </p:spTree>
    <p:extLst>
      <p:ext uri="{BB962C8B-B14F-4D97-AF65-F5344CB8AC3E}">
        <p14:creationId xmlns:p14="http://schemas.microsoft.com/office/powerpoint/2010/main" val="29989129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07795-3265-1E08-CDFF-26CCABD37E11}"/>
              </a:ext>
            </a:extLst>
          </p:cNvPr>
          <p:cNvSpPr>
            <a:spLocks noGrp="1"/>
          </p:cNvSpPr>
          <p:nvPr>
            <p:ph type="title"/>
          </p:nvPr>
        </p:nvSpPr>
        <p:spPr>
          <a:xfrm>
            <a:off x="838200" y="365125"/>
            <a:ext cx="10515600" cy="45783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07968A7-9A0A-7C58-A89E-D8D18682CDA6}"/>
              </a:ext>
            </a:extLst>
          </p:cNvPr>
          <p:cNvSpPr>
            <a:spLocks noGrp="1"/>
          </p:cNvSpPr>
          <p:nvPr>
            <p:ph idx="1"/>
          </p:nvPr>
        </p:nvSpPr>
        <p:spPr>
          <a:xfrm>
            <a:off x="838200" y="1060704"/>
            <a:ext cx="11149584" cy="5116259"/>
          </a:xfrm>
        </p:spPr>
        <p:txBody>
          <a:bodyPr>
            <a:normAutofit fontScale="92500"/>
          </a:bodyPr>
          <a:lstStyle/>
          <a:p>
            <a:r>
              <a:rPr lang="en-US" b="1" dirty="0"/>
              <a:t>6.Competitive Analysis:</a:t>
            </a:r>
            <a:r>
              <a:rPr lang="en-US" dirty="0"/>
              <a:t> In open market economy there is competition in every sector of business. In competitive analysis, at the beginning stage it is essential to identify both direct and indirect competition for the business, both at present and also in future. It also involves to analyze marketing strategies of the competitors and to identify their areas of strength and weaknesses. It helps to determine competitive advantage of the organization. Generally, competitive analysis determines the following:</a:t>
            </a:r>
          </a:p>
          <a:p>
            <a:r>
              <a:rPr lang="en-US" dirty="0"/>
              <a:t>The strengths and weaknesses of the competitors within company's market.</a:t>
            </a:r>
          </a:p>
          <a:p>
            <a:r>
              <a:rPr lang="en-US" dirty="0"/>
              <a:t>Strategies that will provide a distinct advantage.</a:t>
            </a:r>
          </a:p>
          <a:p>
            <a:r>
              <a:rPr lang="en-US" dirty="0"/>
              <a:t>Barriers that can be developed to prevent competition after entering market.</a:t>
            </a:r>
          </a:p>
          <a:p>
            <a:r>
              <a:rPr lang="en-US" dirty="0"/>
              <a:t>Any weaknesses that can be exploited in the product development cycle.</a:t>
            </a:r>
          </a:p>
          <a:p>
            <a:endParaRPr lang="en-CA" dirty="0"/>
          </a:p>
        </p:txBody>
      </p:sp>
    </p:spTree>
    <p:extLst>
      <p:ext uri="{BB962C8B-B14F-4D97-AF65-F5344CB8AC3E}">
        <p14:creationId xmlns:p14="http://schemas.microsoft.com/office/powerpoint/2010/main" val="9490688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251F3-E88B-6787-7F41-566D0E2BE299}"/>
              </a:ext>
            </a:extLst>
          </p:cNvPr>
          <p:cNvSpPr>
            <a:spLocks noGrp="1"/>
          </p:cNvSpPr>
          <p:nvPr>
            <p:ph type="title"/>
          </p:nvPr>
        </p:nvSpPr>
        <p:spPr>
          <a:xfrm>
            <a:off x="838200" y="365125"/>
            <a:ext cx="10515600" cy="38468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C4CFE0CF-C835-C4A0-B3B9-F9128304984F}"/>
              </a:ext>
            </a:extLst>
          </p:cNvPr>
          <p:cNvSpPr>
            <a:spLocks noGrp="1"/>
          </p:cNvSpPr>
          <p:nvPr>
            <p:ph idx="1"/>
          </p:nvPr>
        </p:nvSpPr>
        <p:spPr>
          <a:xfrm>
            <a:off x="838200" y="1097280"/>
            <a:ext cx="10515600" cy="5079683"/>
          </a:xfrm>
        </p:spPr>
        <p:txBody>
          <a:bodyPr>
            <a:normAutofit/>
          </a:bodyPr>
          <a:lstStyle/>
          <a:p>
            <a:r>
              <a:rPr lang="en-US" b="1" dirty="0"/>
              <a:t>7.Operations and Management:</a:t>
            </a:r>
            <a:r>
              <a:rPr lang="en-US" dirty="0"/>
              <a:t> The operations and management component of plan is designed to describe how the business functions on a continuing basis. The operations plan highlights the resources required for conversion of inputs into outputs. These resources involve material, capital, manpower and other logistic support. Similarly, management involves the specification of responsibilities of the management team, the tasks assigned to each division within the company, delegation of authority and responsibility, defining working procedures and system.</a:t>
            </a:r>
          </a:p>
          <a:p>
            <a:endParaRPr lang="en-CA" dirty="0"/>
          </a:p>
        </p:txBody>
      </p:sp>
    </p:spTree>
    <p:extLst>
      <p:ext uri="{BB962C8B-B14F-4D97-AF65-F5344CB8AC3E}">
        <p14:creationId xmlns:p14="http://schemas.microsoft.com/office/powerpoint/2010/main" val="1326848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746B-3C06-C1A3-D01E-AC8B164B0DFA}"/>
              </a:ext>
            </a:extLst>
          </p:cNvPr>
          <p:cNvSpPr>
            <a:spLocks noGrp="1"/>
          </p:cNvSpPr>
          <p:nvPr>
            <p:ph type="title"/>
          </p:nvPr>
        </p:nvSpPr>
        <p:spPr>
          <a:xfrm>
            <a:off x="838200" y="365125"/>
            <a:ext cx="10515600" cy="785249"/>
          </a:xfrm>
        </p:spPr>
        <p:txBody>
          <a:bodyPr/>
          <a:lstStyle/>
          <a:p>
            <a:endParaRPr lang="en-CA" dirty="0"/>
          </a:p>
        </p:txBody>
      </p:sp>
      <p:sp>
        <p:nvSpPr>
          <p:cNvPr id="3" name="Content Placeholder 2">
            <a:extLst>
              <a:ext uri="{FF2B5EF4-FFF2-40B4-BE49-F238E27FC236}">
                <a16:creationId xmlns:a16="http://schemas.microsoft.com/office/drawing/2014/main" id="{6402F1A2-2648-E665-3A44-E59837BDFC49}"/>
              </a:ext>
            </a:extLst>
          </p:cNvPr>
          <p:cNvSpPr>
            <a:spLocks noGrp="1"/>
          </p:cNvSpPr>
          <p:nvPr>
            <p:ph idx="1"/>
          </p:nvPr>
        </p:nvSpPr>
        <p:spPr>
          <a:xfrm>
            <a:off x="838200" y="1465006"/>
            <a:ext cx="10515600" cy="5027869"/>
          </a:xfrm>
        </p:spPr>
        <p:txBody>
          <a:bodyPr>
            <a:normAutofit fontScale="77500" lnSpcReduction="20000"/>
          </a:bodyPr>
          <a:lstStyle/>
          <a:p>
            <a:r>
              <a:rPr lang="en-US" b="1" dirty="0"/>
              <a:t>8.Financial Components:</a:t>
            </a:r>
            <a:r>
              <a:rPr lang="en-US" dirty="0"/>
              <a:t> Financial components involve both fixed capital and operating capital. Fixed capital is required for establishment of new business such as for purchasing land, building, plant, machinery, furniture, furnishing, research and development. Similarly, working capital is required for day-to-day business activities such as for purchasing raw materials, payment of salary and wages, and overhead expenses. The financial component analysis examines the financial sustainability of the new business. It involves the analysis of start-up cost, cash flow requirement, profit or loss in business. The common components of financial analysis are as follows:</a:t>
            </a:r>
          </a:p>
          <a:p>
            <a:r>
              <a:rPr lang="en-US" dirty="0"/>
              <a:t>Start-up cost</a:t>
            </a:r>
          </a:p>
          <a:p>
            <a:r>
              <a:rPr lang="en-US" dirty="0"/>
              <a:t>Financial requirement</a:t>
            </a:r>
          </a:p>
          <a:p>
            <a:r>
              <a:rPr lang="en-US" dirty="0"/>
              <a:t>Sources of fund</a:t>
            </a:r>
          </a:p>
          <a:p>
            <a:r>
              <a:rPr lang="en-US" dirty="0"/>
              <a:t>Projected profit and loss assessment</a:t>
            </a:r>
          </a:p>
          <a:p>
            <a:r>
              <a:rPr lang="en-US" dirty="0"/>
              <a:t>Projected cash flow analysis</a:t>
            </a:r>
          </a:p>
          <a:p>
            <a:r>
              <a:rPr lang="en-US" dirty="0"/>
              <a:t>Projected balance sheet analysis</a:t>
            </a:r>
          </a:p>
          <a:p>
            <a:r>
              <a:rPr lang="en-US" dirty="0"/>
              <a:t>Payback period </a:t>
            </a:r>
          </a:p>
          <a:p>
            <a:endParaRPr lang="en-CA" dirty="0"/>
          </a:p>
        </p:txBody>
      </p:sp>
    </p:spTree>
    <p:extLst>
      <p:ext uri="{BB962C8B-B14F-4D97-AF65-F5344CB8AC3E}">
        <p14:creationId xmlns:p14="http://schemas.microsoft.com/office/powerpoint/2010/main" val="29314180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04B1C-B0AE-7B6D-AF84-FE6B3C8ED02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F2C27B7-44E0-610A-C000-AFA4F655B037}"/>
              </a:ext>
            </a:extLst>
          </p:cNvPr>
          <p:cNvSpPr>
            <a:spLocks noGrp="1"/>
          </p:cNvSpPr>
          <p:nvPr>
            <p:ph idx="1"/>
          </p:nvPr>
        </p:nvSpPr>
        <p:spPr/>
        <p:txBody>
          <a:bodyPr/>
          <a:lstStyle/>
          <a:p>
            <a:r>
              <a:rPr lang="en-US" b="1" dirty="0"/>
              <a:t>9.Summary:</a:t>
            </a:r>
            <a:r>
              <a:rPr lang="en-US" dirty="0"/>
              <a:t> It is concluding part of business plan. In this segment, key aspects of business are specified in brief. These aspects involve capital requirement, product and service features, target market, potential customers, competitive advantages of business, estimated sales volume, and profitability position of business. Along with scope of business it also specifies level of risk involved in business. The study of summary gives a picture about future prospects of business.</a:t>
            </a:r>
          </a:p>
          <a:p>
            <a:endParaRPr lang="en-CA" dirty="0"/>
          </a:p>
        </p:txBody>
      </p:sp>
    </p:spTree>
    <p:extLst>
      <p:ext uri="{BB962C8B-B14F-4D97-AF65-F5344CB8AC3E}">
        <p14:creationId xmlns:p14="http://schemas.microsoft.com/office/powerpoint/2010/main" val="21976487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0DC75-C62E-5563-7D2A-724C3A111288}"/>
              </a:ext>
            </a:extLst>
          </p:cNvPr>
          <p:cNvSpPr>
            <a:spLocks noGrp="1"/>
          </p:cNvSpPr>
          <p:nvPr>
            <p:ph type="title"/>
          </p:nvPr>
        </p:nvSpPr>
        <p:spPr>
          <a:xfrm>
            <a:off x="838200" y="365125"/>
            <a:ext cx="10515600" cy="924179"/>
          </a:xfrm>
        </p:spPr>
        <p:txBody>
          <a:bodyPr/>
          <a:lstStyle/>
          <a:p>
            <a:endParaRPr lang="en-CA" dirty="0"/>
          </a:p>
        </p:txBody>
      </p:sp>
      <p:sp>
        <p:nvSpPr>
          <p:cNvPr id="3" name="Content Placeholder 2">
            <a:extLst>
              <a:ext uri="{FF2B5EF4-FFF2-40B4-BE49-F238E27FC236}">
                <a16:creationId xmlns:a16="http://schemas.microsoft.com/office/drawing/2014/main" id="{5218BC38-C093-5E4A-4D38-2FDDB961685E}"/>
              </a:ext>
            </a:extLst>
          </p:cNvPr>
          <p:cNvSpPr>
            <a:spLocks noGrp="1"/>
          </p:cNvSpPr>
          <p:nvPr>
            <p:ph idx="1"/>
          </p:nvPr>
        </p:nvSpPr>
        <p:spPr/>
        <p:txBody>
          <a:bodyPr/>
          <a:lstStyle/>
          <a:p>
            <a:r>
              <a:rPr lang="en-US" dirty="0"/>
              <a:t>10. References and appendix: this is the supporting segment of business plan. At this segment, if any references are considered for preparation of business plan, details abut those references should be listed. It gives an authenticity to the business plan. Besides, if any evidential documents or information attached with business plan those should be specified in appendix. These documents may involve legal documents, patent and copyright, business register and professional licenses, customer contacts and purchase orders etc. </a:t>
            </a:r>
            <a:endParaRPr lang="en-CA" dirty="0"/>
          </a:p>
        </p:txBody>
      </p:sp>
    </p:spTree>
    <p:extLst>
      <p:ext uri="{BB962C8B-B14F-4D97-AF65-F5344CB8AC3E}">
        <p14:creationId xmlns:p14="http://schemas.microsoft.com/office/powerpoint/2010/main" val="12584197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1B24F-930B-D29D-FBA9-C06AFBF528D7}"/>
              </a:ext>
            </a:extLst>
          </p:cNvPr>
          <p:cNvSpPr>
            <a:spLocks noGrp="1"/>
          </p:cNvSpPr>
          <p:nvPr>
            <p:ph type="title"/>
          </p:nvPr>
        </p:nvSpPr>
        <p:spPr/>
        <p:txBody>
          <a:bodyPr/>
          <a:lstStyle/>
          <a:p>
            <a:r>
              <a:rPr lang="en-US" dirty="0"/>
              <a:t>Meaning of business pitch</a:t>
            </a:r>
            <a:endParaRPr lang="en-CA" dirty="0"/>
          </a:p>
        </p:txBody>
      </p:sp>
      <p:sp>
        <p:nvSpPr>
          <p:cNvPr id="3" name="Content Placeholder 2">
            <a:extLst>
              <a:ext uri="{FF2B5EF4-FFF2-40B4-BE49-F238E27FC236}">
                <a16:creationId xmlns:a16="http://schemas.microsoft.com/office/drawing/2014/main" id="{1447AF7E-5905-70DE-66F2-A52485CA6F3E}"/>
              </a:ext>
            </a:extLst>
          </p:cNvPr>
          <p:cNvSpPr>
            <a:spLocks noGrp="1"/>
          </p:cNvSpPr>
          <p:nvPr>
            <p:ph idx="1"/>
          </p:nvPr>
        </p:nvSpPr>
        <p:spPr>
          <a:xfrm>
            <a:off x="838200" y="1366684"/>
            <a:ext cx="10515600" cy="4810279"/>
          </a:xfrm>
        </p:spPr>
        <p:txBody>
          <a:bodyPr>
            <a:normAutofit fontScale="92500" lnSpcReduction="10000"/>
          </a:bodyPr>
          <a:lstStyle/>
          <a:p>
            <a:r>
              <a:rPr lang="en-US" dirty="0"/>
              <a:t>A </a:t>
            </a:r>
            <a:r>
              <a:rPr lang="en-US" b="1" dirty="0"/>
              <a:t>business pitch</a:t>
            </a:r>
            <a:r>
              <a:rPr lang="en-US" dirty="0"/>
              <a:t> is a </a:t>
            </a:r>
            <a:r>
              <a:rPr lang="en-US" b="1" dirty="0"/>
              <a:t>presentation or summary</a:t>
            </a:r>
            <a:r>
              <a:rPr lang="en-US" dirty="0"/>
              <a:t> in which you explain your </a:t>
            </a:r>
            <a:r>
              <a:rPr lang="en-US" b="1" dirty="0"/>
              <a:t>business idea, product, or project</a:t>
            </a:r>
            <a:r>
              <a:rPr lang="en-US" dirty="0"/>
              <a:t> to others — usually potential </a:t>
            </a:r>
            <a:r>
              <a:rPr lang="en-US" b="1" dirty="0"/>
              <a:t>investors, partners, or clients</a:t>
            </a:r>
            <a:r>
              <a:rPr lang="en-US" dirty="0"/>
              <a:t> — with the goal of convincing them to support, invest in, or collaborate with you.</a:t>
            </a:r>
          </a:p>
          <a:p>
            <a:r>
              <a:rPr lang="en-US" dirty="0"/>
              <a:t>In simple terms, it’s how you </a:t>
            </a:r>
            <a:r>
              <a:rPr lang="en-US" b="1" dirty="0"/>
              <a:t>“sell” your business idea</a:t>
            </a:r>
            <a:r>
              <a:rPr lang="en-US" dirty="0"/>
              <a:t>.</a:t>
            </a:r>
          </a:p>
          <a:p>
            <a:r>
              <a:rPr lang="en-US" b="1" dirty="0"/>
              <a:t>Key Points About a Business Pitch</a:t>
            </a:r>
          </a:p>
          <a:p>
            <a:r>
              <a:rPr lang="en-US" b="1" dirty="0"/>
              <a:t>Purpose:</a:t>
            </a:r>
            <a:r>
              <a:rPr lang="en-US" dirty="0"/>
              <a:t> To </a:t>
            </a:r>
            <a:r>
              <a:rPr lang="en-US" b="1" dirty="0"/>
              <a:t>persuade</a:t>
            </a:r>
            <a:r>
              <a:rPr lang="en-US" dirty="0"/>
              <a:t> the audience that your business is valuable and worth investing in.</a:t>
            </a:r>
          </a:p>
          <a:p>
            <a:r>
              <a:rPr lang="en-US" b="1" dirty="0"/>
              <a:t>Audience:</a:t>
            </a:r>
            <a:r>
              <a:rPr lang="en-US" dirty="0"/>
              <a:t> Can include investors, customers, partners, or even judges (in competitions).</a:t>
            </a:r>
          </a:p>
          <a:p>
            <a:r>
              <a:rPr lang="en-US" b="1" dirty="0"/>
              <a:t>Format:</a:t>
            </a:r>
            <a:r>
              <a:rPr lang="en-US" dirty="0"/>
              <a:t> Can be spoken (a live presentation), written (like a pitch deck or proposal), or both.</a:t>
            </a:r>
          </a:p>
          <a:p>
            <a:endParaRPr lang="en-CA" dirty="0"/>
          </a:p>
        </p:txBody>
      </p:sp>
    </p:spTree>
    <p:extLst>
      <p:ext uri="{BB962C8B-B14F-4D97-AF65-F5344CB8AC3E}">
        <p14:creationId xmlns:p14="http://schemas.microsoft.com/office/powerpoint/2010/main" val="41565278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E022-97C5-5589-93FC-58454C178248}"/>
              </a:ext>
            </a:extLst>
          </p:cNvPr>
          <p:cNvSpPr>
            <a:spLocks noGrp="1"/>
          </p:cNvSpPr>
          <p:nvPr>
            <p:ph type="title"/>
          </p:nvPr>
        </p:nvSpPr>
        <p:spPr>
          <a:xfrm>
            <a:off x="838200" y="365125"/>
            <a:ext cx="10515600" cy="2444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62625D9D-54C8-8C25-07B5-480AA6A0F7F2}"/>
              </a:ext>
            </a:extLst>
          </p:cNvPr>
          <p:cNvSpPr>
            <a:spLocks noGrp="1"/>
          </p:cNvSpPr>
          <p:nvPr>
            <p:ph idx="1"/>
          </p:nvPr>
        </p:nvSpPr>
        <p:spPr>
          <a:xfrm>
            <a:off x="838200" y="953729"/>
            <a:ext cx="10515600" cy="5223234"/>
          </a:xfrm>
        </p:spPr>
        <p:txBody>
          <a:bodyPr>
            <a:normAutofit/>
          </a:bodyPr>
          <a:lstStyle/>
          <a:p>
            <a:r>
              <a:rPr lang="en-US" b="1" dirty="0"/>
              <a:t>Common Types of Business Pitches</a:t>
            </a:r>
          </a:p>
          <a:p>
            <a:r>
              <a:rPr lang="en-US" b="1" dirty="0"/>
              <a:t>Elevator Pitch</a:t>
            </a:r>
            <a:r>
              <a:rPr lang="en-US" dirty="0"/>
              <a:t> – A short, 30–60 second summary you could deliver in the time of an elevator ride.</a:t>
            </a:r>
          </a:p>
          <a:p>
            <a:r>
              <a:rPr lang="en-US" b="1" dirty="0"/>
              <a:t>Investor Pitch</a:t>
            </a:r>
            <a:r>
              <a:rPr lang="en-US" dirty="0"/>
              <a:t> – A longer, more detailed presentation (often 5–10 minutes) used to attract funding.</a:t>
            </a:r>
          </a:p>
          <a:p>
            <a:r>
              <a:rPr lang="en-US" b="1" dirty="0"/>
              <a:t>Sales Pitch</a:t>
            </a:r>
            <a:r>
              <a:rPr lang="en-US" dirty="0"/>
              <a:t> – Focused on convincing customers to buy your product or service.</a:t>
            </a:r>
          </a:p>
          <a:p>
            <a:pPr marL="0" indent="0">
              <a:buNone/>
            </a:pPr>
            <a:endParaRPr lang="en-CA" dirty="0"/>
          </a:p>
        </p:txBody>
      </p:sp>
    </p:spTree>
    <p:extLst>
      <p:ext uri="{BB962C8B-B14F-4D97-AF65-F5344CB8AC3E}">
        <p14:creationId xmlns:p14="http://schemas.microsoft.com/office/powerpoint/2010/main" val="4031024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CDBBA-8B49-00B7-E7AE-FB610E7B36C5}"/>
              </a:ext>
            </a:extLst>
          </p:cNvPr>
          <p:cNvSpPr>
            <a:spLocks noGrp="1"/>
          </p:cNvSpPr>
          <p:nvPr>
            <p:ph type="title"/>
          </p:nvPr>
        </p:nvSpPr>
        <p:spPr>
          <a:xfrm>
            <a:off x="838200" y="365125"/>
            <a:ext cx="10515600" cy="40297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7D0E96E-0402-F88B-14D2-01B8CC4B4EC0}"/>
              </a:ext>
            </a:extLst>
          </p:cNvPr>
          <p:cNvSpPr>
            <a:spLocks noGrp="1"/>
          </p:cNvSpPr>
          <p:nvPr>
            <p:ph idx="1"/>
          </p:nvPr>
        </p:nvSpPr>
        <p:spPr>
          <a:xfrm>
            <a:off x="838200" y="1060704"/>
            <a:ext cx="10515600" cy="5116259"/>
          </a:xfrm>
        </p:spPr>
        <p:txBody>
          <a:bodyPr>
            <a:normAutofit fontScale="85000" lnSpcReduction="10000"/>
          </a:bodyPr>
          <a:lstStyle/>
          <a:p>
            <a:r>
              <a:rPr lang="en-US" b="1" dirty="0"/>
              <a:t>Example: Elevator Pitch for a Smoothie Startup</a:t>
            </a:r>
          </a:p>
          <a:p>
            <a:r>
              <a:rPr lang="en-US" i="1" dirty="0"/>
              <a:t>"Hi, I’m Aisha, founder of Fresh Fuel — a mobile smoothie bar that makes healthy eating easy for busy people. We blend fresh, locally sourced fruits and vegetables into ready-to-go smoothies that are delivered right to office buildings and gyms. Unlike typical juice bars, we focus on zero-waste packaging and personalized nutrition options through a simple app. With health and convenience in high demand, Fresh Fuel helps people feel better without slowing down their day."</a:t>
            </a:r>
            <a:endParaRPr lang="en-US" dirty="0"/>
          </a:p>
          <a:p>
            <a:r>
              <a:rPr lang="en-US" b="1" dirty="0"/>
              <a:t>Breakdown of What This Pitch Does:</a:t>
            </a:r>
          </a:p>
          <a:p>
            <a:r>
              <a:rPr lang="en-US" b="1" dirty="0"/>
              <a:t>Introduces who you are</a:t>
            </a:r>
            <a:r>
              <a:rPr lang="en-US" dirty="0"/>
              <a:t> → “I’m Aisha, founder of Fresh Fuel.”</a:t>
            </a:r>
          </a:p>
          <a:p>
            <a:r>
              <a:rPr lang="en-US" b="1" dirty="0"/>
              <a:t>States the problem</a:t>
            </a:r>
            <a:r>
              <a:rPr lang="en-US" dirty="0"/>
              <a:t> → People are too busy to eat healthy.</a:t>
            </a:r>
          </a:p>
          <a:p>
            <a:r>
              <a:rPr lang="en-US" b="1" dirty="0"/>
              <a:t>Presents the solution</a:t>
            </a:r>
            <a:r>
              <a:rPr lang="en-US" dirty="0"/>
              <a:t> → A mobile smoothie bar delivering fresh, healthy drinks.</a:t>
            </a:r>
          </a:p>
          <a:p>
            <a:r>
              <a:rPr lang="en-US" b="1" dirty="0"/>
              <a:t>Highlights what makes it unique</a:t>
            </a:r>
            <a:r>
              <a:rPr lang="en-US" dirty="0"/>
              <a:t> → Zero-waste packaging + personalized options.</a:t>
            </a:r>
          </a:p>
          <a:p>
            <a:r>
              <a:rPr lang="en-US" b="1" dirty="0"/>
              <a:t>Ends with value and vision</a:t>
            </a:r>
            <a:r>
              <a:rPr lang="en-US" dirty="0"/>
              <a:t> → Helps people stay healthy and productive.</a:t>
            </a:r>
          </a:p>
          <a:p>
            <a:endParaRPr lang="en-CA" dirty="0"/>
          </a:p>
        </p:txBody>
      </p:sp>
    </p:spTree>
    <p:extLst>
      <p:ext uri="{BB962C8B-B14F-4D97-AF65-F5344CB8AC3E}">
        <p14:creationId xmlns:p14="http://schemas.microsoft.com/office/powerpoint/2010/main" val="7359830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C0980-26A7-9198-1845-958166377796}"/>
              </a:ext>
            </a:extLst>
          </p:cNvPr>
          <p:cNvSpPr>
            <a:spLocks noGrp="1"/>
          </p:cNvSpPr>
          <p:nvPr>
            <p:ph type="title"/>
          </p:nvPr>
        </p:nvSpPr>
        <p:spPr>
          <a:xfrm>
            <a:off x="838200" y="635318"/>
            <a:ext cx="10515600" cy="45719"/>
          </a:xfrm>
        </p:spPr>
        <p:txBody>
          <a:bodyPr>
            <a:noAutofit/>
          </a:bodyPr>
          <a:lstStyle/>
          <a:p>
            <a:br>
              <a:rPr lang="en-US" sz="3200" b="1" dirty="0"/>
            </a:br>
            <a:r>
              <a:rPr lang="en-US" sz="3200" b="1" dirty="0"/>
              <a:t>Contents of a Successful Idea Pitch for Different Stakeholders</a:t>
            </a:r>
            <a:br>
              <a:rPr lang="en-US" sz="3200" b="1" dirty="0"/>
            </a:br>
            <a:endParaRPr lang="en-CA" sz="3200" dirty="0"/>
          </a:p>
        </p:txBody>
      </p:sp>
      <p:sp>
        <p:nvSpPr>
          <p:cNvPr id="3" name="Content Placeholder 2">
            <a:extLst>
              <a:ext uri="{FF2B5EF4-FFF2-40B4-BE49-F238E27FC236}">
                <a16:creationId xmlns:a16="http://schemas.microsoft.com/office/drawing/2014/main" id="{1E456895-87F8-37FD-E52B-024B3BB6D752}"/>
              </a:ext>
            </a:extLst>
          </p:cNvPr>
          <p:cNvSpPr>
            <a:spLocks noGrp="1"/>
          </p:cNvSpPr>
          <p:nvPr>
            <p:ph idx="1"/>
          </p:nvPr>
        </p:nvSpPr>
        <p:spPr>
          <a:xfrm>
            <a:off x="838200" y="894735"/>
            <a:ext cx="10920984" cy="5282228"/>
          </a:xfrm>
        </p:spPr>
        <p:txBody>
          <a:bodyPr>
            <a:normAutofit/>
          </a:bodyPr>
          <a:lstStyle/>
          <a:p>
            <a:r>
              <a:rPr lang="en-US" dirty="0"/>
              <a:t>Different </a:t>
            </a:r>
            <a:r>
              <a:rPr lang="en-US" b="1" dirty="0"/>
              <a:t>stakeholders</a:t>
            </a:r>
            <a:r>
              <a:rPr lang="en-US" dirty="0"/>
              <a:t> (people or groups interested in your business) care about </a:t>
            </a:r>
            <a:r>
              <a:rPr lang="en-US" b="1" dirty="0"/>
              <a:t>different things</a:t>
            </a:r>
            <a:r>
              <a:rPr lang="en-US" dirty="0"/>
              <a:t>, so your </a:t>
            </a:r>
            <a:r>
              <a:rPr lang="en-US" b="1" dirty="0"/>
              <a:t>pitch</a:t>
            </a:r>
            <a:r>
              <a:rPr lang="en-US" dirty="0"/>
              <a:t> should focus on what matters most to each of them.</a:t>
            </a:r>
          </a:p>
          <a:p>
            <a:r>
              <a:rPr lang="en-US" b="1" dirty="0"/>
              <a:t>1. Investors (pitching to investors)</a:t>
            </a:r>
          </a:p>
          <a:p>
            <a:r>
              <a:rPr lang="en-US" dirty="0"/>
              <a:t>Focus on </a:t>
            </a:r>
            <a:r>
              <a:rPr lang="en-US" b="1" dirty="0"/>
              <a:t>financial returns</a:t>
            </a:r>
            <a:r>
              <a:rPr lang="en-US" dirty="0"/>
              <a:t> and </a:t>
            </a:r>
            <a:r>
              <a:rPr lang="en-US" b="1" dirty="0"/>
              <a:t>growth potential</a:t>
            </a:r>
            <a:r>
              <a:rPr lang="en-US" dirty="0"/>
              <a:t>.</a:t>
            </a:r>
          </a:p>
          <a:p>
            <a:r>
              <a:rPr lang="en-US" dirty="0"/>
              <a:t>Include:</a:t>
            </a:r>
          </a:p>
          <a:p>
            <a:pPr lvl="1"/>
            <a:r>
              <a:rPr lang="en-US" dirty="0"/>
              <a:t>Market opportunity</a:t>
            </a:r>
          </a:p>
          <a:p>
            <a:pPr lvl="1"/>
            <a:r>
              <a:rPr lang="en-US" dirty="0"/>
              <a:t>Business model</a:t>
            </a:r>
          </a:p>
          <a:p>
            <a:pPr lvl="1"/>
            <a:r>
              <a:rPr lang="en-US" dirty="0"/>
              <a:t>Competitive advantage</a:t>
            </a:r>
          </a:p>
          <a:p>
            <a:pPr lvl="1"/>
            <a:r>
              <a:rPr lang="en-US" dirty="0"/>
              <a:t>Profit potential</a:t>
            </a:r>
          </a:p>
          <a:p>
            <a:pPr lvl="1"/>
            <a:r>
              <a:rPr lang="en-US" dirty="0"/>
              <a:t>Exit strategy</a:t>
            </a:r>
          </a:p>
          <a:p>
            <a:endParaRPr lang="en-CA" dirty="0"/>
          </a:p>
        </p:txBody>
      </p:sp>
    </p:spTree>
    <p:extLst>
      <p:ext uri="{BB962C8B-B14F-4D97-AF65-F5344CB8AC3E}">
        <p14:creationId xmlns:p14="http://schemas.microsoft.com/office/powerpoint/2010/main" val="35972745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C66A2-80DD-9CB0-F860-2E5674B788C8}"/>
              </a:ext>
            </a:extLst>
          </p:cNvPr>
          <p:cNvSpPr>
            <a:spLocks noGrp="1"/>
          </p:cNvSpPr>
          <p:nvPr>
            <p:ph type="title"/>
          </p:nvPr>
        </p:nvSpPr>
        <p:spPr>
          <a:xfrm>
            <a:off x="838200" y="365126"/>
            <a:ext cx="10515600" cy="677094"/>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F9BC9B4-B8C4-96A1-8896-7A0E2BF401E5}"/>
              </a:ext>
            </a:extLst>
          </p:cNvPr>
          <p:cNvSpPr>
            <a:spLocks noGrp="1"/>
          </p:cNvSpPr>
          <p:nvPr>
            <p:ph idx="1"/>
          </p:nvPr>
        </p:nvSpPr>
        <p:spPr>
          <a:xfrm>
            <a:off x="838200" y="1278194"/>
            <a:ext cx="10515600" cy="4898769"/>
          </a:xfrm>
        </p:spPr>
        <p:txBody>
          <a:bodyPr>
            <a:normAutofit/>
          </a:bodyPr>
          <a:lstStyle/>
          <a:p>
            <a:r>
              <a:rPr lang="en-US" b="1" dirty="0"/>
              <a:t>2. Customers</a:t>
            </a:r>
          </a:p>
          <a:p>
            <a:r>
              <a:rPr lang="en-US" dirty="0"/>
              <a:t>Focus on </a:t>
            </a:r>
            <a:r>
              <a:rPr lang="en-US" b="1" dirty="0"/>
              <a:t>value and benefits</a:t>
            </a:r>
            <a:r>
              <a:rPr lang="en-US" dirty="0"/>
              <a:t> for them.</a:t>
            </a:r>
          </a:p>
          <a:p>
            <a:r>
              <a:rPr lang="en-US" dirty="0"/>
              <a:t>Include:</a:t>
            </a:r>
          </a:p>
          <a:p>
            <a:pPr lvl="1"/>
            <a:r>
              <a:rPr lang="en-US" dirty="0"/>
              <a:t>The problem you solve</a:t>
            </a:r>
          </a:p>
          <a:p>
            <a:pPr lvl="1"/>
            <a:r>
              <a:rPr lang="en-US" dirty="0"/>
              <a:t>Your unique solution</a:t>
            </a:r>
          </a:p>
          <a:p>
            <a:pPr lvl="1"/>
            <a:r>
              <a:rPr lang="en-US" dirty="0"/>
              <a:t>Product features and advantages</a:t>
            </a:r>
          </a:p>
          <a:p>
            <a:pPr lvl="1"/>
            <a:r>
              <a:rPr lang="en-US" dirty="0"/>
              <a:t>Price and convenience</a:t>
            </a:r>
          </a:p>
          <a:p>
            <a:pPr lvl="1"/>
            <a:r>
              <a:rPr lang="en-US" dirty="0"/>
              <a:t>Testimonials or proof of quality</a:t>
            </a:r>
          </a:p>
          <a:p>
            <a:endParaRPr lang="en-CA" dirty="0"/>
          </a:p>
        </p:txBody>
      </p:sp>
    </p:spTree>
    <p:extLst>
      <p:ext uri="{BB962C8B-B14F-4D97-AF65-F5344CB8AC3E}">
        <p14:creationId xmlns:p14="http://schemas.microsoft.com/office/powerpoint/2010/main" val="41031783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48C78-3AE7-D6D1-55AA-E088292C8840}"/>
              </a:ext>
            </a:extLst>
          </p:cNvPr>
          <p:cNvSpPr>
            <a:spLocks noGrp="1"/>
          </p:cNvSpPr>
          <p:nvPr>
            <p:ph type="title"/>
          </p:nvPr>
        </p:nvSpPr>
        <p:spPr/>
        <p:txBody>
          <a:bodyPr>
            <a:normAutofit fontScale="90000"/>
          </a:bodyPr>
          <a:lstStyle/>
          <a:p>
            <a:br>
              <a:rPr lang="en-US" b="1" dirty="0"/>
            </a:br>
            <a:r>
              <a:rPr lang="en-US" b="1" dirty="0"/>
              <a:t>3. Partners / Collaborators</a:t>
            </a:r>
            <a:br>
              <a:rPr lang="en-US" b="1" dirty="0"/>
            </a:br>
            <a:endParaRPr lang="en-CA" dirty="0"/>
          </a:p>
        </p:txBody>
      </p:sp>
      <p:sp>
        <p:nvSpPr>
          <p:cNvPr id="3" name="Content Placeholder 2">
            <a:extLst>
              <a:ext uri="{FF2B5EF4-FFF2-40B4-BE49-F238E27FC236}">
                <a16:creationId xmlns:a16="http://schemas.microsoft.com/office/drawing/2014/main" id="{8907198E-A25D-60ED-8C7C-9A4DA61B40FB}"/>
              </a:ext>
            </a:extLst>
          </p:cNvPr>
          <p:cNvSpPr>
            <a:spLocks noGrp="1"/>
          </p:cNvSpPr>
          <p:nvPr>
            <p:ph idx="1"/>
          </p:nvPr>
        </p:nvSpPr>
        <p:spPr/>
        <p:txBody>
          <a:bodyPr>
            <a:normAutofit fontScale="92500" lnSpcReduction="20000"/>
          </a:bodyPr>
          <a:lstStyle/>
          <a:p>
            <a:r>
              <a:rPr lang="en-US" dirty="0"/>
              <a:t>Focus on </a:t>
            </a:r>
            <a:r>
              <a:rPr lang="en-US" b="1" dirty="0"/>
              <a:t>mutual benefit</a:t>
            </a:r>
            <a:r>
              <a:rPr lang="en-US" dirty="0"/>
              <a:t> and </a:t>
            </a:r>
            <a:r>
              <a:rPr lang="en-US" b="1" dirty="0"/>
              <a:t>strategic alignment</a:t>
            </a:r>
            <a:r>
              <a:rPr lang="en-US" dirty="0"/>
              <a:t>.</a:t>
            </a:r>
          </a:p>
          <a:p>
            <a:r>
              <a:rPr lang="en-US" dirty="0"/>
              <a:t>Include:</a:t>
            </a:r>
          </a:p>
          <a:p>
            <a:pPr lvl="1"/>
            <a:r>
              <a:rPr lang="en-US" dirty="0"/>
              <a:t>Shared goals and vision</a:t>
            </a:r>
          </a:p>
          <a:p>
            <a:pPr lvl="1"/>
            <a:r>
              <a:rPr lang="en-US" dirty="0"/>
              <a:t>Complementary strengths</a:t>
            </a:r>
          </a:p>
          <a:p>
            <a:pPr lvl="1"/>
            <a:r>
              <a:rPr lang="en-US" dirty="0"/>
              <a:t>Potential for joint growth</a:t>
            </a:r>
          </a:p>
          <a:p>
            <a:pPr lvl="1"/>
            <a:r>
              <a:rPr lang="en-US" dirty="0"/>
              <a:t>Clear roles and responsibilities</a:t>
            </a:r>
          </a:p>
          <a:p>
            <a:r>
              <a:rPr lang="en-US" b="1" dirty="0"/>
              <a:t>4. Employees / Team Members</a:t>
            </a:r>
          </a:p>
          <a:p>
            <a:r>
              <a:rPr lang="en-US" dirty="0"/>
              <a:t>Focus on </a:t>
            </a:r>
            <a:r>
              <a:rPr lang="en-US" b="1" dirty="0"/>
              <a:t>inspiration</a:t>
            </a:r>
            <a:r>
              <a:rPr lang="en-US" dirty="0"/>
              <a:t> and </a:t>
            </a:r>
            <a:r>
              <a:rPr lang="en-US" b="1" dirty="0"/>
              <a:t>company mission</a:t>
            </a:r>
            <a:r>
              <a:rPr lang="en-US" dirty="0"/>
              <a:t>.</a:t>
            </a:r>
          </a:p>
          <a:p>
            <a:r>
              <a:rPr lang="en-US" dirty="0"/>
              <a:t>Include:</a:t>
            </a:r>
          </a:p>
          <a:p>
            <a:pPr lvl="1"/>
            <a:r>
              <a:rPr lang="en-US" dirty="0"/>
              <a:t>Vision and purpose of the business</a:t>
            </a:r>
          </a:p>
          <a:p>
            <a:pPr lvl="1"/>
            <a:r>
              <a:rPr lang="en-US" dirty="0"/>
              <a:t>Workplace culture and opportunities</a:t>
            </a:r>
          </a:p>
          <a:p>
            <a:pPr lvl="1"/>
            <a:r>
              <a:rPr lang="en-US" dirty="0"/>
              <a:t>Impact and future potential</a:t>
            </a:r>
          </a:p>
          <a:p>
            <a:endParaRPr lang="en-CA" dirty="0"/>
          </a:p>
        </p:txBody>
      </p:sp>
    </p:spTree>
    <p:extLst>
      <p:ext uri="{BB962C8B-B14F-4D97-AF65-F5344CB8AC3E}">
        <p14:creationId xmlns:p14="http://schemas.microsoft.com/office/powerpoint/2010/main" val="19699770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44A88-256D-07BF-C498-7EE6E9FD58E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B7E08CE-5421-8225-56B7-F67E22511839}"/>
              </a:ext>
            </a:extLst>
          </p:cNvPr>
          <p:cNvSpPr>
            <a:spLocks noGrp="1"/>
          </p:cNvSpPr>
          <p:nvPr>
            <p:ph idx="1"/>
          </p:nvPr>
        </p:nvSpPr>
        <p:spPr/>
        <p:txBody>
          <a:bodyPr>
            <a:normAutofit/>
          </a:bodyPr>
          <a:lstStyle/>
          <a:p>
            <a:r>
              <a:rPr lang="en-US" b="1" dirty="0"/>
              <a:t>5. Pitching to Technical Teams / Engineers</a:t>
            </a:r>
          </a:p>
          <a:p>
            <a:r>
              <a:rPr lang="en-US" b="1" dirty="0"/>
              <a:t>What they care about:</a:t>
            </a:r>
            <a:r>
              <a:rPr lang="en-US" dirty="0"/>
              <a:t> Feasibility, quality, effort</a:t>
            </a:r>
          </a:p>
          <a:p>
            <a:r>
              <a:rPr lang="en-US" b="1" dirty="0"/>
              <a:t>Focus on:</a:t>
            </a:r>
            <a:endParaRPr lang="en-US" dirty="0"/>
          </a:p>
          <a:p>
            <a:r>
              <a:rPr lang="en-US" dirty="0"/>
              <a:t>Technical architecture or approach</a:t>
            </a:r>
          </a:p>
          <a:p>
            <a:r>
              <a:rPr lang="en-US" dirty="0"/>
              <a:t>Feasibility and constraints</a:t>
            </a:r>
          </a:p>
          <a:p>
            <a:r>
              <a:rPr lang="en-US" dirty="0"/>
              <a:t>Integration with existing systems</a:t>
            </a:r>
          </a:p>
          <a:p>
            <a:r>
              <a:rPr lang="en-US" dirty="0"/>
              <a:t>Risks, dependencies, and assumptions</a:t>
            </a:r>
          </a:p>
          <a:p>
            <a:pPr marL="0" indent="0">
              <a:buNone/>
            </a:pPr>
            <a:endParaRPr lang="en-CA" dirty="0"/>
          </a:p>
        </p:txBody>
      </p:sp>
    </p:spTree>
    <p:extLst>
      <p:ext uri="{BB962C8B-B14F-4D97-AF65-F5344CB8AC3E}">
        <p14:creationId xmlns:p14="http://schemas.microsoft.com/office/powerpoint/2010/main" val="17507830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C4332-24B8-C244-D64C-57CD5637BD1A}"/>
              </a:ext>
            </a:extLst>
          </p:cNvPr>
          <p:cNvSpPr>
            <a:spLocks noGrp="1"/>
          </p:cNvSpPr>
          <p:nvPr>
            <p:ph type="title"/>
          </p:nvPr>
        </p:nvSpPr>
        <p:spPr/>
        <p:txBody>
          <a:bodyPr/>
          <a:lstStyle/>
          <a:p>
            <a:r>
              <a:rPr lang="en-US" dirty="0"/>
              <a:t>Pitch delivery skills</a:t>
            </a:r>
            <a:endParaRPr lang="en-CA" dirty="0"/>
          </a:p>
        </p:txBody>
      </p:sp>
      <p:sp>
        <p:nvSpPr>
          <p:cNvPr id="3" name="Content Placeholder 2">
            <a:extLst>
              <a:ext uri="{FF2B5EF4-FFF2-40B4-BE49-F238E27FC236}">
                <a16:creationId xmlns:a16="http://schemas.microsoft.com/office/drawing/2014/main" id="{A0FB22D9-81F9-4430-5803-2F95D2A6CC71}"/>
              </a:ext>
            </a:extLst>
          </p:cNvPr>
          <p:cNvSpPr>
            <a:spLocks noGrp="1"/>
          </p:cNvSpPr>
          <p:nvPr>
            <p:ph idx="1"/>
          </p:nvPr>
        </p:nvSpPr>
        <p:spPr/>
        <p:txBody>
          <a:bodyPr/>
          <a:lstStyle/>
          <a:p>
            <a:r>
              <a:rPr lang="en-US" b="1" dirty="0"/>
              <a:t>1. Confidence and Enthusiasm</a:t>
            </a:r>
          </a:p>
          <a:p>
            <a:r>
              <a:rPr lang="en-US" dirty="0"/>
              <a:t>Speak with energy and conviction — if </a:t>
            </a:r>
            <a:r>
              <a:rPr lang="en-US" i="1" dirty="0"/>
              <a:t>you</a:t>
            </a:r>
            <a:r>
              <a:rPr lang="en-US" dirty="0"/>
              <a:t> don’t sound excited, your audience won’t be either.</a:t>
            </a:r>
          </a:p>
          <a:p>
            <a:r>
              <a:rPr lang="en-US" dirty="0"/>
              <a:t>Stand tall, make eye contact, and project your voice clearly.</a:t>
            </a:r>
          </a:p>
          <a:p>
            <a:r>
              <a:rPr lang="en-US" dirty="0"/>
              <a:t>Avoid reading slides word-for-word — know your material so you can speak naturally.</a:t>
            </a:r>
          </a:p>
          <a:p>
            <a:endParaRPr lang="en-CA" dirty="0"/>
          </a:p>
        </p:txBody>
      </p:sp>
    </p:spTree>
    <p:extLst>
      <p:ext uri="{BB962C8B-B14F-4D97-AF65-F5344CB8AC3E}">
        <p14:creationId xmlns:p14="http://schemas.microsoft.com/office/powerpoint/2010/main" val="10638293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5070D-8559-0464-16AE-73D7D30F68F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772E85D-4362-2959-CED2-30E0CBA4EB80}"/>
              </a:ext>
            </a:extLst>
          </p:cNvPr>
          <p:cNvSpPr>
            <a:spLocks noGrp="1"/>
          </p:cNvSpPr>
          <p:nvPr>
            <p:ph idx="1"/>
          </p:nvPr>
        </p:nvSpPr>
        <p:spPr/>
        <p:txBody>
          <a:bodyPr/>
          <a:lstStyle/>
          <a:p>
            <a:r>
              <a:rPr lang="en-US" b="1" dirty="0"/>
              <a:t>2. Clarity and Simplicity</a:t>
            </a:r>
          </a:p>
          <a:p>
            <a:r>
              <a:rPr lang="en-US" dirty="0"/>
              <a:t>Keep your language </a:t>
            </a:r>
            <a:r>
              <a:rPr lang="en-US" b="1" dirty="0"/>
              <a:t>clear, simple, and jargon-free.</a:t>
            </a:r>
            <a:endParaRPr lang="en-US" dirty="0"/>
          </a:p>
          <a:p>
            <a:r>
              <a:rPr lang="en-US" dirty="0"/>
              <a:t>Focus on the </a:t>
            </a:r>
            <a:r>
              <a:rPr lang="en-US" b="1" dirty="0"/>
              <a:t>core message</a:t>
            </a:r>
            <a:r>
              <a:rPr lang="en-US" dirty="0"/>
              <a:t>: What is your idea, why it matters, and what you want from the audience.</a:t>
            </a:r>
          </a:p>
          <a:p>
            <a:r>
              <a:rPr lang="en-US" dirty="0"/>
              <a:t>Use short, sharp sentences that are easy to follow.</a:t>
            </a:r>
          </a:p>
          <a:p>
            <a:r>
              <a:rPr lang="en-US" dirty="0"/>
              <a:t> </a:t>
            </a:r>
            <a:r>
              <a:rPr lang="en-US" i="1" dirty="0"/>
              <a:t>Example:</a:t>
            </a:r>
            <a:r>
              <a:rPr lang="en-US" dirty="0"/>
              <a:t> Instead of “Our product leverages cutting-edge AI to facilitate consumer engagement,” say</a:t>
            </a:r>
            <a:br>
              <a:rPr lang="en-US" dirty="0"/>
            </a:br>
            <a:r>
              <a:rPr lang="en-US" dirty="0"/>
              <a:t>“We use smart technology to help businesses connect better with customers.”</a:t>
            </a:r>
          </a:p>
          <a:p>
            <a:endParaRPr lang="en-CA" dirty="0"/>
          </a:p>
        </p:txBody>
      </p:sp>
    </p:spTree>
    <p:extLst>
      <p:ext uri="{BB962C8B-B14F-4D97-AF65-F5344CB8AC3E}">
        <p14:creationId xmlns:p14="http://schemas.microsoft.com/office/powerpoint/2010/main" val="35846961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01150-8326-0980-5153-6C1678363B2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7AD8C25-7B4C-1FD1-437D-C54EEAF32617}"/>
              </a:ext>
            </a:extLst>
          </p:cNvPr>
          <p:cNvSpPr>
            <a:spLocks noGrp="1"/>
          </p:cNvSpPr>
          <p:nvPr>
            <p:ph idx="1"/>
          </p:nvPr>
        </p:nvSpPr>
        <p:spPr/>
        <p:txBody>
          <a:bodyPr/>
          <a:lstStyle/>
          <a:p>
            <a:r>
              <a:rPr lang="en-US" b="1" dirty="0"/>
              <a:t>3. Storytelling</a:t>
            </a:r>
          </a:p>
          <a:p>
            <a:r>
              <a:rPr lang="en-US" dirty="0"/>
              <a:t>Turn your idea into a </a:t>
            </a:r>
            <a:r>
              <a:rPr lang="en-US" b="1" dirty="0"/>
              <a:t>story</a:t>
            </a:r>
            <a:r>
              <a:rPr lang="en-US" dirty="0"/>
              <a:t> — people remember stories more than facts.</a:t>
            </a:r>
          </a:p>
          <a:p>
            <a:r>
              <a:rPr lang="en-US" dirty="0"/>
              <a:t> Use emotion — make them </a:t>
            </a:r>
            <a:r>
              <a:rPr lang="en-US" i="1" dirty="0"/>
              <a:t>feel</a:t>
            </a:r>
            <a:r>
              <a:rPr lang="en-US" dirty="0"/>
              <a:t> the problem and </a:t>
            </a:r>
            <a:r>
              <a:rPr lang="en-US" i="1" dirty="0"/>
              <a:t>believe</a:t>
            </a:r>
            <a:r>
              <a:rPr lang="en-US" dirty="0"/>
              <a:t> in your solution.</a:t>
            </a:r>
          </a:p>
          <a:p>
            <a:endParaRPr lang="en-CA" dirty="0"/>
          </a:p>
        </p:txBody>
      </p:sp>
    </p:spTree>
    <p:extLst>
      <p:ext uri="{BB962C8B-B14F-4D97-AF65-F5344CB8AC3E}">
        <p14:creationId xmlns:p14="http://schemas.microsoft.com/office/powerpoint/2010/main" val="11062144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7F96C-3EEF-59EC-8DB9-C624505DCED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5AC8C2B-4328-FAB1-4C2D-65340BFB240B}"/>
              </a:ext>
            </a:extLst>
          </p:cNvPr>
          <p:cNvSpPr>
            <a:spLocks noGrp="1"/>
          </p:cNvSpPr>
          <p:nvPr>
            <p:ph idx="1"/>
          </p:nvPr>
        </p:nvSpPr>
        <p:spPr/>
        <p:txBody>
          <a:bodyPr/>
          <a:lstStyle/>
          <a:p>
            <a:r>
              <a:rPr lang="en-US" b="1" dirty="0"/>
              <a:t>4. Body Language</a:t>
            </a:r>
          </a:p>
          <a:p>
            <a:r>
              <a:rPr lang="en-US" dirty="0"/>
              <a:t>Use </a:t>
            </a:r>
            <a:r>
              <a:rPr lang="en-US" b="1" dirty="0"/>
              <a:t>open gestures</a:t>
            </a:r>
            <a:r>
              <a:rPr lang="en-US" dirty="0"/>
              <a:t> — avoid crossing arms or pacing too much.</a:t>
            </a:r>
          </a:p>
          <a:p>
            <a:r>
              <a:rPr lang="en-US" dirty="0"/>
              <a:t>Smile genuinely; it builds trust.</a:t>
            </a:r>
          </a:p>
          <a:p>
            <a:r>
              <a:rPr lang="en-US" dirty="0"/>
              <a:t>Use your hands to emphasize key points.</a:t>
            </a:r>
          </a:p>
          <a:p>
            <a:r>
              <a:rPr lang="en-US" dirty="0"/>
              <a:t>Maintain eye contact with different people in the audience.</a:t>
            </a:r>
          </a:p>
          <a:p>
            <a:r>
              <a:rPr lang="en-US" dirty="0"/>
              <a:t> Record yourself practicing to check your posture, gestures, and expressions.</a:t>
            </a:r>
          </a:p>
          <a:p>
            <a:endParaRPr lang="en-CA" dirty="0"/>
          </a:p>
        </p:txBody>
      </p:sp>
    </p:spTree>
    <p:extLst>
      <p:ext uri="{BB962C8B-B14F-4D97-AF65-F5344CB8AC3E}">
        <p14:creationId xmlns:p14="http://schemas.microsoft.com/office/powerpoint/2010/main" val="17886161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D9B4-5557-2940-E85A-E2A39E48185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D595E68-91D8-D88B-213F-2E067DD258ED}"/>
              </a:ext>
            </a:extLst>
          </p:cNvPr>
          <p:cNvSpPr>
            <a:spLocks noGrp="1"/>
          </p:cNvSpPr>
          <p:nvPr>
            <p:ph idx="1"/>
          </p:nvPr>
        </p:nvSpPr>
        <p:spPr/>
        <p:txBody>
          <a:bodyPr/>
          <a:lstStyle/>
          <a:p>
            <a:r>
              <a:rPr lang="en-US" b="1" dirty="0"/>
              <a:t>5. Voice Modulation</a:t>
            </a:r>
          </a:p>
          <a:p>
            <a:r>
              <a:rPr lang="en-US" dirty="0"/>
              <a:t>Vary your tone, pace, and volume — avoid speaking in a flat, monotone voice.</a:t>
            </a:r>
          </a:p>
          <a:p>
            <a:r>
              <a:rPr lang="en-US" dirty="0"/>
              <a:t>Pause after important points to let them sink in.</a:t>
            </a:r>
          </a:p>
          <a:p>
            <a:r>
              <a:rPr lang="en-US" dirty="0"/>
              <a:t>Emphasize keywords that convey emotion or importance.</a:t>
            </a:r>
          </a:p>
          <a:p>
            <a:r>
              <a:rPr lang="en-US" dirty="0"/>
              <a:t> Think of your voice as a musical instrument — keep your audience engaged through rhythm and tone.</a:t>
            </a:r>
          </a:p>
          <a:p>
            <a:endParaRPr lang="en-CA" dirty="0"/>
          </a:p>
        </p:txBody>
      </p:sp>
    </p:spTree>
    <p:extLst>
      <p:ext uri="{BB962C8B-B14F-4D97-AF65-F5344CB8AC3E}">
        <p14:creationId xmlns:p14="http://schemas.microsoft.com/office/powerpoint/2010/main" val="15494809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167BD-A7A2-A113-41DF-7356DC3558A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AD4EED5-4A89-94D4-FC41-AE81EA8B3880}"/>
              </a:ext>
            </a:extLst>
          </p:cNvPr>
          <p:cNvSpPr>
            <a:spLocks noGrp="1"/>
          </p:cNvSpPr>
          <p:nvPr>
            <p:ph idx="1"/>
          </p:nvPr>
        </p:nvSpPr>
        <p:spPr/>
        <p:txBody>
          <a:bodyPr/>
          <a:lstStyle/>
          <a:p>
            <a:r>
              <a:rPr lang="en-US" b="1" dirty="0"/>
              <a:t>6. Timing</a:t>
            </a:r>
          </a:p>
          <a:p>
            <a:r>
              <a:rPr lang="en-US" dirty="0"/>
              <a:t>Respect the time limit (usually 3–10 minutes).</a:t>
            </a:r>
          </a:p>
          <a:p>
            <a:r>
              <a:rPr lang="en-US" dirty="0"/>
              <a:t>Rehearse with a timer to make sure your pitch fits comfortably.</a:t>
            </a:r>
          </a:p>
          <a:p>
            <a:r>
              <a:rPr lang="en-US" dirty="0"/>
              <a:t>Don’t rush at the end — manage your pace throughout.</a:t>
            </a:r>
          </a:p>
          <a:p>
            <a:r>
              <a:rPr lang="en-US" i="1" dirty="0"/>
              <a:t>:</a:t>
            </a:r>
            <a:r>
              <a:rPr lang="en-US" dirty="0"/>
              <a:t> Leave a few seconds for impact or applause before finishing.</a:t>
            </a:r>
          </a:p>
          <a:p>
            <a:endParaRPr lang="en-CA" dirty="0"/>
          </a:p>
        </p:txBody>
      </p:sp>
    </p:spTree>
    <p:extLst>
      <p:ext uri="{BB962C8B-B14F-4D97-AF65-F5344CB8AC3E}">
        <p14:creationId xmlns:p14="http://schemas.microsoft.com/office/powerpoint/2010/main" val="31014707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21AC9-E7D6-38D0-251E-CF8456CF507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DB5BA30-28E6-B0D1-11F2-6277BE36D42F}"/>
              </a:ext>
            </a:extLst>
          </p:cNvPr>
          <p:cNvSpPr>
            <a:spLocks noGrp="1"/>
          </p:cNvSpPr>
          <p:nvPr>
            <p:ph idx="1"/>
          </p:nvPr>
        </p:nvSpPr>
        <p:spPr/>
        <p:txBody>
          <a:bodyPr/>
          <a:lstStyle/>
          <a:p>
            <a:r>
              <a:rPr lang="en-US" b="1" dirty="0"/>
              <a:t>7. Audience Awareness</a:t>
            </a:r>
          </a:p>
          <a:p>
            <a:r>
              <a:rPr lang="en-US" dirty="0"/>
              <a:t>Know </a:t>
            </a:r>
            <a:r>
              <a:rPr lang="en-US" b="1" dirty="0"/>
              <a:t>who you’re pitching to</a:t>
            </a:r>
            <a:r>
              <a:rPr lang="en-US" dirty="0"/>
              <a:t> — investors, customers, or partners — and speak their language.</a:t>
            </a:r>
          </a:p>
          <a:p>
            <a:r>
              <a:rPr lang="en-US" dirty="0"/>
              <a:t>Adjust your examples and tone based on what matters to them.</a:t>
            </a:r>
          </a:p>
          <a:p>
            <a:r>
              <a:rPr lang="en-US" dirty="0"/>
              <a:t>Pay attention to audience reactions and adjust if needed.</a:t>
            </a:r>
          </a:p>
          <a:p>
            <a:r>
              <a:rPr lang="en-US" i="1" dirty="0"/>
              <a:t>Tip:</a:t>
            </a:r>
            <a:r>
              <a:rPr lang="en-US" dirty="0"/>
              <a:t> If you see confusion, clarify briefly instead of continuing as planned.</a:t>
            </a:r>
          </a:p>
          <a:p>
            <a:endParaRPr lang="en-CA" dirty="0"/>
          </a:p>
        </p:txBody>
      </p:sp>
    </p:spTree>
    <p:extLst>
      <p:ext uri="{BB962C8B-B14F-4D97-AF65-F5344CB8AC3E}">
        <p14:creationId xmlns:p14="http://schemas.microsoft.com/office/powerpoint/2010/main" val="10210406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8DE0A-627A-462F-7AD0-79CD45E160E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D83F061-8BC6-F01D-39EE-B2704CAA42B6}"/>
              </a:ext>
            </a:extLst>
          </p:cNvPr>
          <p:cNvSpPr>
            <a:spLocks noGrp="1"/>
          </p:cNvSpPr>
          <p:nvPr>
            <p:ph idx="1"/>
          </p:nvPr>
        </p:nvSpPr>
        <p:spPr/>
        <p:txBody>
          <a:bodyPr/>
          <a:lstStyle/>
          <a:p>
            <a:r>
              <a:rPr lang="en-US" b="1" dirty="0"/>
              <a:t>8. Use of Visuals</a:t>
            </a:r>
          </a:p>
          <a:p>
            <a:r>
              <a:rPr lang="en-US" dirty="0"/>
              <a:t>Keep slides simple: few words, strong visuals.</a:t>
            </a:r>
          </a:p>
          <a:p>
            <a:r>
              <a:rPr lang="en-US" dirty="0"/>
              <a:t>Avoid  reading directly from slides.</a:t>
            </a:r>
          </a:p>
          <a:p>
            <a:r>
              <a:rPr lang="en-US" dirty="0"/>
              <a:t>Use graphs, images, or short videos to make complex ideas clearer.</a:t>
            </a:r>
          </a:p>
          <a:p>
            <a:r>
              <a:rPr lang="en-US" i="1" dirty="0"/>
              <a:t>Tip:</a:t>
            </a:r>
            <a:r>
              <a:rPr lang="en-US" dirty="0"/>
              <a:t> One main idea per slide is best — your voice should do most of the explaining.</a:t>
            </a:r>
          </a:p>
          <a:p>
            <a:endParaRPr lang="en-CA" dirty="0"/>
          </a:p>
        </p:txBody>
      </p:sp>
    </p:spTree>
    <p:extLst>
      <p:ext uri="{BB962C8B-B14F-4D97-AF65-F5344CB8AC3E}">
        <p14:creationId xmlns:p14="http://schemas.microsoft.com/office/powerpoint/2010/main" val="25842883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7AC2-6531-E2D9-F364-3FCB7609376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0CDF79B-44E2-4189-1FEA-F0C6159054E6}"/>
              </a:ext>
            </a:extLst>
          </p:cNvPr>
          <p:cNvSpPr>
            <a:spLocks noGrp="1"/>
          </p:cNvSpPr>
          <p:nvPr>
            <p:ph idx="1"/>
          </p:nvPr>
        </p:nvSpPr>
        <p:spPr/>
        <p:txBody>
          <a:bodyPr/>
          <a:lstStyle/>
          <a:p>
            <a:r>
              <a:rPr lang="en-US" b="1" dirty="0"/>
              <a:t>9. Handling Questions</a:t>
            </a:r>
          </a:p>
          <a:p>
            <a:r>
              <a:rPr lang="en-US" dirty="0"/>
              <a:t>Listen carefully before answering.</a:t>
            </a:r>
          </a:p>
          <a:p>
            <a:r>
              <a:rPr lang="en-US" dirty="0"/>
              <a:t>Stay calm, even if the question is challenging.</a:t>
            </a:r>
          </a:p>
          <a:p>
            <a:r>
              <a:rPr lang="en-US" dirty="0"/>
              <a:t>If you don’t know the answer, admit it honestly and offer to follow up later.</a:t>
            </a:r>
          </a:p>
          <a:p>
            <a:r>
              <a:rPr lang="en-US" dirty="0"/>
              <a:t> </a:t>
            </a:r>
            <a:r>
              <a:rPr lang="en-US" i="1" dirty="0"/>
              <a:t>Tip:</a:t>
            </a:r>
            <a:r>
              <a:rPr lang="en-US" dirty="0"/>
              <a:t> Treat questions as a chance to show your depth, not as an interruption.</a:t>
            </a:r>
          </a:p>
          <a:p>
            <a:endParaRPr lang="en-CA" dirty="0"/>
          </a:p>
        </p:txBody>
      </p:sp>
    </p:spTree>
    <p:extLst>
      <p:ext uri="{BB962C8B-B14F-4D97-AF65-F5344CB8AC3E}">
        <p14:creationId xmlns:p14="http://schemas.microsoft.com/office/powerpoint/2010/main" val="1127805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959CF-AA63-EC0F-94D2-7068C35BE3E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735C4E8-5CD8-D9C7-4F77-4FE40AF04263}"/>
              </a:ext>
            </a:extLst>
          </p:cNvPr>
          <p:cNvSpPr>
            <a:spLocks noGrp="1"/>
          </p:cNvSpPr>
          <p:nvPr>
            <p:ph idx="1"/>
          </p:nvPr>
        </p:nvSpPr>
        <p:spPr/>
        <p:txBody>
          <a:bodyPr/>
          <a:lstStyle/>
          <a:p>
            <a:r>
              <a:rPr lang="en-US" b="1" dirty="0"/>
              <a:t>10. Practice and Feedback</a:t>
            </a:r>
          </a:p>
          <a:p>
            <a:r>
              <a:rPr lang="en-US" dirty="0"/>
              <a:t>Rehearse multiple times — alone, then with friends or mentors.</a:t>
            </a:r>
          </a:p>
          <a:p>
            <a:r>
              <a:rPr lang="en-US" dirty="0"/>
              <a:t>Ask for </a:t>
            </a:r>
            <a:r>
              <a:rPr lang="en-US" b="1" dirty="0"/>
              <a:t>constructive feedback</a:t>
            </a:r>
            <a:r>
              <a:rPr lang="en-US" dirty="0"/>
              <a:t> on clarity, timing, and body language.</a:t>
            </a:r>
          </a:p>
          <a:p>
            <a:r>
              <a:rPr lang="en-US" dirty="0"/>
              <a:t>Refine your pitch after each practice round.</a:t>
            </a:r>
          </a:p>
          <a:p>
            <a:r>
              <a:rPr lang="en-US" dirty="0"/>
              <a:t> </a:t>
            </a:r>
            <a:r>
              <a:rPr lang="en-US" i="1" dirty="0"/>
              <a:t>Tip:</a:t>
            </a:r>
            <a:r>
              <a:rPr lang="en-US" dirty="0"/>
              <a:t> The more you practice, the more natural and confident you’ll sound.</a:t>
            </a:r>
          </a:p>
          <a:p>
            <a:endParaRPr lang="en-CA" dirty="0"/>
          </a:p>
        </p:txBody>
      </p:sp>
    </p:spTree>
    <p:extLst>
      <p:ext uri="{BB962C8B-B14F-4D97-AF65-F5344CB8AC3E}">
        <p14:creationId xmlns:p14="http://schemas.microsoft.com/office/powerpoint/2010/main" val="2055415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TotalTime>
  <Words>6484</Words>
  <Application>Microsoft Office PowerPoint</Application>
  <PresentationFormat>Widescreen</PresentationFormat>
  <Paragraphs>389</Paragraphs>
  <Slides>73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Arial</vt:lpstr>
      <vt:lpstr>Calibri</vt:lpstr>
      <vt:lpstr>Calibri Light</vt:lpstr>
      <vt:lpstr>Office Theme</vt:lpstr>
      <vt:lpstr>PowerPoint Presentation</vt:lpstr>
      <vt:lpstr>Business canvas</vt:lpstr>
      <vt:lpstr>PowerPoint Presentation</vt:lpstr>
      <vt:lpstr>9 Building Blocks of the Business Model Canvas </vt:lpstr>
      <vt:lpstr>PowerPoint Presentation</vt:lpstr>
      <vt:lpstr>PowerPoint Presentation</vt:lpstr>
      <vt:lpstr>Or, you can write this too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Value proposition canvas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Lean Canvas</vt:lpstr>
      <vt:lpstr>The Lean Canvas Structure </vt:lpstr>
      <vt:lpstr>PowerPoint Presentation</vt:lpstr>
      <vt:lpstr> 1. Problem </vt:lpstr>
      <vt:lpstr>2. Solution </vt:lpstr>
      <vt:lpstr>3. Key metrics </vt:lpstr>
      <vt:lpstr>4.Unique value proposition </vt:lpstr>
      <vt:lpstr>5.Channels </vt:lpstr>
      <vt:lpstr>6.Customer segments </vt:lpstr>
      <vt:lpstr>7.Cost structure </vt:lpstr>
      <vt:lpstr>8.Revenue streams </vt:lpstr>
      <vt:lpstr>9. Unfair advantage </vt:lpstr>
      <vt:lpstr>Business Plan </vt:lpstr>
      <vt:lpstr>Benefits/significance of business plan </vt:lpstr>
      <vt:lpstr>PowerPoint Presentation</vt:lpstr>
      <vt:lpstr>PowerPoint Presentation</vt:lpstr>
      <vt:lpstr>PowerPoint Presentation</vt:lpstr>
      <vt:lpstr>PowerPoint Presentation</vt:lpstr>
      <vt:lpstr>PowerPoint Presentation</vt:lpstr>
      <vt:lpstr>Contents of a successful business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Meaning of business pitch</vt:lpstr>
      <vt:lpstr>PowerPoint Presentation</vt:lpstr>
      <vt:lpstr>PowerPoint Presentation</vt:lpstr>
      <vt:lpstr> Contents of a Successful Idea Pitch for Different Stakeholders </vt:lpstr>
      <vt:lpstr>PowerPoint Presentation</vt:lpstr>
      <vt:lpstr> 3. Partners / Collaborators </vt:lpstr>
      <vt:lpstr>PowerPoint Presentation</vt:lpstr>
      <vt:lpstr>Pitch delivery skills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70</cp:revision>
  <dcterms:created xsi:type="dcterms:W3CDTF">2025-10-29T10:42:35Z</dcterms:created>
  <dcterms:modified xsi:type="dcterms:W3CDTF">2026-01-13T15:22:48Z</dcterms:modified>
</cp:coreProperties>
</file>